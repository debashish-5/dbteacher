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5" r:id="rId3"/>
    <p:sldId id="266" r:id="rId4"/>
    <p:sldId id="273" r:id="rId5"/>
    <p:sldId id="274" r:id="rId6"/>
    <p:sldId id="275" r:id="rId7"/>
    <p:sldId id="267" r:id="rId8"/>
    <p:sldId id="268" r:id="rId9"/>
    <p:sldId id="278" r:id="rId10"/>
    <p:sldId id="269" r:id="rId11"/>
    <p:sldId id="277" r:id="rId12"/>
    <p:sldId id="270" r:id="rId13"/>
    <p:sldId id="271" r:id="rId14"/>
    <p:sldId id="272" r:id="rId15"/>
    <p:sldId id="276" r:id="rId16"/>
    <p:sldId id="281" r:id="rId17"/>
    <p:sldId id="282" r:id="rId18"/>
    <p:sldId id="283" r:id="rId19"/>
    <p:sldId id="257" r:id="rId20"/>
    <p:sldId id="258" r:id="rId21"/>
    <p:sldId id="259" r:id="rId22"/>
    <p:sldId id="260" r:id="rId23"/>
    <p:sldId id="261" r:id="rId24"/>
    <p:sldId id="279" r:id="rId25"/>
    <p:sldId id="280" r:id="rId26"/>
    <p:sldId id="262" r:id="rId27"/>
    <p:sldId id="263" r:id="rId28"/>
    <p:sldId id="264"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9" d="100"/>
          <a:sy n="69" d="100"/>
        </p:scale>
        <p:origin x="141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8/8/2025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8/8/2025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8/8/2025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w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2.wmf"/></Relationships>
</file>

<file path=ppt/slides/_rels/slide6.xml.rels><?xml version="1.0" encoding="UTF-8" standalone="yes"?>
<Relationships xmlns="http://schemas.openxmlformats.org/package/2006/relationships"><Relationship Id="rId2" Type="http://schemas.openxmlformats.org/officeDocument/2006/relationships/hyperlink" Target="https://uidai.gov.in/"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mtClean="0"/>
              <a:t>Keys /</a:t>
            </a:r>
            <a:r>
              <a:rPr smtClean="0"/>
              <a:t>Finding </a:t>
            </a:r>
            <a:r>
              <a:rPr dirty="0"/>
              <a:t>Candidate Keys in a Relation</a:t>
            </a:r>
          </a:p>
        </p:txBody>
      </p:sp>
      <p:sp>
        <p:nvSpPr>
          <p:cNvPr id="3" name="Subtitle 2"/>
          <p:cNvSpPr>
            <a:spLocks noGrp="1"/>
          </p:cNvSpPr>
          <p:nvPr>
            <p:ph type="subTitle" idx="1"/>
          </p:nvPr>
        </p:nvSpPr>
        <p:spPr/>
        <p:txBody>
          <a:bodyPr/>
          <a:lstStyle/>
          <a:p>
            <a:r>
              <a:rPr b="1" i="1" dirty="0">
                <a:solidFill>
                  <a:srgbClr val="00B050"/>
                </a:solidFill>
              </a:rPr>
              <a:t>(A guide to understanding candidate keys in DBMS)</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25907"/>
          </a:xfrm>
        </p:spPr>
        <p:txBody>
          <a:bodyPr>
            <a:normAutofit fontScale="90000"/>
          </a:bodyPr>
          <a:lstStyle/>
          <a:p>
            <a:r>
              <a:rPr lang="en-US" b="1" dirty="0" smtClean="0"/>
              <a:t/>
            </a:r>
            <a:br>
              <a:rPr lang="en-US" b="1" dirty="0" smtClean="0"/>
            </a:br>
            <a:r>
              <a:rPr lang="en-US" sz="3100" b="1" dirty="0" smtClean="0"/>
              <a:t>What </a:t>
            </a:r>
            <a:r>
              <a:rPr lang="en-US" sz="3100" b="1" dirty="0"/>
              <a:t>are the different types of Keys in DBMS?</a:t>
            </a:r>
            <a:br>
              <a:rPr lang="en-US" sz="3100" b="1" dirty="0"/>
            </a:br>
            <a:endParaRPr lang="en-IN" sz="3100" dirty="0"/>
          </a:p>
        </p:txBody>
      </p:sp>
      <p:sp>
        <p:nvSpPr>
          <p:cNvPr id="3" name="Content Placeholder 2"/>
          <p:cNvSpPr>
            <a:spLocks noGrp="1"/>
          </p:cNvSpPr>
          <p:nvPr>
            <p:ph idx="1"/>
          </p:nvPr>
        </p:nvSpPr>
        <p:spPr>
          <a:xfrm>
            <a:off x="457200" y="997528"/>
            <a:ext cx="8229600" cy="5128636"/>
          </a:xfrm>
        </p:spPr>
        <p:txBody>
          <a:bodyPr numCol="2">
            <a:normAutofit fontScale="55000" lnSpcReduction="20000"/>
          </a:bodyPr>
          <a:lstStyle/>
          <a:p>
            <a:pPr marL="0" indent="0" algn="just">
              <a:buNone/>
            </a:pPr>
            <a:r>
              <a:rPr lang="en-US" dirty="0" smtClean="0"/>
              <a:t>Keys </a:t>
            </a:r>
            <a:r>
              <a:rPr lang="en-US" dirty="0"/>
              <a:t>are of seven broad types in DBMS:</a:t>
            </a:r>
          </a:p>
          <a:p>
            <a:pPr algn="just"/>
            <a:r>
              <a:rPr lang="en-US" b="1" i="1" dirty="0">
                <a:solidFill>
                  <a:srgbClr val="00B050"/>
                </a:solidFill>
              </a:rPr>
              <a:t>Candidate Key</a:t>
            </a:r>
          </a:p>
          <a:p>
            <a:pPr algn="just"/>
            <a:r>
              <a:rPr lang="en-US" b="1" i="1" dirty="0">
                <a:solidFill>
                  <a:srgbClr val="00B050"/>
                </a:solidFill>
              </a:rPr>
              <a:t>Primary Key</a:t>
            </a:r>
          </a:p>
          <a:p>
            <a:pPr algn="just"/>
            <a:r>
              <a:rPr lang="en-US" b="1" i="1" dirty="0">
                <a:solidFill>
                  <a:srgbClr val="00B050"/>
                </a:solidFill>
              </a:rPr>
              <a:t>Foreign Key</a:t>
            </a:r>
          </a:p>
          <a:p>
            <a:pPr algn="just"/>
            <a:r>
              <a:rPr lang="en-US" b="1" i="1" dirty="0">
                <a:solidFill>
                  <a:srgbClr val="00B050"/>
                </a:solidFill>
              </a:rPr>
              <a:t>Super Key</a:t>
            </a:r>
          </a:p>
          <a:p>
            <a:pPr algn="just"/>
            <a:r>
              <a:rPr lang="en-US" b="1" i="1" dirty="0">
                <a:solidFill>
                  <a:srgbClr val="00B050"/>
                </a:solidFill>
              </a:rPr>
              <a:t>Alternate Key</a:t>
            </a:r>
          </a:p>
          <a:p>
            <a:pPr algn="just"/>
            <a:r>
              <a:rPr lang="en-US" b="1" i="1" dirty="0">
                <a:solidFill>
                  <a:srgbClr val="00B050"/>
                </a:solidFill>
              </a:rPr>
              <a:t>Composite Key</a:t>
            </a:r>
          </a:p>
          <a:p>
            <a:pPr algn="just"/>
            <a:r>
              <a:rPr lang="en-US" b="1" i="1" dirty="0">
                <a:solidFill>
                  <a:srgbClr val="00B050"/>
                </a:solidFill>
              </a:rPr>
              <a:t>Unique Key</a:t>
            </a:r>
          </a:p>
          <a:p>
            <a:pPr marL="0" indent="0" algn="just">
              <a:buNone/>
            </a:pPr>
            <a:r>
              <a:rPr lang="en-US" b="1" dirty="0"/>
              <a:t>1. Primary Key</a:t>
            </a:r>
          </a:p>
          <a:p>
            <a:pPr algn="just"/>
            <a:r>
              <a:rPr lang="en-US" dirty="0"/>
              <a:t>The primary key refers to a column or a set of columns of a table that helps us identify all the records uniquely present in that table. A table can consist of just one primary key. Also, this primary key cannot consist of the same values reappearing/repeating for any of its rows. All the values of a primary key have to be different, and there should be no repetitions.</a:t>
            </a:r>
          </a:p>
          <a:p>
            <a:pPr marL="0" indent="0" algn="just">
              <a:buNone/>
            </a:pPr>
            <a:r>
              <a:rPr lang="en-US" dirty="0"/>
              <a:t>The PK (PRIMARY KEY) constraint that we put on a column/set of columns won’t allow these to have a null value or a duplicate. Any table can consist of only a single primary key constraint. A foreign key (explained below) that refers to it can never change the values present in the primary key.</a:t>
            </a:r>
          </a:p>
          <a:p>
            <a:pPr algn="just"/>
            <a:r>
              <a:rPr lang="en-US" b="1" dirty="0"/>
              <a:t>2. Super Key</a:t>
            </a:r>
          </a:p>
          <a:p>
            <a:pPr algn="just"/>
            <a:r>
              <a:rPr lang="en-US" dirty="0"/>
              <a:t>A super key refers to the set of all those keys that help us uniquely identify all the rows present in a table. It means that all of these columns present in a table that can identify the columns of that table uniquely act as the super keys.</a:t>
            </a:r>
          </a:p>
          <a:p>
            <a:pPr algn="just"/>
            <a:r>
              <a:rPr lang="en-US" dirty="0"/>
              <a:t>A super key is a candidate key’s superset (candidate key has been explained below). We need to pick the primary key of any table from the super key’s set so as to make it the table’s identity attribute</a:t>
            </a:r>
            <a:r>
              <a:rPr lang="en-US" dirty="0" smtClean="0"/>
              <a:t>.</a:t>
            </a:r>
            <a:endParaRPr lang="en-US" dirty="0"/>
          </a:p>
        </p:txBody>
      </p:sp>
    </p:spTree>
    <p:extLst>
      <p:ext uri="{BB962C8B-B14F-4D97-AF65-F5344CB8AC3E}">
        <p14:creationId xmlns:p14="http://schemas.microsoft.com/office/powerpoint/2010/main" val="317545767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9"/>
            <a:ext cx="8229600" cy="528926"/>
          </a:xfrm>
        </p:spPr>
        <p:txBody>
          <a:bodyPr>
            <a:normAutofit fontScale="90000"/>
          </a:bodyPr>
          <a:lstStyle/>
          <a:p>
            <a:endParaRPr lang="en-IN" dirty="0"/>
          </a:p>
        </p:txBody>
      </p:sp>
      <p:sp>
        <p:nvSpPr>
          <p:cNvPr id="3" name="Content Placeholder 2"/>
          <p:cNvSpPr>
            <a:spLocks noGrp="1"/>
          </p:cNvSpPr>
          <p:nvPr>
            <p:ph idx="1"/>
          </p:nvPr>
        </p:nvSpPr>
        <p:spPr>
          <a:xfrm>
            <a:off x="457200" y="803566"/>
            <a:ext cx="8229600" cy="5957452"/>
          </a:xfrm>
        </p:spPr>
        <p:txBody>
          <a:bodyPr>
            <a:normAutofit fontScale="55000" lnSpcReduction="20000"/>
          </a:bodyPr>
          <a:lstStyle/>
          <a:p>
            <a:pPr marL="0" indent="0">
              <a:buNone/>
            </a:pPr>
            <a:r>
              <a:rPr lang="en-US" b="1" dirty="0"/>
              <a:t>3. Candidate Key</a:t>
            </a:r>
          </a:p>
          <a:p>
            <a:pPr marL="0" indent="0">
              <a:buNone/>
            </a:pPr>
            <a:r>
              <a:rPr lang="en-US" dirty="0"/>
              <a:t>The candidate keys refer to those attributes that identify rows uniquely in a table. In a table, we select the primary key from a candidate key. Thus, a candidate key has similar properties as that of the primary keys that we have explained above. In a table, there can be multiple candidate keys.</a:t>
            </a:r>
          </a:p>
          <a:p>
            <a:pPr marL="0" indent="0">
              <a:buNone/>
            </a:pPr>
            <a:r>
              <a:rPr lang="en-US" b="1" dirty="0"/>
              <a:t>4. Alternate Key</a:t>
            </a:r>
          </a:p>
          <a:p>
            <a:r>
              <a:rPr lang="en-US" dirty="0"/>
              <a:t>As we have stated above, any table can consist of multiple choices for the primary key. But, it can only choose one. Thus, all those keys that did not become a primary key are known as alternate keys.</a:t>
            </a:r>
          </a:p>
          <a:p>
            <a:pPr marL="0" indent="0">
              <a:buNone/>
            </a:pPr>
            <a:r>
              <a:rPr lang="en-US" b="1" dirty="0"/>
              <a:t>5. Foreign Key</a:t>
            </a:r>
          </a:p>
          <a:p>
            <a:r>
              <a:rPr lang="en-US" dirty="0"/>
              <a:t>We use a foreign key to establish relationships between two available tables. The foreign key would require every value present in a column/set of columns to match the referential table’s primary key. A foreign key helps us to maintain data as well as referential integrity.</a:t>
            </a:r>
          </a:p>
          <a:p>
            <a:pPr marL="0" indent="0">
              <a:buNone/>
            </a:pPr>
            <a:r>
              <a:rPr lang="en-US" b="1" dirty="0"/>
              <a:t>6. Composite Key</a:t>
            </a:r>
          </a:p>
          <a:p>
            <a:r>
              <a:rPr lang="en-US" dirty="0"/>
              <a:t>The composite key refers to a set of multiple attributes that help us uniquely identify every tuple present in a table. The attributes present in a set may not be unique whenever we consider them separately. Thus, when we take them all together, it will ensure total uniqueness.</a:t>
            </a:r>
          </a:p>
          <a:p>
            <a:pPr marL="0" indent="0">
              <a:buNone/>
            </a:pPr>
            <a:r>
              <a:rPr lang="en-US" b="1" dirty="0"/>
              <a:t>7. Unique Key</a:t>
            </a:r>
          </a:p>
          <a:p>
            <a:r>
              <a:rPr lang="en-US" dirty="0"/>
              <a:t>A unique key refers to a column/a set of columns that identify every record uniquely in a table. All the values in this key would have to be unique. Remember that a unique key is different from a primary key. It is because it is only capable of having one null value. A primary key, on the other hand, cannot have a null value.</a:t>
            </a:r>
          </a:p>
          <a:p>
            <a:endParaRPr lang="en-IN" dirty="0"/>
          </a:p>
          <a:p>
            <a:endParaRPr lang="en-IN" dirty="0"/>
          </a:p>
        </p:txBody>
      </p:sp>
    </p:spTree>
    <p:extLst>
      <p:ext uri="{BB962C8B-B14F-4D97-AF65-F5344CB8AC3E}">
        <p14:creationId xmlns:p14="http://schemas.microsoft.com/office/powerpoint/2010/main" val="332863127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4" name="Content Placeholder 3"/>
          <p:cNvGraphicFramePr>
            <a:graphicFrameLocks noGrp="1" noChangeAspect="1"/>
          </p:cNvGraphicFramePr>
          <p:nvPr>
            <p:ph idx="1"/>
            <p:extLst>
              <p:ext uri="{D42A27DB-BD31-4B8C-83A1-F6EECF244321}">
                <p14:modId xmlns:p14="http://schemas.microsoft.com/office/powerpoint/2010/main" val="1482544565"/>
              </p:ext>
            </p:extLst>
          </p:nvPr>
        </p:nvGraphicFramePr>
        <p:xfrm>
          <a:off x="457200" y="1906588"/>
          <a:ext cx="8229600" cy="4424939"/>
        </p:xfrm>
        <a:graphic>
          <a:graphicData uri="http://schemas.openxmlformats.org/presentationml/2006/ole">
            <mc:AlternateContent xmlns:mc="http://schemas.openxmlformats.org/markup-compatibility/2006">
              <mc:Choice xmlns:v="urn:schemas-microsoft-com:vml" Requires="v">
                <p:oleObj spid="_x0000_s1093" name="Bitmap Image" r:id="rId3" imgW="5448240" imgH="2590920" progId="Paint.Picture">
                  <p:embed/>
                </p:oleObj>
              </mc:Choice>
              <mc:Fallback>
                <p:oleObj name="Bitmap Image" r:id="rId3" imgW="5448240" imgH="2590920" progId="Paint.Picture">
                  <p:embed/>
                  <p:pic>
                    <p:nvPicPr>
                      <p:cNvPr id="0" name=""/>
                      <p:cNvPicPr/>
                      <p:nvPr/>
                    </p:nvPicPr>
                    <p:blipFill>
                      <a:blip r:embed="rId4"/>
                      <a:stretch>
                        <a:fillRect/>
                      </a:stretch>
                    </p:blipFill>
                    <p:spPr>
                      <a:xfrm>
                        <a:off x="457200" y="1906588"/>
                        <a:ext cx="8229600" cy="4424939"/>
                      </a:xfrm>
                      <a:prstGeom prst="rect">
                        <a:avLst/>
                      </a:prstGeom>
                    </p:spPr>
                  </p:pic>
                </p:oleObj>
              </mc:Fallback>
            </mc:AlternateContent>
          </a:graphicData>
        </a:graphic>
      </p:graphicFrame>
    </p:spTree>
    <p:extLst>
      <p:ext uri="{BB962C8B-B14F-4D97-AF65-F5344CB8AC3E}">
        <p14:creationId xmlns:p14="http://schemas.microsoft.com/office/powerpoint/2010/main" val="260383891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5" name="Content Placeholder 4"/>
          <p:cNvGraphicFramePr>
            <a:graphicFrameLocks noGrp="1" noChangeAspect="1"/>
          </p:cNvGraphicFramePr>
          <p:nvPr>
            <p:ph idx="1"/>
            <p:extLst>
              <p:ext uri="{D42A27DB-BD31-4B8C-83A1-F6EECF244321}">
                <p14:modId xmlns:p14="http://schemas.microsoft.com/office/powerpoint/2010/main" val="2272325024"/>
              </p:ext>
            </p:extLst>
          </p:nvPr>
        </p:nvGraphicFramePr>
        <p:xfrm>
          <a:off x="457200" y="2272145"/>
          <a:ext cx="8229600" cy="3519055"/>
        </p:xfrm>
        <a:graphic>
          <a:graphicData uri="http://schemas.openxmlformats.org/presentationml/2006/ole">
            <mc:AlternateContent xmlns:mc="http://schemas.openxmlformats.org/markup-compatibility/2006">
              <mc:Choice xmlns:v="urn:schemas-microsoft-com:vml" Requires="v">
                <p:oleObj spid="_x0000_s2116" name="Bitmap Image" r:id="rId3" imgW="7153200" imgH="2057400" progId="Paint.Picture">
                  <p:embed/>
                </p:oleObj>
              </mc:Choice>
              <mc:Fallback>
                <p:oleObj name="Bitmap Image" r:id="rId3" imgW="7153200" imgH="2057400" progId="Paint.Picture">
                  <p:embed/>
                  <p:pic>
                    <p:nvPicPr>
                      <p:cNvPr id="0" name=""/>
                      <p:cNvPicPr/>
                      <p:nvPr/>
                    </p:nvPicPr>
                    <p:blipFill>
                      <a:blip r:embed="rId4"/>
                      <a:stretch>
                        <a:fillRect/>
                      </a:stretch>
                    </p:blipFill>
                    <p:spPr>
                      <a:xfrm>
                        <a:off x="457200" y="2272145"/>
                        <a:ext cx="8229600" cy="3519055"/>
                      </a:xfrm>
                      <a:prstGeom prst="rect">
                        <a:avLst/>
                      </a:prstGeom>
                    </p:spPr>
                  </p:pic>
                </p:oleObj>
              </mc:Fallback>
            </mc:AlternateContent>
          </a:graphicData>
        </a:graphic>
      </p:graphicFrame>
    </p:spTree>
    <p:extLst>
      <p:ext uri="{BB962C8B-B14F-4D97-AF65-F5344CB8AC3E}">
        <p14:creationId xmlns:p14="http://schemas.microsoft.com/office/powerpoint/2010/main" val="357194800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56635"/>
          </a:xfrm>
        </p:spPr>
        <p:txBody>
          <a:bodyPr>
            <a:normAutofit fontScale="90000"/>
          </a:bodyPr>
          <a:lstStyle/>
          <a:p>
            <a:endParaRPr lang="en-IN" dirty="0"/>
          </a:p>
        </p:txBody>
      </p:sp>
      <p:sp>
        <p:nvSpPr>
          <p:cNvPr id="3" name="Content Placeholder 2"/>
          <p:cNvSpPr>
            <a:spLocks noGrp="1"/>
          </p:cNvSpPr>
          <p:nvPr>
            <p:ph idx="1"/>
          </p:nvPr>
        </p:nvSpPr>
        <p:spPr>
          <a:xfrm>
            <a:off x="457200" y="983674"/>
            <a:ext cx="8229600" cy="5555672"/>
          </a:xfrm>
        </p:spPr>
        <p:txBody>
          <a:bodyPr numCol="2">
            <a:normAutofit fontScale="55000" lnSpcReduction="20000"/>
          </a:bodyPr>
          <a:lstStyle/>
          <a:p>
            <a:pPr marL="0" indent="0">
              <a:buNone/>
            </a:pPr>
            <a:r>
              <a:rPr lang="en-US" b="1" u="sng" dirty="0" smtClean="0"/>
              <a:t> </a:t>
            </a:r>
            <a:r>
              <a:rPr lang="en-US" b="1" u="sng" dirty="0"/>
              <a:t>Composite Key-</a:t>
            </a:r>
            <a:endParaRPr lang="en-US" b="1" dirty="0"/>
          </a:p>
          <a:p>
            <a:pPr marL="0" indent="0">
              <a:buNone/>
            </a:pPr>
            <a:r>
              <a:rPr lang="en-US" dirty="0"/>
              <a:t> </a:t>
            </a:r>
            <a:r>
              <a:rPr lang="en-US" dirty="0" smtClean="0"/>
              <a:t>A </a:t>
            </a:r>
            <a:r>
              <a:rPr lang="en-US" dirty="0"/>
              <a:t>primary key comprising of multiple attributes and not just a single attribute is called as a composite key.</a:t>
            </a:r>
          </a:p>
          <a:p>
            <a:pPr marL="0" indent="0">
              <a:buNone/>
            </a:pPr>
            <a:r>
              <a:rPr lang="en-US" b="1" u="sng" dirty="0" smtClean="0"/>
              <a:t>Unique </a:t>
            </a:r>
            <a:r>
              <a:rPr lang="en-US" b="1" u="sng" dirty="0"/>
              <a:t>Key-</a:t>
            </a:r>
            <a:endParaRPr lang="en-US" b="1" dirty="0"/>
          </a:p>
          <a:p>
            <a:r>
              <a:rPr lang="en-US" dirty="0"/>
              <a:t> </a:t>
            </a:r>
            <a:r>
              <a:rPr lang="en-US" dirty="0" smtClean="0"/>
              <a:t>Unique </a:t>
            </a:r>
            <a:r>
              <a:rPr lang="en-US" dirty="0"/>
              <a:t>key is a key with the following properties-</a:t>
            </a:r>
          </a:p>
          <a:p>
            <a:r>
              <a:rPr lang="en-US" dirty="0"/>
              <a:t>It is unique for all the records of the table.</a:t>
            </a:r>
          </a:p>
          <a:p>
            <a:r>
              <a:rPr lang="en-US" dirty="0"/>
              <a:t>Once assigned, its value can not be changed i.e. it is non-updatable.</a:t>
            </a:r>
          </a:p>
          <a:p>
            <a:r>
              <a:rPr lang="en-US" dirty="0"/>
              <a:t>It may have a NULL value.</a:t>
            </a:r>
          </a:p>
          <a:p>
            <a:r>
              <a:rPr lang="en-US" dirty="0"/>
              <a:t> </a:t>
            </a:r>
          </a:p>
          <a:p>
            <a:pPr marL="0" indent="0">
              <a:buNone/>
            </a:pPr>
            <a:r>
              <a:rPr lang="en-US" b="1" u="sng" dirty="0"/>
              <a:t>Example-</a:t>
            </a:r>
            <a:endParaRPr lang="en-US" b="1" dirty="0"/>
          </a:p>
          <a:p>
            <a:r>
              <a:rPr lang="en-US" dirty="0"/>
              <a:t> </a:t>
            </a:r>
            <a:r>
              <a:rPr lang="en-US" dirty="0" smtClean="0"/>
              <a:t>The </a:t>
            </a:r>
            <a:r>
              <a:rPr lang="en-US" dirty="0"/>
              <a:t>best example of unique key is </a:t>
            </a:r>
            <a:r>
              <a:rPr lang="en-US" b="1" u="sng" dirty="0" err="1">
                <a:hlinkClick r:id="rId2"/>
              </a:rPr>
              <a:t>Adhaar</a:t>
            </a:r>
            <a:r>
              <a:rPr lang="en-US" b="1" u="sng" dirty="0">
                <a:hlinkClick r:id="rId2"/>
              </a:rPr>
              <a:t> Card Numbers</a:t>
            </a:r>
            <a:r>
              <a:rPr lang="en-US" dirty="0"/>
              <a:t>.</a:t>
            </a:r>
          </a:p>
          <a:p>
            <a:r>
              <a:rPr lang="en-US" dirty="0"/>
              <a:t>The </a:t>
            </a:r>
            <a:r>
              <a:rPr lang="en-US" dirty="0" err="1"/>
              <a:t>Adhaar</a:t>
            </a:r>
            <a:r>
              <a:rPr lang="en-US" dirty="0"/>
              <a:t> Card Number is unique for all the citizens (tuples) of India (table).</a:t>
            </a:r>
          </a:p>
          <a:p>
            <a:r>
              <a:rPr lang="en-US" dirty="0"/>
              <a:t>If it gets lost and another duplicate copy is issued, then the duplicate copy always has the same number as before.</a:t>
            </a:r>
          </a:p>
          <a:p>
            <a:r>
              <a:rPr lang="en-US" dirty="0"/>
              <a:t>Thus, it is non-updatable.</a:t>
            </a:r>
          </a:p>
          <a:p>
            <a:r>
              <a:rPr lang="en-US" dirty="0"/>
              <a:t>Few citizens may not have got their </a:t>
            </a:r>
            <a:r>
              <a:rPr lang="en-US" dirty="0" err="1"/>
              <a:t>Adhaar</a:t>
            </a:r>
            <a:r>
              <a:rPr lang="en-US" dirty="0"/>
              <a:t> cards, so for them its value is NULL.</a:t>
            </a:r>
          </a:p>
          <a:p>
            <a:r>
              <a:rPr lang="en-US" dirty="0"/>
              <a:t> </a:t>
            </a:r>
          </a:p>
          <a:p>
            <a:r>
              <a:rPr lang="en-US" b="1" u="sng" dirty="0" smtClean="0"/>
              <a:t> </a:t>
            </a:r>
            <a:r>
              <a:rPr lang="en-US" b="1" u="sng" dirty="0"/>
              <a:t>Surrogate Key-</a:t>
            </a:r>
            <a:endParaRPr lang="en-US" b="1" dirty="0"/>
          </a:p>
          <a:p>
            <a:r>
              <a:rPr lang="en-US" dirty="0"/>
              <a:t> </a:t>
            </a:r>
            <a:r>
              <a:rPr lang="en-US" dirty="0" smtClean="0"/>
              <a:t>Surrogate </a:t>
            </a:r>
            <a:r>
              <a:rPr lang="en-US" dirty="0"/>
              <a:t>key is a key with the following properties-</a:t>
            </a:r>
          </a:p>
          <a:p>
            <a:r>
              <a:rPr lang="en-US" dirty="0"/>
              <a:t>It is unique for all the records of the table.</a:t>
            </a:r>
          </a:p>
          <a:p>
            <a:r>
              <a:rPr lang="en-US" dirty="0"/>
              <a:t>It is updatable.</a:t>
            </a:r>
          </a:p>
          <a:p>
            <a:r>
              <a:rPr lang="en-US" dirty="0"/>
              <a:t>It can not be NULL i.e. it must have some value.</a:t>
            </a:r>
          </a:p>
          <a:p>
            <a:r>
              <a:rPr lang="en-US" dirty="0"/>
              <a:t> </a:t>
            </a:r>
            <a:r>
              <a:rPr lang="en-US" b="1" u="sng" dirty="0"/>
              <a:t> Secondary Key-</a:t>
            </a:r>
            <a:endParaRPr lang="en-US" b="1" dirty="0"/>
          </a:p>
          <a:p>
            <a:r>
              <a:rPr lang="en-US" dirty="0"/>
              <a:t> </a:t>
            </a:r>
            <a:r>
              <a:rPr lang="en-US" dirty="0" smtClean="0"/>
              <a:t>Secondary </a:t>
            </a:r>
            <a:r>
              <a:rPr lang="en-US" dirty="0"/>
              <a:t>key is required for the indexing purpose for better and faster searching.</a:t>
            </a:r>
          </a:p>
          <a:p>
            <a:endParaRPr lang="en-US" dirty="0"/>
          </a:p>
          <a:p>
            <a:endParaRPr lang="en-IN" dirty="0"/>
          </a:p>
        </p:txBody>
      </p:sp>
    </p:spTree>
    <p:extLst>
      <p:ext uri="{BB962C8B-B14F-4D97-AF65-F5344CB8AC3E}">
        <p14:creationId xmlns:p14="http://schemas.microsoft.com/office/powerpoint/2010/main" val="251203265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546957" y="1600200"/>
            <a:ext cx="8050085" cy="4525963"/>
          </a:xfrm>
          <a:prstGeom prst="rect">
            <a:avLst/>
          </a:prstGeom>
        </p:spPr>
      </p:pic>
      <p:sp>
        <p:nvSpPr>
          <p:cNvPr id="3" name="Rectangle 2"/>
          <p:cNvSpPr/>
          <p:nvPr/>
        </p:nvSpPr>
        <p:spPr>
          <a:xfrm>
            <a:off x="546957" y="5846618"/>
            <a:ext cx="8050085" cy="44334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85367714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457200" y="1417638"/>
            <a:ext cx="8050085" cy="4525963"/>
          </a:xfrm>
          <a:prstGeom prst="rect">
            <a:avLst/>
          </a:prstGeom>
        </p:spPr>
      </p:pic>
      <p:sp>
        <p:nvSpPr>
          <p:cNvPr id="5" name="Rectangle 4"/>
          <p:cNvSpPr/>
          <p:nvPr/>
        </p:nvSpPr>
        <p:spPr>
          <a:xfrm>
            <a:off x="457200" y="5624945"/>
            <a:ext cx="8050085" cy="44334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96966078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8089"/>
          </a:xfrm>
        </p:spPr>
        <p:txBody>
          <a:bodyPr>
            <a:normAutofit fontScale="90000"/>
          </a:bodyPr>
          <a:lstStyle/>
          <a:p>
            <a:r>
              <a:rPr lang="en-US" dirty="0" smtClean="0"/>
              <a:t>Contd..</a:t>
            </a:r>
            <a:endParaRPr lang="en-IN" dirty="0"/>
          </a:p>
        </p:txBody>
      </p:sp>
      <p:sp>
        <p:nvSpPr>
          <p:cNvPr id="3" name="Content Placeholder 2"/>
          <p:cNvSpPr>
            <a:spLocks noGrp="1"/>
          </p:cNvSpPr>
          <p:nvPr>
            <p:ph idx="1"/>
          </p:nvPr>
        </p:nvSpPr>
        <p:spPr>
          <a:xfrm>
            <a:off x="221673" y="692727"/>
            <a:ext cx="8825344" cy="6068291"/>
          </a:xfrm>
        </p:spPr>
        <p:txBody>
          <a:bodyPr numCol="2">
            <a:normAutofit/>
          </a:bodyPr>
          <a:lstStyle/>
          <a:p>
            <a:pPr algn="just"/>
            <a:r>
              <a:rPr lang="en-US" sz="2800" dirty="0"/>
              <a:t>All the attributes in a candidate key are sufficient as well as necessary to identify each tuple uniquely.</a:t>
            </a:r>
          </a:p>
          <a:p>
            <a:pPr algn="just"/>
            <a:r>
              <a:rPr lang="en-US" sz="2800" dirty="0"/>
              <a:t>Removing any attribute from the candidate key fails in identifying each tuple uniquely.</a:t>
            </a:r>
          </a:p>
          <a:p>
            <a:pPr algn="just"/>
            <a:r>
              <a:rPr lang="en-US" sz="2800" dirty="0"/>
              <a:t>The value of candidate key must always be unique.</a:t>
            </a:r>
          </a:p>
          <a:p>
            <a:pPr algn="just"/>
            <a:r>
              <a:rPr lang="en-US" sz="2800" dirty="0"/>
              <a:t>The value of candidate key can never be NULL.</a:t>
            </a:r>
          </a:p>
          <a:p>
            <a:pPr algn="just"/>
            <a:r>
              <a:rPr lang="en-US" sz="2800" dirty="0"/>
              <a:t>It is possible to have multiple candidate keys in a relation.</a:t>
            </a:r>
          </a:p>
          <a:p>
            <a:pPr algn="just"/>
            <a:r>
              <a:rPr lang="en-US" sz="2800" dirty="0"/>
              <a:t>Those attributes which appears in some candidate key are called as </a:t>
            </a:r>
            <a:r>
              <a:rPr lang="en-US" sz="2800" b="1" dirty="0"/>
              <a:t>prime attributes</a:t>
            </a:r>
            <a:r>
              <a:rPr lang="en-US" sz="2800" dirty="0"/>
              <a:t>.</a:t>
            </a:r>
          </a:p>
          <a:p>
            <a:pPr algn="just"/>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61164" y="3934691"/>
            <a:ext cx="4585853" cy="2826327"/>
          </a:xfrm>
          <a:prstGeom prst="rect">
            <a:avLst/>
          </a:prstGeom>
        </p:spPr>
      </p:pic>
    </p:spTree>
    <p:extLst>
      <p:ext uri="{BB962C8B-B14F-4D97-AF65-F5344CB8AC3E}">
        <p14:creationId xmlns:p14="http://schemas.microsoft.com/office/powerpoint/2010/main" val="233735398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4" name="Content Placeholder 3"/>
          <p:cNvPicPr>
            <a:picLocks noGrp="1" noChangeAspect="1"/>
          </p:cNvPicPr>
          <p:nvPr>
            <p:ph idx="1"/>
          </p:nvPr>
        </p:nvPicPr>
        <p:blipFill>
          <a:blip r:embed="rId2"/>
          <a:stretch>
            <a:fillRect/>
          </a:stretch>
        </p:blipFill>
        <p:spPr>
          <a:xfrm>
            <a:off x="546957" y="1600200"/>
            <a:ext cx="8050085" cy="4525963"/>
          </a:xfrm>
          <a:prstGeom prst="rect">
            <a:avLst/>
          </a:prstGeom>
        </p:spPr>
      </p:pic>
      <p:sp>
        <p:nvSpPr>
          <p:cNvPr id="5" name="Rectangle 4"/>
          <p:cNvSpPr/>
          <p:nvPr/>
        </p:nvSpPr>
        <p:spPr>
          <a:xfrm>
            <a:off x="546956" y="5777345"/>
            <a:ext cx="8050085"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36864928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US" dirty="0"/>
              <a:t>The value of primary key can never be NULL.</a:t>
            </a:r>
          </a:p>
          <a:p>
            <a:r>
              <a:rPr lang="en-US" dirty="0"/>
              <a:t>The value of primary key must always be unique.</a:t>
            </a:r>
          </a:p>
          <a:p>
            <a:r>
              <a:rPr lang="en-US" dirty="0"/>
              <a:t>The values of primary key can never be changed i.e. no </a:t>
            </a:r>
            <a:r>
              <a:rPr lang="en-US" dirty="0" err="1"/>
              <a:t>updation</a:t>
            </a:r>
            <a:r>
              <a:rPr lang="en-US" dirty="0"/>
              <a:t> is possible.</a:t>
            </a:r>
          </a:p>
          <a:p>
            <a:r>
              <a:rPr lang="en-US" dirty="0"/>
              <a:t>The value of primary key must be assigned when inserting a record.</a:t>
            </a:r>
          </a:p>
          <a:p>
            <a:r>
              <a:rPr lang="en-US" dirty="0"/>
              <a:t>A relation is allowed  to have only one primary key.</a:t>
            </a:r>
          </a:p>
          <a:p>
            <a:endParaRPr lang="en-IN" dirty="0"/>
          </a:p>
        </p:txBody>
      </p:sp>
    </p:spTree>
    <p:extLst>
      <p:ext uri="{BB962C8B-B14F-4D97-AF65-F5344CB8AC3E}">
        <p14:creationId xmlns:p14="http://schemas.microsoft.com/office/powerpoint/2010/main" val="87625976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546957" y="1600200"/>
            <a:ext cx="8050085" cy="4525963"/>
          </a:xfrm>
          <a:prstGeom prst="rect">
            <a:avLst/>
          </a:prstGeom>
        </p:spPr>
      </p:pic>
      <p:sp>
        <p:nvSpPr>
          <p:cNvPr id="5" name="Rectangle 4"/>
          <p:cNvSpPr/>
          <p:nvPr/>
        </p:nvSpPr>
        <p:spPr>
          <a:xfrm>
            <a:off x="457200" y="5777345"/>
            <a:ext cx="8139842"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60764973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546957" y="1600200"/>
            <a:ext cx="8050085" cy="4525963"/>
          </a:xfrm>
          <a:prstGeom prst="rect">
            <a:avLst/>
          </a:prstGeom>
        </p:spPr>
      </p:pic>
      <p:sp>
        <p:nvSpPr>
          <p:cNvPr id="5" name="Rectangle 4"/>
          <p:cNvSpPr/>
          <p:nvPr/>
        </p:nvSpPr>
        <p:spPr>
          <a:xfrm>
            <a:off x="457200" y="5777345"/>
            <a:ext cx="8139842"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76775372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546957" y="1600200"/>
            <a:ext cx="8050085" cy="4525963"/>
          </a:xfrm>
          <a:prstGeom prst="rect">
            <a:avLst/>
          </a:prstGeom>
        </p:spPr>
      </p:pic>
      <p:sp>
        <p:nvSpPr>
          <p:cNvPr id="5" name="Rectangle 4"/>
          <p:cNvSpPr/>
          <p:nvPr/>
        </p:nvSpPr>
        <p:spPr>
          <a:xfrm>
            <a:off x="546956" y="5777345"/>
            <a:ext cx="8050085"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1596589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7500" lnSpcReduction="20000"/>
          </a:bodyPr>
          <a:lstStyle/>
          <a:p>
            <a:r>
              <a:rPr lang="en-US" dirty="0"/>
              <a:t>Foreign key references the primary key of the table.</a:t>
            </a:r>
          </a:p>
          <a:p>
            <a:r>
              <a:rPr lang="en-US" dirty="0"/>
              <a:t>Foreign key can take only those values which are present in the primary key of the referenced relation.</a:t>
            </a:r>
          </a:p>
          <a:p>
            <a:r>
              <a:rPr lang="en-US" dirty="0"/>
              <a:t>Foreign key may have a name other than that of a primary key.</a:t>
            </a:r>
          </a:p>
          <a:p>
            <a:r>
              <a:rPr lang="en-US" dirty="0"/>
              <a:t>Foreign key can take the NULL value.</a:t>
            </a:r>
          </a:p>
          <a:p>
            <a:r>
              <a:rPr lang="en-US" dirty="0"/>
              <a:t>There is no restriction on a foreign key to be unique.</a:t>
            </a:r>
          </a:p>
          <a:p>
            <a:r>
              <a:rPr lang="en-US" dirty="0"/>
              <a:t>In fact, foreign key is not unique most of the time.</a:t>
            </a:r>
          </a:p>
          <a:p>
            <a:r>
              <a:rPr lang="en-US" dirty="0"/>
              <a:t>Referenced relation may also be called as the master table or primary table.</a:t>
            </a:r>
          </a:p>
          <a:p>
            <a:r>
              <a:rPr lang="en-US" dirty="0"/>
              <a:t>Referencing relation may also be called as the foreign table.</a:t>
            </a:r>
          </a:p>
          <a:p>
            <a:endParaRPr lang="en-IN" dirty="0"/>
          </a:p>
        </p:txBody>
      </p:sp>
    </p:spTree>
    <p:extLst>
      <p:ext uri="{BB962C8B-B14F-4D97-AF65-F5344CB8AC3E}">
        <p14:creationId xmlns:p14="http://schemas.microsoft.com/office/powerpoint/2010/main" val="91479975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Closure Algorithm</a:t>
            </a:r>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417638"/>
            <a:ext cx="8506691" cy="5440362"/>
          </a:xfrm>
        </p:spPr>
      </p:pic>
    </p:spTree>
    <p:extLst>
      <p:ext uri="{BB962C8B-B14F-4D97-AF65-F5344CB8AC3E}">
        <p14:creationId xmlns:p14="http://schemas.microsoft.com/office/powerpoint/2010/main" val="227431295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73507"/>
          </a:xfrm>
        </p:spPr>
        <p:txBody>
          <a:bodyPr>
            <a:normAutofit fontScale="90000"/>
          </a:bodyPr>
          <a:lstStyle/>
          <a:p>
            <a:r>
              <a:rPr lang="en-US" dirty="0" smtClean="0"/>
              <a:t>Ex</a:t>
            </a:r>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71103" y="748145"/>
            <a:ext cx="6610352" cy="3486150"/>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801" y="4124325"/>
            <a:ext cx="6414654" cy="2733675"/>
          </a:xfrm>
          <a:prstGeom prst="rect">
            <a:avLst/>
          </a:prstGeom>
        </p:spPr>
      </p:pic>
    </p:spTree>
    <p:extLst>
      <p:ext uri="{BB962C8B-B14F-4D97-AF65-F5344CB8AC3E}">
        <p14:creationId xmlns:p14="http://schemas.microsoft.com/office/powerpoint/2010/main" val="417624863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42780"/>
          </a:xfrm>
        </p:spPr>
        <p:txBody>
          <a:bodyPr>
            <a:normAutofit fontScale="90000"/>
          </a:bodyPr>
          <a:lstStyle/>
          <a:p>
            <a:r>
              <a:rPr lang="en-US" b="1" dirty="0" smtClean="0"/>
              <a:t/>
            </a:r>
            <a:br>
              <a:rPr lang="en-US" b="1" dirty="0" smtClean="0"/>
            </a:br>
            <a:r>
              <a:rPr lang="en-US" b="1" dirty="0" smtClean="0"/>
              <a:t>Applications </a:t>
            </a:r>
            <a:r>
              <a:rPr lang="en-US" b="1" dirty="0"/>
              <a:t>of Attribute Closure</a:t>
            </a:r>
            <a:br>
              <a:rPr lang="en-US" b="1" dirty="0"/>
            </a:br>
            <a:endParaRPr lang="en-IN" dirty="0"/>
          </a:p>
        </p:txBody>
      </p:sp>
      <p:sp>
        <p:nvSpPr>
          <p:cNvPr id="3" name="Content Placeholder 2"/>
          <p:cNvSpPr>
            <a:spLocks noGrp="1"/>
          </p:cNvSpPr>
          <p:nvPr>
            <p:ph idx="1"/>
          </p:nvPr>
        </p:nvSpPr>
        <p:spPr>
          <a:xfrm>
            <a:off x="457200" y="1600200"/>
            <a:ext cx="8423564" cy="4939145"/>
          </a:xfrm>
        </p:spPr>
        <p:txBody>
          <a:bodyPr>
            <a:normAutofit/>
          </a:bodyPr>
          <a:lstStyle/>
          <a:p>
            <a:pPr marL="0" indent="0">
              <a:buNone/>
            </a:pPr>
            <a:r>
              <a:rPr lang="en-US" b="1" dirty="0" smtClean="0">
                <a:solidFill>
                  <a:srgbClr val="00B0F0"/>
                </a:solidFill>
              </a:rPr>
              <a:t>Checking </a:t>
            </a:r>
            <a:r>
              <a:rPr lang="en-US" b="1" dirty="0">
                <a:solidFill>
                  <a:srgbClr val="00B0F0"/>
                </a:solidFill>
              </a:rPr>
              <a:t>if X is a </a:t>
            </a:r>
            <a:r>
              <a:rPr lang="en-US" b="1" dirty="0" smtClean="0">
                <a:solidFill>
                  <a:srgbClr val="00B0F0"/>
                </a:solidFill>
              </a:rPr>
              <a:t>Super key</a:t>
            </a:r>
            <a:endParaRPr lang="en-US" dirty="0">
              <a:solidFill>
                <a:srgbClr val="00B0F0"/>
              </a:solidFill>
            </a:endParaRPr>
          </a:p>
          <a:p>
            <a:pPr marL="457200" lvl="1" indent="0">
              <a:buNone/>
            </a:pPr>
            <a:r>
              <a:rPr lang="en-US" dirty="0"/>
              <a:t>If </a:t>
            </a:r>
            <a:r>
              <a:rPr lang="en-US" b="1" dirty="0"/>
              <a:t>X⁺ contains all attributes</a:t>
            </a:r>
            <a:r>
              <a:rPr lang="en-US" dirty="0"/>
              <a:t> in the relation, then </a:t>
            </a:r>
            <a:r>
              <a:rPr lang="en-US" b="1" dirty="0"/>
              <a:t>X is a </a:t>
            </a:r>
            <a:r>
              <a:rPr lang="en-US" b="1" dirty="0" smtClean="0"/>
              <a:t>super key</a:t>
            </a:r>
            <a:r>
              <a:rPr lang="en-US" dirty="0" smtClean="0"/>
              <a:t>.</a:t>
            </a:r>
            <a:endParaRPr lang="en-US" dirty="0"/>
          </a:p>
          <a:p>
            <a:pPr marL="0" indent="0">
              <a:buNone/>
            </a:pPr>
            <a:r>
              <a:rPr lang="en-US" b="1" dirty="0">
                <a:solidFill>
                  <a:srgbClr val="00B0F0"/>
                </a:solidFill>
              </a:rPr>
              <a:t>Finding Candidate Keys</a:t>
            </a:r>
            <a:endParaRPr lang="en-US" dirty="0">
              <a:solidFill>
                <a:srgbClr val="00B0F0"/>
              </a:solidFill>
            </a:endParaRPr>
          </a:p>
          <a:p>
            <a:pPr marL="457200" lvl="1" indent="0">
              <a:buNone/>
            </a:pPr>
            <a:r>
              <a:rPr lang="en-US" dirty="0"/>
              <a:t>If </a:t>
            </a:r>
            <a:r>
              <a:rPr lang="en-US" b="1" dirty="0"/>
              <a:t>X⁺ contains all attributes</a:t>
            </a:r>
            <a:r>
              <a:rPr lang="en-US" dirty="0"/>
              <a:t> and </a:t>
            </a:r>
            <a:r>
              <a:rPr lang="en-US" b="1" dirty="0"/>
              <a:t>X is minimal</a:t>
            </a:r>
            <a:r>
              <a:rPr lang="en-US" dirty="0"/>
              <a:t>, then </a:t>
            </a:r>
            <a:r>
              <a:rPr lang="en-US" b="1" dirty="0"/>
              <a:t>X is a candidate key</a:t>
            </a:r>
            <a:r>
              <a:rPr lang="en-US" dirty="0"/>
              <a:t>.</a:t>
            </a:r>
          </a:p>
          <a:p>
            <a:pPr marL="0" indent="0">
              <a:buNone/>
            </a:pPr>
            <a:r>
              <a:rPr lang="en-US" b="1" dirty="0">
                <a:solidFill>
                  <a:srgbClr val="00B0F0"/>
                </a:solidFill>
              </a:rPr>
              <a:t>Checking Functional Dependencies</a:t>
            </a:r>
            <a:endParaRPr lang="en-US" dirty="0">
              <a:solidFill>
                <a:srgbClr val="00B0F0"/>
              </a:solidFill>
            </a:endParaRPr>
          </a:p>
          <a:p>
            <a:pPr marL="457200" lvl="1" indent="0">
              <a:buNone/>
            </a:pPr>
            <a:r>
              <a:rPr lang="en-US" dirty="0"/>
              <a:t>To verify if </a:t>
            </a:r>
            <a:r>
              <a:rPr lang="en-US" b="1" dirty="0"/>
              <a:t>X → Y</a:t>
            </a:r>
            <a:r>
              <a:rPr lang="en-US" dirty="0"/>
              <a:t> holds, check if </a:t>
            </a:r>
            <a:r>
              <a:rPr lang="en-US" b="1" dirty="0"/>
              <a:t>Y ⊆ X⁺</a:t>
            </a:r>
            <a:r>
              <a:rPr lang="en-US" dirty="0"/>
              <a:t>.</a:t>
            </a:r>
          </a:p>
          <a:p>
            <a:endParaRPr lang="en-IN" dirty="0"/>
          </a:p>
        </p:txBody>
      </p:sp>
    </p:spTree>
    <p:extLst>
      <p:ext uri="{BB962C8B-B14F-4D97-AF65-F5344CB8AC3E}">
        <p14:creationId xmlns:p14="http://schemas.microsoft.com/office/powerpoint/2010/main" val="122391572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a Candidate Key?</a:t>
            </a:r>
          </a:p>
        </p:txBody>
      </p:sp>
      <p:sp>
        <p:nvSpPr>
          <p:cNvPr id="3" name="Content Placeholder 2"/>
          <p:cNvSpPr>
            <a:spLocks noGrp="1"/>
          </p:cNvSpPr>
          <p:nvPr>
            <p:ph idx="1"/>
          </p:nvPr>
        </p:nvSpPr>
        <p:spPr/>
        <p:txBody>
          <a:bodyPr/>
          <a:lstStyle/>
          <a:p>
            <a:r>
              <a:t>- A Candidate Key is a minimal set of attributes that uniquely identifies a tuple in a relation.</a:t>
            </a:r>
          </a:p>
          <a:p>
            <a:r>
              <a:t>- A relation can have multiple candidate keys, but one is chosen as the Primary Key.</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Properties of Candidate Keys</a:t>
            </a:r>
          </a:p>
        </p:txBody>
      </p:sp>
      <p:sp>
        <p:nvSpPr>
          <p:cNvPr id="3" name="Content Placeholder 2"/>
          <p:cNvSpPr>
            <a:spLocks noGrp="1"/>
          </p:cNvSpPr>
          <p:nvPr>
            <p:ph idx="1"/>
          </p:nvPr>
        </p:nvSpPr>
        <p:spPr/>
        <p:txBody>
          <a:bodyPr/>
          <a:lstStyle/>
          <a:p>
            <a:r>
              <a:t>1. Uniqueness – Each candidate key must uniquely identify every row in the table.</a:t>
            </a:r>
          </a:p>
          <a:p>
            <a:r>
              <a:t>2. Minimality – Removing any attribute from the candidate key will make it lose uniqueness.</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Steps to Find Candidate Keys</a:t>
            </a:r>
          </a:p>
        </p:txBody>
      </p:sp>
      <p:sp>
        <p:nvSpPr>
          <p:cNvPr id="3" name="Content Placeholder 2"/>
          <p:cNvSpPr>
            <a:spLocks noGrp="1"/>
          </p:cNvSpPr>
          <p:nvPr>
            <p:ph idx="1"/>
          </p:nvPr>
        </p:nvSpPr>
        <p:spPr/>
        <p:txBody>
          <a:bodyPr/>
          <a:lstStyle/>
          <a:p>
            <a:r>
              <a:rPr dirty="0"/>
              <a:t>1. List all attributes of the relation.</a:t>
            </a:r>
          </a:p>
          <a:p>
            <a:r>
              <a:rPr dirty="0"/>
              <a:t>2. Identify functional dependencies (FDs).</a:t>
            </a:r>
          </a:p>
          <a:p>
            <a:r>
              <a:rPr dirty="0"/>
              <a:t>3. </a:t>
            </a:r>
            <a:r>
              <a:rPr b="1" i="1" dirty="0">
                <a:solidFill>
                  <a:srgbClr val="FF0000"/>
                </a:solidFill>
              </a:rPr>
              <a:t>Compute attribute closure (X⁺) to </a:t>
            </a:r>
            <a:r>
              <a:rPr dirty="0"/>
              <a:t>determine which sets can uniquely identify all attributes.</a:t>
            </a:r>
          </a:p>
          <a:p>
            <a:r>
              <a:rPr dirty="0"/>
              <a:t>4. Choose the minimal set(s) that satisfy uniqueness.</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12053"/>
          </a:xfrm>
        </p:spPr>
        <p:txBody>
          <a:bodyPr>
            <a:normAutofit fontScale="90000"/>
          </a:bodyPr>
          <a:lstStyle/>
          <a:p>
            <a:r>
              <a:rPr dirty="0"/>
              <a:t>Example 1</a:t>
            </a:r>
          </a:p>
        </p:txBody>
      </p:sp>
      <p:sp>
        <p:nvSpPr>
          <p:cNvPr id="3" name="Content Placeholder 2"/>
          <p:cNvSpPr>
            <a:spLocks noGrp="1"/>
          </p:cNvSpPr>
          <p:nvPr>
            <p:ph idx="1"/>
          </p:nvPr>
        </p:nvSpPr>
        <p:spPr>
          <a:xfrm>
            <a:off x="304800" y="858983"/>
            <a:ext cx="8382000" cy="7010400"/>
          </a:xfrm>
        </p:spPr>
        <p:txBody>
          <a:bodyPr/>
          <a:lstStyle/>
          <a:p>
            <a:r>
              <a:rPr dirty="0"/>
              <a:t>Relation: R(A, B, C, D)</a:t>
            </a:r>
          </a:p>
          <a:p>
            <a:r>
              <a:rPr dirty="0"/>
              <a:t>Functional Dependencies:</a:t>
            </a:r>
          </a:p>
          <a:p>
            <a:r>
              <a:rPr dirty="0"/>
              <a:t>A → B</a:t>
            </a:r>
          </a:p>
          <a:p>
            <a:r>
              <a:rPr dirty="0"/>
              <a:t>B → C</a:t>
            </a:r>
          </a:p>
          <a:p>
            <a:r>
              <a:rPr dirty="0"/>
              <a:t>A → D</a:t>
            </a:r>
          </a:p>
          <a:p>
            <a:endParaRPr dirty="0"/>
          </a:p>
          <a:p>
            <a:r>
              <a:rPr dirty="0"/>
              <a:t>Finding the closure of A:</a:t>
            </a:r>
          </a:p>
          <a:p>
            <a:r>
              <a:rPr dirty="0"/>
              <a:t>A⁺ = {A, B, C, D} ✅ (A determines all attributes)</a:t>
            </a:r>
          </a:p>
          <a:p>
            <a:r>
              <a:rPr dirty="0"/>
              <a:t>Candidate Key = {A} ✅</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Example 2 (Multiple Candidate Keys)</a:t>
            </a:r>
          </a:p>
        </p:txBody>
      </p:sp>
      <p:sp>
        <p:nvSpPr>
          <p:cNvPr id="3" name="Content Placeholder 2"/>
          <p:cNvSpPr>
            <a:spLocks noGrp="1"/>
          </p:cNvSpPr>
          <p:nvPr>
            <p:ph idx="1"/>
          </p:nvPr>
        </p:nvSpPr>
        <p:spPr/>
        <p:txBody>
          <a:bodyPr>
            <a:normAutofit fontScale="92500" lnSpcReduction="20000"/>
          </a:bodyPr>
          <a:lstStyle/>
          <a:p>
            <a:r>
              <a:rPr dirty="0"/>
              <a:t>Relation: R(A, B, C, D, E)</a:t>
            </a:r>
          </a:p>
          <a:p>
            <a:r>
              <a:rPr dirty="0"/>
              <a:t>Functional Dependencies:</a:t>
            </a:r>
          </a:p>
          <a:p>
            <a:r>
              <a:rPr dirty="0"/>
              <a:t>AB → C</a:t>
            </a:r>
          </a:p>
          <a:p>
            <a:r>
              <a:rPr dirty="0"/>
              <a:t>C → D</a:t>
            </a:r>
          </a:p>
          <a:p>
            <a:r>
              <a:rPr dirty="0"/>
              <a:t>D → E</a:t>
            </a:r>
          </a:p>
          <a:p>
            <a:endParaRPr dirty="0"/>
          </a:p>
          <a:p>
            <a:r>
              <a:rPr dirty="0"/>
              <a:t>Finding the closure of AB:</a:t>
            </a:r>
          </a:p>
          <a:p>
            <a:r>
              <a:t>AB⁺ = {A, B, C, D, E} ✅</a:t>
            </a:r>
          </a:p>
          <a:p>
            <a:r>
              <a:rPr dirty="0"/>
              <a:t>Candidate Key = {AB} ✅</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EX-3</a:t>
            </a:r>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65018" y="1417638"/>
            <a:ext cx="8021782" cy="5343379"/>
          </a:xfrm>
        </p:spPr>
      </p:pic>
      <p:sp>
        <p:nvSpPr>
          <p:cNvPr id="5" name="Rectangle 4"/>
          <p:cNvSpPr/>
          <p:nvPr/>
        </p:nvSpPr>
        <p:spPr>
          <a:xfrm>
            <a:off x="457200" y="1417638"/>
            <a:ext cx="526473" cy="534337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4821670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6254"/>
            <a:ext cx="8229600" cy="981219"/>
          </a:xfrm>
        </p:spPr>
        <p:txBody>
          <a:bodyPr/>
          <a:lstStyle/>
          <a:p>
            <a:r>
              <a:rPr lang="en-US" dirty="0" smtClean="0"/>
              <a:t>Note</a:t>
            </a:r>
            <a:endParaRPr lang="en-IN" dirty="0"/>
          </a:p>
        </p:txBody>
      </p:sp>
      <p:sp>
        <p:nvSpPr>
          <p:cNvPr id="3" name="Content Placeholder 2"/>
          <p:cNvSpPr>
            <a:spLocks noGrp="1"/>
          </p:cNvSpPr>
          <p:nvPr>
            <p:ph idx="1"/>
          </p:nvPr>
        </p:nvSpPr>
        <p:spPr/>
        <p:txBody>
          <a:bodyPr>
            <a:normAutofit lnSpcReduction="10000"/>
          </a:bodyPr>
          <a:lstStyle/>
          <a:p>
            <a:r>
              <a:rPr lang="en-US" dirty="0" smtClean="0"/>
              <a:t>Prime attributes which are available </a:t>
            </a:r>
            <a:r>
              <a:rPr lang="en-US" smtClean="0"/>
              <a:t>in CK(</a:t>
            </a:r>
            <a:r>
              <a:rPr lang="en-US" smtClean="0">
                <a:solidFill>
                  <a:srgbClr val="FF0000"/>
                </a:solidFill>
              </a:rPr>
              <a:t>AC,Ex-3</a:t>
            </a:r>
            <a:r>
              <a:rPr lang="en-US" dirty="0" smtClean="0"/>
              <a:t>)</a:t>
            </a:r>
          </a:p>
          <a:p>
            <a:r>
              <a:rPr lang="en-US" dirty="0" smtClean="0"/>
              <a:t>A,C Prime Attributes(PA) </a:t>
            </a:r>
            <a:r>
              <a:rPr lang="en-US" i="1" dirty="0" smtClean="0">
                <a:solidFill>
                  <a:srgbClr val="FF0000"/>
                </a:solidFill>
              </a:rPr>
              <a:t>Ex-3</a:t>
            </a:r>
          </a:p>
          <a:p>
            <a:r>
              <a:rPr lang="en-US" dirty="0" smtClean="0"/>
              <a:t>To Check More than one CK present in relation we must </a:t>
            </a:r>
            <a:r>
              <a:rPr lang="en-US" dirty="0" err="1" smtClean="0"/>
              <a:t>chk</a:t>
            </a:r>
            <a:r>
              <a:rPr lang="en-US" dirty="0" smtClean="0"/>
              <a:t> any of the PA present in RHS of any </a:t>
            </a:r>
            <a:r>
              <a:rPr lang="en-US" dirty="0" err="1" smtClean="0"/>
              <a:t>FD,If</a:t>
            </a:r>
            <a:r>
              <a:rPr lang="en-US" dirty="0" smtClean="0"/>
              <a:t> not there is only One CK,</a:t>
            </a:r>
          </a:p>
          <a:p>
            <a:r>
              <a:rPr lang="en-US" dirty="0" smtClean="0"/>
              <a:t>If Yes replace PA in CK with Corresponding LHS of FD</a:t>
            </a:r>
          </a:p>
          <a:p>
            <a:r>
              <a:rPr lang="en-US" dirty="0" smtClean="0"/>
              <a:t>Repeat Finding SK and CK</a:t>
            </a:r>
            <a:endParaRPr lang="en-IN" dirty="0"/>
          </a:p>
        </p:txBody>
      </p:sp>
    </p:spTree>
    <p:extLst>
      <p:ext uri="{BB962C8B-B14F-4D97-AF65-F5344CB8AC3E}">
        <p14:creationId xmlns:p14="http://schemas.microsoft.com/office/powerpoint/2010/main" val="258742499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Summary of Key Concepts</a:t>
            </a:r>
          </a:p>
        </p:txBody>
      </p:sp>
      <p:sp>
        <p:nvSpPr>
          <p:cNvPr id="3" name="Content Placeholder 2"/>
          <p:cNvSpPr>
            <a:spLocks noGrp="1"/>
          </p:cNvSpPr>
          <p:nvPr>
            <p:ph idx="1"/>
          </p:nvPr>
        </p:nvSpPr>
        <p:spPr/>
        <p:txBody>
          <a:bodyPr/>
          <a:lstStyle/>
          <a:p>
            <a:r>
              <a:t>Superkey: A set of attributes that uniquely identifies each tuple.</a:t>
            </a:r>
          </a:p>
          <a:p>
            <a:r>
              <a:t>Candidate Key: A minimal superkey.</a:t>
            </a:r>
          </a:p>
          <a:p>
            <a:r>
              <a:t>Primary Key: One chosen candidate key.</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Quick Tips</a:t>
            </a:r>
          </a:p>
        </p:txBody>
      </p:sp>
      <p:sp>
        <p:nvSpPr>
          <p:cNvPr id="3" name="Content Placeholder 2"/>
          <p:cNvSpPr>
            <a:spLocks noGrp="1"/>
          </p:cNvSpPr>
          <p:nvPr>
            <p:ph idx="1"/>
          </p:nvPr>
        </p:nvSpPr>
        <p:spPr/>
        <p:txBody>
          <a:bodyPr/>
          <a:lstStyle/>
          <a:p>
            <a:r>
              <a:t>✅ Compute attribute closure (X⁺) to check uniqueness.</a:t>
            </a:r>
          </a:p>
          <a:p>
            <a:r>
              <a:t>✅ Remove unnecessary attributes to ensure minimality.</a:t>
            </a:r>
          </a:p>
          <a:p>
            <a:r>
              <a:t>✅ If multiple minimal keys exist, all are candidate keys.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Thank You!</a:t>
            </a:r>
          </a:p>
        </p:txBody>
      </p:sp>
      <p:sp>
        <p:nvSpPr>
          <p:cNvPr id="3" name="Content Placeholder 2"/>
          <p:cNvSpPr>
            <a:spLocks noGrp="1"/>
          </p:cNvSpPr>
          <p:nvPr>
            <p:ph idx="1"/>
          </p:nvPr>
        </p:nvSpPr>
        <p:spPr/>
        <p:txBody>
          <a:bodyPr/>
          <a:lstStyle/>
          <a:p>
            <a:r>
              <a:t>- Any questions? 😊</a:t>
            </a:r>
          </a:p>
          <a:p>
            <a:r>
              <a:t>- Happy Learning!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453</TotalTime>
  <Words>1258</Words>
  <Application>Microsoft Office PowerPoint</Application>
  <PresentationFormat>On-screen Show (4:3)</PresentationFormat>
  <Paragraphs>127</Paragraphs>
  <Slides>28</Slides>
  <Notes>0</Notes>
  <HiddenSlides>0</HiddenSlides>
  <MMClips>0</MMClips>
  <ScaleCrop>false</ScaleCrop>
  <HeadingPairs>
    <vt:vector size="8"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28</vt:i4>
      </vt:variant>
    </vt:vector>
  </HeadingPairs>
  <TitlesOfParts>
    <vt:vector size="32" baseType="lpstr">
      <vt:lpstr>Arial</vt:lpstr>
      <vt:lpstr>Calibri</vt:lpstr>
      <vt:lpstr>Office Theme</vt:lpstr>
      <vt:lpstr>Bitmap Image</vt:lpstr>
      <vt:lpstr>Keys /Finding Candidate Keys in a Relation</vt:lpstr>
      <vt:lpstr> What are the different types of Keys in DBMS? </vt:lpstr>
      <vt:lpstr>PowerPoint Presentation</vt:lpstr>
      <vt:lpstr>PowerPoint Presentation</vt:lpstr>
      <vt:lpstr>PowerPoint Presentation</vt:lpstr>
      <vt:lpstr>PowerPoint Presentation</vt:lpstr>
      <vt:lpstr>PowerPoint Presentation</vt:lpstr>
      <vt:lpstr>PowerPoint Presentation</vt:lpstr>
      <vt:lpstr>Contd..</vt:lpstr>
      <vt:lpstr>PowerPoint Presentation</vt:lpstr>
      <vt:lpstr>PowerPoint Presentation</vt:lpstr>
      <vt:lpstr>PowerPoint Presentation</vt:lpstr>
      <vt:lpstr>PowerPoint Presentation</vt:lpstr>
      <vt:lpstr>PowerPoint Presentation</vt:lpstr>
      <vt:lpstr>PowerPoint Presentation</vt:lpstr>
      <vt:lpstr>Closure Algorithm</vt:lpstr>
      <vt:lpstr>Ex</vt:lpstr>
      <vt:lpstr> Applications of Attribute Closure </vt:lpstr>
      <vt:lpstr>What is a Candidate Key?</vt:lpstr>
      <vt:lpstr>Properties of Candidate Keys</vt:lpstr>
      <vt:lpstr>Steps to Find Candidate Keys</vt:lpstr>
      <vt:lpstr>Example 1</vt:lpstr>
      <vt:lpstr>Example 2 (Multiple Candidate Keys)</vt:lpstr>
      <vt:lpstr>EX-3</vt:lpstr>
      <vt:lpstr>Note</vt:lpstr>
      <vt:lpstr>Summary of Key Concepts</vt:lpstr>
      <vt:lpstr>Quick Tips</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Finding Candidate Keys in a Relation</dc:title>
  <dc:subject/>
  <dc:creator/>
  <cp:keywords/>
  <dc:description>generated using python-pptx</dc:description>
  <cp:lastModifiedBy>Subhasish_Mohapatra</cp:lastModifiedBy>
  <cp:revision>45</cp:revision>
  <dcterms:created xsi:type="dcterms:W3CDTF">2013-01-27T09:14:16Z</dcterms:created>
  <dcterms:modified xsi:type="dcterms:W3CDTF">2025-08-08T09:41:17Z</dcterms:modified>
  <cp:category/>
</cp:coreProperties>
</file>