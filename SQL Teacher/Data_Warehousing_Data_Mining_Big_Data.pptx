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75" r:id="rId5"/>
    <p:sldId id="276" r:id="rId6"/>
    <p:sldId id="277" r:id="rId7"/>
    <p:sldId id="278" r:id="rId8"/>
    <p:sldId id="279" r:id="rId9"/>
    <p:sldId id="280" r:id="rId10"/>
    <p:sldId id="281" r:id="rId11"/>
    <p:sldId id="282" r:id="rId12"/>
    <p:sldId id="283" r:id="rId13"/>
    <p:sldId id="284" r:id="rId14"/>
    <p:sldId id="285" r:id="rId15"/>
    <p:sldId id="286" r:id="rId16"/>
    <p:sldId id="272" r:id="rId17"/>
    <p:sldId id="273" r:id="rId18"/>
    <p:sldId id="287" r:id="rId19"/>
    <p:sldId id="288" r:id="rId20"/>
    <p:sldId id="289" r:id="rId21"/>
    <p:sldId id="290" r:id="rId22"/>
    <p:sldId id="291" r:id="rId23"/>
    <p:sldId id="274" r:id="rId24"/>
    <p:sldId id="292" r:id="rId25"/>
    <p:sldId id="293" r:id="rId26"/>
    <p:sldId id="294" r:id="rId27"/>
    <p:sldId id="295" r:id="rId28"/>
    <p:sldId id="296" r:id="rId29"/>
    <p:sldId id="297" r:id="rId30"/>
    <p:sldId id="298" r:id="rId31"/>
    <p:sldId id="299" r:id="rId32"/>
    <p:sldId id="300" r:id="rId33"/>
    <p:sldId id="301" r:id="rId34"/>
    <p:sldId id="302" r:id="rId35"/>
    <p:sldId id="303" r:id="rId36"/>
    <p:sldId id="304" r:id="rId37"/>
    <p:sldId id="305" r:id="rId38"/>
    <p:sldId id="306" r:id="rId39"/>
    <p:sldId id="307" r:id="rId40"/>
    <p:sldId id="308" r:id="rId41"/>
    <p:sldId id="309" r:id="rId42"/>
    <p:sldId id="310" r:id="rId43"/>
    <p:sldId id="311" r:id="rId44"/>
    <p:sldId id="312" r:id="rId45"/>
    <p:sldId id="313" r:id="rId46"/>
    <p:sldId id="314" r:id="rId47"/>
    <p:sldId id="316" r:id="rId48"/>
    <p:sldId id="317" r:id="rId49"/>
    <p:sldId id="315" r:id="rId50"/>
    <p:sldId id="259" r:id="rId51"/>
    <p:sldId id="260" r:id="rId52"/>
    <p:sldId id="261" r:id="rId53"/>
    <p:sldId id="262" r:id="rId54"/>
    <p:sldId id="263" r:id="rId55"/>
    <p:sldId id="264" r:id="rId56"/>
    <p:sldId id="265" r:id="rId57"/>
    <p:sldId id="266" r:id="rId58"/>
    <p:sldId id="267" r:id="rId59"/>
    <p:sldId id="268" r:id="rId60"/>
    <p:sldId id="318" r:id="rId61"/>
    <p:sldId id="319" r:id="rId62"/>
    <p:sldId id="320" r:id="rId63"/>
    <p:sldId id="323" r:id="rId64"/>
    <p:sldId id="324" r:id="rId65"/>
    <p:sldId id="325" r:id="rId66"/>
    <p:sldId id="326" r:id="rId67"/>
    <p:sldId id="327" r:id="rId68"/>
    <p:sldId id="328" r:id="rId69"/>
    <p:sldId id="321" r:id="rId70"/>
    <p:sldId id="322" r:id="rId71"/>
    <p:sldId id="329" r:id="rId72"/>
    <p:sldId id="330" r:id="rId73"/>
    <p:sldId id="331" r:id="rId74"/>
    <p:sldId id="332" r:id="rId75"/>
    <p:sldId id="333" r:id="rId76"/>
    <p:sldId id="334" r:id="rId77"/>
    <p:sldId id="335" r:id="rId78"/>
    <p:sldId id="336" r:id="rId79"/>
    <p:sldId id="337" r:id="rId80"/>
    <p:sldId id="338" r:id="rId81"/>
    <p:sldId id="339" r:id="rId82"/>
    <p:sldId id="340" r:id="rId83"/>
    <p:sldId id="342" r:id="rId84"/>
    <p:sldId id="343" r:id="rId85"/>
    <p:sldId id="341" r:id="rId86"/>
    <p:sldId id="344" r:id="rId87"/>
    <p:sldId id="345" r:id="rId88"/>
    <p:sldId id="346" r:id="rId89"/>
    <p:sldId id="347" r:id="rId90"/>
    <p:sldId id="269" r:id="rId91"/>
    <p:sldId id="270" r:id="rId92"/>
    <p:sldId id="271" r:id="rId93"/>
    <p:sldId id="348" r:id="rId94"/>
    <p:sldId id="349" r:id="rId95"/>
    <p:sldId id="350" r:id="rId96"/>
    <p:sldId id="351" r:id="rId97"/>
    <p:sldId id="352" r:id="rId98"/>
    <p:sldId id="353" r:id="rId99"/>
    <p:sldId id="355" r:id="rId100"/>
    <p:sldId id="356" r:id="rId101"/>
    <p:sldId id="357" r:id="rId102"/>
    <p:sldId id="358" r:id="rId103"/>
    <p:sldId id="354" r:id="rId104"/>
    <p:sldId id="359" r:id="rId105"/>
    <p:sldId id="360" r:id="rId106"/>
    <p:sldId id="361" r:id="rId107"/>
    <p:sldId id="362" r:id="rId108"/>
    <p:sldId id="363" r:id="rId109"/>
    <p:sldId id="364" r:id="rId110"/>
    <p:sldId id="365" r:id="rId1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9" d="100"/>
          <a:sy n="69" d="100"/>
        </p:scale>
        <p:origin x="141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8/8/2025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8/8/2025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8/8/2025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techtarget.com/searchenterpriseai/definition/data-science" TargetMode="External"/><Relationship Id="rId2" Type="http://schemas.openxmlformats.org/officeDocument/2006/relationships/hyperlink" Target="https://www.techtarget.com/searchdatamanagement/definition/data-analytics" TargetMode="External"/><Relationship Id="rId1" Type="http://schemas.openxmlformats.org/officeDocument/2006/relationships/slideLayout" Target="../slideLayouts/slideLayout2.xml"/><Relationship Id="rId5" Type="http://schemas.openxmlformats.org/officeDocument/2006/relationships/hyperlink" Target="https://www.techtarget.com/searchdatamanagement/definition/big-data" TargetMode="External"/><Relationship Id="rId4" Type="http://schemas.openxmlformats.org/officeDocument/2006/relationships/hyperlink" Target="https://www.techtarget.com/searchenterpriseai/feature/KDD-in-data-mining-assists-data-prep-for-machine-learning"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www.forbes.com/sites/forbestechcouncil/2022/07/26/ai-and-data-mining-do-you-have-the-keys-to-the-castle/?sh=577e1d035cc5" TargetMode="External"/><Relationship Id="rId7" Type="http://schemas.openxmlformats.org/officeDocument/2006/relationships/hyperlink" Target="https://www.techtarget.com/searchcio/definition/data-storytelling" TargetMode="External"/><Relationship Id="rId2" Type="http://schemas.openxmlformats.org/officeDocument/2006/relationships/hyperlink" Target="https://www.techtarget.com/searchenterpriseai/definition/machine-learning-ML" TargetMode="External"/><Relationship Id="rId1" Type="http://schemas.openxmlformats.org/officeDocument/2006/relationships/slideLayout" Target="../slideLayouts/slideLayout2.xml"/><Relationship Id="rId6" Type="http://schemas.openxmlformats.org/officeDocument/2006/relationships/hyperlink" Target="https://www.techtarget.com/searchbusinessanalytics/feature/How-to-structure-and-manage-a-data-science-team" TargetMode="External"/><Relationship Id="rId5" Type="http://schemas.openxmlformats.org/officeDocument/2006/relationships/hyperlink" Target="https://www.techtarget.com/searchdatamanagement/definition/data-quality" TargetMode="External"/><Relationship Id="rId4" Type="http://schemas.openxmlformats.org/officeDocument/2006/relationships/hyperlink" Target="https://www.techtarget.com/searchdatamanagement/The-ultimate-guide-to-big-data-for-businesses" TargetMode="Externa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hyperlink" Target="https://www.techtarget.com/searchbusinessanalytics/feature/15-data-science-tools-to-consider-using" TargetMode="External"/><Relationship Id="rId3" Type="http://schemas.openxmlformats.org/officeDocument/2006/relationships/hyperlink" Target="https://www.techtarget.com/searchbusinessanalytics/definition/association-rules-in-data-mining" TargetMode="External"/><Relationship Id="rId7" Type="http://schemas.openxmlformats.org/officeDocument/2006/relationships/hyperlink" Target="https://www.techtarget.com/searchenterpriseai/definition/deep-learning-deep-neural-network" TargetMode="External"/><Relationship Id="rId2" Type="http://schemas.openxmlformats.org/officeDocument/2006/relationships/hyperlink" Target="https://www.techtarget.com/searchbusinessanalytics/feature/8-top-data-science-applications-and-use-cases-for-businesses" TargetMode="External"/><Relationship Id="rId1" Type="http://schemas.openxmlformats.org/officeDocument/2006/relationships/slideLayout" Target="../slideLayouts/slideLayout2.xml"/><Relationship Id="rId6" Type="http://schemas.openxmlformats.org/officeDocument/2006/relationships/hyperlink" Target="https://www.techtarget.com/searchenterpriseai/definition/neural-network" TargetMode="External"/><Relationship Id="rId5" Type="http://schemas.openxmlformats.org/officeDocument/2006/relationships/hyperlink" Target="https://www.techtarget.com/searchenterpriseai/definition/linear-regression" TargetMode="External"/><Relationship Id="rId4" Type="http://schemas.openxmlformats.org/officeDocument/2006/relationships/hyperlink" Target="https://www.techtarget.com/searchbusinessanalytics/definition/logistic-regression" TargetMode="External"/><Relationship Id="rId9" Type="http://schemas.openxmlformats.org/officeDocument/2006/relationships/hyperlink" Target="https://www.techtarget.com/searchenterpriseai/definition/predictive-modeling"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www.techtarget.com/searcherp/feature/Predictive-maintenance-Definition-benefits-example-strategy" TargetMode="External"/><Relationship Id="rId2" Type="http://schemas.openxmlformats.org/officeDocument/2006/relationships/hyperlink" Target="https://www.techtarget.com/searchbusinessanalytics/definition/predictive-analytics"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www.oracle.com/in/database/what-is-a-relational-database/"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phoenixnap.com/kb/what-is-a-relational-database" TargetMode="External"/><Relationship Id="rId2" Type="http://schemas.openxmlformats.org/officeDocument/2006/relationships/hyperlink" Target="https://phoenixnap.com/glossary/object-oriented-programming"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phoenixnap.com/kb/database-normalization"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hyperlink" Target="https://phoenixnap.com/kb/graph-database" TargetMode="External"/><Relationship Id="rId3" Type="http://schemas.openxmlformats.org/officeDocument/2006/relationships/hyperlink" Target="https://phoenixnap.com/glossary/unstructured-data" TargetMode="External"/><Relationship Id="rId7" Type="http://schemas.openxmlformats.org/officeDocument/2006/relationships/hyperlink" Target="https://phoenixnap.com/glossary/what-is-cache" TargetMode="External"/><Relationship Id="rId2" Type="http://schemas.openxmlformats.org/officeDocument/2006/relationships/hyperlink" Target="https://phoenixnap.com/kb/what-is-nosql" TargetMode="External"/><Relationship Id="rId1" Type="http://schemas.openxmlformats.org/officeDocument/2006/relationships/slideLayout" Target="../slideLayouts/slideLayout2.xml"/><Relationship Id="rId6" Type="http://schemas.openxmlformats.org/officeDocument/2006/relationships/hyperlink" Target="https://phoenixnap.com/kb/data-structures" TargetMode="External"/><Relationship Id="rId5" Type="http://schemas.openxmlformats.org/officeDocument/2006/relationships/hyperlink" Target="https://phoenixnap.com/glossary/scalability" TargetMode="External"/><Relationship Id="rId4" Type="http://schemas.openxmlformats.org/officeDocument/2006/relationships/hyperlink" Target="https://phoenixnap.com/kb/nosql-data-modeling"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phoenixnap.com/glossary/api-definition"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phoenixnap.com/kb/mysql-data-types"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hyperlink" Target="https://www.naukri.com/code360/library/index-mapping" TargetMode="Externa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sp>
        <p:nvSpPr>
          <p:cNvPr id="3" name="Content Placeholder 2"/>
          <p:cNvSpPr>
            <a:spLocks noGrp="1"/>
          </p:cNvSpPr>
          <p:nvPr>
            <p:ph idx="1"/>
          </p:nvPr>
        </p:nvSpPr>
        <p:spPr/>
        <p:txBody>
          <a:bodyPr/>
          <a:lstStyle/>
          <a:p>
            <a:pPr marL="0" indent="0" algn="ctr">
              <a:buNone/>
            </a:pPr>
            <a:r>
              <a:rPr b="1" dirty="0">
                <a:solidFill>
                  <a:srgbClr val="00B050"/>
                </a:solidFill>
              </a:rPr>
              <a:t>Data Warehousing, Data Mining, and Big </a:t>
            </a:r>
            <a:r>
              <a:rPr b="1" dirty="0" smtClean="0">
                <a:solidFill>
                  <a:srgbClr val="00B050"/>
                </a:solidFill>
              </a:rPr>
              <a:t>Data</a:t>
            </a:r>
            <a:r>
              <a:rPr lang="en-US" b="1" dirty="0" smtClean="0">
                <a:solidFill>
                  <a:srgbClr val="00B050"/>
                </a:solidFill>
              </a:rPr>
              <a:t>,Indexing,B+Tree</a:t>
            </a:r>
          </a:p>
          <a:p>
            <a:pPr marL="0" indent="0" algn="ctr">
              <a:buNone/>
            </a:pPr>
            <a:endParaRPr b="1" dirty="0">
              <a:solidFill>
                <a:srgbClr val="00B050"/>
              </a:solidFill>
            </a:endParaRPr>
          </a:p>
          <a:p>
            <a:pPr marL="0" indent="0" algn="ctr">
              <a:buNone/>
            </a:pPr>
            <a:r>
              <a:rPr i="1" dirty="0">
                <a:solidFill>
                  <a:srgbClr val="FF0000"/>
                </a:solidFill>
              </a:rPr>
              <a:t>Presented </a:t>
            </a:r>
            <a:r>
              <a:rPr i="1" dirty="0" smtClean="0">
                <a:solidFill>
                  <a:srgbClr val="FF0000"/>
                </a:solidFill>
              </a:rPr>
              <a:t>by:</a:t>
            </a:r>
            <a:r>
              <a:rPr lang="en-US" i="1" dirty="0" smtClean="0">
                <a:solidFill>
                  <a:srgbClr val="FF0000"/>
                </a:solidFill>
              </a:rPr>
              <a:t> Subhasish Mohapatra</a:t>
            </a:r>
            <a:endParaRPr i="1"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r>
              <a:rPr dirty="0"/>
              <a:t>Data is the new oil!</a:t>
            </a:r>
          </a:p>
          <a:p>
            <a:r>
              <a:rPr dirty="0"/>
              <a:t>Understanding data processes helps businesses make better decisions.</a:t>
            </a:r>
          </a:p>
          <a:p>
            <a:r>
              <a:rPr dirty="0"/>
              <a:t>Focus: Data Warehousing, Data Mining, and Big Data.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Data Warehousing?</a:t>
            </a:r>
          </a:p>
        </p:txBody>
      </p:sp>
      <p:sp>
        <p:nvSpPr>
          <p:cNvPr id="3" name="Content Placeholder 2"/>
          <p:cNvSpPr>
            <a:spLocks noGrp="1"/>
          </p:cNvSpPr>
          <p:nvPr>
            <p:ph idx="1"/>
          </p:nvPr>
        </p:nvSpPr>
        <p:spPr/>
        <p:txBody>
          <a:bodyPr/>
          <a:lstStyle/>
          <a:p>
            <a:r>
              <a:t>Centralized repository for data.</a:t>
            </a:r>
          </a:p>
          <a:p>
            <a:r>
              <a:t>Stores integrated data from multiple sources.</a:t>
            </a:r>
          </a:p>
          <a:p>
            <a:r>
              <a:t>Supports query and analysis, not transaction processing.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fontScale="90000"/>
          </a:bodyPr>
          <a:lstStyle/>
          <a:p>
            <a:r>
              <a:rPr lang="en-US" b="1" i="1" dirty="0" smtClean="0">
                <a:solidFill>
                  <a:srgbClr val="FF0000"/>
                </a:solidFill>
              </a:rPr>
              <a:t/>
            </a:r>
            <a:br>
              <a:rPr lang="en-US" b="1" i="1" dirty="0" smtClean="0">
                <a:solidFill>
                  <a:srgbClr val="FF0000"/>
                </a:solidFill>
              </a:rPr>
            </a:br>
            <a:r>
              <a:rPr lang="en-US" b="1" i="1" dirty="0" smtClean="0">
                <a:solidFill>
                  <a:srgbClr val="FF0000"/>
                </a:solidFill>
              </a:rPr>
              <a:t>Characteristics </a:t>
            </a:r>
            <a:r>
              <a:rPr lang="en-US" b="1" i="1" dirty="0">
                <a:solidFill>
                  <a:srgbClr val="FF0000"/>
                </a:solidFill>
              </a:rPr>
              <a:t>of Data Warehouse Architecture:</a:t>
            </a:r>
            <a:br>
              <a:rPr lang="en-US" b="1" i="1" dirty="0">
                <a:solidFill>
                  <a:srgbClr val="FF0000"/>
                </a:solidFill>
              </a:rPr>
            </a:br>
            <a:endParaRPr lang="en-IN" dirty="0"/>
          </a:p>
        </p:txBody>
      </p:sp>
      <p:sp>
        <p:nvSpPr>
          <p:cNvPr id="3" name="Content Placeholder 2"/>
          <p:cNvSpPr>
            <a:spLocks noGrp="1"/>
          </p:cNvSpPr>
          <p:nvPr>
            <p:ph idx="1"/>
          </p:nvPr>
        </p:nvSpPr>
        <p:spPr>
          <a:xfrm>
            <a:off x="457199" y="1417638"/>
            <a:ext cx="8368145" cy="5066289"/>
          </a:xfrm>
        </p:spPr>
        <p:txBody>
          <a:bodyPr>
            <a:normAutofit fontScale="85000" lnSpcReduction="20000"/>
          </a:bodyPr>
          <a:lstStyle/>
          <a:p>
            <a:pPr algn="just"/>
            <a:r>
              <a:rPr lang="en-US" b="1" dirty="0" smtClean="0"/>
              <a:t>Subject-oriented</a:t>
            </a:r>
            <a:r>
              <a:rPr lang="en-US" b="1" dirty="0"/>
              <a:t>:</a:t>
            </a:r>
            <a:r>
              <a:rPr lang="en-US" dirty="0"/>
              <a:t> This is designed around subjects (customers, products) or themes rather than the application or transaction. Assembling data around subject areas this is capable of answering business-oriented queries.</a:t>
            </a:r>
          </a:p>
          <a:p>
            <a:pPr algn="just"/>
            <a:r>
              <a:rPr lang="en-US" b="1" dirty="0"/>
              <a:t>Integrated:</a:t>
            </a:r>
            <a:r>
              <a:rPr lang="en-US" dirty="0"/>
              <a:t> In Data Warehouse Architecture data from different sources are integrated or brought together into a standardized manner.</a:t>
            </a:r>
          </a:p>
          <a:p>
            <a:pPr algn="just"/>
            <a:r>
              <a:rPr lang="en-US" b="1" dirty="0"/>
              <a:t>Non-volatile:</a:t>
            </a:r>
            <a:r>
              <a:rPr lang="en-US" dirty="0"/>
              <a:t> Data is not altered or removed once it is placed into the data warehouse. The non-volatile property of Data Warehouse Architecture provides the data consistency or stability for accurate analysis.</a:t>
            </a:r>
          </a:p>
          <a:p>
            <a:pPr algn="just"/>
            <a:r>
              <a:rPr lang="en-US" b="1" dirty="0"/>
              <a:t>Time variant:</a:t>
            </a:r>
            <a:r>
              <a:rPr lang="en-US" dirty="0"/>
              <a:t> The warehouse's data is kept or retained periodically.</a:t>
            </a:r>
          </a:p>
          <a:p>
            <a:endParaRPr lang="en-IN" dirty="0"/>
          </a:p>
        </p:txBody>
      </p:sp>
    </p:spTree>
    <p:extLst>
      <p:ext uri="{BB962C8B-B14F-4D97-AF65-F5344CB8AC3E}">
        <p14:creationId xmlns:p14="http://schemas.microsoft.com/office/powerpoint/2010/main" val="9000288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872836" y="2062956"/>
            <a:ext cx="7439891" cy="4143880"/>
          </a:xfrm>
          <a:prstGeom prst="rect">
            <a:avLst/>
          </a:prstGeom>
        </p:spPr>
      </p:pic>
    </p:spTree>
    <p:extLst>
      <p:ext uri="{BB962C8B-B14F-4D97-AF65-F5344CB8AC3E}">
        <p14:creationId xmlns:p14="http://schemas.microsoft.com/office/powerpoint/2010/main" val="5837393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59653"/>
          </a:xfrm>
        </p:spPr>
        <p:txBody>
          <a:bodyPr>
            <a:normAutofit fontScale="90000"/>
          </a:bodyPr>
          <a:lstStyle/>
          <a:p>
            <a:r>
              <a:rPr lang="en-US" b="1" dirty="0" smtClean="0"/>
              <a:t/>
            </a:r>
            <a:br>
              <a:rPr lang="en-US" b="1" dirty="0" smtClean="0"/>
            </a:br>
            <a:r>
              <a:rPr lang="en-US" b="1" dirty="0" smtClean="0"/>
              <a:t>Operational </a:t>
            </a:r>
            <a:r>
              <a:rPr lang="en-US" b="1" dirty="0"/>
              <a:t>System</a:t>
            </a:r>
            <a:r>
              <a:rPr lang="en-US" dirty="0"/>
              <a:t/>
            </a:r>
            <a:br>
              <a:rPr lang="en-US" dirty="0"/>
            </a:br>
            <a:endParaRPr lang="en-IN" dirty="0"/>
          </a:p>
        </p:txBody>
      </p:sp>
      <p:sp>
        <p:nvSpPr>
          <p:cNvPr id="3" name="Content Placeholder 2"/>
          <p:cNvSpPr>
            <a:spLocks noGrp="1"/>
          </p:cNvSpPr>
          <p:nvPr>
            <p:ph idx="1"/>
          </p:nvPr>
        </p:nvSpPr>
        <p:spPr>
          <a:xfrm>
            <a:off x="457199" y="872836"/>
            <a:ext cx="8520545" cy="5708073"/>
          </a:xfrm>
        </p:spPr>
        <p:txBody>
          <a:bodyPr numCol="2">
            <a:normAutofit fontScale="47500" lnSpcReduction="20000"/>
          </a:bodyPr>
          <a:lstStyle/>
          <a:p>
            <a:pPr algn="just"/>
            <a:r>
              <a:rPr lang="en-US" dirty="0" smtClean="0"/>
              <a:t>An</a:t>
            </a:r>
            <a:r>
              <a:rPr lang="en-US" dirty="0"/>
              <a:t> </a:t>
            </a:r>
            <a:r>
              <a:rPr lang="en-US" b="1" dirty="0"/>
              <a:t>operational system</a:t>
            </a:r>
            <a:r>
              <a:rPr lang="en-US" dirty="0"/>
              <a:t> is a method used in data warehousing to refer to a </a:t>
            </a:r>
            <a:r>
              <a:rPr lang="en-US" b="1" dirty="0"/>
              <a:t>system</a:t>
            </a:r>
            <a:r>
              <a:rPr lang="en-US" dirty="0"/>
              <a:t> that is used to process the day-to-day transactions of an organization.</a:t>
            </a:r>
          </a:p>
          <a:p>
            <a:pPr algn="just"/>
            <a:r>
              <a:rPr lang="en-US" b="1" dirty="0"/>
              <a:t>Flat Files</a:t>
            </a:r>
            <a:endParaRPr lang="en-US" dirty="0"/>
          </a:p>
          <a:p>
            <a:pPr algn="just"/>
            <a:r>
              <a:rPr lang="en-US" dirty="0"/>
              <a:t>A </a:t>
            </a:r>
            <a:r>
              <a:rPr lang="en-US" b="1" dirty="0"/>
              <a:t>Flat file</a:t>
            </a:r>
            <a:r>
              <a:rPr lang="en-US" dirty="0"/>
              <a:t> system is a system of files in which transactional data is stored, and every file in the system must have a different name.</a:t>
            </a:r>
          </a:p>
          <a:p>
            <a:pPr algn="just"/>
            <a:r>
              <a:rPr lang="en-US" b="1" dirty="0"/>
              <a:t>Meta Data</a:t>
            </a:r>
            <a:endParaRPr lang="en-US" dirty="0"/>
          </a:p>
          <a:p>
            <a:pPr algn="just"/>
            <a:r>
              <a:rPr lang="en-US" dirty="0"/>
              <a:t>A set of data that defines and gives information about other data.</a:t>
            </a:r>
          </a:p>
          <a:p>
            <a:pPr algn="just"/>
            <a:r>
              <a:rPr lang="en-US" dirty="0"/>
              <a:t>Meta Data used in Data Warehouse for a variety of purpose, including:</a:t>
            </a:r>
          </a:p>
          <a:p>
            <a:pPr algn="just"/>
            <a:r>
              <a:rPr lang="en-US" dirty="0"/>
              <a:t>Meta Data summarizes necessary information about data, which can make finding and work with particular instances of data more accessible. For example, author, data build, and data changed, and file size are examples of very basic document metadata.</a:t>
            </a:r>
          </a:p>
          <a:p>
            <a:pPr algn="just"/>
            <a:r>
              <a:rPr lang="en-US" dirty="0"/>
              <a:t>Metadata is used to direct a query to the most appropriate data source.</a:t>
            </a:r>
          </a:p>
          <a:p>
            <a:pPr algn="just"/>
            <a:r>
              <a:rPr lang="en-US" b="1" dirty="0"/>
              <a:t>Lightly and highly summarized data</a:t>
            </a:r>
            <a:endParaRPr lang="en-US" dirty="0"/>
          </a:p>
          <a:p>
            <a:pPr algn="just"/>
            <a:r>
              <a:rPr lang="en-US" dirty="0"/>
              <a:t>The area of the data warehouse saves all the predefined lightly and highly summarized (aggregated) data generated by the warehouse manager.</a:t>
            </a:r>
          </a:p>
          <a:p>
            <a:pPr algn="just"/>
            <a:r>
              <a:rPr lang="en-US" dirty="0"/>
              <a:t>The goals of the summarized information are to speed up query performance. The summarized record is updated continuously as new information is loaded into the warehouse.</a:t>
            </a:r>
          </a:p>
          <a:p>
            <a:pPr algn="just"/>
            <a:r>
              <a:rPr lang="en-US" b="1" dirty="0"/>
              <a:t>End-User access Tools</a:t>
            </a:r>
            <a:endParaRPr lang="en-US" dirty="0"/>
          </a:p>
          <a:p>
            <a:pPr algn="just"/>
            <a:r>
              <a:rPr lang="en-US" dirty="0"/>
              <a:t>The principal purpose of a data warehouse is to provide information to the business managers for strategic decision-making. These customers interact with the warehouse using end-client access tools.</a:t>
            </a:r>
          </a:p>
          <a:p>
            <a:pPr algn="just"/>
            <a:r>
              <a:rPr lang="en-US" dirty="0"/>
              <a:t>The examples of some of the end-user access tools can be:</a:t>
            </a:r>
          </a:p>
          <a:p>
            <a:pPr algn="just"/>
            <a:r>
              <a:rPr lang="en-US" dirty="0"/>
              <a:t>Reporting and Query Tools</a:t>
            </a:r>
          </a:p>
          <a:p>
            <a:pPr algn="just"/>
            <a:r>
              <a:rPr lang="en-US" dirty="0"/>
              <a:t>Application Development Tools</a:t>
            </a:r>
          </a:p>
          <a:p>
            <a:pPr algn="just"/>
            <a:r>
              <a:rPr lang="en-US" dirty="0"/>
              <a:t>Executive Information Systems Tools</a:t>
            </a:r>
          </a:p>
          <a:p>
            <a:pPr algn="just"/>
            <a:r>
              <a:rPr lang="en-US" dirty="0"/>
              <a:t>Online Analytical Processing Tools</a:t>
            </a:r>
          </a:p>
          <a:p>
            <a:pPr algn="just"/>
            <a:r>
              <a:rPr lang="en-US" dirty="0"/>
              <a:t>Data Mining Tools</a:t>
            </a:r>
          </a:p>
          <a:p>
            <a:pPr algn="just"/>
            <a:r>
              <a:rPr lang="en-US" dirty="0"/>
              <a:t/>
            </a:r>
            <a:br>
              <a:rPr lang="en-US" dirty="0"/>
            </a:br>
            <a:endParaRPr lang="en-IN" dirty="0"/>
          </a:p>
        </p:txBody>
      </p:sp>
    </p:spTree>
    <p:extLst>
      <p:ext uri="{BB962C8B-B14F-4D97-AF65-F5344CB8AC3E}">
        <p14:creationId xmlns:p14="http://schemas.microsoft.com/office/powerpoint/2010/main" val="3066187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5" name="Content Placeholder 4"/>
          <p:cNvPicPr>
            <a:picLocks noGrp="1" noChangeAspect="1"/>
          </p:cNvPicPr>
          <p:nvPr>
            <p:ph idx="1"/>
          </p:nvPr>
        </p:nvPicPr>
        <p:blipFill>
          <a:blip r:embed="rId2"/>
          <a:stretch>
            <a:fillRect/>
          </a:stretch>
        </p:blipFill>
        <p:spPr>
          <a:xfrm>
            <a:off x="870028" y="1600200"/>
            <a:ext cx="7403944" cy="4525963"/>
          </a:xfrm>
          <a:prstGeom prst="rect">
            <a:avLst/>
          </a:prstGeom>
        </p:spPr>
      </p:pic>
    </p:spTree>
    <p:extLst>
      <p:ext uri="{BB962C8B-B14F-4D97-AF65-F5344CB8AC3E}">
        <p14:creationId xmlns:p14="http://schemas.microsoft.com/office/powerpoint/2010/main" val="4216890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fontScale="90000"/>
          </a:bodyPr>
          <a:lstStyle/>
          <a:p>
            <a:r>
              <a:rPr lang="en-US" b="1" dirty="0" smtClean="0"/>
              <a:t/>
            </a:r>
            <a:br>
              <a:rPr lang="en-US" b="1" dirty="0" smtClean="0"/>
            </a:br>
            <a:r>
              <a:rPr lang="en-US" b="1" dirty="0" smtClean="0"/>
              <a:t>Types </a:t>
            </a:r>
            <a:r>
              <a:rPr lang="en-US" b="1" dirty="0"/>
              <a:t>of Data Warehouse Architectures</a:t>
            </a:r>
            <a:br>
              <a:rPr lang="en-US" b="1" dirty="0"/>
            </a:br>
            <a:endParaRPr lang="en-IN" dirty="0"/>
          </a:p>
        </p:txBody>
      </p:sp>
      <p:sp>
        <p:nvSpPr>
          <p:cNvPr id="3" name="Content Placeholder 2"/>
          <p:cNvSpPr>
            <a:spLocks noGrp="1"/>
          </p:cNvSpPr>
          <p:nvPr>
            <p:ph idx="1"/>
          </p:nvPr>
        </p:nvSpPr>
        <p:spPr/>
        <p:txBody>
          <a:bodyPr>
            <a:normAutofit fontScale="92500" lnSpcReduction="20000"/>
          </a:bodyPr>
          <a:lstStyle/>
          <a:p>
            <a:pPr marL="0" indent="0" algn="just">
              <a:buNone/>
            </a:pPr>
            <a:r>
              <a:rPr lang="en-US" dirty="0" smtClean="0"/>
              <a:t>The</a:t>
            </a:r>
            <a:r>
              <a:rPr lang="en-US" dirty="0"/>
              <a:t> Single-tier Data Warehouse architecture </a:t>
            </a:r>
            <a:endParaRPr lang="en-US" dirty="0" smtClean="0"/>
          </a:p>
          <a:p>
            <a:pPr marL="0" indent="0" algn="just">
              <a:buNone/>
            </a:pPr>
            <a:r>
              <a:rPr lang="en-US" dirty="0" smtClean="0"/>
              <a:t>• </a:t>
            </a:r>
            <a:r>
              <a:rPr lang="en-US" dirty="0"/>
              <a:t>The Two-tier Data Warehouse </a:t>
            </a:r>
            <a:r>
              <a:rPr lang="en-US" dirty="0" smtClean="0"/>
              <a:t>architecture</a:t>
            </a:r>
          </a:p>
          <a:p>
            <a:pPr marL="0" indent="0" algn="just">
              <a:buNone/>
            </a:pPr>
            <a:r>
              <a:rPr lang="en-US" dirty="0" smtClean="0"/>
              <a:t> </a:t>
            </a:r>
            <a:r>
              <a:rPr lang="en-US" dirty="0"/>
              <a:t>• The Three-Tier Data Warehouse Architecture</a:t>
            </a:r>
          </a:p>
          <a:p>
            <a:pPr marL="0" indent="0" algn="just">
              <a:buNone/>
            </a:pPr>
            <a:r>
              <a:rPr lang="en-US" dirty="0"/>
              <a:t>The Architecture of a Data Warehouse can be quite intriguing at first as it can be considered an information system that has historical commutative data from multiple sources, and to layer down, we have different approaches for constructing the data warehouse layers and the three different types of architecture of Data Warehouse as can be explained from below:</a:t>
            </a:r>
          </a:p>
          <a:p>
            <a:endParaRPr lang="en-IN" dirty="0"/>
          </a:p>
        </p:txBody>
      </p:sp>
    </p:spTree>
    <p:extLst>
      <p:ext uri="{BB962C8B-B14F-4D97-AF65-F5344CB8AC3E}">
        <p14:creationId xmlns:p14="http://schemas.microsoft.com/office/powerpoint/2010/main" val="38118619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5" name="Content Placeholder 4"/>
          <p:cNvPicPr>
            <a:picLocks noGrp="1" noChangeAspect="1"/>
          </p:cNvPicPr>
          <p:nvPr>
            <p:ph idx="1"/>
          </p:nvPr>
        </p:nvPicPr>
        <p:blipFill>
          <a:blip r:embed="rId2"/>
          <a:stretch>
            <a:fillRect/>
          </a:stretch>
        </p:blipFill>
        <p:spPr>
          <a:xfrm>
            <a:off x="1858178" y="1600200"/>
            <a:ext cx="5427644" cy="4525963"/>
          </a:xfrm>
          <a:prstGeom prst="rect">
            <a:avLst/>
          </a:prstGeom>
        </p:spPr>
      </p:pic>
    </p:spTree>
    <p:extLst>
      <p:ext uri="{BB962C8B-B14F-4D97-AF65-F5344CB8AC3E}">
        <p14:creationId xmlns:p14="http://schemas.microsoft.com/office/powerpoint/2010/main" val="843583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0000" lnSpcReduction="20000"/>
          </a:bodyPr>
          <a:lstStyle/>
          <a:p>
            <a:r>
              <a:rPr lang="en-US" b="1" dirty="0"/>
              <a:t>The Two-Tier Data Warehouse Architecture</a:t>
            </a:r>
          </a:p>
          <a:p>
            <a:r>
              <a:rPr lang="en-US" dirty="0"/>
              <a:t>With the major drawback of single-tier architecture not having a separation of layers for analytical and transactional processing, The two-tier architecture of data warehouse came into the picture. This two-tier architecture vanishes the drawback of the single-tier as it has a separation between the layers which plays an essential role in maintaining the two-tier architecture.</a:t>
            </a:r>
          </a:p>
          <a:p>
            <a:r>
              <a:rPr lang="en-US" dirty="0"/>
              <a:t>The two-tier architecture of the data warehouse comprises the following two tiers:</a:t>
            </a:r>
          </a:p>
          <a:p>
            <a:r>
              <a:rPr lang="en-US" b="1" dirty="0"/>
              <a:t>1.</a:t>
            </a:r>
            <a:r>
              <a:rPr lang="en-US" dirty="0"/>
              <a:t> The Data Tier</a:t>
            </a:r>
            <a:br>
              <a:rPr lang="en-US" dirty="0"/>
            </a:br>
            <a:r>
              <a:rPr lang="en-US" b="1" dirty="0"/>
              <a:t>2.</a:t>
            </a:r>
            <a:r>
              <a:rPr lang="en-US" dirty="0"/>
              <a:t> The Client Tier</a:t>
            </a:r>
          </a:p>
          <a:p>
            <a:r>
              <a:rPr lang="en-US" dirty="0"/>
              <a:t/>
            </a:r>
            <a:br>
              <a:rPr lang="en-US" dirty="0"/>
            </a:br>
            <a:endParaRPr lang="en-IN" dirty="0"/>
          </a:p>
        </p:txBody>
      </p:sp>
    </p:spTree>
    <p:extLst>
      <p:ext uri="{BB962C8B-B14F-4D97-AF65-F5344CB8AC3E}">
        <p14:creationId xmlns:p14="http://schemas.microsoft.com/office/powerpoint/2010/main" val="8933567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5" name="Content Placeholder 4"/>
          <p:cNvPicPr>
            <a:picLocks noGrp="1" noChangeAspect="1"/>
          </p:cNvPicPr>
          <p:nvPr>
            <p:ph idx="1"/>
          </p:nvPr>
        </p:nvPicPr>
        <p:blipFill>
          <a:blip r:embed="rId2"/>
          <a:stretch>
            <a:fillRect/>
          </a:stretch>
        </p:blipFill>
        <p:spPr>
          <a:xfrm>
            <a:off x="870028" y="1600200"/>
            <a:ext cx="7403944" cy="4525963"/>
          </a:xfrm>
          <a:prstGeom prst="rect">
            <a:avLst/>
          </a:prstGeom>
        </p:spPr>
      </p:pic>
    </p:spTree>
    <p:extLst>
      <p:ext uri="{BB962C8B-B14F-4D97-AF65-F5344CB8AC3E}">
        <p14:creationId xmlns:p14="http://schemas.microsoft.com/office/powerpoint/2010/main" val="26231333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numCol="2">
            <a:normAutofit fontScale="25000" lnSpcReduction="20000"/>
          </a:bodyPr>
          <a:lstStyle/>
          <a:p>
            <a:r>
              <a:rPr lang="en-US" b="1" dirty="0"/>
              <a:t>1. The Data Tier</a:t>
            </a:r>
            <a:endParaRPr lang="en-US" dirty="0"/>
          </a:p>
          <a:p>
            <a:r>
              <a:rPr lang="en-US" dirty="0"/>
              <a:t>The Data Tier in the two-tier architecture of the data warehouse can be defined as the layer where actual data is stored after various ETL processes are used to load data into the database or the data warehouse.</a:t>
            </a:r>
          </a:p>
          <a:p>
            <a:r>
              <a:rPr lang="en-US" dirty="0"/>
              <a:t>The staging area where the ETL processes are used in the Data tier helps you ensure that all data loaded into the warehouse is cleansed and in the appropriate format.</a:t>
            </a:r>
          </a:p>
          <a:p>
            <a:r>
              <a:rPr lang="en-US" dirty="0"/>
              <a:t>This staging area in the two-tier architecture of the data warehouse ensures that data from all sources are collected before the data warehouse layer. With the addition of the staging area between the sources and the storage repository, i.e., the data warehouse, we make sure that all data loaded into the warehouse is in a defined format.</a:t>
            </a:r>
          </a:p>
          <a:p>
            <a:r>
              <a:rPr lang="en-US" dirty="0"/>
              <a:t>Though it is analyzed as a Data Tier of the Two-Tier architecture, it consists of three subsequent data flow stages to process the data, which can be understood as below:</a:t>
            </a:r>
          </a:p>
          <a:p>
            <a:r>
              <a:rPr lang="en-US" b="1" dirty="0"/>
              <a:t>The Data Tier consists of the following Three layers:</a:t>
            </a:r>
            <a:endParaRPr lang="en-US" dirty="0"/>
          </a:p>
          <a:p>
            <a:r>
              <a:rPr lang="en-US" dirty="0"/>
              <a:t>The Source Layer</a:t>
            </a:r>
          </a:p>
          <a:p>
            <a:r>
              <a:rPr lang="en-US" dirty="0"/>
              <a:t>The Data Staging Layer</a:t>
            </a:r>
          </a:p>
          <a:p>
            <a:r>
              <a:rPr lang="en-US" dirty="0"/>
              <a:t>The Data Warehouse Layer</a:t>
            </a:r>
          </a:p>
          <a:p>
            <a:r>
              <a:rPr lang="en-US" b="1" i="1" dirty="0"/>
              <a:t>A. The Source Layer</a:t>
            </a:r>
            <a:endParaRPr lang="en-US" dirty="0"/>
          </a:p>
          <a:p>
            <a:r>
              <a:rPr lang="en-US" dirty="0"/>
              <a:t>This layer is the first layer of the two-tier architecture of the data warehouse. As the data warehouse system uses a heterogeneous source of data, this source layer acts as a repository to store the data from multiple sources that can be stored initially in corporate relational databases. This data can also be stored on legacy databases, or sometimes it comes from sources that are outside the enterprise walls.</a:t>
            </a:r>
          </a:p>
          <a:p>
            <a:r>
              <a:rPr lang="en-US" b="1" i="1" dirty="0"/>
              <a:t>B. The Data Staging Layer</a:t>
            </a:r>
            <a:endParaRPr lang="en-US" dirty="0"/>
          </a:p>
          <a:p>
            <a:r>
              <a:rPr lang="en-US" dirty="0"/>
              <a:t>This layer is the second layer of the two-tier architecture of the data warehouse. This layer obtains the data stored in the source layer, which is then extracted, cleansed, and integrated to club heterogeneous sources into one standard schema.</a:t>
            </a:r>
          </a:p>
          <a:p>
            <a:r>
              <a:rPr lang="en-US" dirty="0"/>
              <a:t>The cleansing of the raw data is done to remove inconsistencies and fill gaps in the raw data. We have widely heard of the process called ETL, expanded Extraction, Transformation, and Loading, which plays an important part in this layer of the two-tier architecture of the data warehouse.</a:t>
            </a:r>
          </a:p>
          <a:p>
            <a:r>
              <a:rPr lang="en-US" dirty="0"/>
              <a:t>The ETL tools then combine multiple schemas into a standard schema, extract, transform, cleanse, validate, filter, and finally load source data into a data warehouse.</a:t>
            </a:r>
          </a:p>
          <a:p>
            <a:r>
              <a:rPr lang="en-US" b="1" i="1" dirty="0"/>
              <a:t>C. The Data Warehouse Layer</a:t>
            </a:r>
            <a:endParaRPr lang="en-US" dirty="0"/>
          </a:p>
          <a:p>
            <a:r>
              <a:rPr lang="en-US" dirty="0"/>
              <a:t>This layer is the third layer of the two-tier architecture of the data warehouse. The information received from the data staging layer is then saved to one logically centralized individual repository, which is termed as the data warehouse.</a:t>
            </a:r>
          </a:p>
          <a:p>
            <a:r>
              <a:rPr lang="en-US" dirty="0"/>
              <a:t>Many times the data warehouses can be directly accessed, but it has been observed that sometimes it can also be integrated as a source for creating data marts, which replicate data warehouse contents partially. These are mostly designed for specific enterprise departments.</a:t>
            </a:r>
          </a:p>
          <a:p>
            <a:r>
              <a:rPr lang="en-US" dirty="0"/>
              <a:t>The Meta-data repositories, which are also an important part of the architecture of the data warehouse, store information about the sources, data staging, access procedures, data mart schema, users, and so on.</a:t>
            </a:r>
          </a:p>
          <a:p>
            <a:r>
              <a:rPr lang="en-US" dirty="0"/>
              <a:t>As discussed above, once the data coming from multiple external sources is cleansed and transformed, it gets stored in the data warehouse.</a:t>
            </a:r>
          </a:p>
          <a:p>
            <a:r>
              <a:rPr lang="en-US" dirty="0"/>
              <a:t>Now to actually understand what the data wants to tell us, we introduce the Second tier of the Two-tier Architecture of the data warehouse, That is, The Client Tier.</a:t>
            </a:r>
          </a:p>
          <a:p>
            <a:r>
              <a:rPr lang="en-US" b="1" dirty="0"/>
              <a:t>2. The Client Tier</a:t>
            </a:r>
            <a:endParaRPr lang="en-US" dirty="0"/>
          </a:p>
          <a:p>
            <a:r>
              <a:rPr lang="en-US" dirty="0"/>
              <a:t>The Client Tier in the two-tier architecture of the data warehouse can be defined as the layer where data is stored in the data warehouse and can be used by the client to generate insights that can help the organization invent or transform the existing solution/products based on the trends that can be analyzed by the reports generated.</a:t>
            </a:r>
          </a:p>
          <a:p>
            <a:r>
              <a:rPr lang="en-US" dirty="0"/>
              <a:t>This Client Tier is the front-end application where the clean data is reflected so that the users/client can start their analysis. Many times, the data warehouse reports are hidden in the GUI to show the required reports.</a:t>
            </a:r>
          </a:p>
          <a:p>
            <a:r>
              <a:rPr lang="en-US" dirty="0"/>
              <a:t>The Client Tier consists of a single layer called the Analysis Layer.</a:t>
            </a:r>
          </a:p>
          <a:p>
            <a:r>
              <a:rPr lang="en-US" b="1" dirty="0"/>
              <a:t>The Analysis layer:</a:t>
            </a:r>
            <a:endParaRPr lang="en-US" dirty="0"/>
          </a:p>
          <a:p>
            <a:r>
              <a:rPr lang="en-US" dirty="0"/>
              <a:t>This layer is the fourth layer of the two-tier architecture of the data warehouse. The prime focus in this layer is the integration of data that is efficient and flexible enough to accessibly issue reports, simulate hypothetical business scenarios and dynamic analysis of information.</a:t>
            </a:r>
          </a:p>
          <a:p>
            <a:r>
              <a:rPr lang="en-US" dirty="0"/>
              <a:t>The analysis layer in the architecture of the data warehouse features aggregate information navigators and efficient query optimizers.</a:t>
            </a:r>
          </a:p>
          <a:p>
            <a:r>
              <a:rPr lang="en-US" dirty="0"/>
              <a:t>The Two-tier architecture has a primary drawback is that it is not expandable, which in turn also resonates with it not supporting a large number of end-users. We also see connectivity problems because of network limitations that are faced with this type of architecture of data warehouse.</a:t>
            </a:r>
          </a:p>
          <a:p>
            <a:endParaRPr lang="en-IN" dirty="0"/>
          </a:p>
        </p:txBody>
      </p:sp>
    </p:spTree>
    <p:extLst>
      <p:ext uri="{BB962C8B-B14F-4D97-AF65-F5344CB8AC3E}">
        <p14:creationId xmlns:p14="http://schemas.microsoft.com/office/powerpoint/2010/main" val="23537961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endParaRPr lang="en-IN"/>
          </a:p>
        </p:txBody>
      </p:sp>
      <p:pic>
        <p:nvPicPr>
          <p:cNvPr id="5" name="Content Placeholder 4"/>
          <p:cNvPicPr>
            <a:picLocks noGrp="1" noChangeAspect="1"/>
          </p:cNvPicPr>
          <p:nvPr>
            <p:ph idx="1"/>
          </p:nvPr>
        </p:nvPicPr>
        <p:blipFill>
          <a:blip r:embed="rId2"/>
          <a:stretch>
            <a:fillRect/>
          </a:stretch>
        </p:blipFill>
        <p:spPr>
          <a:xfrm>
            <a:off x="2443019" y="1600200"/>
            <a:ext cx="4257961" cy="4525963"/>
          </a:xfrm>
          <a:prstGeom prst="rect">
            <a:avLst/>
          </a:prstGeom>
        </p:spPr>
      </p:pic>
    </p:spTree>
    <p:extLst>
      <p:ext uri="{BB962C8B-B14F-4D97-AF65-F5344CB8AC3E}">
        <p14:creationId xmlns:p14="http://schemas.microsoft.com/office/powerpoint/2010/main" val="19110765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numCol="2">
            <a:normAutofit fontScale="32500" lnSpcReduction="20000"/>
          </a:bodyPr>
          <a:lstStyle/>
          <a:p>
            <a:r>
              <a:rPr lang="en-US" b="1" dirty="0"/>
              <a:t>The Three-Tier Data Warehouse Architecture</a:t>
            </a:r>
          </a:p>
          <a:p>
            <a:r>
              <a:rPr lang="en-US" dirty="0"/>
              <a:t>Solving the limitations of connectivity problems because of network limitations of the two-tier architecture of the data warehouse. We have the most widely used architecture for data warehouse systems.</a:t>
            </a:r>
          </a:p>
          <a:p>
            <a:r>
              <a:rPr lang="en-US" dirty="0"/>
              <a:t>We have the three-tier architecture of the data warehouse. This three-tier architecture of the data warehouse consists of the source layer (containing heterogeneous source systems), the reconciled layer, and the data warehouse layer (containing both data marts and data warehouses).</a:t>
            </a:r>
          </a:p>
          <a:p>
            <a:r>
              <a:rPr lang="en-US" dirty="0"/>
              <a:t>Understanding architecture is especially useful for extensive, enterprise-wide systems. A disadvantage of this structure is the extra file storage space used through the redundant reconciled layer. It also makes the analytical tools a little further away from being real-time.</a:t>
            </a:r>
          </a:p>
          <a:p>
            <a:r>
              <a:rPr lang="en-US" dirty="0"/>
              <a:t>The three tiers of the three-tier architecture of the data warehouse can be classified as below:</a:t>
            </a:r>
          </a:p>
          <a:p>
            <a:r>
              <a:rPr lang="en-US" b="1" dirty="0"/>
              <a:t>1. The Bottom Tier</a:t>
            </a:r>
            <a:endParaRPr lang="en-US" dirty="0"/>
          </a:p>
          <a:p>
            <a:r>
              <a:rPr lang="en-US" dirty="0"/>
              <a:t>The bottom tier consists of the database of the Data warehouse servers as the bottom tier for the architecture. We can define this database as a relational database system.</a:t>
            </a:r>
          </a:p>
          <a:p>
            <a:r>
              <a:rPr lang="en-US" dirty="0"/>
              <a:t>This layer is responsible for cleaning, transforming, and loading the data present in the database from the bottom tier using back-end tools. This layer can also be termed the data warehouse layer (containing both data marts and data warehouses)</a:t>
            </a:r>
          </a:p>
          <a:p>
            <a:r>
              <a:rPr lang="en-US" b="1" dirty="0"/>
              <a:t>2. The Middle Tier</a:t>
            </a:r>
            <a:endParaRPr lang="en-US" dirty="0"/>
          </a:p>
          <a:p>
            <a:r>
              <a:rPr lang="en-US" dirty="0"/>
              <a:t>The middle tier consists of the OLAP server. This is widely implemented by using either the ROLAP or the MOLAP model. As this is the middle tier of the architecture of the data warehouse, this acts as a mediator between the end-user and the database.</a:t>
            </a:r>
          </a:p>
          <a:p>
            <a:r>
              <a:rPr lang="en-US" dirty="0"/>
              <a:t>This tier is presented as an application layer that has an abstract view of the database when a user visits this tier. The middle layer of this three-tier architecture is the reconciled layer which resides between the source data and the data warehouse. As it can create a standard reference data model for a whole organization, this can be considered as its major advantage.</a:t>
            </a:r>
          </a:p>
          <a:p>
            <a:r>
              <a:rPr lang="en-US" dirty="0"/>
              <a:t>The reconciled layer also helps in separating the problems of data extraction at the source end and integrating that data into the data warehouse population. Be it Producing daily analysis sheets or reports (which cannot be satisfactorily prepared using the enterprise applications) or Periodically generating data flows to feed external processes which can benefit from cleaning and integration of the data in many cases like the reconciled layer (the middle tier of the architecture of data warehouse) is majorly used to directly accomplish better operational tasks.</a:t>
            </a:r>
          </a:p>
          <a:p>
            <a:r>
              <a:rPr lang="en-US" b="1" dirty="0"/>
              <a:t>3. The Top-Tier</a:t>
            </a:r>
            <a:endParaRPr lang="en-US" dirty="0"/>
          </a:p>
          <a:p>
            <a:r>
              <a:rPr lang="en-US" dirty="0"/>
              <a:t>The top tier consists of the front-end client layer as the top tier for the architecture. This is widely classified as the tier consisting of the API and tools that we use for connecting and gathering data out from the data warehouse. This is also used as Query tools, reporting tools, managed query tools, Analysis tools, and Data mining tools. This layer can be considered as the source layer (containing heterogeneous source systems.</a:t>
            </a:r>
          </a:p>
          <a:p>
            <a:endParaRPr lang="en-IN" dirty="0"/>
          </a:p>
        </p:txBody>
      </p:sp>
    </p:spTree>
    <p:extLst>
      <p:ext uri="{BB962C8B-B14F-4D97-AF65-F5344CB8AC3E}">
        <p14:creationId xmlns:p14="http://schemas.microsoft.com/office/powerpoint/2010/main" val="28463664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32500" lnSpcReduction="20000"/>
          </a:bodyPr>
          <a:lstStyle/>
          <a:p>
            <a:r>
              <a:rPr lang="en-US" b="1" dirty="0"/>
              <a:t>The Properties of Data Warehouse Architecture</a:t>
            </a:r>
          </a:p>
          <a:p>
            <a:r>
              <a:rPr lang="en-US" dirty="0"/>
              <a:t>While designing the architecture of the data warehouse, we need to keep in mind the various properties it holds so that we are making the best choices for defining the architecture of the data warehouse.</a:t>
            </a:r>
          </a:p>
          <a:p>
            <a:r>
              <a:rPr lang="en-US" dirty="0"/>
              <a:t>The five main properties that the Architecture of a data warehouse must hold are as below:</a:t>
            </a:r>
          </a:p>
          <a:p>
            <a:r>
              <a:rPr lang="en-US" b="1" dirty="0"/>
              <a:t>1) Security</a:t>
            </a:r>
          </a:p>
          <a:p>
            <a:r>
              <a:rPr lang="en-US" dirty="0"/>
              <a:t>It is very important to have a secure architecture of the data warehouse as the data which is processed and stored in the data warehouse should not be accessible by any unlicensed third-party users.</a:t>
            </a:r>
          </a:p>
          <a:p>
            <a:r>
              <a:rPr lang="en-US" dirty="0"/>
              <a:t>It's highly recommended to monitor accesses that are necessary as the strategic data stored in the data warehouses can range from personal data of the customers or any such data which, when intervened by anyone, can lead to privacy issues.</a:t>
            </a:r>
          </a:p>
          <a:p>
            <a:r>
              <a:rPr lang="en-US" dirty="0"/>
              <a:t>Therefore, Security is one of the important properties while designing the architecture of the Data Warehouse</a:t>
            </a:r>
          </a:p>
          <a:p>
            <a:r>
              <a:rPr lang="en-US" b="1" dirty="0"/>
              <a:t>2) </a:t>
            </a:r>
            <a:r>
              <a:rPr lang="en-US" b="1" dirty="0" err="1"/>
              <a:t>Administerability</a:t>
            </a:r>
            <a:endParaRPr lang="en-US" b="1" dirty="0"/>
          </a:p>
          <a:p>
            <a:r>
              <a:rPr lang="en-US" dirty="0"/>
              <a:t>The next property that needs to be kept in mind while designing the Architecture of the Data Warehouse is </a:t>
            </a:r>
            <a:r>
              <a:rPr lang="en-US" dirty="0" err="1"/>
              <a:t>Administerability</a:t>
            </a:r>
            <a:r>
              <a:rPr lang="en-US" dirty="0"/>
              <a:t>. For maintaining </a:t>
            </a:r>
            <a:r>
              <a:rPr lang="en-US" dirty="0" err="1"/>
              <a:t>Administerability</a:t>
            </a:r>
            <a:r>
              <a:rPr lang="en-US" dirty="0"/>
              <a:t>, it is always recommended to have a simple version of the Data Warehouse management; that is it should not be complicated.</a:t>
            </a:r>
          </a:p>
          <a:p>
            <a:r>
              <a:rPr lang="en-US" b="1" dirty="0"/>
              <a:t>3) Scalability</a:t>
            </a:r>
          </a:p>
          <a:p>
            <a:r>
              <a:rPr lang="en-US" dirty="0"/>
              <a:t>With digitalization ruling the industry, the scalability of architecture plays an important role in designing the architecture of a data warehouse.</a:t>
            </a:r>
          </a:p>
          <a:p>
            <a:r>
              <a:rPr lang="en-US" dirty="0"/>
              <a:t>This property of scalability must be accommodated when designing as with the rapid growth of digital transformation, it is obvious to make sure that the hardware and software architectures should be kept simple to upgrade the data volume as quickly as possible, which in turn can be managed and processed on demand and can meet the number of user's requirements quickly to have a progressive increase.</a:t>
            </a:r>
          </a:p>
          <a:p>
            <a:r>
              <a:rPr lang="en-US" b="1" dirty="0"/>
              <a:t>4) Extensibility</a:t>
            </a:r>
          </a:p>
          <a:p>
            <a:r>
              <a:rPr lang="en-US" dirty="0"/>
              <a:t>The fourth property that covers the ability to adjust to the different client needs and gives the Architecture of a Data Warehouse the liberty to accommodate the changes is Extensibility.</a:t>
            </a:r>
          </a:p>
          <a:p>
            <a:r>
              <a:rPr lang="en-US" dirty="0"/>
              <a:t>With the new technologies emerging and the amount of data getting created, it is highly recommended that the Extensibility of the architecture of the data warehouse be spot on.</a:t>
            </a:r>
          </a:p>
          <a:p>
            <a:r>
              <a:rPr lang="en-US" dirty="0"/>
              <a:t>We should have an architecture that can upgrade with respect to the demand without redesigning the whole system.</a:t>
            </a:r>
          </a:p>
          <a:p>
            <a:r>
              <a:rPr lang="en-US" b="1" dirty="0"/>
              <a:t>5) Separation</a:t>
            </a:r>
          </a:p>
          <a:p>
            <a:r>
              <a:rPr lang="en-US" dirty="0"/>
              <a:t>The last important property that needs to be kept in mind while designing the Architecture of the Data Warehouse is Separation. When the amount of data in the data warehouse stored starts to increase can be issues that can start to come up concerning the overlapping of the process, such as analytical or transactional.</a:t>
            </a:r>
          </a:p>
          <a:p>
            <a:r>
              <a:rPr lang="en-US" dirty="0"/>
              <a:t>Therefore it is always a good point to incorporate proper Separation analysis while designing the Architecture of the Data Warehouse to keep both the Analytical and transactional as apart as possible.</a:t>
            </a:r>
          </a:p>
          <a:p>
            <a:endParaRPr lang="en-IN" dirty="0"/>
          </a:p>
        </p:txBody>
      </p:sp>
    </p:spTree>
    <p:extLst>
      <p:ext uri="{BB962C8B-B14F-4D97-AF65-F5344CB8AC3E}">
        <p14:creationId xmlns:p14="http://schemas.microsoft.com/office/powerpoint/2010/main" val="641316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normAutofit fontScale="47500" lnSpcReduction="20000"/>
          </a:bodyPr>
          <a:lstStyle/>
          <a:p>
            <a:r>
              <a:rPr lang="en-US" dirty="0"/>
              <a:t>A </a:t>
            </a:r>
            <a:r>
              <a:rPr lang="en-US" b="1" dirty="0"/>
              <a:t>Data Warehouse</a:t>
            </a:r>
            <a:r>
              <a:rPr lang="en-US" dirty="0"/>
              <a:t> is a large, centralized repository of data collected from multiple sources. It is designed to support query and analysis rather than transaction processing. Data is extracted from various operational systems, transformed into a consistent format, and loaded into the warehouse (ETL process: Extract, Transform, Load).</a:t>
            </a:r>
          </a:p>
          <a:p>
            <a:r>
              <a:rPr lang="en-US" b="1" dirty="0"/>
              <a:t>Key Characteristics:</a:t>
            </a:r>
          </a:p>
          <a:p>
            <a:r>
              <a:rPr lang="en-US" dirty="0"/>
              <a:t>Subject-Oriented: Focuses on specific business areas (e.g., sales, finance).</a:t>
            </a:r>
          </a:p>
          <a:p>
            <a:r>
              <a:rPr lang="en-US" dirty="0"/>
              <a:t>Integrated: Combines data from different sources.</a:t>
            </a:r>
          </a:p>
          <a:p>
            <a:r>
              <a:rPr lang="en-US" dirty="0"/>
              <a:t>Time-Variant: Keeps historical data for trend analysis.</a:t>
            </a:r>
          </a:p>
          <a:p>
            <a:r>
              <a:rPr lang="en-US" dirty="0"/>
              <a:t>Non-Volatile: Once stored, data doesn’t change.</a:t>
            </a:r>
          </a:p>
          <a:p>
            <a:r>
              <a:rPr lang="en-US" b="1" dirty="0"/>
              <a:t>Real-Life Example:</a:t>
            </a:r>
          </a:p>
          <a:p>
            <a:r>
              <a:rPr lang="en-US" dirty="0"/>
              <a:t>Imagine a </a:t>
            </a:r>
            <a:r>
              <a:rPr lang="en-US" b="1" dirty="0"/>
              <a:t>Retail Chain</a:t>
            </a:r>
            <a:r>
              <a:rPr lang="en-US" dirty="0"/>
              <a:t> like Walmart. Data from sales, inventory, suppliers, and customer feedback is collected daily. This data is stored in a data warehouse, allowing managers to analyze sales trends, manage stock levels, and optimize supply chains.</a:t>
            </a:r>
          </a:p>
          <a:p>
            <a:r>
              <a:rPr lang="en-US" b="1" dirty="0"/>
              <a:t>Use Cases:</a:t>
            </a:r>
          </a:p>
          <a:p>
            <a:r>
              <a:rPr lang="en-US" dirty="0"/>
              <a:t>Sales performance analysis.</a:t>
            </a:r>
          </a:p>
          <a:p>
            <a:r>
              <a:rPr lang="en-US" dirty="0"/>
              <a:t>Customer segmentation.</a:t>
            </a:r>
          </a:p>
          <a:p>
            <a:r>
              <a:rPr lang="en-US" dirty="0"/>
              <a:t>Inventory management.</a:t>
            </a:r>
          </a:p>
          <a:p>
            <a:endParaRPr lang="en-IN" dirty="0"/>
          </a:p>
        </p:txBody>
      </p:sp>
    </p:spTree>
    <p:extLst>
      <p:ext uri="{BB962C8B-B14F-4D97-AF65-F5344CB8AC3E}">
        <p14:creationId xmlns:p14="http://schemas.microsoft.com/office/powerpoint/2010/main" val="13413031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55000" lnSpcReduction="20000"/>
          </a:bodyPr>
          <a:lstStyle/>
          <a:p>
            <a:r>
              <a:rPr lang="en-US" b="1" dirty="0"/>
              <a:t>Data Mining</a:t>
            </a:r>
            <a:r>
              <a:rPr lang="en-US" dirty="0"/>
              <a:t> is the process of discovering patterns, correlations, and insights from large datasets. It involves techniques like clustering, classification, and association rules.</a:t>
            </a:r>
          </a:p>
          <a:p>
            <a:r>
              <a:rPr lang="en-US" b="1" dirty="0"/>
              <a:t>Key Techniques:</a:t>
            </a:r>
          </a:p>
          <a:p>
            <a:r>
              <a:rPr lang="en-US" dirty="0"/>
              <a:t>Classification: Categorizing data (e.g., spam detection).</a:t>
            </a:r>
          </a:p>
          <a:p>
            <a:r>
              <a:rPr lang="en-US" dirty="0"/>
              <a:t>Clustering: Grouping similar data points (e.g., customer segmentation).</a:t>
            </a:r>
          </a:p>
          <a:p>
            <a:r>
              <a:rPr lang="en-US" dirty="0"/>
              <a:t>Association Rules: Finding relationships between variables (e.g., “Customers who buy bread also buy butter”).</a:t>
            </a:r>
          </a:p>
          <a:p>
            <a:r>
              <a:rPr lang="en-US" b="1" dirty="0"/>
              <a:t>Real-Life Example:</a:t>
            </a:r>
          </a:p>
          <a:p>
            <a:r>
              <a:rPr lang="en-US" dirty="0"/>
              <a:t>A </a:t>
            </a:r>
            <a:r>
              <a:rPr lang="en-US" b="1" dirty="0"/>
              <a:t>Bank</a:t>
            </a:r>
            <a:r>
              <a:rPr lang="en-US" dirty="0"/>
              <a:t> might use data mining to detect fraudulent transactions. By analyzing transaction patterns, the system can identify unusual activity, like multiple withdrawals in a short time from different locations, triggering a fraud alert.</a:t>
            </a:r>
          </a:p>
          <a:p>
            <a:r>
              <a:rPr lang="en-US" b="1" dirty="0"/>
              <a:t>Use Cases:</a:t>
            </a:r>
          </a:p>
          <a:p>
            <a:r>
              <a:rPr lang="en-US" dirty="0"/>
              <a:t>Fraud detection.</a:t>
            </a:r>
          </a:p>
          <a:p>
            <a:r>
              <a:rPr lang="en-US" dirty="0"/>
              <a:t>Market basket analysis.</a:t>
            </a:r>
          </a:p>
          <a:p>
            <a:r>
              <a:rPr lang="en-US" dirty="0"/>
              <a:t>Predictive maintenance.</a:t>
            </a:r>
          </a:p>
          <a:p>
            <a:endParaRPr lang="en-IN" dirty="0"/>
          </a:p>
        </p:txBody>
      </p:sp>
    </p:spTree>
    <p:extLst>
      <p:ext uri="{BB962C8B-B14F-4D97-AF65-F5344CB8AC3E}">
        <p14:creationId xmlns:p14="http://schemas.microsoft.com/office/powerpoint/2010/main" val="3506215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55000" lnSpcReduction="20000"/>
          </a:bodyPr>
          <a:lstStyle/>
          <a:p>
            <a:r>
              <a:rPr lang="en-US" dirty="0"/>
              <a:t>Data mining is the process of sorting through large data sets to identify patterns and relationships that can help solve business problems through data analysis. Data mining techniques and tools help enterprises to predict future trends and make more informed business decisions.</a:t>
            </a:r>
          </a:p>
          <a:p>
            <a:r>
              <a:rPr lang="en-US" dirty="0"/>
              <a:t>Data mining is a key part of </a:t>
            </a:r>
            <a:r>
              <a:rPr lang="en-US" u="sng" dirty="0">
                <a:hlinkClick r:id="rId2"/>
              </a:rPr>
              <a:t>data analytics</a:t>
            </a:r>
            <a:r>
              <a:rPr lang="en-US" dirty="0"/>
              <a:t> and one of the core disciplines in </a:t>
            </a:r>
            <a:r>
              <a:rPr lang="en-US" u="sng" dirty="0">
                <a:hlinkClick r:id="rId3"/>
              </a:rPr>
              <a:t>data science</a:t>
            </a:r>
            <a:r>
              <a:rPr lang="en-US" dirty="0"/>
              <a:t>, which uses advanced analytics techniques to find useful information in data sets. At a more granular level, data mining is a step in the </a:t>
            </a:r>
            <a:r>
              <a:rPr lang="en-US" u="sng" dirty="0">
                <a:hlinkClick r:id="rId4"/>
              </a:rPr>
              <a:t>knowledge discovery in databases (KDD) process</a:t>
            </a:r>
            <a:r>
              <a:rPr lang="en-US" dirty="0"/>
              <a:t>, a data science methodology for gathering, processing and analyzing data. Data mining and KDD are sometimes referred to interchangeably, but they're more commonly seen as distinct things.</a:t>
            </a:r>
          </a:p>
          <a:p>
            <a:r>
              <a:rPr lang="en-US" dirty="0"/>
              <a:t>The process of data mining relies on the effective implementation of data collection, warehousing and processing. Data mining can be used to describe a target data set, predict outcomes, detect fraud or security issues, learn more about a user base, or detect bottlenecks and dependencies. It can also be performed automatically or </a:t>
            </a:r>
            <a:r>
              <a:rPr lang="en-US" dirty="0" err="1"/>
              <a:t>semiautomatically</a:t>
            </a:r>
            <a:r>
              <a:rPr lang="en-US" dirty="0"/>
              <a:t>.</a:t>
            </a:r>
          </a:p>
          <a:p>
            <a:r>
              <a:rPr lang="en-US" dirty="0"/>
              <a:t>Data mining is more useful today due to the growth of </a:t>
            </a:r>
            <a:r>
              <a:rPr lang="en-US" u="sng" dirty="0">
                <a:hlinkClick r:id="rId5"/>
              </a:rPr>
              <a:t>big data</a:t>
            </a:r>
            <a:r>
              <a:rPr lang="en-US" dirty="0"/>
              <a:t> and data warehousing. Data specialists who use data mining must have coding and programming language experience, as well as statistical knowledge to clean, process and interpret data.</a:t>
            </a:r>
          </a:p>
          <a:p>
            <a:endParaRPr lang="en-IN" dirty="0"/>
          </a:p>
        </p:txBody>
      </p:sp>
    </p:spTree>
    <p:extLst>
      <p:ext uri="{BB962C8B-B14F-4D97-AF65-F5344CB8AC3E}">
        <p14:creationId xmlns:p14="http://schemas.microsoft.com/office/powerpoint/2010/main" val="33314887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40000" lnSpcReduction="20000"/>
          </a:bodyPr>
          <a:lstStyle/>
          <a:p>
            <a:r>
              <a:rPr lang="en-US" dirty="0"/>
              <a:t>The core elements of data mining include </a:t>
            </a:r>
            <a:r>
              <a:rPr lang="en-US" u="sng" dirty="0">
                <a:hlinkClick r:id="rId2"/>
              </a:rPr>
              <a:t>machine learning</a:t>
            </a:r>
            <a:r>
              <a:rPr lang="en-US" dirty="0"/>
              <a:t> and statistical analysis, along with data management tasks done to prepare data for analysis. The use of machine learning algorithms and artificial intelligence (AI) tools has </a:t>
            </a:r>
            <a:r>
              <a:rPr lang="en-US" u="sng" dirty="0">
                <a:hlinkClick r:id="rId3"/>
              </a:rPr>
              <a:t>automated more of the process</a:t>
            </a:r>
            <a:r>
              <a:rPr lang="en-US" dirty="0"/>
              <a:t>. These tools have also made it easier to mine massive data sets, such as customer databases, transaction records and log files from web servers, mobile apps and sensors.</a:t>
            </a:r>
          </a:p>
          <a:p>
            <a:r>
              <a:rPr lang="en-US" dirty="0"/>
              <a:t>Although the number of stages can differ depending on how granular an organization wants each step to be, the data mining process can generally be broken down into the following four primary stages:</a:t>
            </a:r>
          </a:p>
          <a:p>
            <a:r>
              <a:rPr lang="en-US" b="1" dirty="0"/>
              <a:t>Data gathering.</a:t>
            </a:r>
            <a:r>
              <a:rPr lang="en-US" dirty="0"/>
              <a:t> Identify and assemble relevant data for an analytics application. The data might be located in different source systems, a data warehouse or a data lake, an increasingly common repository in </a:t>
            </a:r>
            <a:r>
              <a:rPr lang="en-US" u="sng" dirty="0">
                <a:hlinkClick r:id="rId4"/>
              </a:rPr>
              <a:t>big data environments</a:t>
            </a:r>
            <a:r>
              <a:rPr lang="en-US" dirty="0"/>
              <a:t> that contain a mix of structured and unstructured data. External data sources can also be used. Wherever the data comes from, a data scientist often moves it to a data lake for the remaining steps in the process.</a:t>
            </a:r>
          </a:p>
          <a:p>
            <a:r>
              <a:rPr lang="en-US" b="1" dirty="0"/>
              <a:t>Data preparation.</a:t>
            </a:r>
            <a:r>
              <a:rPr lang="en-US" dirty="0"/>
              <a:t> This stage includes a set of steps to get the data ready to be mined. Data preparation starts with data exploration, profiling and pre-processing, followed by data cleansing work to fix errors and other </a:t>
            </a:r>
            <a:r>
              <a:rPr lang="en-US" u="sng" dirty="0">
                <a:hlinkClick r:id="rId5"/>
              </a:rPr>
              <a:t>data quality</a:t>
            </a:r>
            <a:r>
              <a:rPr lang="en-US" dirty="0"/>
              <a:t> issues, such as duplicate or missing values. Data transformation is also done to make data sets consistent, unless a data scientist wants to analyze unfiltered raw data for a particular application.</a:t>
            </a:r>
          </a:p>
          <a:p>
            <a:r>
              <a:rPr lang="en-US" b="1" dirty="0"/>
              <a:t>Data mining.</a:t>
            </a:r>
            <a:r>
              <a:rPr lang="en-US" dirty="0"/>
              <a:t> Once the data is prepared, a data scientist chooses the appropriate data mining technique and then implements one or more algorithms to do the mining. These techniques, for example, could analyze data relationships and detect patterns, associations and correlations. In machine learning applications, the algorithms typically must be trained on sample data sets to look for the information being sought before they're run against the full set of data.</a:t>
            </a:r>
          </a:p>
          <a:p>
            <a:r>
              <a:rPr lang="en-US" b="1" dirty="0"/>
              <a:t>Data analysis and interpretation.</a:t>
            </a:r>
            <a:r>
              <a:rPr lang="en-US" dirty="0"/>
              <a:t> The data mining results are used to create analytical models that can help drive decision-making and other business actions. The data scientist or another </a:t>
            </a:r>
            <a:r>
              <a:rPr lang="en-US" u="sng" dirty="0">
                <a:hlinkClick r:id="rId6"/>
              </a:rPr>
              <a:t>member of a data science team</a:t>
            </a:r>
            <a:r>
              <a:rPr lang="en-US" dirty="0"/>
              <a:t> must also communicate the findings to business executives and users, often through data visualization and the use of </a:t>
            </a:r>
            <a:r>
              <a:rPr lang="en-US" u="sng" dirty="0">
                <a:hlinkClick r:id="rId7"/>
              </a:rPr>
              <a:t>data storytelling</a:t>
            </a:r>
            <a:r>
              <a:rPr lang="en-US" dirty="0"/>
              <a:t> techniques.</a:t>
            </a:r>
          </a:p>
          <a:p>
            <a:endParaRPr lang="en-IN" dirty="0"/>
          </a:p>
        </p:txBody>
      </p:sp>
    </p:spTree>
    <p:extLst>
      <p:ext uri="{BB962C8B-B14F-4D97-AF65-F5344CB8AC3E}">
        <p14:creationId xmlns:p14="http://schemas.microsoft.com/office/powerpoint/2010/main" val="42058787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5122" name="Picture 2" descr="Chart showing four steps in the data mining proces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417638"/>
            <a:ext cx="8229599" cy="41657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26660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70489"/>
          </a:xfrm>
        </p:spPr>
        <p:txBody>
          <a:bodyPr>
            <a:normAutofit fontScale="90000"/>
          </a:bodyPr>
          <a:lstStyle/>
          <a:p>
            <a:endParaRPr lang="en-IN" dirty="0"/>
          </a:p>
        </p:txBody>
      </p:sp>
      <p:sp>
        <p:nvSpPr>
          <p:cNvPr id="3" name="Content Placeholder 2"/>
          <p:cNvSpPr>
            <a:spLocks noGrp="1"/>
          </p:cNvSpPr>
          <p:nvPr>
            <p:ph idx="1"/>
          </p:nvPr>
        </p:nvSpPr>
        <p:spPr>
          <a:xfrm>
            <a:off x="457200" y="969818"/>
            <a:ext cx="8229600" cy="5597237"/>
          </a:xfrm>
        </p:spPr>
        <p:txBody>
          <a:bodyPr numCol="2">
            <a:normAutofit fontScale="32500" lnSpcReduction="20000"/>
          </a:bodyPr>
          <a:lstStyle/>
          <a:p>
            <a:pPr algn="just"/>
            <a:r>
              <a:rPr lang="en-US" b="1" dirty="0"/>
              <a:t>Types of data mining techniques</a:t>
            </a:r>
          </a:p>
          <a:p>
            <a:pPr algn="just"/>
            <a:r>
              <a:rPr lang="en-US" dirty="0"/>
              <a:t>Various techniques can be used to mine data for </a:t>
            </a:r>
            <a:r>
              <a:rPr lang="en-US" u="sng" dirty="0">
                <a:hlinkClick r:id="rId2"/>
              </a:rPr>
              <a:t>different data science applications</a:t>
            </a:r>
            <a:r>
              <a:rPr lang="en-US" dirty="0"/>
              <a:t>. Pattern recognition is a common data mining use case, as is anomaly detection, which helps identify outlier values in data sets. Popular data mining techniques include the following types:</a:t>
            </a:r>
          </a:p>
          <a:p>
            <a:pPr algn="just"/>
            <a:r>
              <a:rPr lang="en-US" b="1" dirty="0"/>
              <a:t>Association rule mining. </a:t>
            </a:r>
            <a:r>
              <a:rPr lang="en-US" dirty="0"/>
              <a:t>In data mining, </a:t>
            </a:r>
            <a:r>
              <a:rPr lang="en-US" u="sng" dirty="0">
                <a:hlinkClick r:id="rId3"/>
              </a:rPr>
              <a:t>association rules</a:t>
            </a:r>
            <a:r>
              <a:rPr lang="en-US" dirty="0"/>
              <a:t> are if-then statements that identify relationships between data elements. Support and confidence criteria are used to assess the relationships. Support measures how frequently the related elements appear in a data set, while confidence reflects the number of times an if-then statement is accurate.</a:t>
            </a:r>
          </a:p>
          <a:p>
            <a:pPr algn="just"/>
            <a:r>
              <a:rPr lang="en-US" b="1" dirty="0"/>
              <a:t>Classification.</a:t>
            </a:r>
            <a:r>
              <a:rPr lang="en-US" dirty="0"/>
              <a:t> This approach assigns the elements in data sets to different categories defined as part of the data mining process. Decision trees, Naive Bayes classifiers, k-nearest neighbors (KNN) and </a:t>
            </a:r>
            <a:r>
              <a:rPr lang="en-US" u="sng" dirty="0">
                <a:hlinkClick r:id="rId4"/>
              </a:rPr>
              <a:t>logistic regression</a:t>
            </a:r>
            <a:r>
              <a:rPr lang="en-US" dirty="0"/>
              <a:t> are examples of classification methods.</a:t>
            </a:r>
          </a:p>
          <a:p>
            <a:pPr algn="just"/>
            <a:r>
              <a:rPr lang="en-US" b="1" dirty="0"/>
              <a:t>Clustering.</a:t>
            </a:r>
            <a:r>
              <a:rPr lang="en-US" dirty="0"/>
              <a:t> In this case, data elements that share particular characteristics are grouped together into clusters as part of data mining applications. Examples include k-means clustering, hierarchical clustering and Gaussian mixture models.</a:t>
            </a:r>
          </a:p>
          <a:p>
            <a:pPr algn="just"/>
            <a:r>
              <a:rPr lang="en-US" b="1" dirty="0"/>
              <a:t>Regression.</a:t>
            </a:r>
            <a:r>
              <a:rPr lang="en-US" dirty="0"/>
              <a:t> This method finds relationships in data sets by calculating predicted data values based on a set of variables. </a:t>
            </a:r>
            <a:r>
              <a:rPr lang="en-US" u="sng" dirty="0">
                <a:hlinkClick r:id="rId5"/>
              </a:rPr>
              <a:t>Linear regression</a:t>
            </a:r>
            <a:r>
              <a:rPr lang="en-US" dirty="0"/>
              <a:t> and multivariate regression are examples. Decision trees and other classification methods can also be used to do regressions.</a:t>
            </a:r>
          </a:p>
          <a:p>
            <a:pPr algn="just"/>
            <a:r>
              <a:rPr lang="en-US" b="1" dirty="0"/>
              <a:t>Sequence and path analysis.</a:t>
            </a:r>
            <a:r>
              <a:rPr lang="en-US" dirty="0"/>
              <a:t> Data can also be mined to look for patterns in which a particular set of events or values leads to later ones.</a:t>
            </a:r>
          </a:p>
          <a:p>
            <a:pPr algn="just"/>
            <a:r>
              <a:rPr lang="en-US" b="1" dirty="0"/>
              <a:t>Neural networks.</a:t>
            </a:r>
            <a:r>
              <a:rPr lang="en-US" dirty="0"/>
              <a:t> A </a:t>
            </a:r>
            <a:r>
              <a:rPr lang="en-US" u="sng" dirty="0">
                <a:hlinkClick r:id="rId6"/>
              </a:rPr>
              <a:t>neural network</a:t>
            </a:r>
            <a:r>
              <a:rPr lang="en-US" dirty="0"/>
              <a:t> is a set of algorithms that simulates the activity of the human brain, where data is processed using nodes. Neural networks are particularly useful in complex pattern recognition applications involving </a:t>
            </a:r>
            <a:r>
              <a:rPr lang="en-US" u="sng" dirty="0">
                <a:hlinkClick r:id="rId7"/>
              </a:rPr>
              <a:t>deep learning</a:t>
            </a:r>
            <a:r>
              <a:rPr lang="en-US" dirty="0"/>
              <a:t>, a more advanced offshoot of machine learning.</a:t>
            </a:r>
          </a:p>
          <a:p>
            <a:pPr algn="just"/>
            <a:r>
              <a:rPr lang="en-US" b="1" dirty="0"/>
              <a:t>Decision trees.</a:t>
            </a:r>
            <a:r>
              <a:rPr lang="en-US" dirty="0"/>
              <a:t> This process classifies or predicts potential results using either classification or regression methods. Treelike structures are used to represent the potential decision outcomes.</a:t>
            </a:r>
          </a:p>
          <a:p>
            <a:pPr algn="just"/>
            <a:r>
              <a:rPr lang="en-US" b="1" dirty="0"/>
              <a:t>KNN.</a:t>
            </a:r>
            <a:r>
              <a:rPr lang="en-US" dirty="0"/>
              <a:t> This data mining method classifies data based on its proximity to other data points. Assuming nearby data points are more similar to each other than other data points, KNN is used to predict group features.</a:t>
            </a:r>
          </a:p>
          <a:p>
            <a:pPr algn="just"/>
            <a:r>
              <a:rPr lang="en-US" b="1" dirty="0"/>
              <a:t>Data mining software and tools</a:t>
            </a:r>
          </a:p>
          <a:p>
            <a:pPr algn="just"/>
            <a:r>
              <a:rPr lang="en-US" dirty="0"/>
              <a:t>Numerous vendors offer data mining tools, typically as part of software platforms that also include other types of </a:t>
            </a:r>
            <a:r>
              <a:rPr lang="en-US" u="sng" dirty="0">
                <a:hlinkClick r:id="rId8"/>
              </a:rPr>
              <a:t>data science and advanced analytics tools</a:t>
            </a:r>
            <a:r>
              <a:rPr lang="en-US" dirty="0"/>
              <a:t>. Data mining software provides key features, including data preparation capabilities, built-in algorithms, </a:t>
            </a:r>
            <a:r>
              <a:rPr lang="en-US" u="sng" dirty="0">
                <a:hlinkClick r:id="rId9"/>
              </a:rPr>
              <a:t>predictive modeling</a:t>
            </a:r>
            <a:r>
              <a:rPr lang="en-US" dirty="0"/>
              <a:t> support, a graphical user interface-based development environment, and tools for deploying models and scoring how they perform.</a:t>
            </a:r>
          </a:p>
          <a:p>
            <a:pPr algn="just"/>
            <a:r>
              <a:rPr lang="en-US" dirty="0"/>
              <a:t>A sampling of vendors that offer tools for data mining is </a:t>
            </a:r>
            <a:r>
              <a:rPr lang="en-US" dirty="0" err="1"/>
              <a:t>Alteryx</a:t>
            </a:r>
            <a:r>
              <a:rPr lang="en-US" dirty="0"/>
              <a:t>, </a:t>
            </a:r>
            <a:r>
              <a:rPr lang="en-US" dirty="0" err="1"/>
              <a:t>Dataiku</a:t>
            </a:r>
            <a:r>
              <a:rPr lang="en-US" dirty="0"/>
              <a:t>, H2O.ai, IBM, </a:t>
            </a:r>
            <a:r>
              <a:rPr lang="en-US" dirty="0" err="1"/>
              <a:t>Knime</a:t>
            </a:r>
            <a:r>
              <a:rPr lang="en-US" dirty="0"/>
              <a:t>, Microsoft, Oracle, </a:t>
            </a:r>
            <a:r>
              <a:rPr lang="en-US" dirty="0" err="1"/>
              <a:t>RapidMiner</a:t>
            </a:r>
            <a:r>
              <a:rPr lang="en-US" dirty="0"/>
              <a:t>, SAP, SAS Institute and </a:t>
            </a:r>
            <a:r>
              <a:rPr lang="en-US" dirty="0" err="1"/>
              <a:t>Tibco</a:t>
            </a:r>
            <a:r>
              <a:rPr lang="en-US" dirty="0"/>
              <a:t> Software.</a:t>
            </a:r>
          </a:p>
          <a:p>
            <a:pPr algn="just"/>
            <a:r>
              <a:rPr lang="en-US" dirty="0"/>
              <a:t>A variety of free open source technologies can also be used to mine data, including </a:t>
            </a:r>
            <a:r>
              <a:rPr lang="en-US" dirty="0" err="1"/>
              <a:t>DataMelt</a:t>
            </a:r>
            <a:r>
              <a:rPr lang="en-US" dirty="0"/>
              <a:t>, </a:t>
            </a:r>
            <a:r>
              <a:rPr lang="en-US" dirty="0" err="1"/>
              <a:t>Elki</a:t>
            </a:r>
            <a:r>
              <a:rPr lang="en-US" dirty="0"/>
              <a:t>, Orange, Rattle, </a:t>
            </a:r>
            <a:r>
              <a:rPr lang="en-US" dirty="0" err="1"/>
              <a:t>scikit</a:t>
            </a:r>
            <a:r>
              <a:rPr lang="en-US" dirty="0"/>
              <a:t>-learn and Weka. Some software vendors also provide open source options. For example, </a:t>
            </a:r>
            <a:r>
              <a:rPr lang="en-US" dirty="0" err="1"/>
              <a:t>Knime</a:t>
            </a:r>
            <a:r>
              <a:rPr lang="en-US" dirty="0"/>
              <a:t> combines an open source analytics platform with commercial software for managing data science applications, while companies such as </a:t>
            </a:r>
            <a:r>
              <a:rPr lang="en-US" dirty="0" err="1"/>
              <a:t>Dataiku</a:t>
            </a:r>
            <a:r>
              <a:rPr lang="en-US" dirty="0"/>
              <a:t> and H2O.ai offer free versions of their tools</a:t>
            </a:r>
            <a:r>
              <a:rPr lang="en-US" dirty="0" smtClean="0"/>
              <a:t>.</a:t>
            </a:r>
            <a:endParaRPr lang="en-US" dirty="0"/>
          </a:p>
        </p:txBody>
      </p:sp>
    </p:spTree>
    <p:extLst>
      <p:ext uri="{BB962C8B-B14F-4D97-AF65-F5344CB8AC3E}">
        <p14:creationId xmlns:p14="http://schemas.microsoft.com/office/powerpoint/2010/main" val="15825617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numCol="2">
            <a:normAutofit fontScale="32500" lnSpcReduction="20000"/>
          </a:bodyPr>
          <a:lstStyle/>
          <a:p>
            <a:pPr algn="just"/>
            <a:r>
              <a:rPr lang="en-US" b="1" dirty="0"/>
              <a:t>Benefits of data mining</a:t>
            </a:r>
          </a:p>
          <a:p>
            <a:pPr algn="just"/>
            <a:r>
              <a:rPr lang="en-US" dirty="0"/>
              <a:t>In general, the business benefits of data mining come from the increased ability of an organization to uncover hidden patterns, trends, correlations and anomalies in data sets. They can use that information to improve business decision-making and strategic planning through a combination of conventional data analysis and </a:t>
            </a:r>
            <a:r>
              <a:rPr lang="en-US" u="sng" dirty="0">
                <a:hlinkClick r:id="rId2"/>
              </a:rPr>
              <a:t>predictive analytics</a:t>
            </a:r>
            <a:r>
              <a:rPr lang="en-US" dirty="0"/>
              <a:t>.</a:t>
            </a:r>
          </a:p>
          <a:p>
            <a:pPr algn="just"/>
            <a:r>
              <a:rPr lang="en-US" dirty="0"/>
              <a:t>Specific data mining benefits include the following:</a:t>
            </a:r>
          </a:p>
          <a:p>
            <a:pPr algn="just"/>
            <a:r>
              <a:rPr lang="en-US" b="1" dirty="0"/>
              <a:t>More effective marketing and sales.</a:t>
            </a:r>
            <a:r>
              <a:rPr lang="en-US" dirty="0"/>
              <a:t> Data mining helps marketers better understand customer behavior and preferences, which helps them create targeted marketing and advertising campaigns. Similarly, sales teams can use data mining results to improve lead conversion rates and sell additional products and services to existing customers.</a:t>
            </a:r>
          </a:p>
          <a:p>
            <a:pPr algn="just"/>
            <a:r>
              <a:rPr lang="en-US" b="1" dirty="0"/>
              <a:t>Better customer service.</a:t>
            </a:r>
            <a:r>
              <a:rPr lang="en-US" dirty="0"/>
              <a:t> Data mining helps companies identify potential customer service issues more promptly and give contact center agents up-to-date information to use in calls and online chats with customers.</a:t>
            </a:r>
          </a:p>
          <a:p>
            <a:pPr algn="just"/>
            <a:r>
              <a:rPr lang="en-US" b="1" dirty="0"/>
              <a:t>Improved SCM.</a:t>
            </a:r>
            <a:r>
              <a:rPr lang="en-US" dirty="0"/>
              <a:t> Organizations can spot market trends and forecast product demand more accurately, enabling them to better manage inventories of goods and supplies. Supply chain managers can also use information from data mining to optimize warehousing, distribution and other logistics operations.</a:t>
            </a:r>
          </a:p>
          <a:p>
            <a:pPr algn="just"/>
            <a:r>
              <a:rPr lang="en-US" b="1" dirty="0"/>
              <a:t>Increased production uptime.</a:t>
            </a:r>
            <a:r>
              <a:rPr lang="en-US" dirty="0"/>
              <a:t> Mining operational data from sensors on manufacturing machines and other industrial equipment </a:t>
            </a:r>
            <a:r>
              <a:rPr lang="en-US" u="sng" dirty="0">
                <a:hlinkClick r:id="rId3"/>
              </a:rPr>
              <a:t>supports predictive maintenance applications</a:t>
            </a:r>
            <a:r>
              <a:rPr lang="en-US" dirty="0"/>
              <a:t> to identify potential problems before they occur, helping to avoid unscheduled downtime.</a:t>
            </a:r>
          </a:p>
          <a:p>
            <a:pPr algn="just"/>
            <a:r>
              <a:rPr lang="en-US" b="1" dirty="0"/>
              <a:t>Stronger risk management.</a:t>
            </a:r>
            <a:r>
              <a:rPr lang="en-US" dirty="0"/>
              <a:t> Risk managers and business executives can better assess financial, legal, cybersecurity and other risks to a company and develop plans for managing them.</a:t>
            </a:r>
          </a:p>
          <a:p>
            <a:pPr algn="just"/>
            <a:r>
              <a:rPr lang="en-US" b="1" dirty="0"/>
              <a:t>Lower costs.</a:t>
            </a:r>
            <a:r>
              <a:rPr lang="en-US" dirty="0"/>
              <a:t> Data mining helps improve cost savings through operational efficiencies in business processes and reduces redundancy and waste in corporate spending.</a:t>
            </a:r>
          </a:p>
          <a:p>
            <a:pPr algn="just"/>
            <a:r>
              <a:rPr lang="en-US" dirty="0"/>
              <a:t>Ultimately, data mining initiatives can lead to higher revenue and profits, as well as competitive advantages that set companies apart from their business rivals.</a:t>
            </a:r>
          </a:p>
          <a:p>
            <a:pPr algn="just"/>
            <a:r>
              <a:rPr lang="en-US" b="1" dirty="0"/>
              <a:t>Industry examples of data mining</a:t>
            </a:r>
          </a:p>
          <a:p>
            <a:pPr algn="just"/>
            <a:r>
              <a:rPr lang="en-US" dirty="0"/>
              <a:t>Organizations in the following industries use data mining as part of their analytics applications:</a:t>
            </a:r>
          </a:p>
          <a:p>
            <a:pPr algn="just"/>
            <a:r>
              <a:rPr lang="en-US" b="1" dirty="0"/>
              <a:t>Retail.</a:t>
            </a:r>
            <a:r>
              <a:rPr lang="en-US" dirty="0"/>
              <a:t> Online retailers mine customer data and internet clickstream records to help them target marketing campaigns, ads and promotional offers to individual shoppers. Data mining and predictive modeling also power the recommendation engines that suggest possible purchases to website visitors, as well as inventory and SCM activities.</a:t>
            </a:r>
          </a:p>
          <a:p>
            <a:pPr algn="just"/>
            <a:r>
              <a:rPr lang="en-US" b="1" dirty="0"/>
              <a:t>Financial services.</a:t>
            </a:r>
            <a:r>
              <a:rPr lang="en-US" dirty="0"/>
              <a:t> Banks and credit card companies use data mining tools to build financial risk models, detect fraudulent transactions, and vet loan and credit applications. Data mining also plays a key role in marketing and identifying potential upselling opportunities with existing customers.</a:t>
            </a:r>
          </a:p>
          <a:p>
            <a:pPr algn="just"/>
            <a:r>
              <a:rPr lang="en-US" b="1" dirty="0"/>
              <a:t>Insurance.</a:t>
            </a:r>
            <a:r>
              <a:rPr lang="en-US" dirty="0"/>
              <a:t> Insurers rely on data mining to aid in pricing insurance policies and deciding whether to approve policy applications, as well as for risk modeling and managing prospective customers.</a:t>
            </a:r>
          </a:p>
          <a:p>
            <a:pPr algn="just"/>
            <a:r>
              <a:rPr lang="en-US" b="1" dirty="0"/>
              <a:t>Manufacturing.</a:t>
            </a:r>
            <a:r>
              <a:rPr lang="en-US" dirty="0"/>
              <a:t> Data mining applications for manufacturers include efforts to improve uptime and operational efficiency in production plants, supply chain performance and product safety.</a:t>
            </a:r>
          </a:p>
          <a:p>
            <a:pPr algn="just"/>
            <a:r>
              <a:rPr lang="en-US" b="1" dirty="0"/>
              <a:t>Entertainment.</a:t>
            </a:r>
            <a:r>
              <a:rPr lang="en-US" dirty="0"/>
              <a:t> Streaming services analyze what users are watching or listening to and make personalized recommendations based on their viewing and listening habits. Likewise, individuals might data mine software to learn more about it.</a:t>
            </a:r>
          </a:p>
          <a:p>
            <a:pPr algn="just"/>
            <a:r>
              <a:rPr lang="en-US" b="1" dirty="0"/>
              <a:t>Healthcare.</a:t>
            </a:r>
            <a:r>
              <a:rPr lang="en-US" dirty="0"/>
              <a:t> Data mining helps doctors diagnose medical conditions, treat patients, and analyze X-rays and other medical imaging results. Medical research also depends heavily on data mining, machine learning and other forms of analytics.</a:t>
            </a:r>
          </a:p>
          <a:p>
            <a:pPr algn="just"/>
            <a:endParaRPr lang="en-IN" dirty="0"/>
          </a:p>
          <a:p>
            <a:pPr algn="just"/>
            <a:endParaRPr lang="en-IN" dirty="0"/>
          </a:p>
        </p:txBody>
      </p:sp>
    </p:spTree>
    <p:extLst>
      <p:ext uri="{BB962C8B-B14F-4D97-AF65-F5344CB8AC3E}">
        <p14:creationId xmlns:p14="http://schemas.microsoft.com/office/powerpoint/2010/main" val="40172358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47500" lnSpcReduction="20000"/>
          </a:bodyPr>
          <a:lstStyle/>
          <a:p>
            <a:r>
              <a:rPr lang="en-US" b="1" dirty="0"/>
              <a:t>3. Big Data</a:t>
            </a:r>
          </a:p>
          <a:p>
            <a:r>
              <a:rPr lang="en-US" b="1" dirty="0"/>
              <a:t>Big Data</a:t>
            </a:r>
            <a:r>
              <a:rPr lang="en-US" dirty="0"/>
              <a:t> refers to extremely large datasets that cannot be processed using traditional data management tools. It’s defined by the 3 V’s:</a:t>
            </a:r>
          </a:p>
          <a:p>
            <a:r>
              <a:rPr lang="en-US" b="1" dirty="0"/>
              <a:t>Volume</a:t>
            </a:r>
            <a:r>
              <a:rPr lang="en-US" dirty="0"/>
              <a:t>: Massive amounts of data.</a:t>
            </a:r>
          </a:p>
          <a:p>
            <a:r>
              <a:rPr lang="en-US" b="1" dirty="0"/>
              <a:t>Velocity</a:t>
            </a:r>
            <a:r>
              <a:rPr lang="en-US" dirty="0"/>
              <a:t>: High speed of data generation.</a:t>
            </a:r>
          </a:p>
          <a:p>
            <a:r>
              <a:rPr lang="en-US" b="1" dirty="0"/>
              <a:t>Variety</a:t>
            </a:r>
            <a:r>
              <a:rPr lang="en-US" dirty="0"/>
              <a:t>: Different data types (structured, unstructured, semi-structured).</a:t>
            </a:r>
          </a:p>
          <a:p>
            <a:r>
              <a:rPr lang="en-US" b="1" dirty="0"/>
              <a:t>Real-Life Example:</a:t>
            </a:r>
          </a:p>
          <a:p>
            <a:r>
              <a:rPr lang="en-US" dirty="0"/>
              <a:t>In </a:t>
            </a:r>
            <a:r>
              <a:rPr lang="en-US" b="1" dirty="0"/>
              <a:t>Healthcare</a:t>
            </a:r>
            <a:r>
              <a:rPr lang="en-US" dirty="0"/>
              <a:t>, wearable devices like smartwatches generate vast amounts of health data (heart rate, steps, sleep patterns) every second. Analyzing this data in real-time can help doctors monitor patients remotely and detect abnormalities early.</a:t>
            </a:r>
          </a:p>
          <a:p>
            <a:r>
              <a:rPr lang="en-US" b="1" dirty="0"/>
              <a:t>Technologies Used:</a:t>
            </a:r>
          </a:p>
          <a:p>
            <a:r>
              <a:rPr lang="en-US" dirty="0"/>
              <a:t>Hadoop, Spark for processing.</a:t>
            </a:r>
          </a:p>
          <a:p>
            <a:r>
              <a:rPr lang="en-US" dirty="0"/>
              <a:t>NoSQL databases like MongoDB.</a:t>
            </a:r>
          </a:p>
          <a:p>
            <a:r>
              <a:rPr lang="en-US" dirty="0"/>
              <a:t>Cloud platforms like AWS, Azure.</a:t>
            </a:r>
          </a:p>
          <a:p>
            <a:r>
              <a:rPr lang="en-US" b="1" dirty="0"/>
              <a:t>Use Cases:</a:t>
            </a:r>
          </a:p>
          <a:p>
            <a:r>
              <a:rPr lang="en-US" dirty="0"/>
              <a:t>Real-time traffic monitoring (Google Maps).</a:t>
            </a:r>
          </a:p>
          <a:p>
            <a:r>
              <a:rPr lang="en-US" dirty="0"/>
              <a:t>Personalized recommendations (Netflix, Amazon).</a:t>
            </a:r>
          </a:p>
          <a:p>
            <a:r>
              <a:rPr lang="en-US" dirty="0"/>
              <a:t>Social media sentiment analysis.</a:t>
            </a:r>
          </a:p>
          <a:p>
            <a:endParaRPr lang="en-IN" dirty="0"/>
          </a:p>
        </p:txBody>
      </p:sp>
    </p:spTree>
    <p:extLst>
      <p:ext uri="{BB962C8B-B14F-4D97-AF65-F5344CB8AC3E}">
        <p14:creationId xmlns:p14="http://schemas.microsoft.com/office/powerpoint/2010/main" val="34846790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76526"/>
          </a:xfrm>
        </p:spPr>
        <p:txBody>
          <a:bodyPr>
            <a:normAutofit fontScale="90000"/>
          </a:bodyPr>
          <a:lstStyle/>
          <a:p>
            <a:endParaRPr lang="en-IN" dirty="0"/>
          </a:p>
        </p:txBody>
      </p:sp>
      <p:sp>
        <p:nvSpPr>
          <p:cNvPr id="3" name="Content Placeholder 2"/>
          <p:cNvSpPr>
            <a:spLocks noGrp="1"/>
          </p:cNvSpPr>
          <p:nvPr>
            <p:ph idx="1"/>
          </p:nvPr>
        </p:nvSpPr>
        <p:spPr>
          <a:xfrm>
            <a:off x="457200" y="651164"/>
            <a:ext cx="8229600" cy="5474999"/>
          </a:xfrm>
        </p:spPr>
        <p:txBody>
          <a:bodyPr numCol="2">
            <a:normAutofit fontScale="32500" lnSpcReduction="20000"/>
          </a:bodyPr>
          <a:lstStyle/>
          <a:p>
            <a:pPr algn="just"/>
            <a:r>
              <a:rPr lang="en-US" b="1" dirty="0"/>
              <a:t>What Is Big Data? Big Data Defined</a:t>
            </a:r>
          </a:p>
          <a:p>
            <a:pPr algn="just"/>
            <a:r>
              <a:rPr lang="en-US" dirty="0"/>
              <a:t>Big data refers to extremely large and complex data sets that cannot be easily managed or analyzed with traditional data processing tools, particularly spreadsheets. Big data includes structured data, like an inventory database or list of financial transactions; unstructured data, such as social posts or videos; and mixed data sets, like those used to train large language models for AI. These data sets might include anything from the works of Shakespeare to a company’s budget spreadsheets for the last 10 years.</a:t>
            </a:r>
          </a:p>
          <a:p>
            <a:pPr algn="just"/>
            <a:r>
              <a:rPr lang="en-US" dirty="0"/>
              <a:t>Big data has only gotten bigger as recent technological breakthroughs have significantly reduced the cost of storage and compute, making it easier and less expensive to store more data than ever before. With that increased volume, companies can make more accurate and precise business decisions with their data. But achieving full value from big data isn’t only about analyzing it—which is a whole other benefit. It’s an entire discovery process that requires insightful analysts, business users, and executives who ask the right questions, recognize patterns, make informed assumptions, and predict behavior.</a:t>
            </a:r>
          </a:p>
          <a:p>
            <a:pPr algn="just"/>
            <a:r>
              <a:rPr lang="en-US" b="1" dirty="0"/>
              <a:t>What are the Five “Vs” of Big Data?</a:t>
            </a:r>
          </a:p>
          <a:p>
            <a:pPr algn="just"/>
            <a:r>
              <a:rPr lang="en-US" dirty="0"/>
              <a:t>Traditionally, we’ve recognized big data by three characteristics: variety, volume, and velocity, also known as the “three Vs.” However, two additional Vs have emerged over the past few years: value and veracity.</a:t>
            </a:r>
          </a:p>
          <a:p>
            <a:pPr algn="just"/>
            <a:r>
              <a:rPr lang="en-US" dirty="0"/>
              <a:t>Those additions make sense because today, data has become capital. Think of some of the world’s biggest tech companies. Many of the products they offer are based on their data, which they’re constantly analyzing to produce more efficiency and develop new initiatives. Success depends on all five Vs.</a:t>
            </a:r>
          </a:p>
          <a:p>
            <a:pPr algn="just"/>
            <a:r>
              <a:rPr lang="en-US" b="1" dirty="0"/>
              <a:t>Volume.</a:t>
            </a:r>
            <a:r>
              <a:rPr lang="en-US" dirty="0"/>
              <a:t> The amount of data matters. With big data, you’ll have to process high volumes of low-density, unstructured data. This can be data of unknown value, such as X (formerly Twitter) data feeds, clickstreams on a web page or a mobile app, or sensor-enabled equipment. For some organizations, this might be tens of terabytes of data. For others, it may be hundreds of petabytes.</a:t>
            </a:r>
          </a:p>
          <a:p>
            <a:pPr algn="just"/>
            <a:r>
              <a:rPr lang="en-US" b="1" dirty="0"/>
              <a:t>Velocity.</a:t>
            </a:r>
            <a:r>
              <a:rPr lang="en-US" dirty="0"/>
              <a:t> Velocity is the fast rate at which data is received and (perhaps) acted on. Normally, the highest velocity of data streams directly into memory versus being written to disk. Some internet-enabled smart products operate in real time or near real time and will require real-time evaluation and action.</a:t>
            </a:r>
          </a:p>
          <a:p>
            <a:pPr algn="just"/>
            <a:r>
              <a:rPr lang="en-US" b="1" dirty="0"/>
              <a:t>Variety.</a:t>
            </a:r>
            <a:r>
              <a:rPr lang="en-US" dirty="0"/>
              <a:t> Variety refers to the many types of data that are available. Traditional data types were structured and fit neatly in a </a:t>
            </a:r>
            <a:r>
              <a:rPr lang="en-US" dirty="0">
                <a:hlinkClick r:id="rId2"/>
              </a:rPr>
              <a:t>relational database</a:t>
            </a:r>
            <a:r>
              <a:rPr lang="en-US" dirty="0"/>
              <a:t>. With the rise of big data, data comes in new unstructured data types. Unstructured and </a:t>
            </a:r>
            <a:r>
              <a:rPr lang="en-US" dirty="0" err="1"/>
              <a:t>semistructured</a:t>
            </a:r>
            <a:r>
              <a:rPr lang="en-US" dirty="0"/>
              <a:t> data types, such as text, audio, and video, require additional preprocessing to derive meaning and support metadata.</a:t>
            </a:r>
          </a:p>
          <a:p>
            <a:pPr algn="just"/>
            <a:r>
              <a:rPr lang="en-US" b="1" dirty="0"/>
              <a:t>Veracity.</a:t>
            </a:r>
            <a:r>
              <a:rPr lang="en-US" dirty="0"/>
              <a:t> How truthful is your data—and how much can you rely on it? The idea of veracity in data is tied to other functional concepts, such as data quality and data integrity. Ultimately, these all overlap and steward the organization to a data repository that delivers high-quality, accurate, and reliable data to power insights and decisions.</a:t>
            </a:r>
          </a:p>
          <a:p>
            <a:pPr algn="just"/>
            <a:r>
              <a:rPr lang="en-US" b="1" dirty="0"/>
              <a:t>Value.</a:t>
            </a:r>
            <a:r>
              <a:rPr lang="en-US" dirty="0"/>
              <a:t> Data has intrinsic value in business. But it’s of no use until that value is discovered. Because big data assembles both breadth and depth of insights, somewhere within all of that information lies insights that can benefit your organization. This value can be internal, such as operational processes that might be optimized, or external, such as customer profile suggestions that can maximize engagement.</a:t>
            </a:r>
          </a:p>
          <a:p>
            <a:endParaRPr lang="en-IN" dirty="0"/>
          </a:p>
        </p:txBody>
      </p:sp>
    </p:spTree>
    <p:extLst>
      <p:ext uri="{BB962C8B-B14F-4D97-AF65-F5344CB8AC3E}">
        <p14:creationId xmlns:p14="http://schemas.microsoft.com/office/powerpoint/2010/main" val="25518075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318655" y="1410711"/>
            <a:ext cx="8506691" cy="5308744"/>
          </a:xfrm>
        </p:spPr>
        <p:txBody>
          <a:bodyPr numCol="2">
            <a:normAutofit fontScale="32500" lnSpcReduction="20000"/>
          </a:bodyPr>
          <a:lstStyle/>
          <a:p>
            <a:pPr algn="just"/>
            <a:r>
              <a:rPr lang="en-US" b="1" dirty="0"/>
              <a:t>Big Data Benefits</a:t>
            </a:r>
          </a:p>
          <a:p>
            <a:pPr algn="just"/>
            <a:r>
              <a:rPr lang="en-US" dirty="0"/>
              <a:t>Big data services enable a more comprehensive understanding of trends and patterns, by integrating diverse data sets to form a complete picture. This fusion not only facilitates retrospective analysis but also enhances predictive capabilities, allowing for more accurate forecasts and strategic decision-making. Additionally, when combined with AI, big data transcends traditional analytics, empowering organizations to unlock innovative solutions and drive transformational outcomes.</a:t>
            </a:r>
          </a:p>
          <a:p>
            <a:pPr algn="just"/>
            <a:r>
              <a:rPr lang="en-US" dirty="0"/>
              <a:t>More complete answers mean more confidence in the data—which means a completely different approach to tackling problems.</a:t>
            </a:r>
          </a:p>
          <a:p>
            <a:pPr algn="just"/>
            <a:r>
              <a:rPr lang="en-US" b="1" dirty="0"/>
              <a:t>Better insights.</a:t>
            </a:r>
            <a:r>
              <a:rPr lang="en-US" dirty="0"/>
              <a:t> When organizations have more data, they’re able to derive better insights. In some cases, the broader range confirms gut instincts against a more diverse set of circumstances. In other cases, a larger pool of data uncovers previously hidden connections and expands potentially missed perspectives. All of this allows organizations to have a more comprehensive understanding into the how and why of things, particularly when automation allows for faster, easier processing of big data.</a:t>
            </a:r>
          </a:p>
          <a:p>
            <a:pPr algn="just"/>
            <a:r>
              <a:rPr lang="en-US" b="1" dirty="0"/>
              <a:t>Decision-making.</a:t>
            </a:r>
            <a:r>
              <a:rPr lang="en-US" dirty="0"/>
              <a:t> With better insights, organizations can make data-driven decisions with more reliable projections and predictions. When big data combines with automation and analytics, that opens an entire range of possibilities, including more up-to-date market trends, social media analysis, and patterns that inform risk management.</a:t>
            </a:r>
          </a:p>
          <a:p>
            <a:pPr algn="just"/>
            <a:r>
              <a:rPr lang="en-US" b="1" dirty="0"/>
              <a:t>Personalized customer experiences.</a:t>
            </a:r>
            <a:r>
              <a:rPr lang="en-US" dirty="0"/>
              <a:t> Big data allows organizations to build customer profiles through a combination of customer sales data, industry demographic data, and related data such as social media activity and marketing campaign engagement. Before automation and analytics, this type of personalization was impossible due to its sheer scope; with big data, this level of granularity improves engagement and enhances the customer experience.</a:t>
            </a:r>
          </a:p>
          <a:p>
            <a:pPr algn="just"/>
            <a:r>
              <a:rPr lang="en-US" b="1" dirty="0"/>
              <a:t>Improved operational efficiency.</a:t>
            </a:r>
            <a:r>
              <a:rPr lang="en-US" dirty="0"/>
              <a:t> Every department generates data, even when teams don’t really think about it. That means that every department can benefit from data on an operational level for tasks such as detecting process anomalies, identifying patterns for maintenance and resource use, and highlighting hidden drivers of human error. Whether technical problems or staff performance issues, big data produces insights about how an organization operates—and how it can improve.</a:t>
            </a:r>
          </a:p>
          <a:p>
            <a:pPr algn="just"/>
            <a:r>
              <a:rPr lang="en-US" b="1" dirty="0"/>
              <a:t>Big Data Use Cases</a:t>
            </a:r>
          </a:p>
          <a:p>
            <a:pPr algn="just"/>
            <a:r>
              <a:rPr lang="en-US" dirty="0"/>
              <a:t>Big data can help you optimize a range of business activities, including customer experience and analytics. Here are just a few.</a:t>
            </a:r>
          </a:p>
          <a:p>
            <a:pPr algn="just"/>
            <a:r>
              <a:rPr lang="en-US" b="1" dirty="0"/>
              <a:t>1. Retail and ecommerce.</a:t>
            </a:r>
            <a:r>
              <a:rPr lang="en-US" dirty="0"/>
              <a:t> Companies such as Netflix and Procter &amp; Gamble use big data to anticipate customer demand. They build predictive models for new products and services by classifying key attributes of past and current products or services and modeling the relationship between those attributes and the commercial success of the offerings. In addition, P&amp;G uses data and analytics from focus groups, social media, test markets, and early store rollouts to plan, produce, and launch new products.</a:t>
            </a:r>
          </a:p>
          <a:p>
            <a:pPr algn="just"/>
            <a:r>
              <a:rPr lang="en-US" b="1" dirty="0"/>
              <a:t>2. Healthcare.</a:t>
            </a:r>
            <a:r>
              <a:rPr lang="en-US" dirty="0"/>
              <a:t> The healthcare industry can combine numerous data sources internally, such as electronic health records, patient wearable devices, and staffing data, and externally, including insurance records and disease studies, to optimize both provider and patient experiences. Internally, staffing schedules, supply chains, and facility management can be optimized with insights provided by operations teams. For patients, their immediate and long-term care can change with data driving everything such as personalized recommendations and predictive scans.</a:t>
            </a:r>
          </a:p>
          <a:p>
            <a:pPr algn="just"/>
            <a:r>
              <a:rPr lang="en-US" b="1" dirty="0"/>
              <a:t>3. Financial services.</a:t>
            </a:r>
            <a:r>
              <a:rPr lang="en-US" dirty="0"/>
              <a:t> When it comes to security, it’s not just a few rogue attackers—you’re up against entire expert teams. Security landscapes and compliance requirements are constantly evolving. Big data helps you identify patterns in data that indicate fraud and aggregate large volumes of information to make regulatory reporting much faster.</a:t>
            </a:r>
          </a:p>
          <a:p>
            <a:pPr algn="just"/>
            <a:r>
              <a:rPr lang="en-US" b="1" dirty="0"/>
              <a:t>4. Manufacturing.</a:t>
            </a:r>
            <a:r>
              <a:rPr lang="en-US" dirty="0"/>
              <a:t> Factors that can predict mechanical failures may be deeply buried in structured data—think the year, make, and model of equipment—as well as in unstructured data that covers millions of log entries, sensor data, error messages, and engine temperature readings. By analyzing these indications of potential issues before problems happen, organizations can deploy maintenance more cost effectively and maximize parts and equipment uptime.</a:t>
            </a:r>
          </a:p>
          <a:p>
            <a:pPr algn="just"/>
            <a:r>
              <a:rPr lang="en-US" b="1" dirty="0"/>
              <a:t>5. Government and public services.</a:t>
            </a:r>
            <a:r>
              <a:rPr lang="en-US" dirty="0"/>
              <a:t> Government offices can potentially collect data from many different sources, such as DMV records, traffic data, police/firefighter data, public school records, and more. This can drive efficiencies in many different ways, such as detecting driver trends for optimized intersection management and better resource allocation in schools. Governments can also post data publicly, allowing for improved transparency to bolster public trust.</a:t>
            </a:r>
          </a:p>
          <a:p>
            <a:pPr algn="just"/>
            <a:endParaRPr lang="en-IN" dirty="0"/>
          </a:p>
        </p:txBody>
      </p:sp>
    </p:spTree>
    <p:extLst>
      <p:ext uri="{BB962C8B-B14F-4D97-AF65-F5344CB8AC3E}">
        <p14:creationId xmlns:p14="http://schemas.microsoft.com/office/powerpoint/2010/main" val="27364833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numCol="2">
            <a:normAutofit fontScale="32500" lnSpcReduction="20000"/>
          </a:bodyPr>
          <a:lstStyle/>
          <a:p>
            <a:pPr algn="just"/>
            <a:r>
              <a:rPr lang="en-US" b="1" dirty="0"/>
              <a:t>How Big Data Works</a:t>
            </a:r>
          </a:p>
          <a:p>
            <a:pPr algn="just"/>
            <a:r>
              <a:rPr lang="en-US" dirty="0"/>
              <a:t>Big data works by providing insights that shine a light on new opportunities and business models. Once data has been ingested, getting started involves three key actions:</a:t>
            </a:r>
          </a:p>
          <a:p>
            <a:pPr algn="just"/>
            <a:r>
              <a:rPr lang="en-US" b="1" dirty="0"/>
              <a:t>1. Integrate</a:t>
            </a:r>
          </a:p>
          <a:p>
            <a:pPr algn="just"/>
            <a:r>
              <a:rPr lang="en-US" dirty="0"/>
              <a:t>Big data brings together data from many disparate sources and applications. Traditional data integration mechanisms, such as extract, transform, and load (ETL) generally aren’t up to the task. It requires new strategies and technologies to analyze big data sets at terabyte, or even petabyte, scale.</a:t>
            </a:r>
          </a:p>
          <a:p>
            <a:pPr algn="just"/>
            <a:r>
              <a:rPr lang="en-US" dirty="0"/>
              <a:t>During integration, you need to bring in the data, process it, and make sure it’s formatted and available in a form that your business analysts can get started with.</a:t>
            </a:r>
          </a:p>
          <a:p>
            <a:pPr algn="just"/>
            <a:r>
              <a:rPr lang="en-US" b="1" dirty="0"/>
              <a:t>2. Manage</a:t>
            </a:r>
          </a:p>
          <a:p>
            <a:pPr algn="just"/>
            <a:r>
              <a:rPr lang="en-US" dirty="0"/>
              <a:t>Big data requires storage. Your storage solution can be in the cloud, on-premises, or both. You can store your data in any form you want and bring your desired processing requirements and necessary process engines to those data sets on an on-demand basis. Many people choose their storage solution according to where their data is currently residing. Data lakes are gradually gaining popularity because it supports your current compute requirements and enables you to spin up resources as needed.</a:t>
            </a:r>
          </a:p>
          <a:p>
            <a:pPr algn="just"/>
            <a:r>
              <a:rPr lang="en-US" b="1" dirty="0"/>
              <a:t>3. Analyze</a:t>
            </a:r>
          </a:p>
          <a:p>
            <a:pPr algn="just"/>
            <a:r>
              <a:rPr lang="en-US" dirty="0"/>
              <a:t>Your investment in big data pays off when you analyze and act on your data. A visual analysis of your varied data sets gives you new clarity. Explore the data further to make new discoveries. Share your findings with others. Build data models with machine learning and artificial intelligence. Put your data to work for your organization.</a:t>
            </a:r>
          </a:p>
          <a:p>
            <a:pPr algn="just"/>
            <a:r>
              <a:rPr lang="en-US" b="1" dirty="0"/>
              <a:t>Big Data Best Practices</a:t>
            </a:r>
          </a:p>
          <a:p>
            <a:pPr algn="just"/>
            <a:r>
              <a:rPr lang="en-US" dirty="0"/>
              <a:t>To help you on your big data journey, we’ve put together some key best practices for you to keep in mind. Here are our guidelines for building a successful big data foundation.</a:t>
            </a:r>
          </a:p>
          <a:p>
            <a:pPr algn="just"/>
            <a:r>
              <a:rPr lang="en-US" b="1" dirty="0"/>
              <a:t>1. Align big data with specific business goals</a:t>
            </a:r>
          </a:p>
          <a:p>
            <a:pPr algn="just"/>
            <a:r>
              <a:rPr lang="en-US" dirty="0"/>
              <a:t>More extensive data sets enable you to make new discoveries. To that end, it is important to base new investments in skills, organization, or infrastructure with a strong business-driven context to guarantee ongoing project investments and funding. To determine if you are on the right track, ask how big data supports and enables your top business and IT priorities. Examples include understanding how to filter web logs to understand ecommerce behavior, deriving sentiment from social media and customer support interactions, and understanding statistical correlation methods and their relevance for customer, product, manufacturing, and engineering data.</a:t>
            </a:r>
          </a:p>
          <a:p>
            <a:pPr algn="just"/>
            <a:r>
              <a:rPr lang="en-US" b="1" dirty="0"/>
              <a:t>2. Ease skills shortages with standards and governance</a:t>
            </a:r>
          </a:p>
          <a:p>
            <a:pPr algn="just"/>
            <a:r>
              <a:rPr lang="en-US" dirty="0"/>
              <a:t>One of the biggest obstacles to benefiting from your investment in big data is not having enough staff with the necessary skills to analyze your data. You can mitigate this risk by ensuring that big data technologies, considerations, and decisions are added to your IT governance program. Standardizing your approach will allow you to manage costs and leverage resources. Organizations implementing big data solutions and strategies should assess their skill requirements early and often and should proactively identify any potential skill gaps. These can be addressed by training/cross-training existing resources, hiring new resources, and leveraging consulting firms.</a:t>
            </a:r>
          </a:p>
          <a:p>
            <a:endParaRPr lang="en-IN" dirty="0"/>
          </a:p>
        </p:txBody>
      </p:sp>
    </p:spTree>
    <p:extLst>
      <p:ext uri="{BB962C8B-B14F-4D97-AF65-F5344CB8AC3E}">
        <p14:creationId xmlns:p14="http://schemas.microsoft.com/office/powerpoint/2010/main" val="37126664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Fundamentals of Object-Oriented Databases (OODB):</a:t>
            </a:r>
            <a:br>
              <a:rPr lang="en-US" b="1" dirty="0"/>
            </a:br>
            <a:endParaRPr lang="en-IN" dirty="0"/>
          </a:p>
        </p:txBody>
      </p:sp>
      <p:sp>
        <p:nvSpPr>
          <p:cNvPr id="3" name="Content Placeholder 2"/>
          <p:cNvSpPr>
            <a:spLocks noGrp="1"/>
          </p:cNvSpPr>
          <p:nvPr>
            <p:ph idx="1"/>
          </p:nvPr>
        </p:nvSpPr>
        <p:spPr/>
        <p:txBody>
          <a:bodyPr>
            <a:normAutofit fontScale="47500" lnSpcReduction="20000"/>
          </a:bodyPr>
          <a:lstStyle/>
          <a:p>
            <a:r>
              <a:rPr lang="en-US" dirty="0" smtClean="0"/>
              <a:t>An </a:t>
            </a:r>
            <a:r>
              <a:rPr lang="en-US" b="1" dirty="0"/>
              <a:t>Object-Oriented Database (OODB)</a:t>
            </a:r>
            <a:r>
              <a:rPr lang="en-US" dirty="0"/>
              <a:t> integrates object-oriented programming principles with database technology. It allows data to be represented as objects, similar to programming languages like Java, Python, or C++.</a:t>
            </a:r>
          </a:p>
          <a:p>
            <a:r>
              <a:rPr lang="en-US" b="1" dirty="0"/>
              <a:t>Key Concepts:</a:t>
            </a:r>
          </a:p>
          <a:p>
            <a:r>
              <a:rPr lang="en-US" b="1" dirty="0"/>
              <a:t>Objects:</a:t>
            </a:r>
            <a:r>
              <a:rPr lang="en-US" dirty="0"/>
              <a:t> Real-world entities represented with attributes and methods.</a:t>
            </a:r>
          </a:p>
          <a:p>
            <a:r>
              <a:rPr lang="en-US" b="1" dirty="0"/>
              <a:t>Classes:</a:t>
            </a:r>
            <a:r>
              <a:rPr lang="en-US" dirty="0"/>
              <a:t> Blueprints for objects, defining attributes and behaviors.</a:t>
            </a:r>
          </a:p>
          <a:p>
            <a:r>
              <a:rPr lang="en-US" b="1" dirty="0"/>
              <a:t>Inheritance:</a:t>
            </a:r>
            <a:r>
              <a:rPr lang="en-US" dirty="0"/>
              <a:t> Enables new classes to inherit properties from existing ones, reducing redundancy.</a:t>
            </a:r>
          </a:p>
          <a:p>
            <a:r>
              <a:rPr lang="en-US" b="1" dirty="0"/>
              <a:t>Encapsulation:</a:t>
            </a:r>
            <a:r>
              <a:rPr lang="en-US" dirty="0"/>
              <a:t> Hides internal object details, exposing only necessary functionalities.</a:t>
            </a:r>
          </a:p>
          <a:p>
            <a:r>
              <a:rPr lang="en-US" b="1" dirty="0"/>
              <a:t>Polymorphism:</a:t>
            </a:r>
            <a:r>
              <a:rPr lang="en-US" dirty="0"/>
              <a:t> Allows objects to be treated as instances of their parent class, enhancing flexibility.</a:t>
            </a:r>
          </a:p>
          <a:p>
            <a:r>
              <a:rPr lang="en-US" b="1" dirty="0"/>
              <a:t>Advantages:</a:t>
            </a:r>
          </a:p>
          <a:p>
            <a:r>
              <a:rPr lang="en-US" dirty="0"/>
              <a:t>Closer integration with object-oriented applications.</a:t>
            </a:r>
          </a:p>
          <a:p>
            <a:r>
              <a:rPr lang="en-US" dirty="0"/>
              <a:t>Improved data modeling for complex data.</a:t>
            </a:r>
          </a:p>
          <a:p>
            <a:r>
              <a:rPr lang="en-US" dirty="0"/>
              <a:t>Supports multimedia and complex data types (e.g., images, videos).</a:t>
            </a:r>
          </a:p>
          <a:p>
            <a:r>
              <a:rPr lang="en-US" b="1" dirty="0"/>
              <a:t>Real-Life Example:</a:t>
            </a:r>
          </a:p>
          <a:p>
            <a:r>
              <a:rPr lang="en-US" dirty="0"/>
              <a:t>In a </a:t>
            </a:r>
            <a:r>
              <a:rPr lang="en-US" b="1" dirty="0"/>
              <a:t>Healthcare System</a:t>
            </a:r>
            <a:r>
              <a:rPr lang="en-US" dirty="0"/>
              <a:t>, a "Patient" class may have attributes like "Name" and "Age" and methods like "</a:t>
            </a:r>
            <a:r>
              <a:rPr lang="en-US" dirty="0" err="1"/>
              <a:t>ScheduleAppointment</a:t>
            </a:r>
            <a:r>
              <a:rPr lang="en-US" dirty="0"/>
              <a:t>()". Specialized classes like "Inpatient" and "Outpatient" can inherit these attributes and methods while adding unique ones.</a:t>
            </a:r>
          </a:p>
          <a:p>
            <a:endParaRPr lang="en-IN" dirty="0"/>
          </a:p>
        </p:txBody>
      </p:sp>
    </p:spTree>
    <p:extLst>
      <p:ext uri="{BB962C8B-B14F-4D97-AF65-F5344CB8AC3E}">
        <p14:creationId xmlns:p14="http://schemas.microsoft.com/office/powerpoint/2010/main" val="13184842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6146" name="Picture 2" descr="Concepts of object-oriented database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2000" y="1958181"/>
            <a:ext cx="762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74266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7500" lnSpcReduction="20000"/>
          </a:bodyPr>
          <a:lstStyle/>
          <a:p>
            <a:r>
              <a:rPr lang="en-US" dirty="0"/>
              <a:t>An object-oriented database (OODB) is a database that combines </a:t>
            </a:r>
            <a:r>
              <a:rPr lang="en-US" b="1" u="sng" dirty="0">
                <a:hlinkClick r:id="rId2"/>
              </a:rPr>
              <a:t>object-oriented programming</a:t>
            </a:r>
            <a:r>
              <a:rPr lang="en-US" dirty="0"/>
              <a:t> concepts with </a:t>
            </a:r>
            <a:r>
              <a:rPr lang="en-US" b="1" u="sng" dirty="0">
                <a:hlinkClick r:id="rId3"/>
              </a:rPr>
              <a:t>relational database</a:t>
            </a:r>
            <a:r>
              <a:rPr lang="en-US" dirty="0"/>
              <a:t> principles. It is managed by an </a:t>
            </a:r>
            <a:r>
              <a:rPr lang="en-US" b="1" dirty="0"/>
              <a:t>o</a:t>
            </a:r>
            <a:r>
              <a:rPr lang="en-US" dirty="0"/>
              <a:t>bject-</a:t>
            </a:r>
            <a:r>
              <a:rPr lang="en-US" b="1" dirty="0"/>
              <a:t>o</a:t>
            </a:r>
            <a:r>
              <a:rPr lang="en-US" dirty="0"/>
              <a:t>riented </a:t>
            </a:r>
            <a:r>
              <a:rPr lang="en-US" b="1" dirty="0"/>
              <a:t>d</a:t>
            </a:r>
            <a:r>
              <a:rPr lang="en-US" dirty="0"/>
              <a:t>ata</a:t>
            </a:r>
            <a:r>
              <a:rPr lang="en-US" b="1" dirty="0"/>
              <a:t>b</a:t>
            </a:r>
            <a:r>
              <a:rPr lang="en-US" dirty="0"/>
              <a:t>ase </a:t>
            </a:r>
            <a:r>
              <a:rPr lang="en-US" b="1" dirty="0"/>
              <a:t>m</a:t>
            </a:r>
            <a:r>
              <a:rPr lang="en-US" dirty="0"/>
              <a:t>anagement </a:t>
            </a:r>
            <a:r>
              <a:rPr lang="en-US" b="1" dirty="0"/>
              <a:t>s</a:t>
            </a:r>
            <a:r>
              <a:rPr lang="en-US" dirty="0"/>
              <a:t>ystem (OODBMS). OODBs contain the following elements:</a:t>
            </a:r>
          </a:p>
          <a:p>
            <a:r>
              <a:rPr lang="en-US" b="1" dirty="0"/>
              <a:t>Objects</a:t>
            </a:r>
            <a:r>
              <a:rPr lang="en-US" dirty="0"/>
              <a:t>. The basic building block and an instance of a class. The type is either built-in or user-defined.</a:t>
            </a:r>
          </a:p>
          <a:p>
            <a:r>
              <a:rPr lang="en-US" b="1" dirty="0"/>
              <a:t>Classes</a:t>
            </a:r>
            <a:r>
              <a:rPr lang="en-US" dirty="0"/>
              <a:t>. A schema or blueprint that defines object structure and behavior.</a:t>
            </a:r>
          </a:p>
          <a:p>
            <a:r>
              <a:rPr lang="en-US" b="1" dirty="0"/>
              <a:t>Methods</a:t>
            </a:r>
            <a:r>
              <a:rPr lang="en-US" dirty="0"/>
              <a:t>. A blueprint that defines the behavior of a class.</a:t>
            </a:r>
          </a:p>
          <a:p>
            <a:r>
              <a:rPr lang="en-US" b="1" dirty="0"/>
              <a:t>Pointers</a:t>
            </a:r>
            <a:r>
              <a:rPr lang="en-US" dirty="0"/>
              <a:t>. An entity that helps access elements of an object database. They also help establish relationships between objects.</a:t>
            </a:r>
          </a:p>
          <a:p>
            <a:endParaRPr lang="en-IN" dirty="0"/>
          </a:p>
        </p:txBody>
      </p:sp>
    </p:spTree>
    <p:extLst>
      <p:ext uri="{BB962C8B-B14F-4D97-AF65-F5344CB8AC3E}">
        <p14:creationId xmlns:p14="http://schemas.microsoft.com/office/powerpoint/2010/main" val="35481255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0000" lnSpcReduction="20000"/>
          </a:bodyPr>
          <a:lstStyle/>
          <a:p>
            <a:r>
              <a:rPr lang="en-US" b="1" dirty="0"/>
              <a:t>Object-Oriented Database (OODB) vs. Other Types of Databases</a:t>
            </a:r>
          </a:p>
          <a:p>
            <a:r>
              <a:rPr lang="en-US" dirty="0"/>
              <a:t>Object-oriented databases significantly differ from other database types in their design and functionality. Knowing these differences can help determine when using an OODB is the best choice. Below is a brief comparison between OODB and other types of databases.</a:t>
            </a:r>
          </a:p>
          <a:p>
            <a:r>
              <a:rPr lang="en-US" b="1" dirty="0"/>
              <a:t>OODB vs. Relational Databases</a:t>
            </a:r>
            <a:endParaRPr lang="en-US" dirty="0"/>
          </a:p>
          <a:p>
            <a:r>
              <a:rPr lang="en-US" dirty="0"/>
              <a:t>The main difference between the two is how the data is structured:</a:t>
            </a:r>
          </a:p>
          <a:p>
            <a:r>
              <a:rPr lang="en-US" b="1" dirty="0"/>
              <a:t>Relational databases.</a:t>
            </a:r>
            <a:r>
              <a:rPr lang="en-US" dirty="0"/>
              <a:t> Data resides in structured tables with rows and columns. It is queried using SQL, focusing mainly on data consistency and </a:t>
            </a:r>
            <a:r>
              <a:rPr lang="en-US" b="1" u="sng" dirty="0">
                <a:hlinkClick r:id="rId2"/>
              </a:rPr>
              <a:t>normalization</a:t>
            </a:r>
            <a:r>
              <a:rPr lang="en-US" dirty="0"/>
              <a:t>.</a:t>
            </a:r>
          </a:p>
          <a:p>
            <a:r>
              <a:rPr lang="en-US" b="1" dirty="0"/>
              <a:t>OODB</a:t>
            </a:r>
            <a:r>
              <a:rPr lang="en-US" dirty="0"/>
              <a:t>. Data is stored as a complete and complex object. It supports complex data types and inheritance. The main focus is to minimize the difference between a database structure and a programming language.</a:t>
            </a:r>
          </a:p>
          <a:p>
            <a:endParaRPr lang="en-IN" dirty="0"/>
          </a:p>
        </p:txBody>
      </p:sp>
    </p:spTree>
    <p:extLst>
      <p:ext uri="{BB962C8B-B14F-4D97-AF65-F5344CB8AC3E}">
        <p14:creationId xmlns:p14="http://schemas.microsoft.com/office/powerpoint/2010/main" val="8764698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55000" lnSpcReduction="20000"/>
          </a:bodyPr>
          <a:lstStyle/>
          <a:p>
            <a:r>
              <a:rPr lang="en-US" b="1" dirty="0"/>
              <a:t>OODB vs. Document-Oriented Databases (NoSQL)</a:t>
            </a:r>
            <a:endParaRPr lang="en-US" dirty="0"/>
          </a:p>
          <a:p>
            <a:r>
              <a:rPr lang="en-US" dirty="0"/>
              <a:t>A notable difference is in their applicability:</a:t>
            </a:r>
          </a:p>
          <a:p>
            <a:r>
              <a:rPr lang="en-US" b="1" dirty="0"/>
              <a:t>Document-oriented databases (</a:t>
            </a:r>
            <a:r>
              <a:rPr lang="en-US" b="1" u="sng" dirty="0">
                <a:hlinkClick r:id="rId2"/>
              </a:rPr>
              <a:t>NoSQL</a:t>
            </a:r>
            <a:r>
              <a:rPr lang="en-US" b="1" dirty="0"/>
              <a:t>)</a:t>
            </a:r>
            <a:r>
              <a:rPr lang="en-US" dirty="0"/>
              <a:t>. Data is </a:t>
            </a:r>
            <a:r>
              <a:rPr lang="en-US" b="1" u="sng" dirty="0">
                <a:hlinkClick r:id="rId3"/>
              </a:rPr>
              <a:t>unstructured</a:t>
            </a:r>
            <a:r>
              <a:rPr lang="en-US" dirty="0"/>
              <a:t> or semi-structured. Caters to various </a:t>
            </a:r>
            <a:r>
              <a:rPr lang="en-US" b="1" u="sng" dirty="0">
                <a:hlinkClick r:id="rId4"/>
              </a:rPr>
              <a:t>data models</a:t>
            </a:r>
            <a:r>
              <a:rPr lang="en-US" dirty="0"/>
              <a:t>, with a focus on </a:t>
            </a:r>
            <a:r>
              <a:rPr lang="en-US" b="1" u="sng" dirty="0">
                <a:hlinkClick r:id="rId5"/>
              </a:rPr>
              <a:t>scalability</a:t>
            </a:r>
            <a:r>
              <a:rPr lang="en-US" dirty="0"/>
              <a:t> and flexibility.</a:t>
            </a:r>
          </a:p>
          <a:p>
            <a:r>
              <a:rPr lang="en-US" b="1" dirty="0"/>
              <a:t>OODB</a:t>
            </a:r>
            <a:r>
              <a:rPr lang="en-US" dirty="0"/>
              <a:t>. Manages objects with built-in relationships and behaviors. Ideal for complex </a:t>
            </a:r>
            <a:r>
              <a:rPr lang="en-US" b="1" u="sng" dirty="0">
                <a:hlinkClick r:id="rId6"/>
              </a:rPr>
              <a:t>data structures</a:t>
            </a:r>
            <a:r>
              <a:rPr lang="en-US" dirty="0"/>
              <a:t> or for integration with object-oriented programming.</a:t>
            </a:r>
          </a:p>
          <a:p>
            <a:r>
              <a:rPr lang="en-US" b="1" dirty="0"/>
              <a:t>OODB vs. Key-Value Databases</a:t>
            </a:r>
            <a:endParaRPr lang="en-US" dirty="0"/>
          </a:p>
          <a:p>
            <a:r>
              <a:rPr lang="en-US" dirty="0"/>
              <a:t>The two database types differ in complexity:</a:t>
            </a:r>
          </a:p>
          <a:p>
            <a:r>
              <a:rPr lang="en-US" b="1" dirty="0"/>
              <a:t>Key-value databases</a:t>
            </a:r>
            <a:r>
              <a:rPr lang="en-US" dirty="0"/>
              <a:t>. A simple structure with key-value pairs. Ideal for lookup tables and data </a:t>
            </a:r>
            <a:r>
              <a:rPr lang="en-US" b="1" u="sng" dirty="0">
                <a:hlinkClick r:id="rId7"/>
              </a:rPr>
              <a:t>caching</a:t>
            </a:r>
            <a:r>
              <a:rPr lang="en-US" dirty="0"/>
              <a:t>, but there is no support for complex relationships.</a:t>
            </a:r>
          </a:p>
          <a:p>
            <a:r>
              <a:rPr lang="en-US" b="1" dirty="0"/>
              <a:t>OODB</a:t>
            </a:r>
            <a:r>
              <a:rPr lang="en-US" dirty="0"/>
              <a:t>. Supports complex relationships, inheritance, and encapsulation.</a:t>
            </a:r>
          </a:p>
          <a:p>
            <a:r>
              <a:rPr lang="en-US" b="1" dirty="0"/>
              <a:t>OODB vs. Graph Databases</a:t>
            </a:r>
            <a:endParaRPr lang="en-US" dirty="0"/>
          </a:p>
          <a:p>
            <a:r>
              <a:rPr lang="en-US" dirty="0"/>
              <a:t>Relationships are a key difference between these two database types:</a:t>
            </a:r>
          </a:p>
          <a:p>
            <a:r>
              <a:rPr lang="en-US" b="1" u="sng" dirty="0">
                <a:hlinkClick r:id="rId8"/>
              </a:rPr>
              <a:t>Graph databases</a:t>
            </a:r>
            <a:r>
              <a:rPr lang="en-US" dirty="0"/>
              <a:t>. Structured for highly connected data. Uses edges and nodes to represent relationships between entities.</a:t>
            </a:r>
          </a:p>
          <a:p>
            <a:r>
              <a:rPr lang="en-US" b="1" dirty="0"/>
              <a:t>OODB</a:t>
            </a:r>
            <a:r>
              <a:rPr lang="en-US" dirty="0"/>
              <a:t>. Focuses on objects and their behavior while supporting relationships, though not as interconnected as graph databases.</a:t>
            </a:r>
          </a:p>
          <a:p>
            <a:endParaRPr lang="en-IN" dirty="0"/>
          </a:p>
        </p:txBody>
      </p:sp>
    </p:spTree>
    <p:extLst>
      <p:ext uri="{BB962C8B-B14F-4D97-AF65-F5344CB8AC3E}">
        <p14:creationId xmlns:p14="http://schemas.microsoft.com/office/powerpoint/2010/main" val="5964949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Object-Oriented </a:t>
            </a:r>
            <a:r>
              <a:rPr lang="en-US" dirty="0"/>
              <a:t>Programming Concepts in Database Management</a:t>
            </a:r>
            <a:br>
              <a:rPr lang="en-US" dirty="0"/>
            </a:br>
            <a:endParaRPr lang="en-IN" dirty="0"/>
          </a:p>
        </p:txBody>
      </p:sp>
      <p:sp>
        <p:nvSpPr>
          <p:cNvPr id="3" name="Content Placeholder 2"/>
          <p:cNvSpPr>
            <a:spLocks noGrp="1"/>
          </p:cNvSpPr>
          <p:nvPr>
            <p:ph idx="1"/>
          </p:nvPr>
        </p:nvSpPr>
        <p:spPr>
          <a:xfrm>
            <a:off x="457200" y="1600200"/>
            <a:ext cx="8229600" cy="5257800"/>
          </a:xfrm>
        </p:spPr>
        <p:txBody>
          <a:bodyPr numCol="2">
            <a:noAutofit/>
          </a:bodyPr>
          <a:lstStyle/>
          <a:p>
            <a:pPr algn="just"/>
            <a:r>
              <a:rPr lang="en-US" sz="1200" dirty="0" smtClean="0"/>
              <a:t>Object-oriented </a:t>
            </a:r>
            <a:r>
              <a:rPr lang="en-US" sz="1200" dirty="0"/>
              <a:t>databases closely relate to object-oriented programming (OOP) concepts. The four main features of OOP are:</a:t>
            </a:r>
          </a:p>
          <a:p>
            <a:pPr algn="just"/>
            <a:endParaRPr lang="en-US" sz="1200" dirty="0"/>
          </a:p>
          <a:p>
            <a:pPr algn="just"/>
            <a:r>
              <a:rPr lang="en-US" sz="1200" dirty="0"/>
              <a:t>Polymorphism.</a:t>
            </a:r>
          </a:p>
          <a:p>
            <a:pPr algn="just"/>
            <a:r>
              <a:rPr lang="en-US" sz="1200" dirty="0"/>
              <a:t>Inheritance.</a:t>
            </a:r>
          </a:p>
          <a:p>
            <a:pPr algn="just"/>
            <a:r>
              <a:rPr lang="en-US" sz="1200" dirty="0"/>
              <a:t>Encapsulation.</a:t>
            </a:r>
          </a:p>
          <a:p>
            <a:pPr algn="just"/>
            <a:r>
              <a:rPr lang="en-US" sz="1200" dirty="0"/>
              <a:t>Abstraction.</a:t>
            </a:r>
          </a:p>
          <a:p>
            <a:pPr algn="just"/>
            <a:r>
              <a:rPr lang="en-US" sz="1200" dirty="0"/>
              <a:t>These four attributes describe the main characteristics of object-oriented management systems in general. The sections below explain each of these concepts in greater depth.</a:t>
            </a:r>
          </a:p>
          <a:p>
            <a:pPr algn="just"/>
            <a:r>
              <a:rPr lang="en-US" sz="1200" dirty="0" smtClean="0"/>
              <a:t>Polymorphism</a:t>
            </a:r>
            <a:endParaRPr lang="en-US" sz="1200" dirty="0"/>
          </a:p>
          <a:p>
            <a:pPr algn="just"/>
            <a:r>
              <a:rPr lang="en-US" sz="1200" dirty="0"/>
              <a:t>Polymorphism is the capability of an object to take multiple forms. This ability allows the same program code to work with different data types.</a:t>
            </a:r>
          </a:p>
          <a:p>
            <a:pPr algn="just"/>
            <a:r>
              <a:rPr lang="en-US" sz="1200" dirty="0" smtClean="0"/>
              <a:t>To </a:t>
            </a:r>
            <a:r>
              <a:rPr lang="en-US" sz="1200" dirty="0"/>
              <a:t>illustrate, a Vehicle class can be defined to have a method called brake(). A Car and a Bike can both inherit from the class and implement their version of the brake() method. The same method is applied for different behaviors, resulting in polymorphism.</a:t>
            </a:r>
          </a:p>
          <a:p>
            <a:pPr algn="just"/>
            <a:r>
              <a:rPr lang="en-US" sz="1200" dirty="0" smtClean="0"/>
              <a:t>Inheritance</a:t>
            </a:r>
            <a:endParaRPr lang="en-US" sz="1200" dirty="0"/>
          </a:p>
          <a:p>
            <a:pPr algn="just"/>
            <a:r>
              <a:rPr lang="en-US" sz="1200" dirty="0"/>
              <a:t>Inheritance creates a hierarchical relationship between related classes while making parts of code reusable. Defining new types inherits all the existing class fields and methods plus further extends them. The existing class is the parent class, while the child class extends the parent.</a:t>
            </a:r>
          </a:p>
          <a:p>
            <a:pPr algn="just"/>
            <a:endParaRPr lang="en-US" sz="1200" dirty="0"/>
          </a:p>
          <a:p>
            <a:pPr algn="just"/>
            <a:r>
              <a:rPr lang="en-US" sz="1200" dirty="0"/>
              <a:t>For example, a parent class called Vehicle can have child classes such as Car and Bike. Both child classes inherit information from the parent class. They also extend the parent class with new information depending on the methods defined for each vehicle type.</a:t>
            </a:r>
          </a:p>
          <a:p>
            <a:pPr algn="just"/>
            <a:endParaRPr lang="en-US" sz="1200" dirty="0"/>
          </a:p>
          <a:p>
            <a:pPr algn="just"/>
            <a:r>
              <a:rPr lang="en-US" sz="1200" dirty="0"/>
              <a:t>Encapsulation</a:t>
            </a:r>
          </a:p>
          <a:p>
            <a:pPr algn="just"/>
            <a:r>
              <a:rPr lang="en-US" sz="1200" dirty="0"/>
              <a:t>Encapsulation allows grouping variables and methods into a single object to create access protection. This process hides information and details of how an object works from the rest of the code and results in data and function security.</a:t>
            </a:r>
          </a:p>
          <a:p>
            <a:pPr algn="just"/>
            <a:endParaRPr lang="en-US" sz="1200" dirty="0"/>
          </a:p>
          <a:p>
            <a:pPr algn="just"/>
            <a:r>
              <a:rPr lang="en-US" sz="1200" dirty="0"/>
              <a:t>Classes interact with each other through interface methods without the need to know how particular methods work.</a:t>
            </a:r>
          </a:p>
          <a:p>
            <a:pPr algn="just"/>
            <a:endParaRPr lang="en-US" sz="1200" dirty="0"/>
          </a:p>
          <a:p>
            <a:pPr algn="just"/>
            <a:endParaRPr lang="en-IN" sz="1200" dirty="0"/>
          </a:p>
        </p:txBody>
      </p:sp>
    </p:spTree>
    <p:extLst>
      <p:ext uri="{BB962C8B-B14F-4D97-AF65-F5344CB8AC3E}">
        <p14:creationId xmlns:p14="http://schemas.microsoft.com/office/powerpoint/2010/main" val="81315069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916157"/>
            <a:ext cx="8229600" cy="3894048"/>
          </a:xfrm>
        </p:spPr>
      </p:pic>
    </p:spTree>
    <p:extLst>
      <p:ext uri="{BB962C8B-B14F-4D97-AF65-F5344CB8AC3E}">
        <p14:creationId xmlns:p14="http://schemas.microsoft.com/office/powerpoint/2010/main" val="18471293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0000" lnSpcReduction="20000"/>
          </a:bodyPr>
          <a:lstStyle/>
          <a:p>
            <a:r>
              <a:rPr lang="en-US" b="1" dirty="0" err="1"/>
              <a:t>GemStone</a:t>
            </a:r>
            <a:r>
              <a:rPr lang="en-US" b="1" dirty="0"/>
              <a:t>/S</a:t>
            </a:r>
          </a:p>
          <a:p>
            <a:r>
              <a:rPr lang="en-US" b="1" dirty="0" err="1"/>
              <a:t>GemStone</a:t>
            </a:r>
            <a:r>
              <a:rPr lang="en-US" b="1" dirty="0"/>
              <a:t>/S</a:t>
            </a:r>
            <a:r>
              <a:rPr lang="en-US" dirty="0"/>
              <a:t> is an object database system based on Smalltalk, an object-oriented programming language influenced by Java. Developers who write applications in Smalltalk can quickly adapt to this database, although the language is uncommon. </a:t>
            </a:r>
            <a:r>
              <a:rPr lang="en-US" dirty="0" err="1"/>
              <a:t>GemStone</a:t>
            </a:r>
            <a:r>
              <a:rPr lang="en-US" dirty="0"/>
              <a:t>/S integrates seamlessly with existing applications written in this language, improving speed and productivity</a:t>
            </a:r>
            <a:r>
              <a:rPr lang="en-US" dirty="0" smtClean="0"/>
              <a:t>.</a:t>
            </a:r>
          </a:p>
          <a:p>
            <a:r>
              <a:rPr lang="en-IN" b="1" dirty="0" err="1"/>
              <a:t>ObjectDB</a:t>
            </a:r>
            <a:endParaRPr lang="en-IN" b="1" dirty="0"/>
          </a:p>
          <a:p>
            <a:r>
              <a:rPr lang="en-IN" b="1" dirty="0" err="1"/>
              <a:t>ObjectDB</a:t>
            </a:r>
            <a:r>
              <a:rPr lang="en-IN" dirty="0"/>
              <a:t> is a NoSQL object database for the Java programming language. Compared to other NoSQL databases, </a:t>
            </a:r>
            <a:r>
              <a:rPr lang="en-IN" dirty="0" err="1"/>
              <a:t>ObjectDB</a:t>
            </a:r>
            <a:r>
              <a:rPr lang="en-IN" dirty="0"/>
              <a:t> is ACID compliant. </a:t>
            </a:r>
            <a:r>
              <a:rPr lang="en-IN" dirty="0" err="1"/>
              <a:t>ObjectDB</a:t>
            </a:r>
            <a:r>
              <a:rPr lang="en-IN" dirty="0"/>
              <a:t> does not provide an </a:t>
            </a:r>
            <a:r>
              <a:rPr lang="en-IN" b="1" u="sng" dirty="0">
                <a:hlinkClick r:id="rId2"/>
              </a:rPr>
              <a:t>API</a:t>
            </a:r>
            <a:r>
              <a:rPr lang="en-IN" dirty="0"/>
              <a:t> and requires using one of the two built-in Java database APIs:</a:t>
            </a:r>
          </a:p>
          <a:p>
            <a:r>
              <a:rPr lang="en-IN" b="1" dirty="0"/>
              <a:t>JPA</a:t>
            </a:r>
            <a:r>
              <a:rPr lang="en-IN" dirty="0"/>
              <a:t> with </a:t>
            </a:r>
            <a:r>
              <a:rPr lang="en-IN" b="1" dirty="0"/>
              <a:t>JPA Query Language</a:t>
            </a:r>
            <a:r>
              <a:rPr lang="en-IN" dirty="0"/>
              <a:t> (JPQL) based on Java syntax.</a:t>
            </a:r>
          </a:p>
          <a:p>
            <a:r>
              <a:rPr lang="en-IN" b="1" dirty="0"/>
              <a:t>JDO</a:t>
            </a:r>
            <a:r>
              <a:rPr lang="en-IN" dirty="0"/>
              <a:t> with </a:t>
            </a:r>
            <a:r>
              <a:rPr lang="en-IN" b="1" dirty="0"/>
              <a:t>JDO Query Language</a:t>
            </a:r>
            <a:r>
              <a:rPr lang="en-IN" dirty="0"/>
              <a:t> (JDQL) based on SQL syntax.</a:t>
            </a:r>
          </a:p>
          <a:p>
            <a:endParaRPr lang="en-US" dirty="0"/>
          </a:p>
          <a:p>
            <a:endParaRPr lang="en-IN" dirty="0"/>
          </a:p>
        </p:txBody>
      </p:sp>
    </p:spTree>
    <p:extLst>
      <p:ext uri="{BB962C8B-B14F-4D97-AF65-F5344CB8AC3E}">
        <p14:creationId xmlns:p14="http://schemas.microsoft.com/office/powerpoint/2010/main" val="41096277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55000" lnSpcReduction="20000"/>
          </a:bodyPr>
          <a:lstStyle/>
          <a:p>
            <a:r>
              <a:rPr lang="en-US" b="1" dirty="0"/>
              <a:t>Benefits of Object-Oriented Databases</a:t>
            </a:r>
          </a:p>
          <a:p>
            <a:r>
              <a:rPr lang="en-US" dirty="0"/>
              <a:t>The main advantages of OODBs are:</a:t>
            </a:r>
          </a:p>
          <a:p>
            <a:r>
              <a:rPr lang="en-US" dirty="0"/>
              <a:t>Complex data and a wider variety of data types compared to </a:t>
            </a:r>
            <a:r>
              <a:rPr lang="en-US" b="1" u="sng" dirty="0">
                <a:hlinkClick r:id="rId2"/>
              </a:rPr>
              <a:t>MySQL data types</a:t>
            </a:r>
            <a:r>
              <a:rPr lang="en-US" dirty="0"/>
              <a:t>.</a:t>
            </a:r>
          </a:p>
          <a:p>
            <a:r>
              <a:rPr lang="en-US" dirty="0"/>
              <a:t>Easy to save and retrieve data quickly.</a:t>
            </a:r>
          </a:p>
          <a:p>
            <a:r>
              <a:rPr lang="en-US" dirty="0"/>
              <a:t>Seamless integration with object-oriented programming languages.</a:t>
            </a:r>
          </a:p>
          <a:p>
            <a:r>
              <a:rPr lang="en-US" dirty="0"/>
              <a:t>Easier to model advanced real-world problems.</a:t>
            </a:r>
          </a:p>
          <a:p>
            <a:r>
              <a:rPr lang="en-US" dirty="0"/>
              <a:t>Extensible with custom data types.</a:t>
            </a:r>
          </a:p>
          <a:p>
            <a:r>
              <a:rPr lang="en-US" b="1" dirty="0"/>
              <a:t>Challenges of Object-Oriented Databases</a:t>
            </a:r>
          </a:p>
          <a:p>
            <a:r>
              <a:rPr lang="en-US" dirty="0"/>
              <a:t>Some disadvantages of OODBs include:</a:t>
            </a:r>
          </a:p>
          <a:p>
            <a:r>
              <a:rPr lang="en-US" dirty="0"/>
              <a:t>It is not as widely adopted as relational databases.</a:t>
            </a:r>
          </a:p>
          <a:p>
            <a:r>
              <a:rPr lang="en-US" dirty="0"/>
              <a:t>No universal data model. Lacks theoretical foundations and standards.</a:t>
            </a:r>
          </a:p>
          <a:p>
            <a:r>
              <a:rPr lang="en-US" dirty="0"/>
              <a:t>Does not support views.</a:t>
            </a:r>
          </a:p>
          <a:p>
            <a:r>
              <a:rPr lang="en-US" dirty="0"/>
              <a:t>High complexity, which may lead to performance issues.</a:t>
            </a:r>
          </a:p>
          <a:p>
            <a:r>
              <a:rPr lang="en-US" dirty="0"/>
              <a:t>An adequate security mechanism and access rights to objects do not exist.</a:t>
            </a:r>
          </a:p>
          <a:p>
            <a:endParaRPr lang="en-IN" dirty="0"/>
          </a:p>
        </p:txBody>
      </p:sp>
    </p:spTree>
    <p:extLst>
      <p:ext uri="{BB962C8B-B14F-4D97-AF65-F5344CB8AC3E}">
        <p14:creationId xmlns:p14="http://schemas.microsoft.com/office/powerpoint/2010/main" val="17643019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62500" lnSpcReduction="20000"/>
          </a:bodyPr>
          <a:lstStyle/>
          <a:p>
            <a:r>
              <a:rPr lang="en-US" b="1" dirty="0"/>
              <a:t>What are Parallel Databases?</a:t>
            </a:r>
          </a:p>
          <a:p>
            <a:r>
              <a:rPr lang="en-US" dirty="0"/>
              <a:t>A Parallel Database is a database that is built up of multiple processors and storage units, located in one physical environment or they belong to a closely coupled system and are involved in performing the database tasks in parallel. Single processor systems can no longer meet-requirements of scalability and performance and also the same </a:t>
            </a:r>
            <a:r>
              <a:rPr lang="en-US" b="1" dirty="0"/>
              <a:t>throughput</a:t>
            </a:r>
            <a:r>
              <a:rPr lang="en-US" dirty="0"/>
              <a:t> can be achieved as single, larger machine by replacing with multiple smaller machines.</a:t>
            </a:r>
          </a:p>
          <a:p>
            <a:r>
              <a:rPr lang="en-US" dirty="0"/>
              <a:t>Parallel Databases can be broken down into 3 categories</a:t>
            </a:r>
          </a:p>
          <a:p>
            <a:r>
              <a:rPr lang="en-US" dirty="0"/>
              <a:t>Shared Memory</a:t>
            </a:r>
          </a:p>
          <a:p>
            <a:r>
              <a:rPr lang="en-US" dirty="0"/>
              <a:t>Shared Disk</a:t>
            </a:r>
          </a:p>
          <a:p>
            <a:r>
              <a:rPr lang="en-US" dirty="0"/>
              <a:t>Shared Nothing</a:t>
            </a:r>
          </a:p>
          <a:p>
            <a:r>
              <a:rPr lang="en-US" b="1" dirty="0"/>
              <a:t>1. Shared Memory</a:t>
            </a:r>
            <a:endParaRPr lang="en-US" dirty="0"/>
          </a:p>
          <a:p>
            <a:r>
              <a:rPr lang="en-US" dirty="0"/>
              <a:t>Multiple processors have direct access to single, shared memory space, this means all processors work with the same memory.</a:t>
            </a:r>
          </a:p>
          <a:p>
            <a:endParaRPr lang="en-IN" dirty="0"/>
          </a:p>
        </p:txBody>
      </p:sp>
    </p:spTree>
    <p:extLst>
      <p:ext uri="{BB962C8B-B14F-4D97-AF65-F5344CB8AC3E}">
        <p14:creationId xmlns:p14="http://schemas.microsoft.com/office/powerpoint/2010/main" val="1280532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8194" name="Picture 2" descr="https://miro.medium.com/v2/resize:fit:593/0*_8M3IxWg2PU7LPx7.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06921" y="1691753"/>
            <a:ext cx="7530158" cy="43428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45862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10000"/>
          </a:bodyPr>
          <a:lstStyle/>
          <a:p>
            <a:r>
              <a:rPr lang="en-US" b="1" i="1" dirty="0"/>
              <a:t>How It Works</a:t>
            </a:r>
            <a:r>
              <a:rPr lang="en-US" i="1" dirty="0"/>
              <a:t>: Think of it like multiple people working on a single whiteboard. They can all see and change the information on it right away.</a:t>
            </a:r>
            <a:endParaRPr lang="en-US" dirty="0"/>
          </a:p>
          <a:p>
            <a:r>
              <a:rPr lang="en-US" b="1" dirty="0"/>
              <a:t>2. Shared Disk</a:t>
            </a:r>
            <a:endParaRPr lang="en-US" dirty="0"/>
          </a:p>
          <a:p>
            <a:r>
              <a:rPr lang="en-US" dirty="0"/>
              <a:t>In a </a:t>
            </a:r>
            <a:r>
              <a:rPr lang="en-US" b="1" dirty="0"/>
              <a:t>Shared Disk</a:t>
            </a:r>
            <a:r>
              <a:rPr lang="en-US" dirty="0"/>
              <a:t> architecture, each processor has its own memory, but all processors share the same disk (or storage). Processors can read/write to the same disk, but have separate memories. Remember that each node has it’s own </a:t>
            </a:r>
            <a:r>
              <a:rPr lang="en-US" b="1" dirty="0"/>
              <a:t>Operation System</a:t>
            </a:r>
            <a:endParaRPr lang="en-US" dirty="0"/>
          </a:p>
          <a:p>
            <a:endParaRPr lang="en-IN" dirty="0"/>
          </a:p>
        </p:txBody>
      </p:sp>
    </p:spTree>
    <p:extLst>
      <p:ext uri="{BB962C8B-B14F-4D97-AF65-F5344CB8AC3E}">
        <p14:creationId xmlns:p14="http://schemas.microsoft.com/office/powerpoint/2010/main" val="39412469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9218" name="Picture 2" descr="https://miro.medium.com/v2/resize:fit:616/0*8aNRcdX1SspHgClb.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34970" y="1600200"/>
            <a:ext cx="6074059" cy="4525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55791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r>
              <a:rPr lang="en-US" b="1" i="1" dirty="0"/>
              <a:t>How It Works</a:t>
            </a:r>
            <a:r>
              <a:rPr lang="en-US" i="1" dirty="0"/>
              <a:t>: Imagine several people with their own notebooks (memory) working together, but they all write to and read from a shared filing cabinet (disk).</a:t>
            </a:r>
            <a:endParaRPr lang="en-US" dirty="0"/>
          </a:p>
          <a:p>
            <a:r>
              <a:rPr lang="en-US" b="1" dirty="0"/>
              <a:t>3. Shared Nothing</a:t>
            </a:r>
            <a:endParaRPr lang="en-US" dirty="0"/>
          </a:p>
          <a:p>
            <a:r>
              <a:rPr lang="en-US" dirty="0"/>
              <a:t>In a </a:t>
            </a:r>
            <a:r>
              <a:rPr lang="en-US" b="1" dirty="0"/>
              <a:t>Shared Nothing</a:t>
            </a:r>
            <a:r>
              <a:rPr lang="en-US" dirty="0"/>
              <a:t> architecture, each processor has its own memory and its own disk. The processors work independently, and they communicate only when needed. There’s no shared memory/disk, so each processor manages its own data.</a:t>
            </a:r>
          </a:p>
          <a:p>
            <a:endParaRPr lang="en-IN" dirty="0"/>
          </a:p>
        </p:txBody>
      </p:sp>
    </p:spTree>
    <p:extLst>
      <p:ext uri="{BB962C8B-B14F-4D97-AF65-F5344CB8AC3E}">
        <p14:creationId xmlns:p14="http://schemas.microsoft.com/office/powerpoint/2010/main" val="11016968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42" name="Picture 2" descr="https://miro.medium.com/v2/resize:fit:614/0*uixFYviZSZf7asIJ.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79228" y="1600200"/>
            <a:ext cx="5385544" cy="4525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64095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40000" lnSpcReduction="20000"/>
          </a:bodyPr>
          <a:lstStyle/>
          <a:p>
            <a:r>
              <a:rPr lang="en-US" b="1" i="1" dirty="0"/>
              <a:t>How It Works</a:t>
            </a:r>
            <a:r>
              <a:rPr lang="en-US" i="1" dirty="0"/>
              <a:t>: Imagine each person has their own notebook and their own filing cabinet, and they work independently. If they need to share information, they communicate over a network.</a:t>
            </a:r>
            <a:endParaRPr lang="en-US" dirty="0"/>
          </a:p>
          <a:p>
            <a:r>
              <a:rPr lang="en-US" b="1" dirty="0"/>
              <a:t>Advantages</a:t>
            </a:r>
          </a:p>
          <a:p>
            <a:r>
              <a:rPr lang="en-US" dirty="0"/>
              <a:t>Parallel Query Execution</a:t>
            </a:r>
          </a:p>
          <a:p>
            <a:r>
              <a:rPr lang="en-US" i="1" dirty="0"/>
              <a:t>By splitting a query into multiple smaller tasks and executing them concurrently across different processors or nodes, parallel databases can reduce the time required to execute complex queries.</a:t>
            </a:r>
            <a:endParaRPr lang="en-US" dirty="0"/>
          </a:p>
          <a:p>
            <a:r>
              <a:rPr lang="en-US" dirty="0"/>
              <a:t>Faster Data Processing</a:t>
            </a:r>
          </a:p>
          <a:p>
            <a:r>
              <a:rPr lang="en-US" i="1" dirty="0"/>
              <a:t>Query operations can be performed in parallel, resulting in quicker processing compared to traditional single-processor systems.</a:t>
            </a:r>
            <a:endParaRPr lang="en-US" dirty="0"/>
          </a:p>
          <a:p>
            <a:r>
              <a:rPr lang="en-US" dirty="0"/>
              <a:t>Horizontal Scalability</a:t>
            </a:r>
          </a:p>
          <a:p>
            <a:r>
              <a:rPr lang="en-US" i="1" dirty="0"/>
              <a:t>Parallel databases can be scaled by adding more nodes or processors, which increases the system’s ability to handle larger datasets and more complex queries. This is particularly useful for big data applications. This also saves the cost and attractive way of dealing with increasing data volumes</a:t>
            </a:r>
            <a:endParaRPr lang="en-US" dirty="0"/>
          </a:p>
          <a:p>
            <a:r>
              <a:rPr lang="en-US" b="1" dirty="0"/>
              <a:t>Disadvantages</a:t>
            </a:r>
          </a:p>
          <a:p>
            <a:r>
              <a:rPr lang="en-US" dirty="0"/>
              <a:t>Complex Data </a:t>
            </a:r>
            <a:r>
              <a:rPr lang="en-US" dirty="0" err="1"/>
              <a:t>Synchronisation</a:t>
            </a:r>
            <a:endParaRPr lang="en-US" dirty="0"/>
          </a:p>
          <a:p>
            <a:r>
              <a:rPr lang="en-US" i="1" dirty="0"/>
              <a:t>In parallel databases, especially in distributed systems, ensuring data consistency across all nodes can be challenging. Bottlenecks can appear!</a:t>
            </a:r>
            <a:endParaRPr lang="en-US" dirty="0"/>
          </a:p>
          <a:p>
            <a:r>
              <a:rPr lang="en-US" dirty="0"/>
              <a:t>High Communication Costs</a:t>
            </a:r>
          </a:p>
          <a:p>
            <a:r>
              <a:rPr lang="en-US" i="1" dirty="0"/>
              <a:t>Since multiple nodes in a parallel database system often need to communicate and exchange data, network bandwidth can become a problem, particularly if the nodes are distributed across different locations (e.g., in a cloud environment).</a:t>
            </a:r>
            <a:endParaRPr lang="en-US" dirty="0"/>
          </a:p>
          <a:p>
            <a:r>
              <a:rPr lang="en-US" dirty="0"/>
              <a:t/>
            </a:r>
            <a:br>
              <a:rPr lang="en-US" dirty="0"/>
            </a:br>
            <a:endParaRPr lang="en-IN" dirty="0"/>
          </a:p>
        </p:txBody>
      </p:sp>
    </p:spTree>
    <p:extLst>
      <p:ext uri="{BB962C8B-B14F-4D97-AF65-F5344CB8AC3E}">
        <p14:creationId xmlns:p14="http://schemas.microsoft.com/office/powerpoint/2010/main" val="42423050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t>What are distributed databases?</a:t>
            </a:r>
          </a:p>
          <a:p>
            <a:r>
              <a:rPr lang="en-US" dirty="0"/>
              <a:t>A logically interrelated collection of data that is distributed physically over a network.</a:t>
            </a:r>
          </a:p>
          <a:p>
            <a:endParaRPr lang="en-IN" dirty="0"/>
          </a:p>
        </p:txBody>
      </p:sp>
    </p:spTree>
    <p:extLst>
      <p:ext uri="{BB962C8B-B14F-4D97-AF65-F5344CB8AC3E}">
        <p14:creationId xmlns:p14="http://schemas.microsoft.com/office/powerpoint/2010/main" val="6032700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Picture 2" descr="https://miro.medium.com/v2/resize:fit:700/1*HutosU__o6AA-Nfz1OxQJg.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86327" y="1600200"/>
            <a:ext cx="4771346" cy="4525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81484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32500" lnSpcReduction="20000"/>
          </a:bodyPr>
          <a:lstStyle/>
          <a:p>
            <a:r>
              <a:rPr lang="en-US" b="1" dirty="0"/>
              <a:t>What is a Site?</a:t>
            </a:r>
            <a:endParaRPr lang="en-US" dirty="0"/>
          </a:p>
          <a:p>
            <a:r>
              <a:rPr lang="en-US" dirty="0"/>
              <a:t>It’s like a separate database that contains data and may also have the ability to process and respond to the requests made</a:t>
            </a:r>
          </a:p>
          <a:p>
            <a:r>
              <a:rPr lang="en-US" dirty="0"/>
              <a:t>Think of it like a chain of libraries (sites) spread across a city. Each library has a portion of the books (data) and can help people who visit to get the information they need. Altogether the system is distributed where each individual library is a ‘Site’</a:t>
            </a:r>
          </a:p>
          <a:p>
            <a:r>
              <a:rPr lang="en-US" b="1" dirty="0"/>
              <a:t>Advantages</a:t>
            </a:r>
          </a:p>
          <a:p>
            <a:r>
              <a:rPr lang="en-US" dirty="0"/>
              <a:t>Reflecting distributed nature of some database applications:</a:t>
            </a:r>
          </a:p>
          <a:p>
            <a:r>
              <a:rPr lang="en-US" i="1" dirty="0"/>
              <a:t>A company may have locations in different countries, so the databases are naturally distributed</a:t>
            </a:r>
            <a:endParaRPr lang="en-US" dirty="0"/>
          </a:p>
          <a:p>
            <a:r>
              <a:rPr lang="en-US" dirty="0"/>
              <a:t>Increased reliability and availability</a:t>
            </a:r>
          </a:p>
          <a:p>
            <a:r>
              <a:rPr lang="en-US" i="1" dirty="0"/>
              <a:t>Failure of a single node will not affect the breakdown of the system and will function in a reduced level or will not affect at all</a:t>
            </a:r>
            <a:endParaRPr lang="en-US" dirty="0"/>
          </a:p>
          <a:p>
            <a:r>
              <a:rPr lang="en-US" dirty="0"/>
              <a:t>Local control</a:t>
            </a:r>
          </a:p>
          <a:p>
            <a:r>
              <a:rPr lang="en-US" i="1" dirty="0"/>
              <a:t>Local groups have more control over ‘their’ data.</a:t>
            </a:r>
            <a:endParaRPr lang="en-US" dirty="0"/>
          </a:p>
          <a:p>
            <a:r>
              <a:rPr lang="en-US" dirty="0"/>
              <a:t>Lower communication costs</a:t>
            </a:r>
          </a:p>
          <a:p>
            <a:r>
              <a:rPr lang="en-US" i="1" dirty="0"/>
              <a:t>When data is more closer to the point of use, it’s cost saving</a:t>
            </a:r>
            <a:endParaRPr lang="en-US" dirty="0"/>
          </a:p>
          <a:p>
            <a:r>
              <a:rPr lang="en-US" dirty="0"/>
              <a:t>Fast response and improved performance</a:t>
            </a:r>
          </a:p>
          <a:p>
            <a:r>
              <a:rPr lang="en-US" i="1" dirty="0"/>
              <a:t>Some user queries may rely on the data that is stored in the local ‘site’, this may speed up the querying process. And also some complex queries can be run </a:t>
            </a:r>
            <a:r>
              <a:rPr lang="en-US" i="1" dirty="0" err="1"/>
              <a:t>parallely</a:t>
            </a:r>
            <a:r>
              <a:rPr lang="en-US" i="1" dirty="0"/>
              <a:t> in different sites to speed up the process</a:t>
            </a:r>
            <a:endParaRPr lang="en-US" dirty="0"/>
          </a:p>
          <a:p>
            <a:r>
              <a:rPr lang="en-US" dirty="0"/>
              <a:t>Interconnection of existing databases</a:t>
            </a:r>
          </a:p>
          <a:p>
            <a:r>
              <a:rPr lang="en-US" i="1" dirty="0"/>
              <a:t>This architecture offers a natural solution by integrating and interconnecting the pre-existing local databases, when need of a global approach.</a:t>
            </a:r>
            <a:endParaRPr lang="en-US" dirty="0"/>
          </a:p>
          <a:p>
            <a:r>
              <a:rPr lang="en-US" b="1" dirty="0"/>
              <a:t>Disadvantages</a:t>
            </a:r>
          </a:p>
          <a:p>
            <a:r>
              <a:rPr lang="en-US" dirty="0"/>
              <a:t>Cost</a:t>
            </a:r>
          </a:p>
          <a:p>
            <a:r>
              <a:rPr lang="en-US" i="1" dirty="0"/>
              <a:t>Way more costing than a </a:t>
            </a:r>
            <a:r>
              <a:rPr lang="en-US" i="1" dirty="0" err="1"/>
              <a:t>centralised</a:t>
            </a:r>
            <a:r>
              <a:rPr lang="en-US" i="1" dirty="0"/>
              <a:t> system</a:t>
            </a:r>
            <a:endParaRPr lang="en-US" dirty="0"/>
          </a:p>
          <a:p>
            <a:r>
              <a:rPr lang="en-US" dirty="0"/>
              <a:t>Communication/Processing overheads</a:t>
            </a:r>
          </a:p>
          <a:p>
            <a:r>
              <a:rPr lang="en-US" i="1" dirty="0"/>
              <a:t>These are frequently occurred where the system have to maintain a proper co-ordination and keep the data updated across many sites. There is also a risk in communication channels where disconnections/blackouts may lead to degrade system responsiveness</a:t>
            </a:r>
            <a:endParaRPr lang="en-US" dirty="0"/>
          </a:p>
          <a:p>
            <a:r>
              <a:rPr lang="en-US" dirty="0"/>
              <a:t>Data Integrity and consistency</a:t>
            </a:r>
          </a:p>
          <a:p>
            <a:r>
              <a:rPr lang="en-US" i="1" dirty="0"/>
              <a:t>Additional control mechanisms are required in order to prevent improper updating of data and avoid other problems of data integrity/consistency.</a:t>
            </a:r>
            <a:endParaRPr lang="en-US" dirty="0"/>
          </a:p>
          <a:p>
            <a:endParaRPr lang="en-IN" dirty="0"/>
          </a:p>
        </p:txBody>
      </p:sp>
    </p:spTree>
    <p:extLst>
      <p:ext uri="{BB962C8B-B14F-4D97-AF65-F5344CB8AC3E}">
        <p14:creationId xmlns:p14="http://schemas.microsoft.com/office/powerpoint/2010/main" val="13558862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71054"/>
            <a:ext cx="8229600" cy="1129146"/>
          </a:xfrm>
        </p:spPr>
        <p:txBody>
          <a:bodyPr>
            <a:noAutofit/>
          </a:bodyPr>
          <a:lstStyle/>
          <a:p>
            <a:r>
              <a:rPr lang="en-US" sz="2400" b="1" dirty="0" smtClean="0"/>
              <a:t/>
            </a:r>
            <a:br>
              <a:rPr lang="en-US" sz="2400" b="1" dirty="0" smtClean="0"/>
            </a:br>
            <a:r>
              <a:rPr lang="en-US" sz="2400" b="1" dirty="0" smtClean="0"/>
              <a:t>Distributed </a:t>
            </a:r>
            <a:r>
              <a:rPr lang="en-US" sz="2400" b="1" dirty="0"/>
              <a:t>Schematic View</a:t>
            </a:r>
            <a:br>
              <a:rPr lang="en-US" sz="2400" b="1" dirty="0"/>
            </a:br>
            <a:r>
              <a:rPr lang="en-US" sz="2400" dirty="0"/>
              <a:t>A </a:t>
            </a:r>
            <a:r>
              <a:rPr lang="en-US" sz="2400" b="1" dirty="0"/>
              <a:t>distributed schematic view</a:t>
            </a:r>
            <a:r>
              <a:rPr lang="en-US" sz="2400" dirty="0"/>
              <a:t> refers to a graphical or conceptual representation of how a </a:t>
            </a:r>
            <a:r>
              <a:rPr lang="en-US" sz="2400" b="1" dirty="0"/>
              <a:t>distributed system</a:t>
            </a:r>
            <a:r>
              <a:rPr lang="en-US" sz="2400" dirty="0"/>
              <a:t> is </a:t>
            </a:r>
            <a:r>
              <a:rPr lang="en-US" sz="2400" dirty="0" smtClean="0"/>
              <a:t>organized</a:t>
            </a:r>
            <a:r>
              <a:rPr lang="en-US" sz="2400" dirty="0"/>
              <a:t/>
            </a:r>
            <a:br>
              <a:rPr lang="en-US" sz="2400" dirty="0"/>
            </a:br>
            <a:endParaRPr lang="en-IN" sz="2400" dirty="0"/>
          </a:p>
        </p:txBody>
      </p:sp>
      <p:pic>
        <p:nvPicPr>
          <p:cNvPr id="12290" name="Picture 2" descr="distributed schematic view of a distributed database system"/>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1" y="1600200"/>
            <a:ext cx="8007926" cy="50776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16726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numCol="2">
            <a:noAutofit/>
          </a:bodyPr>
          <a:lstStyle/>
          <a:p>
            <a:pPr algn="just"/>
            <a:r>
              <a:rPr lang="en-US" sz="1800" dirty="0"/>
              <a:t>Imagine we have an online shopping platform with users, orders, and products. The system is distributed across three regions: North America, Europe, and Asia. The goal is to manage the data across these regions efficiently.</a:t>
            </a:r>
          </a:p>
          <a:p>
            <a:pPr algn="just"/>
            <a:r>
              <a:rPr lang="en-US" sz="1800" dirty="0" smtClean="0"/>
              <a:t>Considering </a:t>
            </a:r>
            <a:r>
              <a:rPr lang="en-US" sz="1800" dirty="0"/>
              <a:t>the global schema, it consists of</a:t>
            </a:r>
          </a:p>
          <a:p>
            <a:pPr algn="just"/>
            <a:r>
              <a:rPr lang="en-US" sz="1800" dirty="0" smtClean="0"/>
              <a:t>Global </a:t>
            </a:r>
            <a:r>
              <a:rPr lang="en-US" sz="1800" dirty="0"/>
              <a:t>conceptual </a:t>
            </a:r>
            <a:r>
              <a:rPr lang="en-US" sz="1800" dirty="0" smtClean="0"/>
              <a:t>schema</a:t>
            </a:r>
          </a:p>
          <a:p>
            <a:pPr algn="just"/>
            <a:r>
              <a:rPr lang="en-US" sz="1800" dirty="0" smtClean="0"/>
              <a:t>It refers to the abstract representation of the data across multiple databases within a distributed system. It describes how data is </a:t>
            </a:r>
            <a:r>
              <a:rPr lang="en-US" sz="1800" dirty="0" err="1" smtClean="0"/>
              <a:t>organised</a:t>
            </a:r>
            <a:r>
              <a:rPr lang="en-US" sz="1800" dirty="0" smtClean="0"/>
              <a:t>, its structure, relationships, and constraints without being tied to a specific location or physical representation.</a:t>
            </a:r>
          </a:p>
          <a:p>
            <a:pPr algn="just"/>
            <a:endParaRPr lang="en-US" sz="1800" dirty="0" smtClean="0"/>
          </a:p>
          <a:p>
            <a:pPr algn="just"/>
            <a:r>
              <a:rPr lang="en-US" sz="1800" dirty="0" smtClean="0"/>
              <a:t>User: stores information about users (e.g., name, email).</a:t>
            </a:r>
          </a:p>
          <a:p>
            <a:pPr algn="just"/>
            <a:endParaRPr lang="en-US" sz="1800" dirty="0" smtClean="0"/>
          </a:p>
          <a:p>
            <a:pPr algn="just"/>
            <a:r>
              <a:rPr lang="en-US" sz="1800" dirty="0" smtClean="0"/>
              <a:t>Fragmentation schema</a:t>
            </a:r>
          </a:p>
          <a:p>
            <a:pPr algn="just"/>
            <a:r>
              <a:rPr lang="en-US" sz="1800" dirty="0" smtClean="0"/>
              <a:t>Representation of how the data is split into fragments and stored in different locations. The goal is to distribute data in a way that improves query performance and </a:t>
            </a:r>
            <a:r>
              <a:rPr lang="en-US" sz="1800" dirty="0" err="1" smtClean="0"/>
              <a:t>optimises</a:t>
            </a:r>
            <a:r>
              <a:rPr lang="en-US" sz="1800" dirty="0" smtClean="0"/>
              <a:t> resource usage.</a:t>
            </a:r>
          </a:p>
          <a:p>
            <a:pPr algn="just"/>
            <a:endParaRPr lang="en-US" sz="1800" dirty="0" smtClean="0"/>
          </a:p>
        </p:txBody>
      </p:sp>
    </p:spTree>
    <p:extLst>
      <p:ext uri="{BB962C8B-B14F-4D97-AF65-F5344CB8AC3E}">
        <p14:creationId xmlns:p14="http://schemas.microsoft.com/office/powerpoint/2010/main" val="404532981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56635"/>
          </a:xfrm>
        </p:spPr>
        <p:txBody>
          <a:bodyPr>
            <a:normAutofit fontScale="90000"/>
          </a:bodyPr>
          <a:lstStyle/>
          <a:p>
            <a:endParaRPr lang="en-IN" dirty="0"/>
          </a:p>
        </p:txBody>
      </p:sp>
      <p:sp>
        <p:nvSpPr>
          <p:cNvPr id="3" name="Content Placeholder 2"/>
          <p:cNvSpPr>
            <a:spLocks noGrp="1"/>
          </p:cNvSpPr>
          <p:nvPr>
            <p:ph idx="1"/>
          </p:nvPr>
        </p:nvSpPr>
        <p:spPr>
          <a:xfrm>
            <a:off x="457200" y="1094508"/>
            <a:ext cx="8229600" cy="5444837"/>
          </a:xfrm>
        </p:spPr>
        <p:txBody>
          <a:bodyPr numCol="2">
            <a:noAutofit/>
          </a:bodyPr>
          <a:lstStyle/>
          <a:p>
            <a:pPr algn="just"/>
            <a:r>
              <a:rPr lang="en-US" sz="1200" dirty="0"/>
              <a:t>Divides data based on certain conditions (e.g., by region or time).</a:t>
            </a:r>
          </a:p>
          <a:p>
            <a:pPr algn="just"/>
            <a:r>
              <a:rPr lang="en-US" sz="1200" dirty="0" smtClean="0"/>
              <a:t>Replication </a:t>
            </a:r>
            <a:r>
              <a:rPr lang="en-US" sz="1200" dirty="0"/>
              <a:t>schema</a:t>
            </a:r>
          </a:p>
          <a:p>
            <a:pPr algn="just"/>
            <a:r>
              <a:rPr lang="en-US" sz="1200" dirty="0"/>
              <a:t>Same as above, it’s representing how the data is having multiple copies across different locations. This ensures that data is available for everyone from anywhere</a:t>
            </a:r>
          </a:p>
          <a:p>
            <a:pPr algn="just"/>
            <a:r>
              <a:rPr lang="en-US" sz="1200" dirty="0" smtClean="0"/>
              <a:t>User </a:t>
            </a:r>
            <a:r>
              <a:rPr lang="en-US" sz="1200" dirty="0"/>
              <a:t>data could be replicated in both North America and Europe to ensure users can access their information even if one region is down.</a:t>
            </a:r>
          </a:p>
          <a:p>
            <a:pPr algn="just"/>
            <a:r>
              <a:rPr lang="en-US" sz="1200" dirty="0" smtClean="0"/>
              <a:t>Allocation </a:t>
            </a:r>
            <a:r>
              <a:rPr lang="en-US" sz="1200" dirty="0"/>
              <a:t>schema</a:t>
            </a:r>
          </a:p>
          <a:p>
            <a:pPr algn="just"/>
            <a:r>
              <a:rPr lang="en-US" sz="1200" dirty="0"/>
              <a:t>This schema focuses on how the data is stored physically. It specifies how data defined in the global conceptual schema is allocated, stored, and accessed in various distributed sites.</a:t>
            </a:r>
          </a:p>
          <a:p>
            <a:pPr algn="just"/>
            <a:r>
              <a:rPr lang="en-US" sz="1200" dirty="0" smtClean="0"/>
              <a:t>User </a:t>
            </a:r>
            <a:r>
              <a:rPr lang="en-US" sz="1200" dirty="0"/>
              <a:t>data might be stored in the North America region.</a:t>
            </a:r>
          </a:p>
          <a:p>
            <a:pPr algn="just"/>
            <a:endParaRPr lang="en-US" sz="1200" dirty="0"/>
          </a:p>
          <a:p>
            <a:pPr algn="just"/>
            <a:r>
              <a:rPr lang="en-US" sz="1200" dirty="0" smtClean="0"/>
              <a:t>The </a:t>
            </a:r>
            <a:r>
              <a:rPr lang="en-US" sz="1200" dirty="0"/>
              <a:t>view of a local user consists of</a:t>
            </a:r>
          </a:p>
          <a:p>
            <a:pPr algn="just"/>
            <a:endParaRPr lang="en-US" sz="1200" dirty="0"/>
          </a:p>
          <a:p>
            <a:pPr algn="just"/>
            <a:r>
              <a:rPr lang="en-US" sz="1200" dirty="0"/>
              <a:t>Local external schema</a:t>
            </a:r>
          </a:p>
          <a:p>
            <a:pPr algn="just"/>
            <a:r>
              <a:rPr lang="en-US" sz="1200" dirty="0"/>
              <a:t>Describes the database view of set of database user groups and hides the rest of the database</a:t>
            </a:r>
          </a:p>
          <a:p>
            <a:pPr algn="just"/>
            <a:endParaRPr lang="en-US" sz="1200" dirty="0"/>
          </a:p>
          <a:p>
            <a:pPr algn="just"/>
            <a:r>
              <a:rPr lang="en-US" sz="1200" dirty="0"/>
              <a:t>Users in Europe can see their own profile and order history. They don’t need to access user data from other regions.</a:t>
            </a:r>
          </a:p>
          <a:p>
            <a:pPr algn="just"/>
            <a:endParaRPr lang="en-US" sz="1200" dirty="0"/>
          </a:p>
          <a:p>
            <a:pPr algn="just"/>
            <a:r>
              <a:rPr lang="en-US" sz="1200" dirty="0"/>
              <a:t>Local conceptual schema</a:t>
            </a:r>
          </a:p>
          <a:p>
            <a:pPr algn="just"/>
            <a:r>
              <a:rPr lang="en-US" sz="1200" dirty="0"/>
              <a:t>Description of the database that reflect entities, data attributes, relationships and constraints.</a:t>
            </a:r>
          </a:p>
          <a:p>
            <a:pPr algn="just"/>
            <a:endParaRPr lang="en-US" sz="1200" dirty="0"/>
          </a:p>
          <a:p>
            <a:pPr algn="just"/>
            <a:r>
              <a:rPr lang="en-US" sz="1200" dirty="0"/>
              <a:t>User: Users in Europe, including their personal details.</a:t>
            </a:r>
          </a:p>
          <a:p>
            <a:pPr algn="just"/>
            <a:endParaRPr lang="en-US" sz="1200" dirty="0"/>
          </a:p>
          <a:p>
            <a:pPr algn="just"/>
            <a:r>
              <a:rPr lang="en-US" sz="1200" dirty="0"/>
              <a:t>Local internal schema</a:t>
            </a:r>
          </a:p>
          <a:p>
            <a:pPr algn="just"/>
            <a:r>
              <a:rPr lang="en-US" sz="1200" dirty="0"/>
              <a:t>Physical storage of the database (how data is actually stored in the disk)</a:t>
            </a:r>
          </a:p>
          <a:p>
            <a:pPr algn="just"/>
            <a:endParaRPr lang="en-US" sz="1200" dirty="0"/>
          </a:p>
          <a:p>
            <a:pPr algn="just"/>
            <a:r>
              <a:rPr lang="en-US" sz="1200" dirty="0"/>
              <a:t>Storage for User: The data for User is stored in a table </a:t>
            </a:r>
            <a:r>
              <a:rPr lang="en-US" sz="1200" dirty="0" err="1"/>
              <a:t>europe_users</a:t>
            </a:r>
            <a:r>
              <a:rPr lang="en-US" sz="1200" dirty="0"/>
              <a:t> with indexing on </a:t>
            </a:r>
            <a:r>
              <a:rPr lang="en-US" sz="1200" dirty="0" err="1"/>
              <a:t>userID</a:t>
            </a:r>
            <a:r>
              <a:rPr lang="en-US" sz="1200" dirty="0"/>
              <a:t> for quick lookups.</a:t>
            </a:r>
          </a:p>
          <a:p>
            <a:pPr algn="just"/>
            <a:endParaRPr lang="en-US" sz="1200" dirty="0"/>
          </a:p>
          <a:p>
            <a:pPr algn="just"/>
            <a:r>
              <a:rPr lang="en-US" sz="1200" dirty="0"/>
              <a:t>Key points to consider</a:t>
            </a:r>
          </a:p>
          <a:p>
            <a:pPr algn="just"/>
            <a:r>
              <a:rPr lang="en-US" sz="1200" dirty="0"/>
              <a:t>The global conceptual schema defines all the data contained in the distributed database</a:t>
            </a:r>
          </a:p>
          <a:p>
            <a:pPr algn="just"/>
            <a:r>
              <a:rPr lang="en-US" sz="1200" dirty="0"/>
              <a:t>Local external schemas describe subsets of the global conceptual schema.</a:t>
            </a:r>
            <a:endParaRPr lang="en-IN" sz="1200" dirty="0"/>
          </a:p>
          <a:p>
            <a:endParaRPr lang="en-IN" sz="1200" dirty="0"/>
          </a:p>
        </p:txBody>
      </p:sp>
    </p:spTree>
    <p:extLst>
      <p:ext uri="{BB962C8B-B14F-4D97-AF65-F5344CB8AC3E}">
        <p14:creationId xmlns:p14="http://schemas.microsoft.com/office/powerpoint/2010/main" val="16871044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27710952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Key Characteristics of Data Warehousing</a:t>
            </a:r>
          </a:p>
        </p:txBody>
      </p:sp>
      <p:sp>
        <p:nvSpPr>
          <p:cNvPr id="3" name="Content Placeholder 2"/>
          <p:cNvSpPr>
            <a:spLocks noGrp="1"/>
          </p:cNvSpPr>
          <p:nvPr>
            <p:ph idx="1"/>
          </p:nvPr>
        </p:nvSpPr>
        <p:spPr/>
        <p:txBody>
          <a:bodyPr/>
          <a:lstStyle/>
          <a:p>
            <a:r>
              <a:t>Subject-Oriented: Organized by business subjects.</a:t>
            </a:r>
          </a:p>
          <a:p>
            <a:r>
              <a:t>Integrated: Combines data from various sources.</a:t>
            </a:r>
          </a:p>
          <a:p>
            <a:r>
              <a:t>Time-Variant: Tracks changes over time.</a:t>
            </a:r>
          </a:p>
          <a:p>
            <a:r>
              <a:t>Non-Volatile: Data is read-only once stored.</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Real-Life Example: Retail Chain</a:t>
            </a:r>
          </a:p>
        </p:txBody>
      </p:sp>
      <p:sp>
        <p:nvSpPr>
          <p:cNvPr id="3" name="Content Placeholder 2"/>
          <p:cNvSpPr>
            <a:spLocks noGrp="1"/>
          </p:cNvSpPr>
          <p:nvPr>
            <p:ph idx="1"/>
          </p:nvPr>
        </p:nvSpPr>
        <p:spPr/>
        <p:txBody>
          <a:bodyPr/>
          <a:lstStyle/>
          <a:p>
            <a:r>
              <a:t>Walmart uses a data warehouse to:</a:t>
            </a:r>
          </a:p>
          <a:p>
            <a:r>
              <a:t>- Analyze sales trends.</a:t>
            </a:r>
          </a:p>
          <a:p>
            <a:r>
              <a:t>- Manage inventory.</a:t>
            </a:r>
          </a:p>
          <a:p>
            <a:r>
              <a:t>- Optimize supply chains.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Data Mining?</a:t>
            </a:r>
          </a:p>
        </p:txBody>
      </p:sp>
      <p:sp>
        <p:nvSpPr>
          <p:cNvPr id="3" name="Content Placeholder 2"/>
          <p:cNvSpPr>
            <a:spLocks noGrp="1"/>
          </p:cNvSpPr>
          <p:nvPr>
            <p:ph idx="1"/>
          </p:nvPr>
        </p:nvSpPr>
        <p:spPr/>
        <p:txBody>
          <a:bodyPr/>
          <a:lstStyle/>
          <a:p>
            <a:r>
              <a:t>Process of discovering patterns in large datasets.</a:t>
            </a:r>
          </a:p>
          <a:p>
            <a:r>
              <a:t>Extracts useful insights for decision-making.</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Techniques of Data Mining</a:t>
            </a:r>
          </a:p>
        </p:txBody>
      </p:sp>
      <p:sp>
        <p:nvSpPr>
          <p:cNvPr id="3" name="Content Placeholder 2"/>
          <p:cNvSpPr>
            <a:spLocks noGrp="1"/>
          </p:cNvSpPr>
          <p:nvPr>
            <p:ph idx="1"/>
          </p:nvPr>
        </p:nvSpPr>
        <p:spPr/>
        <p:txBody>
          <a:bodyPr/>
          <a:lstStyle/>
          <a:p>
            <a:r>
              <a:t>Classification: Categorizes data (e.g., spam detection).</a:t>
            </a:r>
          </a:p>
          <a:p>
            <a:r>
              <a:t>Clustering: Groups similar data points (e.g., customer segmentation).</a:t>
            </a:r>
          </a:p>
          <a:p>
            <a:r>
              <a:t>Association Rules: Finds relationships (e.g., market basket analysis).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Real-Life Example: Banking</a:t>
            </a:r>
          </a:p>
        </p:txBody>
      </p:sp>
      <p:sp>
        <p:nvSpPr>
          <p:cNvPr id="3" name="Content Placeholder 2"/>
          <p:cNvSpPr>
            <a:spLocks noGrp="1"/>
          </p:cNvSpPr>
          <p:nvPr>
            <p:ph idx="1"/>
          </p:nvPr>
        </p:nvSpPr>
        <p:spPr/>
        <p:txBody>
          <a:bodyPr/>
          <a:lstStyle/>
          <a:p>
            <a:r>
              <a:t>Banks use data mining to:</a:t>
            </a:r>
          </a:p>
          <a:p>
            <a:r>
              <a:t>- Detect fraudulent transactions.</a:t>
            </a:r>
          </a:p>
          <a:p>
            <a:r>
              <a:t>- Analyze customer credit scores.</a:t>
            </a:r>
          </a:p>
          <a:p>
            <a:r>
              <a:t>- Predict loan defaults.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Big Data?</a:t>
            </a:r>
          </a:p>
        </p:txBody>
      </p:sp>
      <p:sp>
        <p:nvSpPr>
          <p:cNvPr id="3" name="Content Placeholder 2"/>
          <p:cNvSpPr>
            <a:spLocks noGrp="1"/>
          </p:cNvSpPr>
          <p:nvPr>
            <p:ph idx="1"/>
          </p:nvPr>
        </p:nvSpPr>
        <p:spPr/>
        <p:txBody>
          <a:bodyPr/>
          <a:lstStyle/>
          <a:p>
            <a:r>
              <a:t>Refers to extremely large datasets.</a:t>
            </a:r>
          </a:p>
          <a:p>
            <a:r>
              <a:t>Managed through specialized tools and techniques.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3 V's of Big Data</a:t>
            </a:r>
          </a:p>
        </p:txBody>
      </p:sp>
      <p:sp>
        <p:nvSpPr>
          <p:cNvPr id="3" name="Content Placeholder 2"/>
          <p:cNvSpPr>
            <a:spLocks noGrp="1"/>
          </p:cNvSpPr>
          <p:nvPr>
            <p:ph idx="1"/>
          </p:nvPr>
        </p:nvSpPr>
        <p:spPr/>
        <p:txBody>
          <a:bodyPr/>
          <a:lstStyle/>
          <a:p>
            <a:r>
              <a:t>Volume: Huge amounts of data.</a:t>
            </a:r>
          </a:p>
          <a:p>
            <a:r>
              <a:t>Velocity: High speed of data generation.</a:t>
            </a:r>
          </a:p>
          <a:p>
            <a:r>
              <a:t>Variety: Structured, semi-structured, and unstructured data.</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Real-Life Example: Healthcare</a:t>
            </a:r>
          </a:p>
        </p:txBody>
      </p:sp>
      <p:sp>
        <p:nvSpPr>
          <p:cNvPr id="3" name="Content Placeholder 2"/>
          <p:cNvSpPr>
            <a:spLocks noGrp="1"/>
          </p:cNvSpPr>
          <p:nvPr>
            <p:ph idx="1"/>
          </p:nvPr>
        </p:nvSpPr>
        <p:spPr/>
        <p:txBody>
          <a:bodyPr/>
          <a:lstStyle/>
          <a:p>
            <a:r>
              <a:t>Wearable devices collect health metrics.</a:t>
            </a:r>
          </a:p>
          <a:p>
            <a:r>
              <a:t>Real-time data analysis helps monitor patients.</a:t>
            </a:r>
          </a:p>
          <a:p>
            <a:r>
              <a:t>Predicts health risks early.</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Technologies Used</a:t>
            </a:r>
          </a:p>
        </p:txBody>
      </p:sp>
      <p:sp>
        <p:nvSpPr>
          <p:cNvPr id="3" name="Content Placeholder 2"/>
          <p:cNvSpPr>
            <a:spLocks noGrp="1"/>
          </p:cNvSpPr>
          <p:nvPr>
            <p:ph idx="1"/>
          </p:nvPr>
        </p:nvSpPr>
        <p:spPr/>
        <p:txBody>
          <a:bodyPr/>
          <a:lstStyle/>
          <a:p>
            <a:r>
              <a:t>Hadoop, Spark: Data processing.</a:t>
            </a:r>
          </a:p>
          <a:p>
            <a:r>
              <a:t>NoSQL Databases: Storing unstructured data.</a:t>
            </a:r>
          </a:p>
          <a:p>
            <a:r>
              <a:t>Cloud Platforms: AWS, Azure, Google Cloud.</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Integration of Data Warehousing, Data Mining, and Big Data</a:t>
            </a:r>
          </a:p>
        </p:txBody>
      </p:sp>
      <p:sp>
        <p:nvSpPr>
          <p:cNvPr id="3" name="Content Placeholder 2"/>
          <p:cNvSpPr>
            <a:spLocks noGrp="1"/>
          </p:cNvSpPr>
          <p:nvPr>
            <p:ph idx="1"/>
          </p:nvPr>
        </p:nvSpPr>
        <p:spPr/>
        <p:txBody>
          <a:bodyPr/>
          <a:lstStyle/>
          <a:p>
            <a:r>
              <a:t>Big Data feeds into Data Warehousing.</a:t>
            </a:r>
          </a:p>
          <a:p>
            <a:r>
              <a:t>Data Warehousing stores organized data.</a:t>
            </a:r>
          </a:p>
          <a:p>
            <a:r>
              <a:t>Data Mining extracts insights from the warehouse.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276049219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59022799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Hashing in DBMS</a:t>
            </a:r>
            <a:br>
              <a:rPr lang="en-US" dirty="0"/>
            </a:br>
            <a:endParaRPr lang="en-IN" dirty="0"/>
          </a:p>
        </p:txBody>
      </p:sp>
      <p:sp>
        <p:nvSpPr>
          <p:cNvPr id="3" name="Content Placeholder 2"/>
          <p:cNvSpPr>
            <a:spLocks noGrp="1"/>
          </p:cNvSpPr>
          <p:nvPr>
            <p:ph idx="1"/>
          </p:nvPr>
        </p:nvSpPr>
        <p:spPr/>
        <p:txBody>
          <a:bodyPr>
            <a:normAutofit fontScale="92500" lnSpcReduction="10000"/>
          </a:bodyPr>
          <a:lstStyle/>
          <a:p>
            <a:r>
              <a:rPr lang="en-US" dirty="0" smtClean="0"/>
              <a:t>In </a:t>
            </a:r>
            <a:r>
              <a:rPr lang="en-US" dirty="0"/>
              <a:t>a huge database structure, it is very inefficient to search all the index values and reach the desired data. Hashing technique is used to calculate the direct location of a data record on the disk without using index structure.</a:t>
            </a:r>
          </a:p>
          <a:p>
            <a:r>
              <a:rPr lang="en-US" dirty="0"/>
              <a:t>In this technique, data is stored at the data blocks whose address is generated by using the hashing function. The memory location where these records are stored is known as data bucket or data blocks.</a:t>
            </a:r>
          </a:p>
          <a:p>
            <a:endParaRPr lang="en-IN" dirty="0"/>
          </a:p>
        </p:txBody>
      </p:sp>
    </p:spTree>
    <p:extLst>
      <p:ext uri="{BB962C8B-B14F-4D97-AF65-F5344CB8AC3E}">
        <p14:creationId xmlns:p14="http://schemas.microsoft.com/office/powerpoint/2010/main" val="310759561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6" name="Picture 2" descr="DBMS Hashi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00200" y="1796256"/>
            <a:ext cx="5943600" cy="4133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959802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050" name="Picture 2" descr="DBMS Hashi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95575" y="2805906"/>
            <a:ext cx="3752850" cy="27913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125402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Static Hashing</a:t>
            </a:r>
            <a:br>
              <a:rPr lang="en-US" dirty="0"/>
            </a:br>
            <a:endParaRPr lang="en-IN" dirty="0"/>
          </a:p>
        </p:txBody>
      </p:sp>
      <p:sp>
        <p:nvSpPr>
          <p:cNvPr id="3" name="Content Placeholder 2"/>
          <p:cNvSpPr>
            <a:spLocks noGrp="1"/>
          </p:cNvSpPr>
          <p:nvPr>
            <p:ph idx="1"/>
          </p:nvPr>
        </p:nvSpPr>
        <p:spPr/>
        <p:txBody>
          <a:bodyPr>
            <a:normAutofit fontScale="92500" lnSpcReduction="10000"/>
          </a:bodyPr>
          <a:lstStyle/>
          <a:p>
            <a:r>
              <a:rPr lang="en-US" dirty="0" smtClean="0"/>
              <a:t>In </a:t>
            </a:r>
            <a:r>
              <a:rPr lang="en-US" dirty="0"/>
              <a:t>static hashing, the resultant data bucket address will always be the same. That means if we generate an address for EMP_ID =103 using the hash function mod (5) then it will always result in same bucket address 3. Here, there will be no change in the bucket address.</a:t>
            </a:r>
          </a:p>
          <a:p>
            <a:r>
              <a:rPr lang="en-US" dirty="0"/>
              <a:t>Hence in this static hashing, the number of data buckets in memory remains constant throughout. In this example, we will have five data buckets in the memory used to store the data.</a:t>
            </a:r>
          </a:p>
          <a:p>
            <a:endParaRPr lang="en-IN" dirty="0"/>
          </a:p>
        </p:txBody>
      </p:sp>
    </p:spTree>
    <p:extLst>
      <p:ext uri="{BB962C8B-B14F-4D97-AF65-F5344CB8AC3E}">
        <p14:creationId xmlns:p14="http://schemas.microsoft.com/office/powerpoint/2010/main" val="200539017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074" name="Picture 2" descr="DBMS Static Hashi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28787" y="2248694"/>
            <a:ext cx="5686425" cy="3228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240556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01217"/>
          </a:xfrm>
        </p:spPr>
        <p:txBody>
          <a:bodyPr>
            <a:normAutofit fontScale="90000"/>
          </a:bodyPr>
          <a:lstStyle/>
          <a:p>
            <a:r>
              <a:rPr lang="en-US" dirty="0" smtClean="0"/>
              <a:t/>
            </a:r>
            <a:br>
              <a:rPr lang="en-US" dirty="0" smtClean="0"/>
            </a:br>
            <a:r>
              <a:rPr lang="en-US" dirty="0" smtClean="0"/>
              <a:t>Operations </a:t>
            </a:r>
            <a:r>
              <a:rPr lang="en-US" dirty="0"/>
              <a:t>of Static Hashing</a:t>
            </a:r>
            <a:br>
              <a:rPr lang="en-US" dirty="0"/>
            </a:br>
            <a:endParaRPr lang="en-IN" dirty="0"/>
          </a:p>
        </p:txBody>
      </p:sp>
      <p:sp>
        <p:nvSpPr>
          <p:cNvPr id="3" name="Content Placeholder 2"/>
          <p:cNvSpPr>
            <a:spLocks noGrp="1"/>
          </p:cNvSpPr>
          <p:nvPr>
            <p:ph idx="1"/>
          </p:nvPr>
        </p:nvSpPr>
        <p:spPr>
          <a:xfrm>
            <a:off x="457200" y="775856"/>
            <a:ext cx="8229600" cy="5985162"/>
          </a:xfrm>
        </p:spPr>
        <p:txBody>
          <a:bodyPr>
            <a:normAutofit fontScale="70000" lnSpcReduction="20000"/>
          </a:bodyPr>
          <a:lstStyle/>
          <a:p>
            <a:r>
              <a:rPr lang="en-US" b="1" dirty="0" smtClean="0"/>
              <a:t>Searching </a:t>
            </a:r>
            <a:r>
              <a:rPr lang="en-US" b="1" dirty="0"/>
              <a:t>a record</a:t>
            </a:r>
            <a:endParaRPr lang="en-US" dirty="0"/>
          </a:p>
          <a:p>
            <a:r>
              <a:rPr lang="en-US" dirty="0"/>
              <a:t>When a record needs to be searched, then the same hash function retrieves the address of the bucket where the data is stored.</a:t>
            </a:r>
          </a:p>
          <a:p>
            <a:r>
              <a:rPr lang="en-US" b="1" dirty="0"/>
              <a:t>Insert a Record</a:t>
            </a:r>
            <a:endParaRPr lang="en-US" dirty="0"/>
          </a:p>
          <a:p>
            <a:r>
              <a:rPr lang="en-US" dirty="0"/>
              <a:t>When a new record is inserted into the table, then we will generate an address for a new record based on the hash key and record is stored in that location.</a:t>
            </a:r>
          </a:p>
          <a:p>
            <a:r>
              <a:rPr lang="en-US" b="1" dirty="0"/>
              <a:t>Delete a Record</a:t>
            </a:r>
            <a:endParaRPr lang="en-US" dirty="0"/>
          </a:p>
          <a:p>
            <a:r>
              <a:rPr lang="en-US" dirty="0"/>
              <a:t>To delete a record, we will first fetch the record which is supposed to be deleted. Then we will delete the records for that address in memory.</a:t>
            </a:r>
          </a:p>
          <a:p>
            <a:r>
              <a:rPr lang="en-US" b="1" dirty="0"/>
              <a:t>Update a Record</a:t>
            </a:r>
            <a:endParaRPr lang="en-US" dirty="0"/>
          </a:p>
          <a:p>
            <a:r>
              <a:rPr lang="en-US" dirty="0"/>
              <a:t>To update a record, we will first search it using a hash function, and then the data record is updated.</a:t>
            </a:r>
          </a:p>
          <a:p>
            <a:r>
              <a:rPr lang="en-US" dirty="0"/>
              <a:t>If we want to insert some new record into the file but the address of a data bucket generated by the hash function is not empty, or data already exists in that address. This situation in the static hashing is known as </a:t>
            </a:r>
            <a:r>
              <a:rPr lang="en-US" b="1" dirty="0"/>
              <a:t>bucket overflow</a:t>
            </a:r>
            <a:r>
              <a:rPr lang="en-US" dirty="0"/>
              <a:t>. This is a critical situation in this method.</a:t>
            </a:r>
          </a:p>
          <a:p>
            <a:endParaRPr lang="en-IN" dirty="0"/>
          </a:p>
        </p:txBody>
      </p:sp>
    </p:spTree>
    <p:extLst>
      <p:ext uri="{BB962C8B-B14F-4D97-AF65-F5344CB8AC3E}">
        <p14:creationId xmlns:p14="http://schemas.microsoft.com/office/powerpoint/2010/main" val="233057458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1114425" y="2659221"/>
          <a:ext cx="6915150" cy="2407920"/>
        </p:xfrm>
        <a:graphic>
          <a:graphicData uri="http://schemas.openxmlformats.org/drawingml/2006/table">
            <a:tbl>
              <a:tblPr/>
              <a:tblGrid>
                <a:gridCol w="2305050">
                  <a:extLst>
                    <a:ext uri="{9D8B030D-6E8A-4147-A177-3AD203B41FA5}">
                      <a16:colId xmlns:a16="http://schemas.microsoft.com/office/drawing/2014/main" val="741966963"/>
                    </a:ext>
                  </a:extLst>
                </a:gridCol>
                <a:gridCol w="2305050">
                  <a:extLst>
                    <a:ext uri="{9D8B030D-6E8A-4147-A177-3AD203B41FA5}">
                      <a16:colId xmlns:a16="http://schemas.microsoft.com/office/drawing/2014/main" val="1114900297"/>
                    </a:ext>
                  </a:extLst>
                </a:gridCol>
                <a:gridCol w="2305050">
                  <a:extLst>
                    <a:ext uri="{9D8B030D-6E8A-4147-A177-3AD203B41FA5}">
                      <a16:colId xmlns:a16="http://schemas.microsoft.com/office/drawing/2014/main" val="2363081504"/>
                    </a:ext>
                  </a:extLst>
                </a:gridCol>
              </a:tblGrid>
              <a:tr h="0">
                <a:tc>
                  <a:txBody>
                    <a:bodyPr/>
                    <a:lstStyle/>
                    <a:p>
                      <a:pPr algn="ctr" fontAlgn="t"/>
                      <a:r>
                        <a:rPr lang="en-IN" b="1">
                          <a:solidFill>
                            <a:srgbClr val="000000"/>
                          </a:solidFill>
                          <a:effectLst/>
                        </a:rPr>
                        <a:t>Key</a:t>
                      </a:r>
                      <a:endParaRPr lang="en-IN" b="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t"/>
                      <a:r>
                        <a:rPr lang="en-IN" b="1">
                          <a:solidFill>
                            <a:srgbClr val="000000"/>
                          </a:solidFill>
                          <a:effectLst/>
                        </a:rPr>
                        <a:t>Function</a:t>
                      </a:r>
                      <a:endParaRPr lang="en-IN" b="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t"/>
                      <a:r>
                        <a:rPr lang="en-IN" b="1">
                          <a:solidFill>
                            <a:srgbClr val="000000"/>
                          </a:solidFill>
                          <a:effectLst/>
                        </a:rPr>
                        <a:t>Value</a:t>
                      </a:r>
                      <a:endParaRPr lang="en-IN" b="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95128136"/>
                  </a:ext>
                </a:extLst>
              </a:tr>
              <a:tr h="0">
                <a:tc>
                  <a:txBody>
                    <a:bodyPr/>
                    <a:lstStyle/>
                    <a:p>
                      <a:pPr algn="ctr" fontAlgn="t"/>
                      <a:r>
                        <a:rPr lang="en-IN" b="0">
                          <a:solidFill>
                            <a:srgbClr val="000000"/>
                          </a:solidFill>
                          <a:effectLst/>
                        </a:rPr>
                        <a:t>17</a:t>
                      </a:r>
                      <a:endParaRPr lang="en-IN" b="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t"/>
                      <a:r>
                        <a:rPr lang="en-IN" b="0">
                          <a:solidFill>
                            <a:srgbClr val="000000"/>
                          </a:solidFill>
                          <a:effectLst/>
                        </a:rPr>
                        <a:t>17 % 10 = 7</a:t>
                      </a:r>
                      <a:endParaRPr lang="en-IN" b="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t"/>
                      <a:r>
                        <a:rPr lang="en-IN" b="0">
                          <a:solidFill>
                            <a:srgbClr val="000000"/>
                          </a:solidFill>
                          <a:effectLst/>
                        </a:rPr>
                        <a:t>7</a:t>
                      </a:r>
                      <a:endParaRPr lang="en-IN" b="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10517907"/>
                  </a:ext>
                </a:extLst>
              </a:tr>
              <a:tr h="0">
                <a:tc>
                  <a:txBody>
                    <a:bodyPr/>
                    <a:lstStyle/>
                    <a:p>
                      <a:pPr algn="ctr" fontAlgn="t"/>
                      <a:r>
                        <a:rPr lang="en-IN" b="0">
                          <a:solidFill>
                            <a:srgbClr val="000000"/>
                          </a:solidFill>
                          <a:effectLst/>
                        </a:rPr>
                        <a:t>23</a:t>
                      </a:r>
                      <a:endParaRPr lang="en-IN" b="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t"/>
                      <a:r>
                        <a:rPr lang="en-IN" b="0">
                          <a:solidFill>
                            <a:srgbClr val="000000"/>
                          </a:solidFill>
                          <a:effectLst/>
                        </a:rPr>
                        <a:t>23 % 10 = 3</a:t>
                      </a:r>
                      <a:endParaRPr lang="en-IN" b="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t"/>
                      <a:r>
                        <a:rPr lang="en-IN" b="0">
                          <a:solidFill>
                            <a:srgbClr val="000000"/>
                          </a:solidFill>
                          <a:effectLst/>
                        </a:rPr>
                        <a:t>3</a:t>
                      </a:r>
                      <a:endParaRPr lang="en-IN" b="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47667137"/>
                  </a:ext>
                </a:extLst>
              </a:tr>
              <a:tr h="0">
                <a:tc>
                  <a:txBody>
                    <a:bodyPr/>
                    <a:lstStyle/>
                    <a:p>
                      <a:pPr algn="ctr" fontAlgn="t"/>
                      <a:r>
                        <a:rPr lang="en-IN" b="0">
                          <a:solidFill>
                            <a:srgbClr val="000000"/>
                          </a:solidFill>
                          <a:effectLst/>
                        </a:rPr>
                        <a:t>34</a:t>
                      </a:r>
                      <a:endParaRPr lang="en-IN" b="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t"/>
                      <a:r>
                        <a:rPr lang="en-IN" b="0">
                          <a:solidFill>
                            <a:srgbClr val="000000"/>
                          </a:solidFill>
                          <a:effectLst/>
                        </a:rPr>
                        <a:t>34 % 10 = 4</a:t>
                      </a:r>
                      <a:endParaRPr lang="en-IN" b="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t"/>
                      <a:r>
                        <a:rPr lang="en-IN" b="0">
                          <a:solidFill>
                            <a:srgbClr val="000000"/>
                          </a:solidFill>
                          <a:effectLst/>
                        </a:rPr>
                        <a:t>4</a:t>
                      </a:r>
                      <a:endParaRPr lang="en-IN" b="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89992099"/>
                  </a:ext>
                </a:extLst>
              </a:tr>
              <a:tr h="0">
                <a:tc>
                  <a:txBody>
                    <a:bodyPr/>
                    <a:lstStyle/>
                    <a:p>
                      <a:pPr algn="ctr" fontAlgn="t"/>
                      <a:r>
                        <a:rPr lang="en-IN" b="0">
                          <a:solidFill>
                            <a:srgbClr val="000000"/>
                          </a:solidFill>
                          <a:effectLst/>
                        </a:rPr>
                        <a:t>51</a:t>
                      </a:r>
                      <a:endParaRPr lang="en-IN" b="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t"/>
                      <a:r>
                        <a:rPr lang="en-IN" b="0">
                          <a:solidFill>
                            <a:srgbClr val="000000"/>
                          </a:solidFill>
                          <a:effectLst/>
                        </a:rPr>
                        <a:t>51 % 10 = 1</a:t>
                      </a:r>
                      <a:endParaRPr lang="en-IN" b="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t"/>
                      <a:r>
                        <a:rPr lang="en-IN" b="0">
                          <a:solidFill>
                            <a:srgbClr val="000000"/>
                          </a:solidFill>
                          <a:effectLst/>
                        </a:rPr>
                        <a:t>1</a:t>
                      </a:r>
                      <a:endParaRPr lang="en-IN" b="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51126182"/>
                  </a:ext>
                </a:extLst>
              </a:tr>
              <a:tr h="0">
                <a:tc>
                  <a:txBody>
                    <a:bodyPr/>
                    <a:lstStyle/>
                    <a:p>
                      <a:pPr algn="ctr" fontAlgn="t"/>
                      <a:r>
                        <a:rPr lang="en-IN" b="0">
                          <a:solidFill>
                            <a:srgbClr val="000000"/>
                          </a:solidFill>
                          <a:effectLst/>
                        </a:rPr>
                        <a:t>67</a:t>
                      </a:r>
                      <a:endParaRPr lang="en-IN" b="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t"/>
                      <a:r>
                        <a:rPr lang="en-IN" b="0" dirty="0">
                          <a:solidFill>
                            <a:srgbClr val="000000"/>
                          </a:solidFill>
                          <a:effectLst/>
                        </a:rPr>
                        <a:t>67 % 10 = 7</a:t>
                      </a:r>
                      <a:endParaRPr lang="en-IN" b="0"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t"/>
                      <a:r>
                        <a:rPr lang="en-IN" b="0" dirty="0">
                          <a:solidFill>
                            <a:srgbClr val="000000"/>
                          </a:solidFill>
                          <a:effectLst/>
                        </a:rPr>
                        <a:t>7</a:t>
                      </a:r>
                      <a:endParaRPr lang="en-IN" b="0"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73638289"/>
                  </a:ext>
                </a:extLst>
              </a:tr>
            </a:tbl>
          </a:graphicData>
        </a:graphic>
      </p:graphicFrame>
      <p:sp>
        <p:nvSpPr>
          <p:cNvPr id="6" name="Rectangle 1"/>
          <p:cNvSpPr>
            <a:spLocks noGrp="1" noChangeArrowheads="1"/>
          </p:cNvSpPr>
          <p:nvPr>
            <p:ph type="title"/>
          </p:nvPr>
        </p:nvSpPr>
        <p:spPr bwMode="auto">
          <a:xfrm>
            <a:off x="457200" y="153641"/>
            <a:ext cx="8229600" cy="138499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rgbClr val="000000"/>
                </a:solidFill>
                <a:effectLst/>
                <a:latin typeface="Mulish"/>
              </a:rPr>
              <a:t>Consider a hash function: </a:t>
            </a:r>
            <a:r>
              <a:rPr kumimoji="0" lang="en-US" altLang="en-US" sz="1800" b="1" i="0" u="none" strike="noStrike" cap="none" normalizeH="0" baseline="0" dirty="0" smtClean="0">
                <a:ln>
                  <a:noFill/>
                </a:ln>
                <a:solidFill>
                  <a:srgbClr val="000000"/>
                </a:solidFill>
                <a:effectLst/>
                <a:latin typeface="Mulish"/>
              </a:rPr>
              <a:t>Y = K % N, </a:t>
            </a:r>
            <a:r>
              <a:rPr kumimoji="0" lang="en-US" altLang="en-US" sz="1800" b="0" i="0" u="none" strike="noStrike" cap="none" normalizeH="0" baseline="0" dirty="0" smtClean="0">
                <a:ln>
                  <a:noFill/>
                </a:ln>
                <a:solidFill>
                  <a:srgbClr val="000000"/>
                </a:solidFill>
                <a:effectLst/>
                <a:latin typeface="Mulish"/>
              </a:rPr>
              <a:t>where ‘K’ is a key, ‘N’ is the size of the hash table, and ‘Y’ is the generated value.</a:t>
            </a:r>
            <a:endParaRPr kumimoji="0" lang="en-US" altLang="en-US" sz="18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rgbClr val="000000"/>
                </a:solidFill>
                <a:effectLst/>
                <a:latin typeface="Mulish"/>
              </a:rPr>
              <a:t>Let us suppose the size of the hash table is 10. In that case, the values will be generated in the following ways.</a:t>
            </a:r>
            <a:endParaRPr kumimoji="0" lang="en-US" altLang="en-US" sz="18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rgbClr val="000000"/>
                </a:solidFill>
                <a:effectLst/>
                <a:latin typeface="Mulish"/>
              </a:rPr>
              <a:t>(Also see, </a:t>
            </a:r>
            <a:r>
              <a:rPr kumimoji="0" lang="en-US" altLang="en-US" sz="1800" b="0" i="0" u="none" strike="noStrike" cap="none" normalizeH="0" baseline="0" dirty="0" smtClean="0">
                <a:ln>
                  <a:noFill/>
                </a:ln>
                <a:solidFill>
                  <a:srgbClr val="1155CC"/>
                </a:solidFill>
                <a:effectLst/>
                <a:latin typeface="Mulish"/>
                <a:hlinkClick r:id="rId2"/>
              </a:rPr>
              <a:t>Index Mapping</a:t>
            </a:r>
            <a:r>
              <a:rPr kumimoji="0" lang="en-US" altLang="en-US" sz="1800" b="0" i="0" u="none" strike="noStrike" cap="none" normalizeH="0" baseline="0" dirty="0" smtClean="0">
                <a:ln>
                  <a:noFill/>
                </a:ln>
                <a:solidFill>
                  <a:srgbClr val="000000"/>
                </a:solidFill>
                <a:effectLst/>
                <a:latin typeface="Mulish"/>
              </a:rPr>
              <a:t>)</a:t>
            </a:r>
            <a:endParaRPr kumimoji="0" lang="en-US" altLang="en-US" sz="1800" b="0" i="0" u="none" strike="noStrike" cap="none" normalizeH="0" baseline="0" dirty="0" smtClean="0">
              <a:ln>
                <a:noFill/>
              </a:ln>
              <a:solidFill>
                <a:schemeClr val="tx1"/>
              </a:solidFill>
              <a:effectLst/>
            </a:endParaRPr>
          </a:p>
        </p:txBody>
      </p:sp>
    </p:spTree>
    <p:extLst>
      <p:ext uri="{BB962C8B-B14F-4D97-AF65-F5344CB8AC3E}">
        <p14:creationId xmlns:p14="http://schemas.microsoft.com/office/powerpoint/2010/main" val="97683993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47500" lnSpcReduction="20000"/>
          </a:bodyPr>
          <a:lstStyle/>
          <a:p>
            <a:r>
              <a:rPr lang="en-US" b="1" dirty="0"/>
              <a:t>Hash Table in Data Structure</a:t>
            </a:r>
          </a:p>
          <a:p>
            <a:r>
              <a:rPr lang="en-US" dirty="0"/>
              <a:t>A hash table is a data structure that efficiently stores and retrieves key-value pairs using a hash function to compute an index for each key. The key-value pairs are stored in an underlying array, with the hash function determining the index for each key. When multiple keys map to the same index (collisions), they are resolved with the help of techniques like chaining or open addressing. Hash tables provide fast average-case complexity (O(1)) for insertion, deletion, and searching operations, making them efficient for large datasets. However, the worst-case complexity can be O(n) if there are many collisions or a poor hash function. Hash tables are used for implementing caches, symbol tables, and dictionaries.</a:t>
            </a:r>
          </a:p>
          <a:p>
            <a:r>
              <a:rPr lang="en-US" b="1" dirty="0"/>
              <a:t>What is a Hash Collision?</a:t>
            </a:r>
          </a:p>
          <a:p>
            <a:r>
              <a:rPr lang="en-US" dirty="0"/>
              <a:t>A hash collision, or simply a collision, occurs in a hash table when two or more distinct keys map to the same hash value or index in the underlying array. In other words, the hash function generates the same hash code for different keys, causing them to be stored at the same location in the hash table.</a:t>
            </a:r>
          </a:p>
          <a:p>
            <a:r>
              <a:rPr lang="en-US" dirty="0"/>
              <a:t>Collisions are a common problem in hash tables because it is generally impossible to design a perfect hash function that avoids collisions entirely, especially when the number of possible keys is much larger than the size of the hash table.</a:t>
            </a:r>
          </a:p>
          <a:p>
            <a:r>
              <a:rPr lang="en-US" dirty="0"/>
              <a:t>When a collision happens, it needs to be resolved to maintain the integrity and efficiency of the hash table</a:t>
            </a:r>
          </a:p>
        </p:txBody>
      </p:sp>
    </p:spTree>
    <p:extLst>
      <p:ext uri="{BB962C8B-B14F-4D97-AF65-F5344CB8AC3E}">
        <p14:creationId xmlns:p14="http://schemas.microsoft.com/office/powerpoint/2010/main" val="128946249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t>Linear Probing </a:t>
            </a:r>
            <a:br>
              <a:rPr lang="en-US" dirty="0"/>
            </a:br>
            <a:r>
              <a:rPr lang="en-US" sz="2000" dirty="0"/>
              <a:t>Whenever a collision occurs, we try to find a new empty location for the key down the hash table. Whenever we </a:t>
            </a:r>
            <a:r>
              <a:rPr lang="en-US" sz="1300" dirty="0"/>
              <a:t>find an empty location, we store the key on that location.</a:t>
            </a:r>
            <a:endParaRPr lang="en-IN" sz="1300"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199" y="1600200"/>
            <a:ext cx="8049491" cy="5049982"/>
          </a:xfrm>
        </p:spPr>
      </p:pic>
    </p:spTree>
    <p:extLst>
      <p:ext uri="{BB962C8B-B14F-4D97-AF65-F5344CB8AC3E}">
        <p14:creationId xmlns:p14="http://schemas.microsoft.com/office/powerpoint/2010/main" val="368127255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76300" y="1653381"/>
            <a:ext cx="7391400" cy="4419600"/>
          </a:xfrm>
        </p:spPr>
      </p:pic>
    </p:spTree>
    <p:extLst>
      <p:ext uri="{BB962C8B-B14F-4D97-AF65-F5344CB8AC3E}">
        <p14:creationId xmlns:p14="http://schemas.microsoft.com/office/powerpoint/2010/main" val="274420758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95362" y="1820069"/>
            <a:ext cx="7153275" cy="4086225"/>
          </a:xfrm>
        </p:spPr>
      </p:pic>
    </p:spTree>
    <p:extLst>
      <p:ext uri="{BB962C8B-B14F-4D97-AF65-F5344CB8AC3E}">
        <p14:creationId xmlns:p14="http://schemas.microsoft.com/office/powerpoint/2010/main" val="371460667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7500" lnSpcReduction="20000"/>
          </a:bodyPr>
          <a:lstStyle/>
          <a:p>
            <a:r>
              <a:rPr lang="en-US" dirty="0"/>
              <a:t>Here's a more detailed explanation:</a:t>
            </a:r>
          </a:p>
          <a:p>
            <a:r>
              <a:rPr lang="en-US" dirty="0"/>
              <a:t>What it is: RAID combines multiple physical hard drives (or SSDs) into a single logical unit, allowing for data striping and/or mirroring to enhance performance and/or data protection. </a:t>
            </a:r>
          </a:p>
          <a:p>
            <a:r>
              <a:rPr lang="en-US" dirty="0"/>
              <a:t>Benefits:</a:t>
            </a:r>
          </a:p>
          <a:p>
            <a:r>
              <a:rPr lang="en-US" dirty="0"/>
              <a:t>Increased Performance: By distributing data across multiple drives, RAID can improve read and write speeds. </a:t>
            </a:r>
          </a:p>
          <a:p>
            <a:r>
              <a:rPr lang="en-US" dirty="0"/>
              <a:t>Data Redundancy and Protection: RAID levels offer different levels of data redundancy, ensuring data recovery in case of drive failure. </a:t>
            </a:r>
          </a:p>
          <a:p>
            <a:r>
              <a:rPr lang="en-US" dirty="0"/>
              <a:t>Fault Tolerance: RAID systems can continue to operate even if one or more drives fail, depending on the RAID level. </a:t>
            </a:r>
          </a:p>
        </p:txBody>
      </p:sp>
    </p:spTree>
    <p:extLst>
      <p:ext uri="{BB962C8B-B14F-4D97-AF65-F5344CB8AC3E}">
        <p14:creationId xmlns:p14="http://schemas.microsoft.com/office/powerpoint/2010/main" val="3602013154"/>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just"/>
            <a:r>
              <a:rPr lang="en-US" sz="1600" dirty="0"/>
              <a:t>RAID devices use different versions called levels. The original paper that coined the term and developed the RAID setup concept defined six levels of RAID -- 0 through 5. This numbered system differentiated the capabilities of the RAID versions. The number of levels has since expanded and has been broken into three categories: standard, nested and nonstandard RAID levels.</a:t>
            </a:r>
            <a:endParaRPr lang="en-IN" sz="1600" dirty="0"/>
          </a:p>
        </p:txBody>
      </p:sp>
      <p:sp>
        <p:nvSpPr>
          <p:cNvPr id="3" name="Content Placeholder 2"/>
          <p:cNvSpPr>
            <a:spLocks noGrp="1"/>
          </p:cNvSpPr>
          <p:nvPr>
            <p:ph idx="1"/>
          </p:nvPr>
        </p:nvSpPr>
        <p:spPr>
          <a:xfrm>
            <a:off x="457200" y="1537855"/>
            <a:ext cx="8229600" cy="5320145"/>
          </a:xfrm>
        </p:spPr>
        <p:txBody>
          <a:bodyPr numCol="2">
            <a:normAutofit fontScale="55000" lnSpcReduction="20000"/>
          </a:bodyPr>
          <a:lstStyle/>
          <a:p>
            <a:pPr algn="just"/>
            <a:r>
              <a:rPr lang="en-US" dirty="0"/>
              <a:t>RAID Levels: There are various RAID levels, each with its own strengths and weaknesses:</a:t>
            </a:r>
          </a:p>
          <a:p>
            <a:pPr algn="just"/>
            <a:r>
              <a:rPr lang="en-US" dirty="0"/>
              <a:t>RAID 0 (Striping): Focuses on performance by distributing data across multiple drives without redundancy. If one drive fails, all data is lost. </a:t>
            </a:r>
          </a:p>
          <a:p>
            <a:pPr algn="just"/>
            <a:r>
              <a:rPr lang="en-US" dirty="0"/>
              <a:t>RAID 1 (Mirroring): Duplicates data across multiple drives, providing high redundancy and fault tolerance. If one drive fails, the data is still available on the other mirrored drive. </a:t>
            </a:r>
          </a:p>
          <a:p>
            <a:pPr algn="just"/>
            <a:r>
              <a:rPr lang="en-US" dirty="0"/>
              <a:t>RAID 5 (Striping with Distributed Parity): Combines data striping with parity information distributed across multiple drives, providing both performance and redundancy. </a:t>
            </a:r>
          </a:p>
          <a:p>
            <a:pPr algn="just"/>
            <a:r>
              <a:rPr lang="en-US" dirty="0"/>
              <a:t>RAID 10 (Mirrored Striping): Combines RAID 1 and RAID 0, offering both redundancy and performance. </a:t>
            </a:r>
          </a:p>
          <a:p>
            <a:pPr algn="just"/>
            <a:r>
              <a:rPr lang="en-US" dirty="0"/>
              <a:t>Hardware vs. Software RAID:</a:t>
            </a:r>
          </a:p>
          <a:p>
            <a:pPr algn="just"/>
            <a:r>
              <a:rPr lang="en-US" dirty="0"/>
              <a:t>Hardware RAID: Uses a dedicated RAID controller card to manage the array, offering better performance and reliability. </a:t>
            </a:r>
          </a:p>
          <a:p>
            <a:pPr algn="just"/>
            <a:r>
              <a:rPr lang="en-US" dirty="0"/>
              <a:t>Software RAID: Implemented by the operating system, requiring less hardware but potentially impacting system performance. </a:t>
            </a:r>
          </a:p>
          <a:p>
            <a:pPr algn="just"/>
            <a:r>
              <a:rPr lang="en-US" dirty="0"/>
              <a:t>RAID 6 (Double Parity): Offers even higher redundancy than RAID 5, allowing for the failure of two disks without data loss. </a:t>
            </a:r>
          </a:p>
          <a:p>
            <a:pPr algn="just"/>
            <a:r>
              <a:rPr lang="en-US" dirty="0"/>
              <a:t>RAID 3: Uses a dedicated parity disk for data redundancy. </a:t>
            </a:r>
          </a:p>
          <a:p>
            <a:pPr algn="just"/>
            <a:r>
              <a:rPr lang="en-US" dirty="0"/>
              <a:t>RAID 4: Uses a dedicated parity disk for data redundancy. </a:t>
            </a:r>
            <a:endParaRPr lang="en-US" dirty="0" smtClean="0"/>
          </a:p>
          <a:p>
            <a:pPr algn="just"/>
            <a:endParaRPr lang="en-US" dirty="0"/>
          </a:p>
          <a:p>
            <a:pPr algn="just"/>
            <a:r>
              <a:rPr lang="en-IN" b="1" i="1" dirty="0"/>
              <a:t>https://www.techtarget.com/searchstorage/definition/RAID</a:t>
            </a:r>
          </a:p>
          <a:p>
            <a:pPr algn="just"/>
            <a:endParaRPr lang="en-IN" dirty="0"/>
          </a:p>
        </p:txBody>
      </p:sp>
    </p:spTree>
    <p:extLst>
      <p:ext uri="{BB962C8B-B14F-4D97-AF65-F5344CB8AC3E}">
        <p14:creationId xmlns:p14="http://schemas.microsoft.com/office/powerpoint/2010/main" val="397373794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1" y="1417638"/>
            <a:ext cx="7980218" cy="5204835"/>
          </a:xfrm>
        </p:spPr>
      </p:pic>
    </p:spTree>
    <p:extLst>
      <p:ext uri="{BB962C8B-B14F-4D97-AF65-F5344CB8AC3E}">
        <p14:creationId xmlns:p14="http://schemas.microsoft.com/office/powerpoint/2010/main" val="200654079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417638"/>
            <a:ext cx="7000875" cy="1352550"/>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2760663"/>
            <a:ext cx="7410450" cy="2305050"/>
          </a:xfrm>
          <a:prstGeom prst="rect">
            <a:avLst/>
          </a:prstGeom>
        </p:spPr>
      </p:pic>
    </p:spTree>
    <p:extLst>
      <p:ext uri="{BB962C8B-B14F-4D97-AF65-F5344CB8AC3E}">
        <p14:creationId xmlns:p14="http://schemas.microsoft.com/office/powerpoint/2010/main" val="52223503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70489"/>
          </a:xfrm>
        </p:spPr>
        <p:txBody>
          <a:bodyPr>
            <a:normAutofit fontScale="90000"/>
          </a:bodyPr>
          <a:lstStyle/>
          <a:p>
            <a:r>
              <a:rPr lang="en-US" dirty="0"/>
              <a:t>File organization</a:t>
            </a:r>
            <a:endParaRPr lang="en-IN" dirty="0"/>
          </a:p>
        </p:txBody>
      </p:sp>
      <p:sp>
        <p:nvSpPr>
          <p:cNvPr id="3" name="Content Placeholder 2"/>
          <p:cNvSpPr>
            <a:spLocks noGrp="1"/>
          </p:cNvSpPr>
          <p:nvPr>
            <p:ph idx="1"/>
          </p:nvPr>
        </p:nvSpPr>
        <p:spPr>
          <a:xfrm>
            <a:off x="457200" y="845128"/>
            <a:ext cx="8229600" cy="5694218"/>
          </a:xfrm>
        </p:spPr>
        <p:txBody>
          <a:bodyPr numCol="2">
            <a:normAutofit fontScale="47500" lnSpcReduction="20000"/>
          </a:bodyPr>
          <a:lstStyle/>
          <a:p>
            <a:pPr algn="just"/>
            <a:r>
              <a:rPr lang="en-US" dirty="0" smtClean="0"/>
              <a:t>File organization and </a:t>
            </a:r>
            <a:r>
              <a:rPr lang="en-US" dirty="0"/>
              <a:t>indexing are fundamental concepts in database management systems (DBMS) that deal with efficient storage, retrieval, and management of data.</a:t>
            </a:r>
          </a:p>
          <a:p>
            <a:pPr algn="just"/>
            <a:r>
              <a:rPr lang="en-US" b="1" dirty="0"/>
              <a:t>File Organization</a:t>
            </a:r>
          </a:p>
          <a:p>
            <a:pPr algn="just"/>
            <a:r>
              <a:rPr lang="en-US" dirty="0"/>
              <a:t>File organization refers to the arrangement of data on storage devices. The method chosen can have a profound effect on the efficiency of various database operations.</a:t>
            </a:r>
          </a:p>
          <a:p>
            <a:pPr algn="just"/>
            <a:r>
              <a:rPr lang="en-US" b="1" dirty="0"/>
              <a:t>Common methods of file organization </a:t>
            </a:r>
            <a:r>
              <a:rPr lang="en-US" b="1" dirty="0" err="1"/>
              <a:t>include:Sequential</a:t>
            </a:r>
            <a:r>
              <a:rPr lang="en-US" b="1" dirty="0"/>
              <a:t> (or Serial) File Organization</a:t>
            </a:r>
          </a:p>
          <a:p>
            <a:pPr algn="just"/>
            <a:r>
              <a:rPr lang="en-US" dirty="0"/>
              <a:t>In sequential file organization, records are stored in sequence, one after the other, based on a key field. This key field is a unique identifier for records, ensuring that they have some order. The records are inserted at the end of the file, ensuring the sequence is maintained.</a:t>
            </a:r>
          </a:p>
          <a:p>
            <a:pPr algn="just"/>
            <a:r>
              <a:rPr lang="en-US" b="1" dirty="0"/>
              <a:t>Features of Sequential File Organization</a:t>
            </a:r>
          </a:p>
          <a:p>
            <a:pPr algn="just"/>
            <a:r>
              <a:rPr lang="en-US" b="1" dirty="0"/>
              <a:t>Ordered Records:</a:t>
            </a:r>
            <a:r>
              <a:rPr lang="en-US" dirty="0"/>
              <a:t> Records in a sequential file are stored based on a key field.</a:t>
            </a:r>
          </a:p>
          <a:p>
            <a:pPr algn="just"/>
            <a:r>
              <a:rPr lang="en-US" b="1" dirty="0"/>
              <a:t>Continuous Memory Allocation:</a:t>
            </a:r>
            <a:r>
              <a:rPr lang="en-US" dirty="0"/>
              <a:t> The records are stored in contiguous memory locations.</a:t>
            </a:r>
          </a:p>
          <a:p>
            <a:pPr algn="just"/>
            <a:r>
              <a:rPr lang="en-US" b="1" dirty="0"/>
              <a:t>No Direct Access</a:t>
            </a:r>
            <a:r>
              <a:rPr lang="en-US" dirty="0"/>
              <a:t>: To access a record, you have to traverse from the first record until you find the desired one.</a:t>
            </a:r>
          </a:p>
          <a:p>
            <a:pPr algn="just"/>
            <a:r>
              <a:rPr lang="en-US" b="1" dirty="0"/>
              <a:t>Advantages Sequential File Organization</a:t>
            </a:r>
          </a:p>
          <a:p>
            <a:pPr algn="just"/>
            <a:r>
              <a:rPr lang="en-US" b="1" dirty="0"/>
              <a:t>Simplicity:</a:t>
            </a:r>
            <a:r>
              <a:rPr lang="en-US" dirty="0"/>
              <a:t> The design and logic behind sequential file organization are straightforward.</a:t>
            </a:r>
          </a:p>
          <a:p>
            <a:pPr algn="just"/>
            <a:r>
              <a:rPr lang="en-US" b="1" dirty="0"/>
              <a:t>Efficient for Batch Processing:</a:t>
            </a:r>
            <a:r>
              <a:rPr lang="en-US" dirty="0"/>
              <a:t> Since records are stored in sequence, sequential processing (like batch updates) can be done efficiently.</a:t>
            </a:r>
          </a:p>
          <a:p>
            <a:pPr algn="just"/>
            <a:r>
              <a:rPr lang="en-US" b="1" dirty="0"/>
              <a:t>Less Overhead:</a:t>
            </a:r>
            <a:r>
              <a:rPr lang="en-US" dirty="0"/>
              <a:t> There's no need for complex algorithms or mechanisms to store records.</a:t>
            </a:r>
          </a:p>
          <a:p>
            <a:pPr algn="just"/>
            <a:r>
              <a:rPr lang="en-US" b="1" dirty="0"/>
              <a:t>Disadvantages Sequential File Organization</a:t>
            </a:r>
          </a:p>
          <a:p>
            <a:pPr algn="just"/>
            <a:r>
              <a:rPr lang="en-US" dirty="0"/>
              <a:t>Inefficient for Random Access**: If you need a specific record, you may have to go through many records before finding the desired one. This makes random access slow.</a:t>
            </a:r>
          </a:p>
          <a:p>
            <a:pPr algn="just"/>
            <a:r>
              <a:rPr lang="en-US" dirty="0"/>
              <a:t>Insertion and Deletion**: Inserting or deleting a record (other than at the end) can be time-consuming since you may need to shift records to maintain the order.</a:t>
            </a:r>
          </a:p>
          <a:p>
            <a:pPr algn="just"/>
            <a:r>
              <a:rPr lang="en-US" dirty="0"/>
              <a:t>Redundancy Issues**: There's a risk of redundancy if checks are not made before inserting records. For example, a record with the same key might get added twice if not checked.</a:t>
            </a:r>
          </a:p>
          <a:p>
            <a:pPr algn="just"/>
            <a:endParaRPr lang="en-IN" dirty="0"/>
          </a:p>
        </p:txBody>
      </p:sp>
    </p:spTree>
    <p:extLst>
      <p:ext uri="{BB962C8B-B14F-4D97-AF65-F5344CB8AC3E}">
        <p14:creationId xmlns:p14="http://schemas.microsoft.com/office/powerpoint/2010/main" val="119868932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64453"/>
          </a:xfrm>
        </p:spPr>
        <p:txBody>
          <a:bodyPr>
            <a:normAutofit fontScale="90000"/>
          </a:bodyPr>
          <a:lstStyle/>
          <a:p>
            <a:r>
              <a:rPr lang="en-US" b="1" dirty="0" smtClean="0"/>
              <a:t/>
            </a:r>
            <a:br>
              <a:rPr lang="en-US" b="1" dirty="0" smtClean="0"/>
            </a:br>
            <a:r>
              <a:rPr lang="en-US" b="1" dirty="0" smtClean="0"/>
              <a:t>Indexed </a:t>
            </a:r>
            <a:r>
              <a:rPr lang="en-US" b="1" dirty="0"/>
              <a:t>File Organization</a:t>
            </a:r>
            <a:br>
              <a:rPr lang="en-US" b="1" dirty="0"/>
            </a:br>
            <a:endParaRPr lang="en-IN" dirty="0"/>
          </a:p>
        </p:txBody>
      </p:sp>
      <p:sp>
        <p:nvSpPr>
          <p:cNvPr id="3" name="Content Placeholder 2"/>
          <p:cNvSpPr>
            <a:spLocks noGrp="1"/>
          </p:cNvSpPr>
          <p:nvPr>
            <p:ph idx="1"/>
          </p:nvPr>
        </p:nvSpPr>
        <p:spPr>
          <a:xfrm>
            <a:off x="457200" y="1039092"/>
            <a:ext cx="8229600" cy="5694218"/>
          </a:xfrm>
        </p:spPr>
        <p:txBody>
          <a:bodyPr>
            <a:normAutofit fontScale="62500" lnSpcReduction="20000"/>
          </a:bodyPr>
          <a:lstStyle/>
          <a:p>
            <a:r>
              <a:rPr lang="en-US" dirty="0" smtClean="0"/>
              <a:t>Indexed </a:t>
            </a:r>
            <a:r>
              <a:rPr lang="en-US" dirty="0"/>
              <a:t>file organization is a method used to store and retrieve data in databases. It is designed to provide quick random access to records based on key values. In this organization, an index is created which helps in achieving faster search and access times.</a:t>
            </a:r>
          </a:p>
          <a:p>
            <a:r>
              <a:rPr lang="en-US" b="1" dirty="0"/>
              <a:t>Features Indexed File Organization:</a:t>
            </a:r>
          </a:p>
          <a:p>
            <a:r>
              <a:rPr lang="en-US" b="1" dirty="0"/>
              <a:t>Primary Data File:</a:t>
            </a:r>
            <a:r>
              <a:rPr lang="en-US" dirty="0"/>
              <a:t> The actual database file where records are stored.</a:t>
            </a:r>
          </a:p>
          <a:p>
            <a:r>
              <a:rPr lang="en-US" b="1" dirty="0"/>
              <a:t>Index:</a:t>
            </a:r>
            <a:r>
              <a:rPr lang="en-US" dirty="0"/>
              <a:t> An auxiliary file that contains key values and pointers to the corresponding records in the data file.</a:t>
            </a:r>
          </a:p>
          <a:p>
            <a:r>
              <a:rPr lang="en-US" b="1" dirty="0"/>
              <a:t>Multi-level Index:</a:t>
            </a:r>
            <a:r>
              <a:rPr lang="en-US" dirty="0"/>
              <a:t> Sometimes, if the index becomes large, a secondary (or even tertiary) index can be created on the primary index to expedite searching further.</a:t>
            </a:r>
          </a:p>
          <a:p>
            <a:r>
              <a:rPr lang="en-US" b="1" dirty="0"/>
              <a:t>Advantages Indexed File Organization:</a:t>
            </a:r>
          </a:p>
          <a:p>
            <a:r>
              <a:rPr lang="en-US" b="1" dirty="0"/>
              <a:t>Quick Random Access:</a:t>
            </a:r>
            <a:r>
              <a:rPr lang="en-US" dirty="0"/>
              <a:t> Direct access to records is possible using the index.</a:t>
            </a:r>
          </a:p>
          <a:p>
            <a:r>
              <a:rPr lang="en-US" b="1" dirty="0"/>
              <a:t>Flexible Searches:</a:t>
            </a:r>
            <a:r>
              <a:rPr lang="en-US" dirty="0"/>
              <a:t> Since an index provides a mechanism to jump directly to records, different types of search operations (like range queries) can be efficiently supported.</a:t>
            </a:r>
          </a:p>
          <a:p>
            <a:r>
              <a:rPr lang="en-US" b="1" dirty="0"/>
              <a:t>Ordered Access:</a:t>
            </a:r>
            <a:r>
              <a:rPr lang="en-US" dirty="0"/>
              <a:t> If the primary file is ordered, then indexed file organization can support efficient sequential access too.</a:t>
            </a:r>
          </a:p>
          <a:p>
            <a:endParaRPr lang="en-IN" dirty="0"/>
          </a:p>
        </p:txBody>
      </p:sp>
    </p:spTree>
    <p:extLst>
      <p:ext uri="{BB962C8B-B14F-4D97-AF65-F5344CB8AC3E}">
        <p14:creationId xmlns:p14="http://schemas.microsoft.com/office/powerpoint/2010/main" val="168129683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42780"/>
          </a:xfrm>
        </p:spPr>
        <p:txBody>
          <a:bodyPr>
            <a:normAutofit fontScale="90000"/>
          </a:bodyPr>
          <a:lstStyle/>
          <a:p>
            <a:r>
              <a:rPr lang="en-US" b="1" dirty="0" smtClean="0"/>
              <a:t/>
            </a:r>
            <a:br>
              <a:rPr lang="en-US" b="1" dirty="0" smtClean="0"/>
            </a:br>
            <a:r>
              <a:rPr lang="en-US" b="1" dirty="0" smtClean="0"/>
              <a:t>Types </a:t>
            </a:r>
            <a:r>
              <a:rPr lang="en-US" b="1" dirty="0"/>
              <a:t>of Indexes:</a:t>
            </a:r>
            <a:br>
              <a:rPr lang="en-US" b="1" dirty="0"/>
            </a:br>
            <a:endParaRPr lang="en-IN" dirty="0"/>
          </a:p>
        </p:txBody>
      </p:sp>
      <p:sp>
        <p:nvSpPr>
          <p:cNvPr id="3" name="Content Placeholder 2"/>
          <p:cNvSpPr>
            <a:spLocks noGrp="1"/>
          </p:cNvSpPr>
          <p:nvPr>
            <p:ph idx="1"/>
          </p:nvPr>
        </p:nvSpPr>
        <p:spPr>
          <a:xfrm>
            <a:off x="457200" y="817418"/>
            <a:ext cx="8229600" cy="6040582"/>
          </a:xfrm>
        </p:spPr>
        <p:txBody>
          <a:bodyPr numCol="2">
            <a:normAutofit fontScale="47500" lnSpcReduction="20000"/>
          </a:bodyPr>
          <a:lstStyle/>
          <a:p>
            <a:pPr algn="just"/>
            <a:r>
              <a:rPr lang="en-US" b="1" dirty="0" smtClean="0"/>
              <a:t>Single-level </a:t>
            </a:r>
            <a:r>
              <a:rPr lang="en-US" b="1" dirty="0"/>
              <a:t>Index:</a:t>
            </a:r>
            <a:r>
              <a:rPr lang="en-US" dirty="0"/>
              <a:t> A single index table that contains pointers to the actual data records.</a:t>
            </a:r>
          </a:p>
          <a:p>
            <a:pPr algn="just"/>
            <a:r>
              <a:rPr lang="en-US" b="1" dirty="0"/>
              <a:t>Multi-level Index:</a:t>
            </a:r>
            <a:r>
              <a:rPr lang="en-US" dirty="0"/>
              <a:t> An index of indexes. This hierarchical approach reduces the number of accesses (disk I/O operations) required to find an entry.</a:t>
            </a:r>
          </a:p>
          <a:p>
            <a:pPr algn="just"/>
            <a:r>
              <a:rPr lang="en-US" b="1" dirty="0"/>
              <a:t>Dense and Sparse Indexes:</a:t>
            </a:r>
            <a:endParaRPr lang="en-US" dirty="0"/>
          </a:p>
          <a:p>
            <a:pPr lvl="1" algn="just"/>
            <a:r>
              <a:rPr lang="en-US" dirty="0"/>
              <a:t>In a dense index, there's an index entry for every search key value in the database.</a:t>
            </a:r>
          </a:p>
          <a:p>
            <a:pPr lvl="1" algn="just"/>
            <a:r>
              <a:rPr lang="en-US" dirty="0"/>
              <a:t>In a sparse index, there are fewer index entries. One entry might point to several records.</a:t>
            </a:r>
          </a:p>
          <a:p>
            <a:pPr algn="just"/>
            <a:r>
              <a:rPr lang="en-US" b="1" dirty="0"/>
              <a:t>Primary and Secondary Indexes:</a:t>
            </a:r>
            <a:endParaRPr lang="en-US" dirty="0"/>
          </a:p>
          <a:p>
            <a:pPr lvl="1" algn="just"/>
            <a:r>
              <a:rPr lang="en-US" dirty="0"/>
              <a:t>A primary index is an ordered file whose records are of fixed length with two fields. The first field is the same as the primary key, and the second field is a pointer to the data block. There's a one-to-one relationship between the number of entries in the index and the number of records in the main file.</a:t>
            </a:r>
          </a:p>
          <a:p>
            <a:pPr lvl="1" algn="just"/>
            <a:r>
              <a:rPr lang="en-US" dirty="0"/>
              <a:t>A secondary index provides a secondary means of accessing data. For each secondary key value, the index points to all the records with that key value.</a:t>
            </a:r>
          </a:p>
          <a:p>
            <a:pPr algn="just"/>
            <a:r>
              <a:rPr lang="en-US" b="1" dirty="0"/>
              <a:t>Clustered vs. Non-clustered Index:</a:t>
            </a:r>
            <a:endParaRPr lang="en-US" dirty="0"/>
          </a:p>
          <a:p>
            <a:pPr lvl="1" algn="just"/>
            <a:r>
              <a:rPr lang="en-US" dirty="0"/>
              <a:t>In a clustered index, the rows of data in the table are stored on disk in the same order as the index. There can only be one clustered index per table.</a:t>
            </a:r>
          </a:p>
          <a:p>
            <a:pPr lvl="1" algn="just"/>
            <a:r>
              <a:rPr lang="en-US" dirty="0"/>
              <a:t>In a non-clustered index, the order of rows does not match the index's order. You can have multiple non-clustered indexes.</a:t>
            </a:r>
          </a:p>
          <a:p>
            <a:pPr algn="just"/>
            <a:r>
              <a:rPr lang="en-US" b="1" dirty="0"/>
              <a:t>Bitmap Index:</a:t>
            </a:r>
            <a:r>
              <a:rPr lang="en-US" dirty="0"/>
              <a:t> Used mainly for data warehousing setups, a bitmap index uses bit arrays (bitmaps) and usually involves columns that have a limited number of distinct values.</a:t>
            </a:r>
          </a:p>
          <a:p>
            <a:pPr algn="just"/>
            <a:r>
              <a:rPr lang="en-US" b="1" dirty="0"/>
              <a:t>B-trees and B+ trees:</a:t>
            </a:r>
            <a:r>
              <a:rPr lang="en-US" dirty="0"/>
              <a:t> Balanced tree structures that ensure logarithmic access time. B+ trees are particularly popular in DBMS for their efficiency in disk I/O operations.</a:t>
            </a:r>
          </a:p>
          <a:p>
            <a:pPr algn="just"/>
            <a:r>
              <a:rPr lang="en-US" b="1" dirty="0"/>
              <a:t>Benefits of Indexing:</a:t>
            </a:r>
          </a:p>
          <a:p>
            <a:pPr algn="just"/>
            <a:r>
              <a:rPr lang="en-US" dirty="0"/>
              <a:t>Faster search and retrieval times for database operations.</a:t>
            </a:r>
          </a:p>
          <a:p>
            <a:pPr algn="just"/>
            <a:r>
              <a:rPr lang="en-US" b="1" dirty="0"/>
              <a:t>Drawbacks of Indexing:</a:t>
            </a:r>
          </a:p>
          <a:p>
            <a:pPr algn="just"/>
            <a:r>
              <a:rPr lang="en-US" dirty="0"/>
              <a:t>Overhead for insert, update, and delete operations, as indexes need to be maintained.</a:t>
            </a:r>
          </a:p>
          <a:p>
            <a:pPr algn="just"/>
            <a:r>
              <a:rPr lang="en-US" dirty="0"/>
              <a:t>Additional storage requirements for the index structures.</a:t>
            </a:r>
          </a:p>
          <a:p>
            <a:pPr algn="just"/>
            <a:r>
              <a:rPr lang="en-US" dirty="0"/>
              <a:t/>
            </a:r>
            <a:br>
              <a:rPr lang="en-US" dirty="0"/>
            </a:br>
            <a:endParaRPr lang="en-IN" dirty="0"/>
          </a:p>
        </p:txBody>
      </p:sp>
    </p:spTree>
    <p:extLst>
      <p:ext uri="{BB962C8B-B14F-4D97-AF65-F5344CB8AC3E}">
        <p14:creationId xmlns:p14="http://schemas.microsoft.com/office/powerpoint/2010/main" val="423691593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9544" y="1600200"/>
            <a:ext cx="8204912" cy="4939145"/>
          </a:xfrm>
        </p:spPr>
      </p:pic>
    </p:spTree>
    <p:extLst>
      <p:ext uri="{BB962C8B-B14F-4D97-AF65-F5344CB8AC3E}">
        <p14:creationId xmlns:p14="http://schemas.microsoft.com/office/powerpoint/2010/main" val="189696195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1673" y="1911927"/>
            <a:ext cx="8465127" cy="4239491"/>
          </a:xfrm>
        </p:spPr>
      </p:pic>
    </p:spTree>
    <p:extLst>
      <p:ext uri="{BB962C8B-B14F-4D97-AF65-F5344CB8AC3E}">
        <p14:creationId xmlns:p14="http://schemas.microsoft.com/office/powerpoint/2010/main" val="368411204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62500" lnSpcReduction="20000"/>
          </a:bodyPr>
          <a:lstStyle/>
          <a:p>
            <a:r>
              <a:rPr lang="en-US" dirty="0"/>
              <a:t>A primary index is an ordered file whose records are of fixed length with two fields. The first field is the same as the primary key of the data file, and the second field is a pointer to the data block where that specific key can be found.</a:t>
            </a:r>
          </a:p>
          <a:p>
            <a:r>
              <a:rPr lang="en-US" b="1" dirty="0"/>
              <a:t>The primary index can be classified into two types</a:t>
            </a:r>
            <a:endParaRPr lang="en-US" dirty="0"/>
          </a:p>
          <a:p>
            <a:r>
              <a:rPr lang="en-US" dirty="0"/>
              <a:t>Dense Index: In this, an index entry appears for every search key value in the data file.</a:t>
            </a:r>
          </a:p>
          <a:p>
            <a:r>
              <a:rPr lang="en-US" dirty="0"/>
              <a:t>Sparse (or Non-Dense) Index: Here, index records are created only for some of the search key values. A sparse index reduces the size of the index file.</a:t>
            </a:r>
          </a:p>
          <a:p>
            <a:r>
              <a:rPr lang="en-US" b="1" dirty="0"/>
              <a:t>Characteristics of a Primary Index:</a:t>
            </a:r>
          </a:p>
          <a:p>
            <a:r>
              <a:rPr lang="en-US" dirty="0"/>
              <a:t>It is based on the primary key of the table.</a:t>
            </a:r>
          </a:p>
          <a:p>
            <a:r>
              <a:rPr lang="en-US" dirty="0"/>
              <a:t>The primary key must have unique values.</a:t>
            </a:r>
          </a:p>
          <a:p>
            <a:r>
              <a:rPr lang="en-US" dirty="0"/>
              <a:t>The index entries are sorted in the same order as the data file (hence often a clustered index).</a:t>
            </a:r>
          </a:p>
          <a:p>
            <a:r>
              <a:rPr lang="en-US" dirty="0"/>
              <a:t>The index has one entry for each block in a data file, not for each record.</a:t>
            </a:r>
          </a:p>
          <a:p>
            <a:endParaRPr lang="en-IN" dirty="0"/>
          </a:p>
        </p:txBody>
      </p:sp>
    </p:spTree>
    <p:extLst>
      <p:ext uri="{BB962C8B-B14F-4D97-AF65-F5344CB8AC3E}">
        <p14:creationId xmlns:p14="http://schemas.microsoft.com/office/powerpoint/2010/main" val="310408445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2457076"/>
            <a:ext cx="8229600" cy="2812211"/>
          </a:xfrm>
        </p:spPr>
      </p:pic>
    </p:spTree>
    <p:extLst>
      <p:ext uri="{BB962C8B-B14F-4D97-AF65-F5344CB8AC3E}">
        <p14:creationId xmlns:p14="http://schemas.microsoft.com/office/powerpoint/2010/main" val="45318567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59666876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33055" y="1600200"/>
            <a:ext cx="5846618" cy="4525963"/>
          </a:xfrm>
        </p:spPr>
      </p:pic>
    </p:spTree>
    <p:extLst>
      <p:ext uri="{BB962C8B-B14F-4D97-AF65-F5344CB8AC3E}">
        <p14:creationId xmlns:p14="http://schemas.microsoft.com/office/powerpoint/2010/main" val="312224058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9035"/>
          </a:xfrm>
        </p:spPr>
        <p:txBody>
          <a:bodyPr>
            <a:normAutofit fontScale="90000"/>
          </a:bodyPr>
          <a:lstStyle/>
          <a:p>
            <a:r>
              <a:rPr lang="en-US" dirty="0" smtClean="0"/>
              <a:t/>
            </a:r>
            <a:br>
              <a:rPr lang="en-US" dirty="0" smtClean="0"/>
            </a:br>
            <a:r>
              <a:rPr lang="en-US" dirty="0" smtClean="0"/>
              <a:t>what </a:t>
            </a:r>
            <a:r>
              <a:rPr lang="en-US" dirty="0"/>
              <a:t>is A Dynamic Index Structure</a:t>
            </a:r>
            <a:br>
              <a:rPr lang="en-US" dirty="0"/>
            </a:br>
            <a:endParaRPr lang="en-IN" dirty="0"/>
          </a:p>
        </p:txBody>
      </p:sp>
      <p:sp>
        <p:nvSpPr>
          <p:cNvPr id="3" name="Content Placeholder 2"/>
          <p:cNvSpPr>
            <a:spLocks noGrp="1"/>
          </p:cNvSpPr>
          <p:nvPr>
            <p:ph idx="1"/>
          </p:nvPr>
        </p:nvSpPr>
        <p:spPr>
          <a:xfrm>
            <a:off x="457200" y="983672"/>
            <a:ext cx="8229600" cy="5142491"/>
          </a:xfrm>
        </p:spPr>
        <p:txBody>
          <a:bodyPr>
            <a:normAutofit fontScale="77500" lnSpcReduction="20000"/>
          </a:bodyPr>
          <a:lstStyle/>
          <a:p>
            <a:r>
              <a:rPr lang="en-US" dirty="0" smtClean="0"/>
              <a:t>A </a:t>
            </a:r>
            <a:r>
              <a:rPr lang="en-US" dirty="0"/>
              <a:t>dynamic index structure is an index that automatically adjusts its structure as the underlying data grows, shrinks, or otherwise changes. Unlike static index structures, which are fixed in size and organization, dynamic index structures reorganize themselves in response to changes in the data they index. This makes them more flexible and scalable, capable of handling varying workloads and data distributions efficiently.</a:t>
            </a:r>
          </a:p>
          <a:p>
            <a:endParaRPr lang="en-US" dirty="0"/>
          </a:p>
          <a:p>
            <a:r>
              <a:rPr lang="en-US" dirty="0"/>
              <a:t>Dynamic index structures are crucial for databases that are expected to evolve over time, especially when it comes to insertion, deletion, and updating of records. They maintain balanced tree structures, self-adjust, and optimize, ensuring that the database operations remain efficient even as the data grows or changes.</a:t>
            </a:r>
          </a:p>
          <a:p>
            <a:endParaRPr lang="en-US" dirty="0"/>
          </a:p>
          <a:p>
            <a:endParaRPr lang="en-IN" dirty="0"/>
          </a:p>
        </p:txBody>
      </p:sp>
    </p:spTree>
    <p:extLst>
      <p:ext uri="{BB962C8B-B14F-4D97-AF65-F5344CB8AC3E}">
        <p14:creationId xmlns:p14="http://schemas.microsoft.com/office/powerpoint/2010/main" val="63844738"/>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8089"/>
          </a:xfrm>
        </p:spPr>
        <p:txBody>
          <a:bodyPr>
            <a:normAutofit fontScale="90000"/>
          </a:bodyPr>
          <a:lstStyle/>
          <a:p>
            <a:endParaRPr lang="en-IN" dirty="0"/>
          </a:p>
        </p:txBody>
      </p:sp>
      <p:sp>
        <p:nvSpPr>
          <p:cNvPr id="3" name="Content Placeholder 2"/>
          <p:cNvSpPr>
            <a:spLocks noGrp="1"/>
          </p:cNvSpPr>
          <p:nvPr>
            <p:ph idx="1"/>
          </p:nvPr>
        </p:nvSpPr>
        <p:spPr>
          <a:xfrm>
            <a:off x="457200" y="692727"/>
            <a:ext cx="8229600" cy="6054437"/>
          </a:xfrm>
        </p:spPr>
        <p:txBody>
          <a:bodyPr numCol="2">
            <a:normAutofit fontScale="47500" lnSpcReduction="20000"/>
          </a:bodyPr>
          <a:lstStyle/>
          <a:p>
            <a:pPr algn="just"/>
            <a:r>
              <a:rPr lang="en-US" b="1" dirty="0">
                <a:solidFill>
                  <a:srgbClr val="FF0000"/>
                </a:solidFill>
              </a:rPr>
              <a:t>Examples of Dynamic Index Structures:</a:t>
            </a:r>
          </a:p>
          <a:p>
            <a:pPr marL="0" indent="0" algn="just">
              <a:buNone/>
            </a:pPr>
            <a:r>
              <a:rPr lang="en-US" dirty="0"/>
              <a:t>B-Trees and B+-Trees: These are perhaps the most well-known examples of dynamic index structures. B-Trees and B+-Trees automatically split or merge nodes to maintain a balanced tree, ensuring that search, insert, and delete operations take logarithmic time. They are widely used in various types of databases and </a:t>
            </a:r>
            <a:r>
              <a:rPr lang="en-US" dirty="0" err="1"/>
              <a:t>filesystems</a:t>
            </a:r>
            <a:r>
              <a:rPr lang="en-US" dirty="0"/>
              <a:t>.</a:t>
            </a:r>
          </a:p>
          <a:p>
            <a:pPr algn="just"/>
            <a:endParaRPr lang="en-US" dirty="0"/>
          </a:p>
          <a:p>
            <a:pPr marL="0" indent="0" algn="just">
              <a:buNone/>
            </a:pPr>
            <a:r>
              <a:rPr lang="en-US" dirty="0"/>
              <a:t>B+ Trees</a:t>
            </a:r>
          </a:p>
          <a:p>
            <a:pPr algn="just"/>
            <a:r>
              <a:rPr lang="en-US" dirty="0"/>
              <a:t>A B+ Tree is a type of self-balancing tree structure commonly used in databases and file systems to maintain sorted data in a way that allows for efficient insertion, deletion, and search operations. B+ Trees are an extension of B-Trees but differ mainly in the way they handle leaf nodes, which contain all the key values and point to the actual records.</a:t>
            </a:r>
          </a:p>
          <a:p>
            <a:pPr algn="just"/>
            <a:endParaRPr lang="en-US" dirty="0"/>
          </a:p>
          <a:p>
            <a:pPr algn="just"/>
            <a:r>
              <a:rPr lang="en-US" dirty="0"/>
              <a:t>A B+ Tree of order `n` has the following properties:</a:t>
            </a:r>
          </a:p>
          <a:p>
            <a:pPr algn="just"/>
            <a:r>
              <a:rPr lang="en-US" dirty="0"/>
              <a:t>Every node has a maximum of `n` children.</a:t>
            </a:r>
          </a:p>
          <a:p>
            <a:pPr algn="just"/>
            <a:r>
              <a:rPr lang="en-US" dirty="0"/>
              <a:t>Every node (except the root) has a minimum of `n/2` children.</a:t>
            </a:r>
          </a:p>
          <a:p>
            <a:pPr algn="just"/>
            <a:r>
              <a:rPr lang="en-US" dirty="0"/>
              <a:t>The tree is perfectly balanced, meaning that all leaf nodes are at the same level.</a:t>
            </a:r>
          </a:p>
          <a:p>
            <a:pPr algn="just"/>
            <a:r>
              <a:rPr lang="en-US" dirty="0"/>
              <a:t>All keys are stored in the leaf nodes, and the internal nodes act as 'guides' to locate the leaf nodes faster.</a:t>
            </a:r>
          </a:p>
          <a:p>
            <a:pPr algn="just"/>
            <a:r>
              <a:rPr lang="en-US" dirty="0"/>
              <a:t>Operations on B+ Trees:</a:t>
            </a:r>
          </a:p>
          <a:p>
            <a:pPr algn="just"/>
            <a:r>
              <a:rPr lang="en-US" dirty="0"/>
              <a:t>Search: Starts at the root and traverses down the tree, guided by the key values in each node, until it reaches the appropriate leaf node.</a:t>
            </a:r>
          </a:p>
          <a:p>
            <a:pPr algn="just"/>
            <a:r>
              <a:rPr lang="en-US" dirty="0"/>
              <a:t>Insert: Inserts a new key-value pair and then reorganizes the tree as needed to maintain its properties.</a:t>
            </a:r>
          </a:p>
          <a:p>
            <a:pPr algn="just"/>
            <a:r>
              <a:rPr lang="en-US" dirty="0"/>
              <a:t>Delete: Removes a key-value pair and then reorganizes the tree, again to maintain its properties.</a:t>
            </a:r>
          </a:p>
          <a:p>
            <a:pPr algn="just"/>
            <a:r>
              <a:rPr lang="en-US" dirty="0"/>
              <a:t>Example of B+ Tree Operations</a:t>
            </a:r>
          </a:p>
          <a:p>
            <a:pPr algn="just"/>
            <a:endParaRPr lang="en-US" dirty="0"/>
          </a:p>
          <a:p>
            <a:pPr algn="just"/>
            <a:r>
              <a:rPr lang="en-US" b="1" i="1" dirty="0" smtClean="0">
                <a:solidFill>
                  <a:srgbClr val="FF0000"/>
                </a:solidFill>
              </a:rPr>
              <a:t>Q:Let's </a:t>
            </a:r>
            <a:r>
              <a:rPr lang="en-US" b="1" i="1" dirty="0">
                <a:solidFill>
                  <a:srgbClr val="FF0000"/>
                </a:solidFill>
              </a:rPr>
              <a:t>say we have a B+ Tree of order 4, and we want to insert the keys `[10, 20, 5, 6, 12, 30, 7, 17]` into an initially empty tree.</a:t>
            </a:r>
            <a:endParaRPr lang="en-IN" b="1" i="1" dirty="0">
              <a:solidFill>
                <a:srgbClr val="FF0000"/>
              </a:solidFill>
            </a:endParaRPr>
          </a:p>
        </p:txBody>
      </p:sp>
    </p:spTree>
    <p:extLst>
      <p:ext uri="{BB962C8B-B14F-4D97-AF65-F5344CB8AC3E}">
        <p14:creationId xmlns:p14="http://schemas.microsoft.com/office/powerpoint/2010/main" val="336504008"/>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24126"/>
          </a:xfrm>
        </p:spPr>
        <p:txBody>
          <a:bodyPr>
            <a:normAutofit fontScale="90000"/>
          </a:bodyPr>
          <a:lstStyle/>
          <a:p>
            <a:endParaRPr lang="en-IN" dirty="0"/>
          </a:p>
        </p:txBody>
      </p:sp>
      <p:sp>
        <p:nvSpPr>
          <p:cNvPr id="3" name="Content Placeholder 2"/>
          <p:cNvSpPr>
            <a:spLocks noGrp="1"/>
          </p:cNvSpPr>
          <p:nvPr>
            <p:ph idx="1"/>
          </p:nvPr>
        </p:nvSpPr>
        <p:spPr>
          <a:xfrm>
            <a:off x="457200" y="637310"/>
            <a:ext cx="8229600" cy="6220690"/>
          </a:xfrm>
        </p:spPr>
        <p:txBody>
          <a:bodyPr numCol="2">
            <a:noAutofit/>
          </a:bodyPr>
          <a:lstStyle/>
          <a:p>
            <a:r>
              <a:rPr lang="en-US" sz="1400" dirty="0"/>
              <a:t>Insertion</a:t>
            </a:r>
          </a:p>
          <a:p>
            <a:r>
              <a:rPr lang="en-US" sz="1400" dirty="0"/>
              <a:t>1. Insert 10:</a:t>
            </a:r>
          </a:p>
          <a:p>
            <a:r>
              <a:rPr lang="en-US" sz="1400" dirty="0"/>
              <a:t>- The tree is empty, so 10 becomes the root.</a:t>
            </a:r>
          </a:p>
          <a:p>
            <a:r>
              <a:rPr lang="en-US" sz="1400" dirty="0" smtClean="0"/>
              <a:t>     </a:t>
            </a:r>
            <a:r>
              <a:rPr lang="en-US" sz="1400" dirty="0"/>
              <a:t>[10]  </a:t>
            </a:r>
          </a:p>
          <a:p>
            <a:r>
              <a:rPr lang="en-US" sz="1400" dirty="0"/>
              <a:t>2. Insert 20:</a:t>
            </a:r>
          </a:p>
          <a:p>
            <a:r>
              <a:rPr lang="en-US" sz="1400" dirty="0"/>
              <a:t>- There's room in the leaf node for 20.</a:t>
            </a:r>
          </a:p>
          <a:p>
            <a:endParaRPr lang="en-US" sz="1400" dirty="0"/>
          </a:p>
          <a:p>
            <a:r>
              <a:rPr lang="en-US" sz="1400" dirty="0"/>
              <a:t>    [10, 20]  </a:t>
            </a:r>
          </a:p>
          <a:p>
            <a:r>
              <a:rPr lang="en-US" sz="1400" dirty="0"/>
              <a:t>3. Insert 5:</a:t>
            </a:r>
          </a:p>
          <a:p>
            <a:r>
              <a:rPr lang="en-US" sz="1400" dirty="0"/>
              <a:t>- Still room in the leaf node for 5.</a:t>
            </a:r>
          </a:p>
          <a:p>
            <a:r>
              <a:rPr lang="en-US" sz="1400" dirty="0" smtClean="0"/>
              <a:t>     </a:t>
            </a:r>
            <a:r>
              <a:rPr lang="en-US" sz="1400" dirty="0"/>
              <a:t>[5, 10, 20]  </a:t>
            </a:r>
          </a:p>
          <a:p>
            <a:r>
              <a:rPr lang="en-US" sz="1400" dirty="0"/>
              <a:t>4. Insert 6:</a:t>
            </a:r>
          </a:p>
          <a:p>
            <a:r>
              <a:rPr lang="en-US" sz="1400" dirty="0"/>
              <a:t>- The leaf node is full; split it and promote the smallest key in the right node to be the new root.</a:t>
            </a:r>
          </a:p>
          <a:p>
            <a:r>
              <a:rPr lang="en-US" sz="1400" dirty="0" smtClean="0"/>
              <a:t>          </a:t>
            </a:r>
            <a:r>
              <a:rPr lang="en-US" sz="1400" dirty="0"/>
              <a:t>[10]</a:t>
            </a:r>
          </a:p>
          <a:p>
            <a:r>
              <a:rPr lang="en-US" sz="1400" dirty="0"/>
              <a:t>        /    \</a:t>
            </a:r>
          </a:p>
          <a:p>
            <a:r>
              <a:rPr lang="en-US" sz="1400" dirty="0"/>
              <a:t>      [5, 6]  [10, 20]</a:t>
            </a:r>
          </a:p>
          <a:p>
            <a:r>
              <a:rPr lang="en-US" sz="1400" dirty="0"/>
              <a:t>5. Insert 12:</a:t>
            </a:r>
          </a:p>
          <a:p>
            <a:r>
              <a:rPr lang="en-US" sz="1400" dirty="0"/>
              <a:t>- Insert into the appropriate leaf node.</a:t>
            </a:r>
          </a:p>
          <a:p>
            <a:r>
              <a:rPr lang="en-US" sz="1400" dirty="0" smtClean="0"/>
              <a:t>          </a:t>
            </a:r>
            <a:r>
              <a:rPr lang="en-US" sz="1400" dirty="0"/>
              <a:t>[10, , ]</a:t>
            </a:r>
          </a:p>
          <a:p>
            <a:r>
              <a:rPr lang="en-US" sz="1400" dirty="0"/>
              <a:t>        /    \</a:t>
            </a:r>
          </a:p>
          <a:p>
            <a:r>
              <a:rPr lang="en-US" sz="1400" dirty="0"/>
              <a:t>      [5, 6]  [10, 12, 20]  </a:t>
            </a:r>
          </a:p>
          <a:p>
            <a:r>
              <a:rPr lang="en-US" sz="1400" dirty="0"/>
              <a:t>6. Insert 30:</a:t>
            </a:r>
          </a:p>
          <a:p>
            <a:r>
              <a:rPr lang="en-US" sz="1400" dirty="0"/>
              <a:t>- Need to split the right leaf node, promote 20.</a:t>
            </a:r>
          </a:p>
          <a:p>
            <a:endParaRPr lang="en-US" sz="1400" dirty="0"/>
          </a:p>
          <a:p>
            <a:endParaRPr lang="en-US" sz="1400" dirty="0"/>
          </a:p>
          <a:p>
            <a:r>
              <a:rPr lang="en-US" sz="1400" dirty="0"/>
              <a:t>         [10 , 20    , ]</a:t>
            </a:r>
          </a:p>
          <a:p>
            <a:r>
              <a:rPr lang="en-US" sz="1400" dirty="0"/>
              <a:t>        /    |        \</a:t>
            </a:r>
          </a:p>
          <a:p>
            <a:r>
              <a:rPr lang="en-US" sz="1400" dirty="0"/>
              <a:t>      [5, 6] [10, 12] [20, 30]</a:t>
            </a:r>
          </a:p>
          <a:p>
            <a:r>
              <a:rPr lang="en-US" sz="1400" dirty="0"/>
              <a:t>7. Insert 7:</a:t>
            </a:r>
          </a:p>
          <a:p>
            <a:r>
              <a:rPr lang="en-US" sz="1400" dirty="0"/>
              <a:t>- Insert into the appropriate leaf node.</a:t>
            </a:r>
          </a:p>
          <a:p>
            <a:endParaRPr lang="en-US" sz="1400" dirty="0"/>
          </a:p>
          <a:p>
            <a:endParaRPr lang="en-US" sz="1400" dirty="0"/>
          </a:p>
          <a:p>
            <a:r>
              <a:rPr lang="en-US" sz="1400" dirty="0"/>
              <a:t>         [10    , 20   ,  ]</a:t>
            </a:r>
          </a:p>
          <a:p>
            <a:r>
              <a:rPr lang="en-US" sz="1400" dirty="0"/>
              <a:t>        /       |       \</a:t>
            </a:r>
          </a:p>
          <a:p>
            <a:r>
              <a:rPr lang="en-US" sz="1400" dirty="0"/>
              <a:t>      [5, 6, 7] [10, 12] [20, 30]</a:t>
            </a:r>
          </a:p>
          <a:p>
            <a:r>
              <a:rPr lang="en-US" sz="1400" dirty="0"/>
              <a:t>8. Insert 17:</a:t>
            </a:r>
          </a:p>
          <a:p>
            <a:r>
              <a:rPr lang="en-US" sz="1400" dirty="0"/>
              <a:t>- Insert into the appropriate leaf node and split.</a:t>
            </a:r>
          </a:p>
          <a:p>
            <a:endParaRPr lang="en-US" sz="1400" dirty="0" smtClean="0"/>
          </a:p>
          <a:p>
            <a:r>
              <a:rPr lang="en-US" sz="1400" dirty="0" smtClean="0"/>
              <a:t>            </a:t>
            </a:r>
            <a:r>
              <a:rPr lang="en-US" sz="1400" dirty="0"/>
              <a:t>[10 , 20    ,  ]</a:t>
            </a:r>
          </a:p>
          <a:p>
            <a:r>
              <a:rPr lang="en-US" sz="1400" dirty="0"/>
              <a:t>          /     |        \</a:t>
            </a:r>
          </a:p>
          <a:p>
            <a:r>
              <a:rPr lang="en-US" sz="1400" dirty="0"/>
              <a:t>      [5, 6, 7] [10, 12] [17, 20, 30]</a:t>
            </a:r>
          </a:p>
          <a:p>
            <a:r>
              <a:rPr lang="en-US" sz="1400" dirty="0"/>
              <a:t>- Here, the middle internal node gets split, and 17 is promoted.</a:t>
            </a:r>
          </a:p>
          <a:p>
            <a:endParaRPr lang="en-US" sz="1400" dirty="0"/>
          </a:p>
          <a:p>
            <a:r>
              <a:rPr lang="en-US" sz="1400" dirty="0"/>
              <a:t> </a:t>
            </a:r>
          </a:p>
          <a:p>
            <a:r>
              <a:rPr lang="en-US" sz="1400" dirty="0" smtClean="0"/>
              <a:t>.</a:t>
            </a:r>
            <a:endParaRPr lang="en-IN" sz="1400" dirty="0"/>
          </a:p>
        </p:txBody>
      </p:sp>
    </p:spTree>
    <p:extLst>
      <p:ext uri="{BB962C8B-B14F-4D97-AF65-F5344CB8AC3E}">
        <p14:creationId xmlns:p14="http://schemas.microsoft.com/office/powerpoint/2010/main" val="96534555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24126"/>
          </a:xfrm>
        </p:spPr>
        <p:txBody>
          <a:bodyPr>
            <a:normAutofit fontScale="90000"/>
          </a:bodyPr>
          <a:lstStyle/>
          <a:p>
            <a:endParaRPr lang="en-IN" dirty="0"/>
          </a:p>
        </p:txBody>
      </p:sp>
      <p:sp>
        <p:nvSpPr>
          <p:cNvPr id="3" name="Content Placeholder 2"/>
          <p:cNvSpPr>
            <a:spLocks noGrp="1"/>
          </p:cNvSpPr>
          <p:nvPr>
            <p:ph idx="1"/>
          </p:nvPr>
        </p:nvSpPr>
        <p:spPr>
          <a:xfrm>
            <a:off x="457200" y="665018"/>
            <a:ext cx="8229600" cy="6012873"/>
          </a:xfrm>
        </p:spPr>
        <p:txBody>
          <a:bodyPr>
            <a:normAutofit fontScale="32500" lnSpcReduction="20000"/>
          </a:bodyPr>
          <a:lstStyle/>
          <a:p>
            <a:r>
              <a:rPr lang="en-US" dirty="0"/>
              <a:t> </a:t>
            </a:r>
            <a:r>
              <a:rPr lang="en-US" sz="4300" dirty="0"/>
              <a:t>[10  , 17     , 20  ]</a:t>
            </a:r>
          </a:p>
          <a:p>
            <a:r>
              <a:rPr lang="en-US" sz="4300" dirty="0"/>
              <a:t>          /     |        |     \</a:t>
            </a:r>
          </a:p>
          <a:p>
            <a:r>
              <a:rPr lang="en-US" sz="4300" dirty="0"/>
              <a:t>      [5, 6, 7] [10, 12] [17]  [20, 30]</a:t>
            </a:r>
          </a:p>
          <a:p>
            <a:r>
              <a:rPr lang="en-US" sz="4300" dirty="0"/>
              <a:t>Search (for 12):</a:t>
            </a:r>
          </a:p>
          <a:p>
            <a:r>
              <a:rPr lang="en-US" sz="4300" dirty="0"/>
              <a:t>- Start at the root, go down the second child because 12 &gt; 10 and 12 &lt; 17, and find 12 in the corresponding leaf node.</a:t>
            </a:r>
          </a:p>
          <a:p>
            <a:endParaRPr lang="en-US" sz="4300" dirty="0"/>
          </a:p>
          <a:p>
            <a:r>
              <a:rPr lang="en-US" sz="4300" dirty="0"/>
              <a:t>Deletion (of 10):</a:t>
            </a:r>
          </a:p>
          <a:p>
            <a:r>
              <a:rPr lang="en-US" sz="4300" dirty="0"/>
              <a:t>1. Remove 10 from the leaf node.</a:t>
            </a:r>
          </a:p>
          <a:p>
            <a:endParaRPr lang="en-US" sz="4300" dirty="0"/>
          </a:p>
          <a:p>
            <a:r>
              <a:rPr lang="en-US" sz="4300" dirty="0"/>
              <a:t> </a:t>
            </a:r>
          </a:p>
          <a:p>
            <a:r>
              <a:rPr lang="en-US" sz="4300" dirty="0"/>
              <a:t>           [10  , 17 , 20  ]</a:t>
            </a:r>
          </a:p>
          <a:p>
            <a:r>
              <a:rPr lang="en-US" sz="4300" dirty="0"/>
              <a:t>          /     |    |     \</a:t>
            </a:r>
          </a:p>
          <a:p>
            <a:r>
              <a:rPr lang="en-US" sz="4300" dirty="0"/>
              <a:t>      [5, 6, 7] [12] [17]  [20, 30]</a:t>
            </a:r>
          </a:p>
          <a:p>
            <a:r>
              <a:rPr lang="en-US" sz="4300" dirty="0"/>
              <a:t>2. Since the key 10 is also present in the internal node, we replace it with its in-order predecessor (or successor based on design), which is 7.</a:t>
            </a:r>
          </a:p>
          <a:p>
            <a:endParaRPr lang="en-US" sz="4300" dirty="0"/>
          </a:p>
          <a:p>
            <a:r>
              <a:rPr lang="en-US" sz="4300" dirty="0"/>
              <a:t> </a:t>
            </a:r>
          </a:p>
          <a:p>
            <a:r>
              <a:rPr lang="en-US" sz="4300" dirty="0"/>
              <a:t>           [7 , 17    , 20  ]</a:t>
            </a:r>
          </a:p>
          <a:p>
            <a:r>
              <a:rPr lang="en-US" sz="4300" dirty="0"/>
              <a:t>          /   |       |     \</a:t>
            </a:r>
          </a:p>
          <a:p>
            <a:r>
              <a:rPr lang="en-US" sz="4300" dirty="0"/>
              <a:t>      [5, 6]  [7, 12] [17]  [20, 30]</a:t>
            </a:r>
          </a:p>
          <a:p>
            <a:r>
              <a:rPr lang="en-US" sz="4300" dirty="0"/>
              <a:t>And that's how B+ Trees work for search, insert, and delete operations. B+ Trees are dynamic, adapting efficiently as keys are added or removed, which makes them quite useful for databases where high-speed data retrieval is crucial</a:t>
            </a:r>
            <a:endParaRPr lang="en-IN" sz="4300" dirty="0"/>
          </a:p>
        </p:txBody>
      </p:sp>
    </p:spTree>
    <p:extLst>
      <p:ext uri="{BB962C8B-B14F-4D97-AF65-F5344CB8AC3E}">
        <p14:creationId xmlns:p14="http://schemas.microsoft.com/office/powerpoint/2010/main" val="274518047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Data Warehousing stores data.</a:t>
            </a:r>
          </a:p>
          <a:p>
            <a:r>
              <a:t>Data Mining finds patterns.</a:t>
            </a:r>
          </a:p>
          <a:p>
            <a:r>
              <a:t>Big Data handles massive datasets.</a:t>
            </a:r>
          </a:p>
          <a:p>
            <a:r>
              <a:t>Together, they drive business intelligence and innovation.</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Q&amp;A</a:t>
            </a:r>
          </a:p>
        </p:txBody>
      </p:sp>
      <p:sp>
        <p:nvSpPr>
          <p:cNvPr id="3" name="Content Placeholder 2"/>
          <p:cNvSpPr>
            <a:spLocks noGrp="1"/>
          </p:cNvSpPr>
          <p:nvPr>
            <p:ph idx="1"/>
          </p:nvPr>
        </p:nvSpPr>
        <p:spPr/>
        <p:txBody>
          <a:bodyPr/>
          <a:lstStyle/>
          <a:p>
            <a:r>
              <a:rPr dirty="0"/>
              <a:t>Any questions?</a:t>
            </a:r>
          </a:p>
          <a:p>
            <a:r>
              <a:rPr dirty="0"/>
              <a:t>Let’s discuss</a:t>
            </a:r>
            <a:r>
              <a:rPr dirty="0" smtClean="0"/>
              <a:t>!</a:t>
            </a:r>
            <a:endParaRPr lang="en-US" dirty="0" smtClean="0"/>
          </a:p>
          <a:p>
            <a:r>
              <a:rPr lang="en-IN" dirty="0"/>
              <a:t>https://studyglance.in/dbms/display.php?tno=56&amp;topic=Comparison-of-File-Organizations,-Indexes-and-Performance-Tuning</a:t>
            </a:r>
            <a:endParaRPr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Thank You!</a:t>
            </a:r>
          </a:p>
        </p:txBody>
      </p:sp>
      <p:sp>
        <p:nvSpPr>
          <p:cNvPr id="3" name="Content Placeholder 2"/>
          <p:cNvSpPr>
            <a:spLocks noGrp="1"/>
          </p:cNvSpPr>
          <p:nvPr>
            <p:ph idx="1"/>
          </p:nvPr>
        </p:nvSpPr>
        <p:spPr/>
        <p:txBody>
          <a:bodyPr/>
          <a:lstStyle/>
          <a:p>
            <a:r>
              <a:t>Thank You for Your Attention!</a:t>
            </a:r>
          </a:p>
          <a:p>
            <a:r>
              <a:t>Contact: [Your Email]</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 Tree</a:t>
            </a:r>
            <a:endParaRPr lang="en-IN" dirty="0"/>
          </a:p>
        </p:txBody>
      </p:sp>
      <p:sp>
        <p:nvSpPr>
          <p:cNvPr id="3" name="Content Placeholder 2"/>
          <p:cNvSpPr>
            <a:spLocks noGrp="1"/>
          </p:cNvSpPr>
          <p:nvPr>
            <p:ph idx="1"/>
          </p:nvPr>
        </p:nvSpPr>
        <p:spPr/>
        <p:txBody>
          <a:bodyPr/>
          <a:lstStyle/>
          <a:p>
            <a:r>
              <a:rPr lang="en-US" b="1" dirty="0"/>
              <a:t>Basic Structure of B+ Tree</a:t>
            </a:r>
          </a:p>
          <a:p>
            <a:r>
              <a:rPr lang="en-US" b="1" dirty="0"/>
              <a:t>Internal nodes</a:t>
            </a:r>
            <a:r>
              <a:rPr lang="en-US" dirty="0"/>
              <a:t>: Store keys and pointers (but not data).</a:t>
            </a:r>
          </a:p>
          <a:p>
            <a:r>
              <a:rPr lang="en-US" b="1" dirty="0"/>
              <a:t>Leaf nodes</a:t>
            </a:r>
            <a:r>
              <a:rPr lang="en-US" dirty="0"/>
              <a:t>: Store actual data records or pointers to them.</a:t>
            </a:r>
          </a:p>
          <a:p>
            <a:r>
              <a:rPr lang="en-US" dirty="0"/>
              <a:t>All leaves are </a:t>
            </a:r>
            <a:r>
              <a:rPr lang="en-US" b="1" dirty="0"/>
              <a:t>linked</a:t>
            </a:r>
            <a:r>
              <a:rPr lang="en-US" dirty="0"/>
              <a:t> for fast range queries.</a:t>
            </a:r>
          </a:p>
          <a:p>
            <a:r>
              <a:rPr lang="en-US" dirty="0"/>
              <a:t>All data exists only in </a:t>
            </a:r>
            <a:r>
              <a:rPr lang="en-US" b="1" dirty="0"/>
              <a:t>leaf nodes</a:t>
            </a:r>
            <a:r>
              <a:rPr lang="en-US" dirty="0"/>
              <a:t>.</a:t>
            </a:r>
          </a:p>
          <a:p>
            <a:endParaRPr lang="en-IN" dirty="0"/>
          </a:p>
        </p:txBody>
      </p:sp>
    </p:spTree>
    <p:extLst>
      <p:ext uri="{BB962C8B-B14F-4D97-AF65-F5344CB8AC3E}">
        <p14:creationId xmlns:p14="http://schemas.microsoft.com/office/powerpoint/2010/main" val="403165633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24012" y="2558256"/>
            <a:ext cx="5895975" cy="2609850"/>
          </a:xfrm>
        </p:spPr>
      </p:pic>
    </p:spTree>
    <p:extLst>
      <p:ext uri="{BB962C8B-B14F-4D97-AF65-F5344CB8AC3E}">
        <p14:creationId xmlns:p14="http://schemas.microsoft.com/office/powerpoint/2010/main" val="95211053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90787" y="1696244"/>
            <a:ext cx="4162425" cy="4333875"/>
          </a:xfrm>
        </p:spPr>
      </p:pic>
    </p:spTree>
    <p:extLst>
      <p:ext uri="{BB962C8B-B14F-4D97-AF65-F5344CB8AC3E}">
        <p14:creationId xmlns:p14="http://schemas.microsoft.com/office/powerpoint/2010/main" val="90461264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85000" lnSpcReduction="20000"/>
          </a:bodyPr>
          <a:lstStyle/>
          <a:p>
            <a:pPr marL="0" indent="0">
              <a:buNone/>
            </a:pPr>
            <a:r>
              <a:rPr lang="en-US" b="1" dirty="0"/>
              <a:t>4. Split the Leaf Node</a:t>
            </a:r>
          </a:p>
          <a:p>
            <a:r>
              <a:rPr lang="en-US" dirty="0"/>
              <a:t>Split the leaf into two nodes.</a:t>
            </a:r>
          </a:p>
          <a:p>
            <a:r>
              <a:rPr lang="en-US" dirty="0"/>
              <a:t>Push the </a:t>
            </a:r>
            <a:r>
              <a:rPr lang="en-US" b="1" dirty="0"/>
              <a:t>middle key</a:t>
            </a:r>
            <a:r>
              <a:rPr lang="en-US" dirty="0"/>
              <a:t> to the parent.</a:t>
            </a:r>
          </a:p>
          <a:p>
            <a:r>
              <a:rPr lang="en-US" dirty="0"/>
              <a:t>Maintain leaf node links.</a:t>
            </a:r>
          </a:p>
          <a:p>
            <a:pPr marL="0" indent="0">
              <a:buNone/>
            </a:pPr>
            <a:r>
              <a:rPr lang="en-US" b="1" dirty="0" smtClean="0"/>
              <a:t>5 </a:t>
            </a:r>
            <a:r>
              <a:rPr lang="en-US" b="1" dirty="0"/>
              <a:t>Update Parent</a:t>
            </a:r>
          </a:p>
          <a:p>
            <a:r>
              <a:rPr lang="en-US" dirty="0"/>
              <a:t>Insert the </a:t>
            </a:r>
            <a:r>
              <a:rPr lang="en-US" b="1" dirty="0"/>
              <a:t>middle key</a:t>
            </a:r>
            <a:r>
              <a:rPr lang="en-US" dirty="0"/>
              <a:t> into the </a:t>
            </a:r>
            <a:r>
              <a:rPr lang="en-US" b="1" dirty="0"/>
              <a:t>parent</a:t>
            </a:r>
            <a:r>
              <a:rPr lang="en-US" dirty="0"/>
              <a:t> node.</a:t>
            </a:r>
          </a:p>
          <a:p>
            <a:pPr marL="0" indent="0">
              <a:buNone/>
            </a:pPr>
            <a:r>
              <a:rPr lang="en-US" b="1" dirty="0"/>
              <a:t>6. Propagate Splits Upward</a:t>
            </a:r>
          </a:p>
          <a:p>
            <a:r>
              <a:rPr lang="en-US" dirty="0"/>
              <a:t>If the </a:t>
            </a:r>
            <a:r>
              <a:rPr lang="en-US" b="1" dirty="0"/>
              <a:t>parent also overflows</a:t>
            </a:r>
            <a:r>
              <a:rPr lang="en-US" dirty="0"/>
              <a:t>, repeat the split upwards.</a:t>
            </a:r>
          </a:p>
          <a:p>
            <a:r>
              <a:rPr lang="en-US" dirty="0"/>
              <a:t>This may continue </a:t>
            </a:r>
            <a:r>
              <a:rPr lang="en-US" b="1" dirty="0"/>
              <a:t>up to the root</a:t>
            </a:r>
            <a:r>
              <a:rPr lang="en-US" dirty="0"/>
              <a:t>.</a:t>
            </a:r>
          </a:p>
          <a:p>
            <a:r>
              <a:rPr lang="en-US" dirty="0"/>
              <a:t>If the </a:t>
            </a:r>
            <a:r>
              <a:rPr lang="en-US" b="1" dirty="0"/>
              <a:t>root splits</a:t>
            </a:r>
            <a:r>
              <a:rPr lang="en-US" dirty="0"/>
              <a:t>, a new root is created, and the height increases.</a:t>
            </a:r>
          </a:p>
          <a:p>
            <a:pPr marL="0" indent="0">
              <a:buNone/>
            </a:pPr>
            <a:endParaRPr lang="en-IN" dirty="0"/>
          </a:p>
        </p:txBody>
      </p:sp>
    </p:spTree>
    <p:extLst>
      <p:ext uri="{BB962C8B-B14F-4D97-AF65-F5344CB8AC3E}">
        <p14:creationId xmlns:p14="http://schemas.microsoft.com/office/powerpoint/2010/main" val="188294350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err="1"/>
              <a:t>ExampleLet's</a:t>
            </a:r>
            <a:r>
              <a:rPr lang="en-US" dirty="0"/>
              <a:t> insert the following sequence into a B+ Tree of order 4:10, 20, 5, 6, 12, 30, 7, </a:t>
            </a:r>
            <a:r>
              <a:rPr lang="en-US" dirty="0" smtClean="0"/>
              <a:t>17</a:t>
            </a:r>
          </a:p>
          <a:p>
            <a:r>
              <a:rPr lang="en-US" dirty="0"/>
              <a:t>Insert 10, 20, 5✅ </a:t>
            </a:r>
            <a:endParaRPr lang="en-US" dirty="0" smtClean="0"/>
          </a:p>
          <a:p>
            <a:r>
              <a:rPr lang="en-US" dirty="0" smtClean="0"/>
              <a:t>All </a:t>
            </a:r>
            <a:r>
              <a:rPr lang="en-US" dirty="0"/>
              <a:t>go into the same leaf: [5, 10, 20</a:t>
            </a:r>
            <a:r>
              <a:rPr lang="en-US" dirty="0" smtClean="0"/>
              <a:t>]</a:t>
            </a:r>
          </a:p>
          <a:p>
            <a:endParaRPr lang="en-IN" dirty="0"/>
          </a:p>
        </p:txBody>
      </p:sp>
    </p:spTree>
    <p:extLst>
      <p:ext uri="{BB962C8B-B14F-4D97-AF65-F5344CB8AC3E}">
        <p14:creationId xmlns:p14="http://schemas.microsoft.com/office/powerpoint/2010/main" val="225500673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3236" y="1910555"/>
            <a:ext cx="8007927" cy="4614935"/>
          </a:xfrm>
          <a:prstGeom prst="rect">
            <a:avLst/>
          </a:prstGeom>
        </p:spPr>
      </p:pic>
    </p:spTree>
    <p:extLst>
      <p:ext uri="{BB962C8B-B14F-4D97-AF65-F5344CB8AC3E}">
        <p14:creationId xmlns:p14="http://schemas.microsoft.com/office/powerpoint/2010/main" val="343067074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96291" y="2043906"/>
            <a:ext cx="5099771" cy="3638550"/>
          </a:xfrm>
        </p:spPr>
      </p:pic>
    </p:spTree>
    <p:extLst>
      <p:ext uri="{BB962C8B-B14F-4D97-AF65-F5344CB8AC3E}">
        <p14:creationId xmlns:p14="http://schemas.microsoft.com/office/powerpoint/2010/main" val="140860692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4001" y="1551708"/>
            <a:ext cx="5652654" cy="4849091"/>
          </a:xfrm>
        </p:spPr>
      </p:pic>
    </p:spTree>
    <p:extLst>
      <p:ext uri="{BB962C8B-B14F-4D97-AF65-F5344CB8AC3E}">
        <p14:creationId xmlns:p14="http://schemas.microsoft.com/office/powerpoint/2010/main" val="169255030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Insert 7Goes into [5,6] → becomes [5, 6, 7</a:t>
            </a:r>
            <a:r>
              <a:rPr lang="en-US" dirty="0" smtClean="0"/>
              <a:t>]</a:t>
            </a:r>
          </a:p>
          <a:p>
            <a:r>
              <a:rPr lang="en-US" dirty="0"/>
              <a:t>Insert 17Goes into [10, 12] → becomes [10, 12, 17</a:t>
            </a:r>
            <a:r>
              <a:rPr lang="en-US" dirty="0" smtClean="0"/>
              <a:t>]</a:t>
            </a:r>
          </a:p>
          <a:p>
            <a:endParaRPr lang="en-IN"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1164" y="3491345"/>
            <a:ext cx="7162800" cy="2634817"/>
          </a:xfrm>
          <a:prstGeom prst="rect">
            <a:avLst/>
          </a:prstGeom>
        </p:spPr>
      </p:pic>
    </p:spTree>
    <p:extLst>
      <p:ext uri="{BB962C8B-B14F-4D97-AF65-F5344CB8AC3E}">
        <p14:creationId xmlns:p14="http://schemas.microsoft.com/office/powerpoint/2010/main" val="338814462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28775" y="2534444"/>
            <a:ext cx="5886450" cy="2657475"/>
          </a:xfrm>
        </p:spPr>
      </p:pic>
    </p:spTree>
    <p:extLst>
      <p:ext uri="{BB962C8B-B14F-4D97-AF65-F5344CB8AC3E}">
        <p14:creationId xmlns:p14="http://schemas.microsoft.com/office/powerpoint/2010/main" val="2121086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098" name="Picture 2" descr="Generated imag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46909" y="1600200"/>
            <a:ext cx="6400799" cy="48421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510903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 Tree Deletion</a:t>
            </a: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90612" y="1565565"/>
            <a:ext cx="6962775" cy="2092035"/>
          </a:xfrm>
        </p:spPr>
      </p:pic>
    </p:spTree>
    <p:extLst>
      <p:ext uri="{BB962C8B-B14F-4D97-AF65-F5344CB8AC3E}">
        <p14:creationId xmlns:p14="http://schemas.microsoft.com/office/powerpoint/2010/main" val="408320586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4" name="Content Placeholder 3"/>
          <p:cNvSpPr>
            <a:spLocks noGrp="1"/>
          </p:cNvSpPr>
          <p:nvPr>
            <p:ph idx="1"/>
          </p:nvPr>
        </p:nvSpPr>
        <p:spPr>
          <a:xfrm>
            <a:off x="457200" y="1600200"/>
            <a:ext cx="8229600" cy="3342453"/>
          </a:xfrm>
          <a:prstGeom prst="rect">
            <a:avLst/>
          </a:prstGeom>
        </p:spPr>
        <p:txBody>
          <a:bodyPr>
            <a:spAutoFit/>
          </a:bodyPr>
          <a:lstStyle/>
          <a:p>
            <a:r>
              <a:rPr lang="en-IN" b="1" dirty="0"/>
              <a:t>B+ Tree Deletion Steps</a:t>
            </a:r>
          </a:p>
          <a:p>
            <a:pPr marL="0" indent="0">
              <a:buNone/>
            </a:pPr>
            <a:r>
              <a:rPr lang="en-IN" dirty="0"/>
              <a:t>Assume B+ Tree of </a:t>
            </a:r>
            <a:r>
              <a:rPr lang="en-IN" b="1" dirty="0"/>
              <a:t>order 4 (m=4)</a:t>
            </a:r>
            <a:r>
              <a:rPr lang="en-IN" dirty="0"/>
              <a:t>:</a:t>
            </a:r>
          </a:p>
          <a:p>
            <a:pPr marL="0" indent="0">
              <a:buNone/>
            </a:pPr>
            <a:r>
              <a:rPr lang="en-IN" dirty="0"/>
              <a:t>Leaf nodes can hold </a:t>
            </a:r>
            <a:r>
              <a:rPr lang="en-IN" b="1" dirty="0"/>
              <a:t>3 keys max</a:t>
            </a:r>
            <a:r>
              <a:rPr lang="en-IN" dirty="0"/>
              <a:t> and </a:t>
            </a:r>
            <a:r>
              <a:rPr lang="en-IN" b="1" dirty="0"/>
              <a:t>2 keys min</a:t>
            </a:r>
            <a:r>
              <a:rPr lang="en-IN" dirty="0"/>
              <a:t> (⌈4/2⌉ - 1 = 1).</a:t>
            </a:r>
          </a:p>
          <a:p>
            <a:pPr marL="0" indent="0">
              <a:buNone/>
            </a:pPr>
            <a:r>
              <a:rPr lang="en-IN" dirty="0"/>
              <a:t>Internal nodes: max 3 keys, min 1 key (⌈4/2⌉ - 1 = 1).</a:t>
            </a:r>
          </a:p>
        </p:txBody>
      </p:sp>
    </p:spTree>
    <p:extLst>
      <p:ext uri="{BB962C8B-B14F-4D97-AF65-F5344CB8AC3E}">
        <p14:creationId xmlns:p14="http://schemas.microsoft.com/office/powerpoint/2010/main" val="175149762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 Tree Deletion Step</a:t>
            </a:r>
            <a:endParaRPr lang="en-IN" dirty="0"/>
          </a:p>
        </p:txBody>
      </p:sp>
      <p:sp>
        <p:nvSpPr>
          <p:cNvPr id="3" name="Content Placeholder 2"/>
          <p:cNvSpPr>
            <a:spLocks noGrp="1"/>
          </p:cNvSpPr>
          <p:nvPr>
            <p:ph idx="1"/>
          </p:nvPr>
        </p:nvSpPr>
        <p:spPr>
          <a:xfrm>
            <a:off x="457200" y="1600200"/>
            <a:ext cx="8229600" cy="5008418"/>
          </a:xfrm>
        </p:spPr>
        <p:txBody>
          <a:bodyPr>
            <a:normAutofit fontScale="55000" lnSpcReduction="20000"/>
          </a:bodyPr>
          <a:lstStyle/>
          <a:p>
            <a:pPr marL="0" indent="0">
              <a:buNone/>
            </a:pPr>
            <a:r>
              <a:rPr lang="en-US" b="1" dirty="0"/>
              <a:t>Step 1: Locate the Leaf Node</a:t>
            </a:r>
          </a:p>
          <a:p>
            <a:r>
              <a:rPr lang="en-US" dirty="0"/>
              <a:t>Search for the leaf node containing the key to delete</a:t>
            </a:r>
            <a:r>
              <a:rPr lang="en-US" dirty="0" smtClean="0"/>
              <a:t>.</a:t>
            </a:r>
          </a:p>
          <a:p>
            <a:pPr marL="0" indent="0">
              <a:buNone/>
            </a:pPr>
            <a:r>
              <a:rPr lang="en-US" b="1" dirty="0"/>
              <a:t>Step 2: Remove the Key</a:t>
            </a:r>
          </a:p>
          <a:p>
            <a:r>
              <a:rPr lang="en-US" dirty="0"/>
              <a:t>Delete the key from the leaf node</a:t>
            </a:r>
            <a:r>
              <a:rPr lang="en-US" dirty="0" smtClean="0"/>
              <a:t>.</a:t>
            </a:r>
          </a:p>
          <a:p>
            <a:pPr marL="0" indent="0">
              <a:buNone/>
            </a:pPr>
            <a:r>
              <a:rPr lang="en-US" b="1" dirty="0"/>
              <a:t>Step 3: Underflow Check</a:t>
            </a:r>
          </a:p>
          <a:p>
            <a:r>
              <a:rPr lang="en-US" dirty="0"/>
              <a:t>After deletion, check if the node still satisfies the </a:t>
            </a:r>
            <a:r>
              <a:rPr lang="en-US" b="1" dirty="0"/>
              <a:t>minimum occupancy</a:t>
            </a:r>
            <a:r>
              <a:rPr lang="en-US" dirty="0"/>
              <a:t> rule</a:t>
            </a:r>
            <a:r>
              <a:rPr lang="en-US" dirty="0" smtClean="0"/>
              <a:t>.</a:t>
            </a:r>
          </a:p>
          <a:p>
            <a:pPr marL="0" indent="0">
              <a:buNone/>
            </a:pPr>
            <a:r>
              <a:rPr lang="en-US" b="1" dirty="0"/>
              <a:t>Step 4: Handle Underflow</a:t>
            </a:r>
          </a:p>
          <a:p>
            <a:r>
              <a:rPr lang="en-US" dirty="0"/>
              <a:t>There are 3 possibilities:</a:t>
            </a:r>
          </a:p>
          <a:p>
            <a:r>
              <a:rPr lang="en-US" b="1" dirty="0"/>
              <a:t>A. Redistribution (Borrowing):</a:t>
            </a:r>
            <a:endParaRPr lang="en-US" dirty="0"/>
          </a:p>
          <a:p>
            <a:r>
              <a:rPr lang="en-US" dirty="0"/>
              <a:t>Borrow a key from a </a:t>
            </a:r>
            <a:r>
              <a:rPr lang="en-US" b="1" dirty="0"/>
              <a:t>sibling</a:t>
            </a:r>
            <a:r>
              <a:rPr lang="en-US" dirty="0"/>
              <a:t> (left or right) with extra keys.</a:t>
            </a:r>
          </a:p>
          <a:p>
            <a:r>
              <a:rPr lang="en-US" dirty="0"/>
              <a:t>Adjust the parent key.</a:t>
            </a:r>
          </a:p>
          <a:p>
            <a:r>
              <a:rPr lang="en-US" b="1" dirty="0"/>
              <a:t>B. Merge:</a:t>
            </a:r>
            <a:endParaRPr lang="en-US" dirty="0"/>
          </a:p>
          <a:p>
            <a:r>
              <a:rPr lang="en-US" dirty="0"/>
              <a:t>Merge with a sibling if redistribution isn’t possible.</a:t>
            </a:r>
          </a:p>
          <a:p>
            <a:r>
              <a:rPr lang="en-US" dirty="0"/>
              <a:t>Pull down the separating key from the parent.</a:t>
            </a:r>
          </a:p>
          <a:p>
            <a:r>
              <a:rPr lang="en-US" dirty="0"/>
              <a:t>Delete that key from the parent node.</a:t>
            </a:r>
          </a:p>
          <a:p>
            <a:r>
              <a:rPr lang="en-US" b="1" dirty="0"/>
              <a:t>C. Propagate Up:</a:t>
            </a:r>
            <a:endParaRPr lang="en-US" dirty="0"/>
          </a:p>
          <a:p>
            <a:r>
              <a:rPr lang="en-US" dirty="0"/>
              <a:t>If the parent underflows, </a:t>
            </a:r>
            <a:r>
              <a:rPr lang="en-US" b="1" dirty="0"/>
              <a:t>repeat the process recursively</a:t>
            </a:r>
            <a:r>
              <a:rPr lang="en-US" dirty="0"/>
              <a:t>.</a:t>
            </a:r>
          </a:p>
          <a:p>
            <a:r>
              <a:rPr lang="en-US" dirty="0"/>
              <a:t>If the root is empty and has one child, </a:t>
            </a:r>
            <a:r>
              <a:rPr lang="en-US" b="1" dirty="0"/>
              <a:t>make that child the new root</a:t>
            </a:r>
            <a:r>
              <a:rPr lang="en-US" dirty="0"/>
              <a:t>.</a:t>
            </a:r>
          </a:p>
          <a:p>
            <a:endParaRPr lang="en-US" dirty="0"/>
          </a:p>
          <a:p>
            <a:endParaRPr lang="en-US" dirty="0"/>
          </a:p>
          <a:p>
            <a:pPr marL="0" indent="0">
              <a:buNone/>
            </a:pPr>
            <a:endParaRPr lang="en-US" dirty="0"/>
          </a:p>
          <a:p>
            <a:endParaRPr lang="en-IN" dirty="0"/>
          </a:p>
        </p:txBody>
      </p:sp>
    </p:spTree>
    <p:extLst>
      <p:ext uri="{BB962C8B-B14F-4D97-AF65-F5344CB8AC3E}">
        <p14:creationId xmlns:p14="http://schemas.microsoft.com/office/powerpoint/2010/main" val="154135288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33600" y="2230583"/>
            <a:ext cx="3848100" cy="2685112"/>
          </a:xfrm>
        </p:spPr>
      </p:pic>
    </p:spTree>
    <p:extLst>
      <p:ext uri="{BB962C8B-B14F-4D97-AF65-F5344CB8AC3E}">
        <p14:creationId xmlns:p14="http://schemas.microsoft.com/office/powerpoint/2010/main" val="135386807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Delete </a:t>
            </a:r>
            <a:r>
              <a:rPr lang="en-US" dirty="0" smtClean="0"/>
              <a:t>7,Found </a:t>
            </a:r>
            <a:r>
              <a:rPr lang="en-US" dirty="0"/>
              <a:t>in [5,6,7] → becomes [5,6] ✅ Still valid → No merge/borrow </a:t>
            </a:r>
            <a:r>
              <a:rPr lang="en-US" dirty="0" smtClean="0"/>
              <a:t>needed</a:t>
            </a:r>
          </a:p>
          <a:p>
            <a:r>
              <a:rPr lang="en-US" dirty="0"/>
              <a:t>Delete </a:t>
            </a:r>
            <a:r>
              <a:rPr lang="en-US" dirty="0" smtClean="0"/>
              <a:t>6,Now </a:t>
            </a:r>
            <a:r>
              <a:rPr lang="en-US" dirty="0"/>
              <a:t>[5] → Underflow (only 1 key, min is 1 so still OK) </a:t>
            </a:r>
            <a:endParaRPr lang="en-US" dirty="0" smtClean="0"/>
          </a:p>
          <a:p>
            <a:r>
              <a:rPr lang="en-US" dirty="0"/>
              <a:t>Delete 5Now node is empty → </a:t>
            </a:r>
            <a:r>
              <a:rPr lang="en-US" dirty="0" err="1"/>
              <a:t>Underflow!Try</a:t>
            </a:r>
            <a:r>
              <a:rPr lang="en-US" dirty="0"/>
              <a:t> redistribution from neighbor:[10,12,17] has enough keys → borrow 10Now:[10] [12,17] → parent updated from [10,20] to [12,20]</a:t>
            </a:r>
            <a:endParaRPr lang="en-US" dirty="0" smtClean="0"/>
          </a:p>
          <a:p>
            <a:endParaRPr lang="en-IN" dirty="0"/>
          </a:p>
        </p:txBody>
      </p:sp>
    </p:spTree>
    <p:extLst>
      <p:ext uri="{BB962C8B-B14F-4D97-AF65-F5344CB8AC3E}">
        <p14:creationId xmlns:p14="http://schemas.microsoft.com/office/powerpoint/2010/main" val="77825038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Delete </a:t>
            </a:r>
            <a:r>
              <a:rPr lang="en-US" dirty="0" smtClean="0"/>
              <a:t>10,From </a:t>
            </a:r>
            <a:r>
              <a:rPr lang="en-US" dirty="0"/>
              <a:t>[10] → becomes </a:t>
            </a:r>
            <a:r>
              <a:rPr lang="en-US" dirty="0" err="1"/>
              <a:t>emptyCan’t</a:t>
            </a:r>
            <a:r>
              <a:rPr lang="en-US" dirty="0"/>
              <a:t> borrow → merge with sibling [12,17]Parent key 12 is removed → parent becomes [20</a:t>
            </a:r>
            <a:r>
              <a:rPr lang="en-US" dirty="0" smtClean="0"/>
              <a:t>]</a:t>
            </a:r>
          </a:p>
          <a:p>
            <a:endParaRPr lang="en-US" dirty="0" smtClean="0"/>
          </a:p>
          <a:p>
            <a:endParaRPr lang="en-IN"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8441" y="3863181"/>
            <a:ext cx="3095625" cy="1885950"/>
          </a:xfrm>
          <a:prstGeom prst="rect">
            <a:avLst/>
          </a:prstGeom>
        </p:spPr>
      </p:pic>
    </p:spTree>
    <p:extLst>
      <p:ext uri="{BB962C8B-B14F-4D97-AF65-F5344CB8AC3E}">
        <p14:creationId xmlns:p14="http://schemas.microsoft.com/office/powerpoint/2010/main" val="376349052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42" name="Picture 2" descr="Generated imag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45128" y="1600200"/>
            <a:ext cx="6774872" cy="4525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12908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395</TotalTime>
  <Words>7325</Words>
  <Application>Microsoft Office PowerPoint</Application>
  <PresentationFormat>On-screen Show (4:3)</PresentationFormat>
  <Paragraphs>709</Paragraphs>
  <Slides>110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110</vt:i4>
      </vt:variant>
    </vt:vector>
  </HeadingPairs>
  <TitlesOfParts>
    <vt:vector size="114" baseType="lpstr">
      <vt:lpstr>Arial</vt:lpstr>
      <vt:lpstr>Calibri</vt:lpstr>
      <vt:lpstr>Mulish</vt:lpstr>
      <vt:lpstr>Office Theme</vt:lpstr>
      <vt:lpstr>PowerPoint Presentation</vt:lpstr>
      <vt:lpstr>Introduction</vt:lpstr>
      <vt:lpstr>What is Data Warehousing?</vt:lpstr>
      <vt:lpstr> Characteristics of Data Warehouse Architecture: </vt:lpstr>
      <vt:lpstr>PowerPoint Presentation</vt:lpstr>
      <vt:lpstr> Operational System </vt:lpstr>
      <vt:lpstr>PowerPoint Presentation</vt:lpstr>
      <vt:lpstr> Types of Data Warehouse Architectures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Fundamentals of Object-Oriented Databases (OODB): </vt:lpstr>
      <vt:lpstr>PowerPoint Presentation</vt:lpstr>
      <vt:lpstr>PowerPoint Presentation</vt:lpstr>
      <vt:lpstr>PowerPoint Presentation</vt:lpstr>
      <vt:lpstr>PowerPoint Presentation</vt:lpstr>
      <vt:lpstr> Object-Oriented Programming Concepts in Database Management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Distributed Schematic View A distributed schematic view refers to a graphical or conceptual representation of how a distributed system is organized </vt:lpstr>
      <vt:lpstr>PowerPoint Presentation</vt:lpstr>
      <vt:lpstr>PowerPoint Presentation</vt:lpstr>
      <vt:lpstr>PowerPoint Presentation</vt:lpstr>
      <vt:lpstr>Key Characteristics of Data Warehousing</vt:lpstr>
      <vt:lpstr>Real-Life Example: Retail Chain</vt:lpstr>
      <vt:lpstr>What is Data Mining?</vt:lpstr>
      <vt:lpstr>Key Techniques of Data Mining</vt:lpstr>
      <vt:lpstr>Real-Life Example: Banking</vt:lpstr>
      <vt:lpstr>What is Big Data?</vt:lpstr>
      <vt:lpstr>The 3 V's of Big Data</vt:lpstr>
      <vt:lpstr>Real-Life Example: Healthcare</vt:lpstr>
      <vt:lpstr>Technologies Used</vt:lpstr>
      <vt:lpstr>Integration of Data Warehousing, Data Mining, and Big Data</vt:lpstr>
      <vt:lpstr>PowerPoint Presentation</vt:lpstr>
      <vt:lpstr>PowerPoint Presentation</vt:lpstr>
      <vt:lpstr>Hashing in DBMS </vt:lpstr>
      <vt:lpstr>PowerPoint Presentation</vt:lpstr>
      <vt:lpstr>PowerPoint Presentation</vt:lpstr>
      <vt:lpstr>Static Hashing </vt:lpstr>
      <vt:lpstr>PowerPoint Presentation</vt:lpstr>
      <vt:lpstr> Operations of Static Hashing </vt:lpstr>
      <vt:lpstr>Consider a hash function: Y = K % N, where ‘K’ is a key, ‘N’ is the size of the hash table, and ‘Y’ is the generated value. Let us suppose the size of the hash table is 10. In that case, the values will be generated in the following ways. (Also see, Index Mapping)</vt:lpstr>
      <vt:lpstr>PowerPoint Presentation</vt:lpstr>
      <vt:lpstr>Linear Probing  Whenever a collision occurs, we try to find a new empty location for the key down the hash table. Whenever we find an empty location, we store the key on that location.</vt:lpstr>
      <vt:lpstr>PowerPoint Presentation</vt:lpstr>
      <vt:lpstr>PowerPoint Presentation</vt:lpstr>
      <vt:lpstr>PowerPoint Presentation</vt:lpstr>
      <vt:lpstr>RAID devices use different versions called levels. The original paper that coined the term and developed the RAID setup concept defined six levels of RAID -- 0 through 5. This numbered system differentiated the capabilities of the RAID versions. The number of levels has since expanded and has been broken into three categories: standard, nested and nonstandard RAID levels.</vt:lpstr>
      <vt:lpstr>PowerPoint Presentation</vt:lpstr>
      <vt:lpstr>PowerPoint Presentation</vt:lpstr>
      <vt:lpstr>File organization</vt:lpstr>
      <vt:lpstr> Indexed File Organization </vt:lpstr>
      <vt:lpstr> Types of Indexes: </vt:lpstr>
      <vt:lpstr>PowerPoint Presentation</vt:lpstr>
      <vt:lpstr>PowerPoint Presentation</vt:lpstr>
      <vt:lpstr>PowerPoint Presentation</vt:lpstr>
      <vt:lpstr>PowerPoint Presentation</vt:lpstr>
      <vt:lpstr>PowerPoint Presentation</vt:lpstr>
      <vt:lpstr>PowerPoint Presentation</vt:lpstr>
      <vt:lpstr> what is A Dynamic Index Structure </vt:lpstr>
      <vt:lpstr>PowerPoint Presentation</vt:lpstr>
      <vt:lpstr>PowerPoint Presentation</vt:lpstr>
      <vt:lpstr>PowerPoint Presentation</vt:lpstr>
      <vt:lpstr>Conclusion</vt:lpstr>
      <vt:lpstr>Q&amp;A</vt:lpstr>
      <vt:lpstr>Thank You!</vt:lpstr>
      <vt:lpstr>B+ Tree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 Tree Deletion</vt:lpstr>
      <vt:lpstr>PowerPoint Presentation</vt:lpstr>
      <vt:lpstr>B+ Tree Deletion Step</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Subhasish_Mohapatra</cp:lastModifiedBy>
  <cp:revision>45</cp:revision>
  <dcterms:created xsi:type="dcterms:W3CDTF">2013-01-27T09:14:16Z</dcterms:created>
  <dcterms:modified xsi:type="dcterms:W3CDTF">2025-08-08T09:22:19Z</dcterms:modified>
  <cp:category/>
</cp:coreProperties>
</file>