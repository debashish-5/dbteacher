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68" r:id="rId4"/>
    <p:sldId id="269" r:id="rId5"/>
    <p:sldId id="271" r:id="rId6"/>
    <p:sldId id="272" r:id="rId7"/>
    <p:sldId id="273" r:id="rId8"/>
    <p:sldId id="274" r:id="rId9"/>
    <p:sldId id="275" r:id="rId10"/>
    <p:sldId id="276" r:id="rId11"/>
    <p:sldId id="277" r:id="rId12"/>
    <p:sldId id="278" r:id="rId13"/>
    <p:sldId id="279" r:id="rId14"/>
    <p:sldId id="280" r:id="rId15"/>
    <p:sldId id="308" r:id="rId16"/>
    <p:sldId id="309" r:id="rId17"/>
    <p:sldId id="310" r:id="rId18"/>
    <p:sldId id="311" r:id="rId19"/>
    <p:sldId id="312" r:id="rId20"/>
    <p:sldId id="313" r:id="rId21"/>
    <p:sldId id="314" r:id="rId22"/>
    <p:sldId id="315" r:id="rId23"/>
    <p:sldId id="316" r:id="rId24"/>
    <p:sldId id="317" r:id="rId25"/>
    <p:sldId id="318" r:id="rId26"/>
    <p:sldId id="319" r:id="rId27"/>
    <p:sldId id="320" r:id="rId28"/>
    <p:sldId id="321"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22" r:id="rId50"/>
    <p:sldId id="323" r:id="rId51"/>
    <p:sldId id="324" r:id="rId52"/>
    <p:sldId id="325" r:id="rId53"/>
    <p:sldId id="326" r:id="rId54"/>
    <p:sldId id="327" r:id="rId55"/>
    <p:sldId id="328" r:id="rId56"/>
    <p:sldId id="329" r:id="rId57"/>
    <p:sldId id="330" r:id="rId58"/>
    <p:sldId id="331" r:id="rId59"/>
    <p:sldId id="332" r:id="rId60"/>
    <p:sldId id="333" r:id="rId61"/>
    <p:sldId id="334" r:id="rId62"/>
    <p:sldId id="335" r:id="rId63"/>
    <p:sldId id="336" r:id="rId64"/>
    <p:sldId id="337" r:id="rId65"/>
    <p:sldId id="338" r:id="rId66"/>
    <p:sldId id="339" r:id="rId67"/>
    <p:sldId id="340" r:id="rId68"/>
    <p:sldId id="341" r:id="rId69"/>
    <p:sldId id="342" r:id="rId70"/>
    <p:sldId id="343" r:id="rId71"/>
    <p:sldId id="344" r:id="rId72"/>
    <p:sldId id="345" r:id="rId73"/>
    <p:sldId id="346" r:id="rId74"/>
    <p:sldId id="347" r:id="rId75"/>
    <p:sldId id="301" r:id="rId76"/>
    <p:sldId id="302" r:id="rId77"/>
    <p:sldId id="303" r:id="rId78"/>
    <p:sldId id="304" r:id="rId79"/>
    <p:sldId id="305" r:id="rId80"/>
    <p:sldId id="306" r:id="rId81"/>
    <p:sldId id="307" r:id="rId82"/>
    <p:sldId id="270" r:id="rId83"/>
    <p:sldId id="257" r:id="rId84"/>
    <p:sldId id="258" r:id="rId85"/>
    <p:sldId id="259" r:id="rId86"/>
    <p:sldId id="260" r:id="rId87"/>
    <p:sldId id="261" r:id="rId88"/>
    <p:sldId id="262" r:id="rId89"/>
    <p:sldId id="263" r:id="rId90"/>
    <p:sldId id="264" r:id="rId91"/>
    <p:sldId id="265" r:id="rId92"/>
    <p:sldId id="266" r:id="rId93"/>
    <p:sldId id="349" r:id="rId94"/>
    <p:sldId id="350" r:id="rId95"/>
    <p:sldId id="351" r:id="rId96"/>
    <p:sldId id="352" r:id="rId97"/>
    <p:sldId id="353" r:id="rId98"/>
    <p:sldId id="354" r:id="rId99"/>
    <p:sldId id="355" r:id="rId100"/>
    <p:sldId id="348" r:id="rId10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3/20/2025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3/20/2025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scaler.com/topics/dbms/joins-in-dbm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www.geeksforgeeks.org/sql-full-join"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www.geeksforgeeks.org/sql-natural-join/"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s://www.scaler.com/topics/inner-join-vs-outer-join/"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Relational Algebra in DBMS</a:t>
            </a:r>
          </a:p>
        </p:txBody>
      </p:sp>
      <p:sp>
        <p:nvSpPr>
          <p:cNvPr id="3" name="Subtitle 2"/>
          <p:cNvSpPr>
            <a:spLocks noGrp="1"/>
          </p:cNvSpPr>
          <p:nvPr>
            <p:ph type="subTitle" idx="1"/>
          </p:nvPr>
        </p:nvSpPr>
        <p:spPr/>
        <p:txBody>
          <a:bodyPr/>
          <a:lstStyle/>
          <a:p>
            <a:r>
              <a:rPr dirty="0"/>
              <a:t>15 Examples with Solutions &amp; Table Visualization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1944"/>
          </a:xfrm>
        </p:spPr>
        <p:txBody>
          <a:bodyPr>
            <a:normAutofit fontScale="90000"/>
          </a:bodyPr>
          <a:lstStyle/>
          <a:p>
            <a:r>
              <a:rPr lang="en-US" b="1" dirty="0" smtClean="0"/>
              <a:t/>
            </a:r>
            <a:br>
              <a:rPr lang="en-US" b="1" dirty="0" smtClean="0"/>
            </a:br>
            <a:r>
              <a:rPr lang="en-US" b="1" dirty="0" smtClean="0"/>
              <a:t>What </a:t>
            </a:r>
            <a:r>
              <a:rPr lang="en-US" b="1" dirty="0"/>
              <a:t>is Relational Algebra in DBMS?</a:t>
            </a:r>
            <a:br>
              <a:rPr lang="en-US" b="1" dirty="0"/>
            </a:br>
            <a:endParaRPr lang="en-IN" dirty="0"/>
          </a:p>
        </p:txBody>
      </p:sp>
      <p:sp>
        <p:nvSpPr>
          <p:cNvPr id="3" name="Content Placeholder 2"/>
          <p:cNvSpPr>
            <a:spLocks noGrp="1"/>
          </p:cNvSpPr>
          <p:nvPr>
            <p:ph idx="1"/>
          </p:nvPr>
        </p:nvSpPr>
        <p:spPr>
          <a:xfrm>
            <a:off x="457200" y="706582"/>
            <a:ext cx="8229600" cy="6012873"/>
          </a:xfrm>
        </p:spPr>
        <p:txBody>
          <a:bodyPr>
            <a:normAutofit fontScale="77500" lnSpcReduction="20000"/>
          </a:bodyPr>
          <a:lstStyle/>
          <a:p>
            <a:pPr algn="just"/>
            <a:r>
              <a:rPr lang="en-US" dirty="0" smtClean="0"/>
              <a:t>Relational </a:t>
            </a:r>
            <a:r>
              <a:rPr lang="en-US" dirty="0"/>
              <a:t>algebra refers to a procedural query language that takes relation instances as input and returns relation instances as output. It performs queries with the help of operators. A binary or unary operator can be used. They take in relations as input and produce relations as output. Recursive relational algebra is applied to a relationship, and intermediate outcomes are also considered relations.</a:t>
            </a:r>
          </a:p>
          <a:p>
            <a:pPr marL="0" indent="0" algn="just">
              <a:buNone/>
            </a:pPr>
            <a:r>
              <a:rPr lang="en-US" b="1" i="1" dirty="0">
                <a:solidFill>
                  <a:srgbClr val="FF0000"/>
                </a:solidFill>
              </a:rPr>
              <a:t>Relational Algebra Operations</a:t>
            </a:r>
          </a:p>
          <a:p>
            <a:pPr algn="just"/>
            <a:r>
              <a:rPr lang="en-US" dirty="0"/>
              <a:t>The following are the fundamental operations present in a relational algebra:</a:t>
            </a:r>
          </a:p>
          <a:p>
            <a:pPr algn="just"/>
            <a:r>
              <a:rPr lang="en-US" dirty="0"/>
              <a:t>Select Operation</a:t>
            </a:r>
          </a:p>
          <a:p>
            <a:pPr algn="just"/>
            <a:r>
              <a:rPr lang="en-US" dirty="0"/>
              <a:t>Project Operation</a:t>
            </a:r>
          </a:p>
          <a:p>
            <a:pPr algn="just"/>
            <a:r>
              <a:rPr lang="en-US" dirty="0"/>
              <a:t>Union Operation</a:t>
            </a:r>
          </a:p>
          <a:p>
            <a:pPr algn="just"/>
            <a:r>
              <a:rPr lang="en-US" dirty="0"/>
              <a:t>Set Different Operation</a:t>
            </a:r>
          </a:p>
          <a:p>
            <a:pPr algn="just"/>
            <a:r>
              <a:rPr lang="en-US" dirty="0"/>
              <a:t>Cartesian Product Operation</a:t>
            </a:r>
          </a:p>
          <a:p>
            <a:pPr algn="just"/>
            <a:r>
              <a:rPr lang="en-US" dirty="0"/>
              <a:t>Rename Operation</a:t>
            </a:r>
          </a:p>
          <a:p>
            <a:endParaRPr lang="en-IN" dirty="0"/>
          </a:p>
        </p:txBody>
      </p:sp>
    </p:spTree>
    <p:extLst>
      <p:ext uri="{BB962C8B-B14F-4D97-AF65-F5344CB8AC3E}">
        <p14:creationId xmlns:p14="http://schemas.microsoft.com/office/powerpoint/2010/main" val="2113132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a:t>
            </a:r>
            <a:endParaRPr lang="en-IN"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102097872"/>
              </p:ext>
            </p:extLst>
          </p:nvPr>
        </p:nvGraphicFramePr>
        <p:xfrm>
          <a:off x="457200" y="1953489"/>
          <a:ext cx="8229600" cy="3297384"/>
        </p:xfrm>
        <a:graphic>
          <a:graphicData uri="http://schemas.openxmlformats.org/drawingml/2006/table">
            <a:tbl>
              <a:tblPr/>
              <a:tblGrid>
                <a:gridCol w="2743200">
                  <a:extLst>
                    <a:ext uri="{9D8B030D-6E8A-4147-A177-3AD203B41FA5}">
                      <a16:colId xmlns:a16="http://schemas.microsoft.com/office/drawing/2014/main" val="2978010221"/>
                    </a:ext>
                  </a:extLst>
                </a:gridCol>
                <a:gridCol w="2743200">
                  <a:extLst>
                    <a:ext uri="{9D8B030D-6E8A-4147-A177-3AD203B41FA5}">
                      <a16:colId xmlns:a16="http://schemas.microsoft.com/office/drawing/2014/main" val="715546642"/>
                    </a:ext>
                  </a:extLst>
                </a:gridCol>
                <a:gridCol w="2743200">
                  <a:extLst>
                    <a:ext uri="{9D8B030D-6E8A-4147-A177-3AD203B41FA5}">
                      <a16:colId xmlns:a16="http://schemas.microsoft.com/office/drawing/2014/main" val="346410564"/>
                    </a:ext>
                  </a:extLst>
                </a:gridCol>
              </a:tblGrid>
              <a:tr h="549564">
                <a:tc>
                  <a:txBody>
                    <a:bodyPr/>
                    <a:lstStyle/>
                    <a:p>
                      <a:pPr algn="ctr"/>
                      <a:r>
                        <a:rPr lang="en-IN">
                          <a:effectLst/>
                        </a:rPr>
                        <a:t>EMPLOYEE_NO</a:t>
                      </a:r>
                    </a:p>
                  </a:txBody>
                  <a:tcPr anchor="ctr">
                    <a:lnL>
                      <a:noFill/>
                    </a:lnL>
                    <a:lnR>
                      <a:noFill/>
                    </a:lnR>
                    <a:lnT>
                      <a:noFill/>
                    </a:lnT>
                    <a:lnB>
                      <a:noFill/>
                    </a:lnB>
                  </a:tcPr>
                </a:tc>
                <a:tc>
                  <a:txBody>
                    <a:bodyPr/>
                    <a:lstStyle/>
                    <a:p>
                      <a:pPr algn="ctr"/>
                      <a:r>
                        <a:rPr lang="en-IN">
                          <a:effectLst/>
                        </a:rPr>
                        <a:t>NAME</a:t>
                      </a:r>
                    </a:p>
                  </a:txBody>
                  <a:tcPr anchor="ctr">
                    <a:lnL>
                      <a:noFill/>
                    </a:lnL>
                    <a:lnR>
                      <a:noFill/>
                    </a:lnR>
                    <a:lnT>
                      <a:noFill/>
                    </a:lnT>
                    <a:lnB>
                      <a:noFill/>
                    </a:lnB>
                  </a:tcPr>
                </a:tc>
                <a:tc>
                  <a:txBody>
                    <a:bodyPr/>
                    <a:lstStyle/>
                    <a:p>
                      <a:pPr algn="ctr"/>
                      <a:r>
                        <a:rPr lang="en-IN">
                          <a:effectLst/>
                        </a:rPr>
                        <a:t>AGE</a:t>
                      </a:r>
                    </a:p>
                  </a:txBody>
                  <a:tcPr anchor="ctr">
                    <a:lnL>
                      <a:noFill/>
                    </a:lnL>
                    <a:lnR>
                      <a:noFill/>
                    </a:lnR>
                    <a:lnT>
                      <a:noFill/>
                    </a:lnT>
                    <a:lnB>
                      <a:noFill/>
                    </a:lnB>
                  </a:tcPr>
                </a:tc>
                <a:extLst>
                  <a:ext uri="{0D108BD9-81ED-4DB2-BD59-A6C34878D82A}">
                    <a16:rowId xmlns:a16="http://schemas.microsoft.com/office/drawing/2014/main" val="2545854154"/>
                  </a:ext>
                </a:extLst>
              </a:tr>
              <a:tr h="549564">
                <a:tc>
                  <a:txBody>
                    <a:bodyPr/>
                    <a:lstStyle/>
                    <a:p>
                      <a:pPr algn="ctr"/>
                      <a:r>
                        <a:rPr lang="en-IN">
                          <a:effectLst/>
                        </a:rPr>
                        <a:t>E-1</a:t>
                      </a:r>
                    </a:p>
                  </a:txBody>
                  <a:tcPr anchor="ctr">
                    <a:lnL>
                      <a:noFill/>
                    </a:lnL>
                    <a:lnR>
                      <a:noFill/>
                    </a:lnR>
                    <a:lnT>
                      <a:noFill/>
                    </a:lnT>
                    <a:lnB>
                      <a:noFill/>
                    </a:lnB>
                  </a:tcPr>
                </a:tc>
                <a:tc>
                  <a:txBody>
                    <a:bodyPr/>
                    <a:lstStyle/>
                    <a:p>
                      <a:pPr algn="ctr"/>
                      <a:r>
                        <a:rPr lang="en-IN" dirty="0" err="1">
                          <a:effectLst/>
                        </a:rPr>
                        <a:t>Anant</a:t>
                      </a:r>
                      <a:endParaRPr lang="en-IN" dirty="0">
                        <a:effectLst/>
                      </a:endParaRPr>
                    </a:p>
                  </a:txBody>
                  <a:tcPr anchor="ctr">
                    <a:lnL>
                      <a:noFill/>
                    </a:lnL>
                    <a:lnR>
                      <a:noFill/>
                    </a:lnR>
                    <a:lnT>
                      <a:noFill/>
                    </a:lnT>
                    <a:lnB>
                      <a:noFill/>
                    </a:lnB>
                  </a:tcPr>
                </a:tc>
                <a:tc>
                  <a:txBody>
                    <a:bodyPr/>
                    <a:lstStyle/>
                    <a:p>
                      <a:pPr algn="ctr"/>
                      <a:r>
                        <a:rPr lang="en-IN">
                          <a:effectLst/>
                        </a:rPr>
                        <a:t>20</a:t>
                      </a:r>
                    </a:p>
                  </a:txBody>
                  <a:tcPr anchor="ctr">
                    <a:lnL>
                      <a:noFill/>
                    </a:lnL>
                    <a:lnR>
                      <a:noFill/>
                    </a:lnR>
                    <a:lnT>
                      <a:noFill/>
                    </a:lnT>
                    <a:lnB>
                      <a:noFill/>
                    </a:lnB>
                  </a:tcPr>
                </a:tc>
                <a:extLst>
                  <a:ext uri="{0D108BD9-81ED-4DB2-BD59-A6C34878D82A}">
                    <a16:rowId xmlns:a16="http://schemas.microsoft.com/office/drawing/2014/main" val="2361164878"/>
                  </a:ext>
                </a:extLst>
              </a:tr>
              <a:tr h="549564">
                <a:tc>
                  <a:txBody>
                    <a:bodyPr/>
                    <a:lstStyle/>
                    <a:p>
                      <a:pPr algn="ctr"/>
                      <a:r>
                        <a:rPr lang="en-IN">
                          <a:effectLst/>
                        </a:rPr>
                        <a:t>E-2</a:t>
                      </a:r>
                    </a:p>
                  </a:txBody>
                  <a:tcPr anchor="ctr">
                    <a:lnL>
                      <a:noFill/>
                    </a:lnL>
                    <a:lnR>
                      <a:noFill/>
                    </a:lnR>
                    <a:lnT>
                      <a:noFill/>
                    </a:lnT>
                    <a:lnB>
                      <a:noFill/>
                    </a:lnB>
                  </a:tcPr>
                </a:tc>
                <a:tc>
                  <a:txBody>
                    <a:bodyPr/>
                    <a:lstStyle/>
                    <a:p>
                      <a:pPr algn="ctr"/>
                      <a:r>
                        <a:rPr lang="en-IN">
                          <a:effectLst/>
                        </a:rPr>
                        <a:t>Ashish</a:t>
                      </a:r>
                    </a:p>
                  </a:txBody>
                  <a:tcPr anchor="ctr">
                    <a:lnL>
                      <a:noFill/>
                    </a:lnL>
                    <a:lnR>
                      <a:noFill/>
                    </a:lnR>
                    <a:lnT>
                      <a:noFill/>
                    </a:lnT>
                    <a:lnB>
                      <a:noFill/>
                    </a:lnB>
                  </a:tcPr>
                </a:tc>
                <a:tc>
                  <a:txBody>
                    <a:bodyPr/>
                    <a:lstStyle/>
                    <a:p>
                      <a:pPr algn="ctr"/>
                      <a:r>
                        <a:rPr lang="en-IN">
                          <a:effectLst/>
                        </a:rPr>
                        <a:t>23</a:t>
                      </a:r>
                    </a:p>
                  </a:txBody>
                  <a:tcPr anchor="ctr">
                    <a:lnL>
                      <a:noFill/>
                    </a:lnL>
                    <a:lnR>
                      <a:noFill/>
                    </a:lnR>
                    <a:lnT>
                      <a:noFill/>
                    </a:lnT>
                    <a:lnB>
                      <a:noFill/>
                    </a:lnB>
                  </a:tcPr>
                </a:tc>
                <a:extLst>
                  <a:ext uri="{0D108BD9-81ED-4DB2-BD59-A6C34878D82A}">
                    <a16:rowId xmlns:a16="http://schemas.microsoft.com/office/drawing/2014/main" val="4228393587"/>
                  </a:ext>
                </a:extLst>
              </a:tr>
              <a:tr h="549564">
                <a:tc>
                  <a:txBody>
                    <a:bodyPr/>
                    <a:lstStyle/>
                    <a:p>
                      <a:pPr algn="ctr"/>
                      <a:r>
                        <a:rPr lang="en-IN">
                          <a:effectLst/>
                        </a:rPr>
                        <a:t>E-3</a:t>
                      </a:r>
                    </a:p>
                  </a:txBody>
                  <a:tcPr anchor="ctr">
                    <a:lnL>
                      <a:noFill/>
                    </a:lnL>
                    <a:lnR>
                      <a:noFill/>
                    </a:lnR>
                    <a:lnT>
                      <a:noFill/>
                    </a:lnT>
                    <a:lnB>
                      <a:noFill/>
                    </a:lnB>
                  </a:tcPr>
                </a:tc>
                <a:tc>
                  <a:txBody>
                    <a:bodyPr/>
                    <a:lstStyle/>
                    <a:p>
                      <a:pPr algn="ctr"/>
                      <a:r>
                        <a:rPr lang="en-IN">
                          <a:effectLst/>
                        </a:rPr>
                        <a:t>Baljeet</a:t>
                      </a:r>
                    </a:p>
                  </a:txBody>
                  <a:tcPr anchor="ctr">
                    <a:lnL>
                      <a:noFill/>
                    </a:lnL>
                    <a:lnR>
                      <a:noFill/>
                    </a:lnR>
                    <a:lnT>
                      <a:noFill/>
                    </a:lnT>
                    <a:lnB>
                      <a:noFill/>
                    </a:lnB>
                  </a:tcPr>
                </a:tc>
                <a:tc>
                  <a:txBody>
                    <a:bodyPr/>
                    <a:lstStyle/>
                    <a:p>
                      <a:pPr algn="ctr"/>
                      <a:r>
                        <a:rPr lang="en-IN">
                          <a:effectLst/>
                        </a:rPr>
                        <a:t>25</a:t>
                      </a:r>
                    </a:p>
                  </a:txBody>
                  <a:tcPr anchor="ctr">
                    <a:lnL>
                      <a:noFill/>
                    </a:lnL>
                    <a:lnR>
                      <a:noFill/>
                    </a:lnR>
                    <a:lnT>
                      <a:noFill/>
                    </a:lnT>
                    <a:lnB>
                      <a:noFill/>
                    </a:lnB>
                  </a:tcPr>
                </a:tc>
                <a:extLst>
                  <a:ext uri="{0D108BD9-81ED-4DB2-BD59-A6C34878D82A}">
                    <a16:rowId xmlns:a16="http://schemas.microsoft.com/office/drawing/2014/main" val="3151540324"/>
                  </a:ext>
                </a:extLst>
              </a:tr>
              <a:tr h="549564">
                <a:tc>
                  <a:txBody>
                    <a:bodyPr/>
                    <a:lstStyle/>
                    <a:p>
                      <a:pPr algn="ctr"/>
                      <a:r>
                        <a:rPr lang="en-IN">
                          <a:effectLst/>
                        </a:rPr>
                        <a:t>E-4</a:t>
                      </a:r>
                    </a:p>
                  </a:txBody>
                  <a:tcPr anchor="ctr">
                    <a:lnL>
                      <a:noFill/>
                    </a:lnL>
                    <a:lnR>
                      <a:noFill/>
                    </a:lnR>
                    <a:lnT>
                      <a:noFill/>
                    </a:lnT>
                    <a:lnB>
                      <a:noFill/>
                    </a:lnB>
                  </a:tcPr>
                </a:tc>
                <a:tc>
                  <a:txBody>
                    <a:bodyPr/>
                    <a:lstStyle/>
                    <a:p>
                      <a:pPr algn="ctr"/>
                      <a:r>
                        <a:rPr lang="en-IN">
                          <a:effectLst/>
                        </a:rPr>
                        <a:t>Harsh</a:t>
                      </a:r>
                    </a:p>
                  </a:txBody>
                  <a:tcPr anchor="ctr">
                    <a:lnL>
                      <a:noFill/>
                    </a:lnL>
                    <a:lnR>
                      <a:noFill/>
                    </a:lnR>
                    <a:lnT>
                      <a:noFill/>
                    </a:lnT>
                    <a:lnB>
                      <a:noFill/>
                    </a:lnB>
                  </a:tcPr>
                </a:tc>
                <a:tc>
                  <a:txBody>
                    <a:bodyPr/>
                    <a:lstStyle/>
                    <a:p>
                      <a:pPr algn="ctr"/>
                      <a:r>
                        <a:rPr lang="en-IN">
                          <a:effectLst/>
                        </a:rPr>
                        <a:t>20</a:t>
                      </a:r>
                    </a:p>
                  </a:txBody>
                  <a:tcPr anchor="ctr">
                    <a:lnL>
                      <a:noFill/>
                    </a:lnL>
                    <a:lnR>
                      <a:noFill/>
                    </a:lnR>
                    <a:lnT>
                      <a:noFill/>
                    </a:lnT>
                    <a:lnB>
                      <a:noFill/>
                    </a:lnB>
                  </a:tcPr>
                </a:tc>
                <a:extLst>
                  <a:ext uri="{0D108BD9-81ED-4DB2-BD59-A6C34878D82A}">
                    <a16:rowId xmlns:a16="http://schemas.microsoft.com/office/drawing/2014/main" val="2536837058"/>
                  </a:ext>
                </a:extLst>
              </a:tr>
              <a:tr h="549564">
                <a:tc>
                  <a:txBody>
                    <a:bodyPr/>
                    <a:lstStyle/>
                    <a:p>
                      <a:pPr algn="ctr"/>
                      <a:r>
                        <a:rPr lang="en-IN">
                          <a:effectLst/>
                        </a:rPr>
                        <a:t>E-5</a:t>
                      </a:r>
                    </a:p>
                  </a:txBody>
                  <a:tcPr anchor="ctr">
                    <a:lnL>
                      <a:noFill/>
                    </a:lnL>
                    <a:lnR>
                      <a:noFill/>
                    </a:lnR>
                    <a:lnT>
                      <a:noFill/>
                    </a:lnT>
                    <a:lnB>
                      <a:noFill/>
                    </a:lnB>
                  </a:tcPr>
                </a:tc>
                <a:tc>
                  <a:txBody>
                    <a:bodyPr/>
                    <a:lstStyle/>
                    <a:p>
                      <a:pPr algn="ctr"/>
                      <a:r>
                        <a:rPr lang="en-IN">
                          <a:effectLst/>
                        </a:rPr>
                        <a:t>Pranav</a:t>
                      </a:r>
                    </a:p>
                  </a:txBody>
                  <a:tcPr anchor="ctr">
                    <a:lnL>
                      <a:noFill/>
                    </a:lnL>
                    <a:lnR>
                      <a:noFill/>
                    </a:lnR>
                    <a:lnT>
                      <a:noFill/>
                    </a:lnT>
                    <a:lnB>
                      <a:noFill/>
                    </a:lnB>
                  </a:tcPr>
                </a:tc>
                <a:tc>
                  <a:txBody>
                    <a:bodyPr/>
                    <a:lstStyle/>
                    <a:p>
                      <a:pPr algn="ctr"/>
                      <a:r>
                        <a:rPr lang="en-IN" dirty="0">
                          <a:effectLst/>
                        </a:rPr>
                        <a:t>22</a:t>
                      </a:r>
                    </a:p>
                  </a:txBody>
                  <a:tcPr anchor="ctr">
                    <a:lnL>
                      <a:noFill/>
                    </a:lnL>
                    <a:lnR>
                      <a:noFill/>
                    </a:lnR>
                    <a:lnT>
                      <a:noFill/>
                    </a:lnT>
                    <a:lnB>
                      <a:noFill/>
                    </a:lnB>
                  </a:tcPr>
                </a:tc>
                <a:extLst>
                  <a:ext uri="{0D108BD9-81ED-4DB2-BD59-A6C34878D82A}">
                    <a16:rowId xmlns:a16="http://schemas.microsoft.com/office/drawing/2014/main" val="1521772410"/>
                  </a:ext>
                </a:extLst>
              </a:tr>
            </a:tbl>
          </a:graphicData>
        </a:graphic>
      </p:graphicFrame>
    </p:spTree>
    <p:extLst>
      <p:ext uri="{BB962C8B-B14F-4D97-AF65-F5344CB8AC3E}">
        <p14:creationId xmlns:p14="http://schemas.microsoft.com/office/powerpoint/2010/main" val="3299275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Student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25689499"/>
              </p:ext>
            </p:extLst>
          </p:nvPr>
        </p:nvGraphicFramePr>
        <p:xfrm>
          <a:off x="637307" y="1898071"/>
          <a:ext cx="7827819" cy="3657605"/>
        </p:xfrm>
        <a:graphic>
          <a:graphicData uri="http://schemas.openxmlformats.org/drawingml/2006/table">
            <a:tbl>
              <a:tblPr/>
              <a:tblGrid>
                <a:gridCol w="2609273">
                  <a:extLst>
                    <a:ext uri="{9D8B030D-6E8A-4147-A177-3AD203B41FA5}">
                      <a16:colId xmlns:a16="http://schemas.microsoft.com/office/drawing/2014/main" val="1377870508"/>
                    </a:ext>
                  </a:extLst>
                </a:gridCol>
                <a:gridCol w="2609273">
                  <a:extLst>
                    <a:ext uri="{9D8B030D-6E8A-4147-A177-3AD203B41FA5}">
                      <a16:colId xmlns:a16="http://schemas.microsoft.com/office/drawing/2014/main" val="3157899442"/>
                    </a:ext>
                  </a:extLst>
                </a:gridCol>
                <a:gridCol w="2609273">
                  <a:extLst>
                    <a:ext uri="{9D8B030D-6E8A-4147-A177-3AD203B41FA5}">
                      <a16:colId xmlns:a16="http://schemas.microsoft.com/office/drawing/2014/main" val="611924344"/>
                    </a:ext>
                  </a:extLst>
                </a:gridCol>
              </a:tblGrid>
              <a:tr h="522515">
                <a:tc>
                  <a:txBody>
                    <a:bodyPr/>
                    <a:lstStyle/>
                    <a:p>
                      <a:pPr algn="ctr"/>
                      <a:r>
                        <a:rPr lang="en-IN">
                          <a:effectLst/>
                        </a:rPr>
                        <a:t>ROLL</a:t>
                      </a:r>
                    </a:p>
                  </a:txBody>
                  <a:tcPr anchor="ctr">
                    <a:lnL>
                      <a:noFill/>
                    </a:lnL>
                    <a:lnR>
                      <a:noFill/>
                    </a:lnR>
                    <a:lnT>
                      <a:noFill/>
                    </a:lnT>
                    <a:lnB>
                      <a:noFill/>
                    </a:lnB>
                    <a:solidFill>
                      <a:srgbClr val="FAFBFC"/>
                    </a:solidFill>
                  </a:tcPr>
                </a:tc>
                <a:tc>
                  <a:txBody>
                    <a:bodyPr/>
                    <a:lstStyle/>
                    <a:p>
                      <a:pPr algn="ctr"/>
                      <a:r>
                        <a:rPr lang="en-IN">
                          <a:effectLst/>
                        </a:rPr>
                        <a:t>NAME</a:t>
                      </a:r>
                    </a:p>
                  </a:txBody>
                  <a:tcPr anchor="ctr">
                    <a:lnL>
                      <a:noFill/>
                    </a:lnL>
                    <a:lnR>
                      <a:noFill/>
                    </a:lnR>
                    <a:lnT>
                      <a:noFill/>
                    </a:lnT>
                    <a:lnB>
                      <a:noFill/>
                    </a:lnB>
                    <a:solidFill>
                      <a:srgbClr val="FAFBFC"/>
                    </a:solidFill>
                  </a:tcPr>
                </a:tc>
                <a:tc>
                  <a:txBody>
                    <a:bodyPr/>
                    <a:lstStyle/>
                    <a:p>
                      <a:pPr algn="ctr"/>
                      <a:r>
                        <a:rPr lang="en-IN">
                          <a:effectLst/>
                        </a:rPr>
                        <a:t>AGE</a:t>
                      </a:r>
                    </a:p>
                  </a:txBody>
                  <a:tcPr anchor="ctr">
                    <a:lnL>
                      <a:noFill/>
                    </a:lnL>
                    <a:lnR>
                      <a:noFill/>
                    </a:lnR>
                    <a:lnT>
                      <a:noFill/>
                    </a:lnT>
                    <a:lnB>
                      <a:noFill/>
                    </a:lnB>
                    <a:solidFill>
                      <a:srgbClr val="FAFBFC"/>
                    </a:solidFill>
                  </a:tcPr>
                </a:tc>
                <a:extLst>
                  <a:ext uri="{0D108BD9-81ED-4DB2-BD59-A6C34878D82A}">
                    <a16:rowId xmlns:a16="http://schemas.microsoft.com/office/drawing/2014/main" val="848218674"/>
                  </a:ext>
                </a:extLst>
              </a:tr>
              <a:tr h="522515">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852086991"/>
                  </a:ext>
                </a:extLst>
              </a:tr>
              <a:tr h="522515">
                <a:tc>
                  <a:txBody>
                    <a:bodyPr/>
                    <a:lstStyle/>
                    <a:p>
                      <a:pPr algn="ctr"/>
                      <a:r>
                        <a:rPr lang="en-IN" dirty="0">
                          <a:effectLst/>
                        </a:rPr>
                        <a:t>2</a:t>
                      </a:r>
                    </a:p>
                  </a:txBody>
                  <a:tcPr anchor="ctr">
                    <a:lnL>
                      <a:noFill/>
                    </a:lnL>
                    <a:lnR>
                      <a:noFill/>
                    </a:lnR>
                    <a:lnT>
                      <a:noFill/>
                    </a:lnT>
                    <a:lnB>
                      <a:noFill/>
                    </a:lnB>
                    <a:solidFill>
                      <a:srgbClr val="FAFBFC"/>
                    </a:solidFill>
                  </a:tcPr>
                </a:tc>
                <a:tc>
                  <a:txBody>
                    <a:bodyPr/>
                    <a:lstStyle/>
                    <a:p>
                      <a:pPr algn="ctr"/>
                      <a:r>
                        <a:rPr lang="en-IN">
                          <a:effectLst/>
                        </a:rPr>
                        <a:t>Atul</a:t>
                      </a:r>
                    </a:p>
                  </a:txBody>
                  <a:tcPr anchor="ctr">
                    <a:lnL>
                      <a:noFill/>
                    </a:lnL>
                    <a:lnR>
                      <a:noFill/>
                    </a:lnR>
                    <a:lnT>
                      <a:noFill/>
                    </a:lnT>
                    <a:lnB>
                      <a:noFill/>
                    </a:lnB>
                    <a:solidFill>
                      <a:srgbClr val="FAFBFC"/>
                    </a:solidFill>
                  </a:tcPr>
                </a:tc>
                <a:tc>
                  <a:txBody>
                    <a:bodyPr/>
                    <a:lstStyle/>
                    <a:p>
                      <a:pPr algn="ctr"/>
                      <a:r>
                        <a:rPr lang="en-IN">
                          <a:effectLst/>
                        </a:rPr>
                        <a:t>18</a:t>
                      </a:r>
                    </a:p>
                  </a:txBody>
                  <a:tcPr anchor="ctr">
                    <a:lnL>
                      <a:noFill/>
                    </a:lnL>
                    <a:lnR>
                      <a:noFill/>
                    </a:lnR>
                    <a:lnT>
                      <a:noFill/>
                    </a:lnT>
                    <a:lnB>
                      <a:noFill/>
                    </a:lnB>
                    <a:solidFill>
                      <a:srgbClr val="FAFBFC"/>
                    </a:solidFill>
                  </a:tcPr>
                </a:tc>
                <a:extLst>
                  <a:ext uri="{0D108BD9-81ED-4DB2-BD59-A6C34878D82A}">
                    <a16:rowId xmlns:a16="http://schemas.microsoft.com/office/drawing/2014/main" val="269868458"/>
                  </a:ext>
                </a:extLst>
              </a:tr>
              <a:tr h="522515">
                <a:tc>
                  <a:txBody>
                    <a:bodyPr/>
                    <a:lstStyle/>
                    <a:p>
                      <a:pPr algn="ctr"/>
                      <a:r>
                        <a:rPr lang="en-IN">
                          <a:effectLst/>
                        </a:rPr>
                        <a:t>3</a:t>
                      </a:r>
                    </a:p>
                  </a:txBody>
                  <a:tcPr anchor="ctr">
                    <a:lnL>
                      <a:noFill/>
                    </a:lnL>
                    <a:lnR>
                      <a:noFill/>
                    </a:lnR>
                    <a:lnT>
                      <a:noFill/>
                    </a:lnT>
                    <a:lnB>
                      <a:noFill/>
                    </a:lnB>
                    <a:solidFill>
                      <a:srgbClr val="FAFBFC"/>
                    </a:solidFill>
                  </a:tcPr>
                </a:tc>
                <a:tc>
                  <a:txBody>
                    <a:bodyPr/>
                    <a:lstStyle/>
                    <a:p>
                      <a:pPr algn="ctr"/>
                      <a:r>
                        <a:rPr lang="en-IN">
                          <a:effectLst/>
                        </a:rPr>
                        <a:t>Baljeet</a:t>
                      </a:r>
                    </a:p>
                  </a:txBody>
                  <a:tcPr anchor="ctr">
                    <a:lnL>
                      <a:noFill/>
                    </a:lnL>
                    <a:lnR>
                      <a:noFill/>
                    </a:lnR>
                    <a:lnT>
                      <a:noFill/>
                    </a:lnT>
                    <a:lnB>
                      <a:noFill/>
                    </a:lnB>
                    <a:solidFill>
                      <a:srgbClr val="FAFBFC"/>
                    </a:solidFill>
                  </a:tcPr>
                </a:tc>
                <a:tc>
                  <a:txBody>
                    <a:bodyPr/>
                    <a:lstStyle/>
                    <a:p>
                      <a:pPr algn="ctr"/>
                      <a:r>
                        <a:rPr lang="en-IN">
                          <a:effectLst/>
                        </a:rPr>
                        <a:t>19</a:t>
                      </a:r>
                    </a:p>
                  </a:txBody>
                  <a:tcPr anchor="ctr">
                    <a:lnL>
                      <a:noFill/>
                    </a:lnL>
                    <a:lnR>
                      <a:noFill/>
                    </a:lnR>
                    <a:lnT>
                      <a:noFill/>
                    </a:lnT>
                    <a:lnB>
                      <a:noFill/>
                    </a:lnB>
                    <a:solidFill>
                      <a:srgbClr val="FAFBFC"/>
                    </a:solidFill>
                  </a:tcPr>
                </a:tc>
                <a:extLst>
                  <a:ext uri="{0D108BD9-81ED-4DB2-BD59-A6C34878D82A}">
                    <a16:rowId xmlns:a16="http://schemas.microsoft.com/office/drawing/2014/main" val="3393981323"/>
                  </a:ext>
                </a:extLst>
              </a:tr>
              <a:tr h="522515">
                <a:tc>
                  <a:txBody>
                    <a:bodyPr/>
                    <a:lstStyle/>
                    <a:p>
                      <a:pPr algn="ctr"/>
                      <a:r>
                        <a:rPr lang="en-IN">
                          <a:effectLst/>
                        </a:rPr>
                        <a:t>4</a:t>
                      </a:r>
                    </a:p>
                  </a:txBody>
                  <a:tcPr anchor="ctr">
                    <a:lnL>
                      <a:noFill/>
                    </a:lnL>
                    <a:lnR>
                      <a:noFill/>
                    </a:lnR>
                    <a:lnT>
                      <a:noFill/>
                    </a:lnT>
                    <a:lnB>
                      <a:noFill/>
                    </a:lnB>
                    <a:solidFill>
                      <a:srgbClr val="FAFBFC"/>
                    </a:solidFill>
                  </a:tcPr>
                </a:tc>
                <a:tc>
                  <a:txBody>
                    <a:bodyPr/>
                    <a:lstStyle/>
                    <a:p>
                      <a:pPr algn="ctr"/>
                      <a:r>
                        <a:rPr lang="en-IN">
                          <a:effectLst/>
                        </a:rPr>
                        <a:t>Harsh</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3032177506"/>
                  </a:ext>
                </a:extLst>
              </a:tr>
              <a:tr h="522515">
                <a:tc>
                  <a:txBody>
                    <a:bodyPr/>
                    <a:lstStyle/>
                    <a:p>
                      <a:pPr algn="ctr"/>
                      <a:r>
                        <a:rPr lang="en-IN">
                          <a:effectLst/>
                        </a:rPr>
                        <a:t>5</a:t>
                      </a:r>
                    </a:p>
                  </a:txBody>
                  <a:tcPr anchor="ctr">
                    <a:lnL>
                      <a:noFill/>
                    </a:lnL>
                    <a:lnR>
                      <a:noFill/>
                    </a:lnR>
                    <a:lnT>
                      <a:noFill/>
                    </a:lnT>
                    <a:lnB>
                      <a:noFill/>
                    </a:lnB>
                    <a:solidFill>
                      <a:srgbClr val="FAFBFC"/>
                    </a:solidFill>
                  </a:tcPr>
                </a:tc>
                <a:tc>
                  <a:txBody>
                    <a:bodyPr/>
                    <a:lstStyle/>
                    <a:p>
                      <a:pPr algn="ctr"/>
                      <a:r>
                        <a:rPr lang="en-IN">
                          <a:effectLst/>
                        </a:rPr>
                        <a:t>Prateek</a:t>
                      </a:r>
                    </a:p>
                  </a:txBody>
                  <a:tcPr anchor="ctr">
                    <a:lnL>
                      <a:noFill/>
                    </a:lnL>
                    <a:lnR>
                      <a:noFill/>
                    </a:lnR>
                    <a:lnT>
                      <a:noFill/>
                    </a:lnT>
                    <a:lnB>
                      <a:noFill/>
                    </a:lnB>
                    <a:solidFill>
                      <a:srgbClr val="FAFBFC"/>
                    </a:solidFill>
                  </a:tcPr>
                </a:tc>
                <a:tc>
                  <a:txBody>
                    <a:bodyPr/>
                    <a:lstStyle/>
                    <a:p>
                      <a:pPr algn="ctr"/>
                      <a:r>
                        <a:rPr lang="en-IN">
                          <a:effectLst/>
                        </a:rPr>
                        <a:t>21</a:t>
                      </a:r>
                    </a:p>
                  </a:txBody>
                  <a:tcPr anchor="ctr">
                    <a:lnL>
                      <a:noFill/>
                    </a:lnL>
                    <a:lnR>
                      <a:noFill/>
                    </a:lnR>
                    <a:lnT>
                      <a:noFill/>
                    </a:lnT>
                    <a:lnB>
                      <a:noFill/>
                    </a:lnB>
                    <a:solidFill>
                      <a:srgbClr val="FAFBFC"/>
                    </a:solidFill>
                  </a:tcPr>
                </a:tc>
                <a:extLst>
                  <a:ext uri="{0D108BD9-81ED-4DB2-BD59-A6C34878D82A}">
                    <a16:rowId xmlns:a16="http://schemas.microsoft.com/office/drawing/2014/main" val="2963586604"/>
                  </a:ext>
                </a:extLst>
              </a:tr>
              <a:tr h="522515">
                <a:tc>
                  <a:txBody>
                    <a:bodyPr/>
                    <a:lstStyle/>
                    <a:p>
                      <a:pPr algn="ctr"/>
                      <a:r>
                        <a:rPr lang="en-IN">
                          <a:effectLst/>
                        </a:rPr>
                        <a:t>6</a:t>
                      </a:r>
                    </a:p>
                  </a:txBody>
                  <a:tcPr anchor="ctr">
                    <a:lnL>
                      <a:noFill/>
                    </a:lnL>
                    <a:lnR>
                      <a:noFill/>
                    </a:lnR>
                    <a:lnT>
                      <a:noFill/>
                    </a:lnT>
                    <a:lnB>
                      <a:noFill/>
                    </a:lnB>
                    <a:solidFill>
                      <a:srgbClr val="FAFBFC"/>
                    </a:solidFill>
                  </a:tcPr>
                </a:tc>
                <a:tc>
                  <a:txBody>
                    <a:bodyPr/>
                    <a:lstStyle/>
                    <a:p>
                      <a:pPr algn="ctr"/>
                      <a:r>
                        <a:rPr lang="en-IN">
                          <a:effectLst/>
                        </a:rPr>
                        <a:t>Prateek</a:t>
                      </a:r>
                    </a:p>
                  </a:txBody>
                  <a:tcPr anchor="ctr">
                    <a:lnL>
                      <a:noFill/>
                    </a:lnL>
                    <a:lnR>
                      <a:noFill/>
                    </a:lnR>
                    <a:lnT>
                      <a:noFill/>
                    </a:lnT>
                    <a:lnB>
                      <a:noFill/>
                    </a:lnB>
                    <a:solidFill>
                      <a:srgbClr val="FAFBFC"/>
                    </a:solidFill>
                  </a:tcPr>
                </a:tc>
                <a:tc>
                  <a:txBody>
                    <a:bodyPr/>
                    <a:lstStyle/>
                    <a:p>
                      <a:pPr algn="ctr"/>
                      <a:r>
                        <a:rPr lang="en-IN" dirty="0">
                          <a:effectLst/>
                        </a:rPr>
                        <a:t>23</a:t>
                      </a:r>
                    </a:p>
                  </a:txBody>
                  <a:tcPr anchor="ctr">
                    <a:lnL>
                      <a:noFill/>
                    </a:lnL>
                    <a:lnR>
                      <a:noFill/>
                    </a:lnR>
                    <a:lnT>
                      <a:noFill/>
                    </a:lnT>
                    <a:lnB>
                      <a:noFill/>
                    </a:lnB>
                    <a:solidFill>
                      <a:srgbClr val="FAFBFC"/>
                    </a:solidFill>
                  </a:tcPr>
                </a:tc>
                <a:extLst>
                  <a:ext uri="{0D108BD9-81ED-4DB2-BD59-A6C34878D82A}">
                    <a16:rowId xmlns:a16="http://schemas.microsoft.com/office/drawing/2014/main" val="3786214518"/>
                  </a:ext>
                </a:extLst>
              </a:tr>
            </a:tbl>
          </a:graphicData>
        </a:graphic>
      </p:graphicFrame>
    </p:spTree>
    <p:extLst>
      <p:ext uri="{BB962C8B-B14F-4D97-AF65-F5344CB8AC3E}">
        <p14:creationId xmlns:p14="http://schemas.microsoft.com/office/powerpoint/2010/main" val="2347267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dirty="0"/>
              <a:t>σ </a:t>
            </a:r>
            <a:r>
              <a:rPr lang="en-IN" dirty="0"/>
              <a:t>AGE=20 (STUDENT)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27097176"/>
              </p:ext>
            </p:extLst>
          </p:nvPr>
        </p:nvGraphicFramePr>
        <p:xfrm>
          <a:off x="1136073" y="2632365"/>
          <a:ext cx="6885708" cy="1779456"/>
        </p:xfrm>
        <a:graphic>
          <a:graphicData uri="http://schemas.openxmlformats.org/drawingml/2006/table">
            <a:tbl>
              <a:tblPr/>
              <a:tblGrid>
                <a:gridCol w="2295236">
                  <a:extLst>
                    <a:ext uri="{9D8B030D-6E8A-4147-A177-3AD203B41FA5}">
                      <a16:colId xmlns:a16="http://schemas.microsoft.com/office/drawing/2014/main" val="1144594404"/>
                    </a:ext>
                  </a:extLst>
                </a:gridCol>
                <a:gridCol w="2295236">
                  <a:extLst>
                    <a:ext uri="{9D8B030D-6E8A-4147-A177-3AD203B41FA5}">
                      <a16:colId xmlns:a16="http://schemas.microsoft.com/office/drawing/2014/main" val="2425732637"/>
                    </a:ext>
                  </a:extLst>
                </a:gridCol>
                <a:gridCol w="2295236">
                  <a:extLst>
                    <a:ext uri="{9D8B030D-6E8A-4147-A177-3AD203B41FA5}">
                      <a16:colId xmlns:a16="http://schemas.microsoft.com/office/drawing/2014/main" val="1120707440"/>
                    </a:ext>
                  </a:extLst>
                </a:gridCol>
              </a:tblGrid>
              <a:tr h="593152">
                <a:tc>
                  <a:txBody>
                    <a:bodyPr/>
                    <a:lstStyle/>
                    <a:p>
                      <a:pPr algn="ctr"/>
                      <a:r>
                        <a:rPr lang="en-IN">
                          <a:effectLst/>
                        </a:rPr>
                        <a:t>ROLL</a:t>
                      </a:r>
                    </a:p>
                  </a:txBody>
                  <a:tcPr anchor="ctr">
                    <a:lnL>
                      <a:noFill/>
                    </a:lnL>
                    <a:lnR>
                      <a:noFill/>
                    </a:lnR>
                    <a:lnT>
                      <a:noFill/>
                    </a:lnT>
                    <a:lnB>
                      <a:noFill/>
                    </a:lnB>
                    <a:solidFill>
                      <a:srgbClr val="FAFBFC"/>
                    </a:solidFill>
                  </a:tcPr>
                </a:tc>
                <a:tc>
                  <a:txBody>
                    <a:bodyPr/>
                    <a:lstStyle/>
                    <a:p>
                      <a:pPr algn="ctr"/>
                      <a:r>
                        <a:rPr lang="en-IN">
                          <a:effectLst/>
                        </a:rPr>
                        <a:t>NAME</a:t>
                      </a:r>
                    </a:p>
                  </a:txBody>
                  <a:tcPr anchor="ctr">
                    <a:lnL>
                      <a:noFill/>
                    </a:lnL>
                    <a:lnR>
                      <a:noFill/>
                    </a:lnR>
                    <a:lnT>
                      <a:noFill/>
                    </a:lnT>
                    <a:lnB>
                      <a:noFill/>
                    </a:lnB>
                    <a:solidFill>
                      <a:srgbClr val="FAFBFC"/>
                    </a:solidFill>
                  </a:tcPr>
                </a:tc>
                <a:tc>
                  <a:txBody>
                    <a:bodyPr/>
                    <a:lstStyle/>
                    <a:p>
                      <a:pPr algn="ctr"/>
                      <a:r>
                        <a:rPr lang="en-IN">
                          <a:effectLst/>
                        </a:rPr>
                        <a:t>AGE</a:t>
                      </a:r>
                    </a:p>
                  </a:txBody>
                  <a:tcPr anchor="ctr">
                    <a:lnL>
                      <a:noFill/>
                    </a:lnL>
                    <a:lnR>
                      <a:noFill/>
                    </a:lnR>
                    <a:lnT>
                      <a:noFill/>
                    </a:lnT>
                    <a:lnB>
                      <a:noFill/>
                    </a:lnB>
                    <a:solidFill>
                      <a:srgbClr val="FAFBFC"/>
                    </a:solidFill>
                  </a:tcPr>
                </a:tc>
                <a:extLst>
                  <a:ext uri="{0D108BD9-81ED-4DB2-BD59-A6C34878D82A}">
                    <a16:rowId xmlns:a16="http://schemas.microsoft.com/office/drawing/2014/main" val="1410738450"/>
                  </a:ext>
                </a:extLst>
              </a:tr>
              <a:tr h="593152">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3622981121"/>
                  </a:ext>
                </a:extLst>
              </a:tr>
              <a:tr h="593152">
                <a:tc>
                  <a:txBody>
                    <a:bodyPr/>
                    <a:lstStyle/>
                    <a:p>
                      <a:pPr algn="ctr"/>
                      <a:r>
                        <a:rPr lang="en-IN">
                          <a:effectLst/>
                        </a:rPr>
                        <a:t>4</a:t>
                      </a:r>
                    </a:p>
                  </a:txBody>
                  <a:tcPr anchor="ctr">
                    <a:lnL>
                      <a:noFill/>
                    </a:lnL>
                    <a:lnR>
                      <a:noFill/>
                    </a:lnR>
                    <a:lnT>
                      <a:noFill/>
                    </a:lnT>
                    <a:lnB>
                      <a:noFill/>
                    </a:lnB>
                    <a:solidFill>
                      <a:srgbClr val="FAFBFC"/>
                    </a:solidFill>
                  </a:tcPr>
                </a:tc>
                <a:tc>
                  <a:txBody>
                    <a:bodyPr/>
                    <a:lstStyle/>
                    <a:p>
                      <a:pPr algn="ctr"/>
                      <a:r>
                        <a:rPr lang="en-IN">
                          <a:effectLst/>
                        </a:rPr>
                        <a:t>Harsh</a:t>
                      </a:r>
                    </a:p>
                  </a:txBody>
                  <a:tcPr anchor="ctr">
                    <a:lnL>
                      <a:noFill/>
                    </a:lnL>
                    <a:lnR>
                      <a:noFill/>
                    </a:lnR>
                    <a:lnT>
                      <a:noFill/>
                    </a:lnT>
                    <a:lnB>
                      <a:noFill/>
                    </a:lnB>
                    <a:solidFill>
                      <a:srgbClr val="FAFBFC"/>
                    </a:solidFill>
                  </a:tcPr>
                </a:tc>
                <a:tc>
                  <a:txBody>
                    <a:bodyPr/>
                    <a:lstStyle/>
                    <a:p>
                      <a:pPr algn="ctr"/>
                      <a:r>
                        <a:rPr lang="en-IN" dirty="0">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2731377081"/>
                  </a:ext>
                </a:extLst>
              </a:tr>
            </a:tbl>
          </a:graphicData>
        </a:graphic>
      </p:graphicFrame>
    </p:spTree>
    <p:extLst>
      <p:ext uri="{BB962C8B-B14F-4D97-AF65-F5344CB8AC3E}">
        <p14:creationId xmlns:p14="http://schemas.microsoft.com/office/powerpoint/2010/main" val="2869686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4344"/>
          </a:xfrm>
        </p:spPr>
        <p:txBody>
          <a:bodyPr>
            <a:normAutofit fontScale="90000"/>
          </a:bodyPr>
          <a:lstStyle/>
          <a:p>
            <a:r>
              <a:rPr lang="en-US" b="1" dirty="0" smtClean="0"/>
              <a:t/>
            </a:r>
            <a:br>
              <a:rPr lang="en-US" b="1" dirty="0" smtClean="0"/>
            </a:br>
            <a:r>
              <a:rPr lang="en-US" b="1" dirty="0" smtClean="0"/>
              <a:t>Project </a:t>
            </a:r>
            <a:r>
              <a:rPr lang="en-US" b="1" dirty="0"/>
              <a:t>(∏)</a:t>
            </a:r>
            <a:br>
              <a:rPr lang="en-US" b="1" dirty="0"/>
            </a:br>
            <a:endParaRPr lang="en-IN" dirty="0"/>
          </a:p>
        </p:txBody>
      </p:sp>
      <p:sp>
        <p:nvSpPr>
          <p:cNvPr id="3" name="Content Placeholder 2"/>
          <p:cNvSpPr>
            <a:spLocks noGrp="1"/>
          </p:cNvSpPr>
          <p:nvPr>
            <p:ph idx="1"/>
          </p:nvPr>
        </p:nvSpPr>
        <p:spPr>
          <a:xfrm>
            <a:off x="457200" y="1039092"/>
            <a:ext cx="8229600" cy="5087072"/>
          </a:xfrm>
        </p:spPr>
        <p:txBody>
          <a:bodyPr>
            <a:normAutofit fontScale="92500" lnSpcReduction="20000"/>
          </a:bodyPr>
          <a:lstStyle/>
          <a:p>
            <a:r>
              <a:rPr lang="en-US" dirty="0" smtClean="0"/>
              <a:t>Project </a:t>
            </a:r>
            <a:r>
              <a:rPr lang="en-US" dirty="0"/>
              <a:t>operation is done by Projection Operator which is represented by "pi"(∏). It is used to retrieve certain attributes(columns) from the table. It is also known as vertical partitioning as it separates the table vertically. It is also a </a:t>
            </a:r>
            <a:r>
              <a:rPr lang="en-US" b="1" dirty="0"/>
              <a:t>unary operator</a:t>
            </a:r>
            <a:r>
              <a:rPr lang="en-US" dirty="0"/>
              <a:t>.</a:t>
            </a:r>
            <a:br>
              <a:rPr lang="en-US" dirty="0"/>
            </a:br>
            <a:r>
              <a:rPr lang="en-US" dirty="0"/>
              <a:t>Notation : ∏ a(r)</a:t>
            </a:r>
            <a:br>
              <a:rPr lang="en-US" dirty="0"/>
            </a:br>
            <a:r>
              <a:rPr lang="en-US" dirty="0"/>
              <a:t>Where ∏ is used to represent PROJECTION</a:t>
            </a:r>
            <a:br>
              <a:rPr lang="en-US" dirty="0"/>
            </a:br>
            <a:r>
              <a:rPr lang="en-US" dirty="0"/>
              <a:t>r is used to represent RELATION</a:t>
            </a:r>
            <a:br>
              <a:rPr lang="en-US" dirty="0"/>
            </a:br>
            <a:r>
              <a:rPr lang="en-US" dirty="0"/>
              <a:t>a is the attribute list</a:t>
            </a:r>
            <a:br>
              <a:rPr lang="en-US" dirty="0"/>
            </a:br>
            <a:r>
              <a:rPr lang="en-US" dirty="0"/>
              <a:t>Let's understand this with an example:</a:t>
            </a:r>
            <a:br>
              <a:rPr lang="en-US" dirty="0"/>
            </a:br>
            <a:r>
              <a:rPr lang="en-US" dirty="0"/>
              <a:t>Suppose we want the names of all students from STUDENT Relation.</a:t>
            </a:r>
          </a:p>
          <a:p>
            <a:endParaRPr lang="en-IN" dirty="0"/>
          </a:p>
        </p:txBody>
      </p:sp>
    </p:spTree>
    <p:extLst>
      <p:ext uri="{BB962C8B-B14F-4D97-AF65-F5344CB8AC3E}">
        <p14:creationId xmlns:p14="http://schemas.microsoft.com/office/powerpoint/2010/main" val="4259157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NAME(STUDENT)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4662418"/>
              </p:ext>
            </p:extLst>
          </p:nvPr>
        </p:nvGraphicFramePr>
        <p:xfrm>
          <a:off x="457200" y="2008911"/>
          <a:ext cx="8229600" cy="2951550"/>
        </p:xfrm>
        <a:graphic>
          <a:graphicData uri="http://schemas.openxmlformats.org/drawingml/2006/table">
            <a:tbl>
              <a:tblPr/>
              <a:tblGrid>
                <a:gridCol w="8229600">
                  <a:extLst>
                    <a:ext uri="{9D8B030D-6E8A-4147-A177-3AD203B41FA5}">
                      <a16:colId xmlns:a16="http://schemas.microsoft.com/office/drawing/2014/main" val="175303066"/>
                    </a:ext>
                  </a:extLst>
                </a:gridCol>
              </a:tblGrid>
              <a:tr h="491925">
                <a:tc>
                  <a:txBody>
                    <a:bodyPr/>
                    <a:lstStyle/>
                    <a:p>
                      <a:pPr algn="ctr"/>
                      <a:r>
                        <a:rPr lang="en-IN" b="1" dirty="0">
                          <a:effectLst/>
                        </a:rPr>
                        <a:t>NAME</a:t>
                      </a:r>
                    </a:p>
                  </a:txBody>
                  <a:tcPr anchor="ctr">
                    <a:lnL>
                      <a:noFill/>
                    </a:lnL>
                    <a:lnR>
                      <a:noFill/>
                    </a:lnR>
                    <a:lnT>
                      <a:noFill/>
                    </a:lnT>
                    <a:lnB>
                      <a:noFill/>
                    </a:lnB>
                  </a:tcPr>
                </a:tc>
                <a:extLst>
                  <a:ext uri="{0D108BD9-81ED-4DB2-BD59-A6C34878D82A}">
                    <a16:rowId xmlns:a16="http://schemas.microsoft.com/office/drawing/2014/main" val="840392819"/>
                  </a:ext>
                </a:extLst>
              </a:tr>
              <a:tr h="491925">
                <a:tc>
                  <a:txBody>
                    <a:bodyPr/>
                    <a:lstStyle/>
                    <a:p>
                      <a:pPr algn="ctr"/>
                      <a:r>
                        <a:rPr lang="en-IN" dirty="0" err="1">
                          <a:effectLst/>
                        </a:rPr>
                        <a:t>Aman</a:t>
                      </a:r>
                      <a:endParaRPr lang="en-IN" dirty="0">
                        <a:effectLst/>
                      </a:endParaRPr>
                    </a:p>
                  </a:txBody>
                  <a:tcPr anchor="ctr">
                    <a:lnL>
                      <a:noFill/>
                    </a:lnL>
                    <a:lnR>
                      <a:noFill/>
                    </a:lnR>
                    <a:lnT>
                      <a:noFill/>
                    </a:lnT>
                    <a:lnB>
                      <a:noFill/>
                    </a:lnB>
                  </a:tcPr>
                </a:tc>
                <a:extLst>
                  <a:ext uri="{0D108BD9-81ED-4DB2-BD59-A6C34878D82A}">
                    <a16:rowId xmlns:a16="http://schemas.microsoft.com/office/drawing/2014/main" val="2868738540"/>
                  </a:ext>
                </a:extLst>
              </a:tr>
              <a:tr h="491925">
                <a:tc>
                  <a:txBody>
                    <a:bodyPr/>
                    <a:lstStyle/>
                    <a:p>
                      <a:pPr algn="ctr"/>
                      <a:r>
                        <a:rPr lang="en-IN">
                          <a:effectLst/>
                        </a:rPr>
                        <a:t>Atul</a:t>
                      </a:r>
                    </a:p>
                  </a:txBody>
                  <a:tcPr anchor="ctr">
                    <a:lnL>
                      <a:noFill/>
                    </a:lnL>
                    <a:lnR>
                      <a:noFill/>
                    </a:lnR>
                    <a:lnT>
                      <a:noFill/>
                    </a:lnT>
                    <a:lnB>
                      <a:noFill/>
                    </a:lnB>
                  </a:tcPr>
                </a:tc>
                <a:extLst>
                  <a:ext uri="{0D108BD9-81ED-4DB2-BD59-A6C34878D82A}">
                    <a16:rowId xmlns:a16="http://schemas.microsoft.com/office/drawing/2014/main" val="1181254652"/>
                  </a:ext>
                </a:extLst>
              </a:tr>
              <a:tr h="491925">
                <a:tc>
                  <a:txBody>
                    <a:bodyPr/>
                    <a:lstStyle/>
                    <a:p>
                      <a:pPr algn="ctr"/>
                      <a:r>
                        <a:rPr lang="en-IN">
                          <a:effectLst/>
                        </a:rPr>
                        <a:t>Baljeet</a:t>
                      </a:r>
                    </a:p>
                  </a:txBody>
                  <a:tcPr anchor="ctr">
                    <a:lnL>
                      <a:noFill/>
                    </a:lnL>
                    <a:lnR>
                      <a:noFill/>
                    </a:lnR>
                    <a:lnT>
                      <a:noFill/>
                    </a:lnT>
                    <a:lnB>
                      <a:noFill/>
                    </a:lnB>
                  </a:tcPr>
                </a:tc>
                <a:extLst>
                  <a:ext uri="{0D108BD9-81ED-4DB2-BD59-A6C34878D82A}">
                    <a16:rowId xmlns:a16="http://schemas.microsoft.com/office/drawing/2014/main" val="567594341"/>
                  </a:ext>
                </a:extLst>
              </a:tr>
              <a:tr h="491925">
                <a:tc>
                  <a:txBody>
                    <a:bodyPr/>
                    <a:lstStyle/>
                    <a:p>
                      <a:pPr algn="ctr"/>
                      <a:r>
                        <a:rPr lang="en-IN">
                          <a:effectLst/>
                        </a:rPr>
                        <a:t>Harsh</a:t>
                      </a:r>
                    </a:p>
                  </a:txBody>
                  <a:tcPr anchor="ctr">
                    <a:lnL>
                      <a:noFill/>
                    </a:lnL>
                    <a:lnR>
                      <a:noFill/>
                    </a:lnR>
                    <a:lnT>
                      <a:noFill/>
                    </a:lnT>
                    <a:lnB>
                      <a:noFill/>
                    </a:lnB>
                  </a:tcPr>
                </a:tc>
                <a:extLst>
                  <a:ext uri="{0D108BD9-81ED-4DB2-BD59-A6C34878D82A}">
                    <a16:rowId xmlns:a16="http://schemas.microsoft.com/office/drawing/2014/main" val="3341947319"/>
                  </a:ext>
                </a:extLst>
              </a:tr>
              <a:tr h="491925">
                <a:tc>
                  <a:txBody>
                    <a:bodyPr/>
                    <a:lstStyle/>
                    <a:p>
                      <a:pPr algn="ctr"/>
                      <a:r>
                        <a:rPr lang="en-IN" dirty="0" err="1">
                          <a:effectLst/>
                        </a:rPr>
                        <a:t>Prateek</a:t>
                      </a:r>
                      <a:endParaRPr lang="en-IN" dirty="0">
                        <a:effectLst/>
                      </a:endParaRPr>
                    </a:p>
                  </a:txBody>
                  <a:tcPr anchor="ctr">
                    <a:lnL>
                      <a:noFill/>
                    </a:lnL>
                    <a:lnR>
                      <a:noFill/>
                    </a:lnR>
                    <a:lnT>
                      <a:noFill/>
                    </a:lnT>
                    <a:lnB>
                      <a:noFill/>
                    </a:lnB>
                  </a:tcPr>
                </a:tc>
                <a:extLst>
                  <a:ext uri="{0D108BD9-81ED-4DB2-BD59-A6C34878D82A}">
                    <a16:rowId xmlns:a16="http://schemas.microsoft.com/office/drawing/2014/main" val="1743170093"/>
                  </a:ext>
                </a:extLst>
              </a:tr>
            </a:tbl>
          </a:graphicData>
        </a:graphic>
      </p:graphicFrame>
    </p:spTree>
    <p:extLst>
      <p:ext uri="{BB962C8B-B14F-4D97-AF65-F5344CB8AC3E}">
        <p14:creationId xmlns:p14="http://schemas.microsoft.com/office/powerpoint/2010/main" val="1021622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307"/>
          </a:xfrm>
        </p:spPr>
        <p:txBody>
          <a:bodyPr>
            <a:normAutofit fontScale="90000"/>
          </a:bodyPr>
          <a:lstStyle/>
          <a:p>
            <a:r>
              <a:rPr lang="en-IN" dirty="0" smtClean="0"/>
              <a:t/>
            </a:r>
            <a:br>
              <a:rPr lang="en-IN" dirty="0" smtClean="0"/>
            </a:br>
            <a:r>
              <a:rPr lang="en-IN" dirty="0" smtClean="0"/>
              <a:t>∏ </a:t>
            </a:r>
            <a:r>
              <a:rPr lang="en-IN" dirty="0"/>
              <a:t>ROLL,NAME(STUDENT)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43354498"/>
              </p:ext>
            </p:extLst>
          </p:nvPr>
        </p:nvGraphicFramePr>
        <p:xfrm>
          <a:off x="665016" y="1607130"/>
          <a:ext cx="7384474" cy="3536211"/>
        </p:xfrm>
        <a:graphic>
          <a:graphicData uri="http://schemas.openxmlformats.org/drawingml/2006/table">
            <a:tbl>
              <a:tblPr/>
              <a:tblGrid>
                <a:gridCol w="3692237">
                  <a:extLst>
                    <a:ext uri="{9D8B030D-6E8A-4147-A177-3AD203B41FA5}">
                      <a16:colId xmlns:a16="http://schemas.microsoft.com/office/drawing/2014/main" val="112014732"/>
                    </a:ext>
                  </a:extLst>
                </a:gridCol>
                <a:gridCol w="3692237">
                  <a:extLst>
                    <a:ext uri="{9D8B030D-6E8A-4147-A177-3AD203B41FA5}">
                      <a16:colId xmlns:a16="http://schemas.microsoft.com/office/drawing/2014/main" val="2835457203"/>
                    </a:ext>
                  </a:extLst>
                </a:gridCol>
              </a:tblGrid>
              <a:tr h="505173">
                <a:tc>
                  <a:txBody>
                    <a:bodyPr/>
                    <a:lstStyle/>
                    <a:p>
                      <a:pPr algn="ctr"/>
                      <a:r>
                        <a:rPr lang="en-IN">
                          <a:effectLst/>
                        </a:rPr>
                        <a:t>ROLL</a:t>
                      </a:r>
                    </a:p>
                  </a:txBody>
                  <a:tcPr anchor="ctr">
                    <a:lnL>
                      <a:noFill/>
                    </a:lnL>
                    <a:lnR>
                      <a:noFill/>
                    </a:lnR>
                    <a:lnT>
                      <a:noFill/>
                    </a:lnT>
                    <a:lnB>
                      <a:noFill/>
                    </a:lnB>
                    <a:solidFill>
                      <a:srgbClr val="FAFBFC"/>
                    </a:solidFill>
                  </a:tcPr>
                </a:tc>
                <a:tc>
                  <a:txBody>
                    <a:bodyPr/>
                    <a:lstStyle/>
                    <a:p>
                      <a:pPr algn="ctr"/>
                      <a:r>
                        <a:rPr lang="en-IN">
                          <a:effectLst/>
                        </a:rPr>
                        <a:t>NAME</a:t>
                      </a:r>
                    </a:p>
                  </a:txBody>
                  <a:tcPr anchor="ctr">
                    <a:lnL>
                      <a:noFill/>
                    </a:lnL>
                    <a:lnR>
                      <a:noFill/>
                    </a:lnR>
                    <a:lnT>
                      <a:noFill/>
                    </a:lnT>
                    <a:lnB>
                      <a:noFill/>
                    </a:lnB>
                    <a:solidFill>
                      <a:srgbClr val="FAFBFC"/>
                    </a:solidFill>
                  </a:tcPr>
                </a:tc>
                <a:extLst>
                  <a:ext uri="{0D108BD9-81ED-4DB2-BD59-A6C34878D82A}">
                    <a16:rowId xmlns:a16="http://schemas.microsoft.com/office/drawing/2014/main" val="3659943686"/>
                  </a:ext>
                </a:extLst>
              </a:tr>
              <a:tr h="505173">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extLst>
                  <a:ext uri="{0D108BD9-81ED-4DB2-BD59-A6C34878D82A}">
                    <a16:rowId xmlns:a16="http://schemas.microsoft.com/office/drawing/2014/main" val="4226349762"/>
                  </a:ext>
                </a:extLst>
              </a:tr>
              <a:tr h="505173">
                <a:tc>
                  <a:txBody>
                    <a:bodyPr/>
                    <a:lstStyle/>
                    <a:p>
                      <a:pPr algn="ctr"/>
                      <a:r>
                        <a:rPr lang="en-IN">
                          <a:effectLst/>
                        </a:rPr>
                        <a:t>2</a:t>
                      </a:r>
                    </a:p>
                  </a:txBody>
                  <a:tcPr anchor="ctr">
                    <a:lnL>
                      <a:noFill/>
                    </a:lnL>
                    <a:lnR>
                      <a:noFill/>
                    </a:lnR>
                    <a:lnT>
                      <a:noFill/>
                    </a:lnT>
                    <a:lnB>
                      <a:noFill/>
                    </a:lnB>
                    <a:solidFill>
                      <a:srgbClr val="FAFBFC"/>
                    </a:solidFill>
                  </a:tcPr>
                </a:tc>
                <a:tc>
                  <a:txBody>
                    <a:bodyPr/>
                    <a:lstStyle/>
                    <a:p>
                      <a:pPr algn="ctr"/>
                      <a:r>
                        <a:rPr lang="en-IN">
                          <a:effectLst/>
                        </a:rPr>
                        <a:t>Atul</a:t>
                      </a:r>
                    </a:p>
                  </a:txBody>
                  <a:tcPr anchor="ctr">
                    <a:lnL>
                      <a:noFill/>
                    </a:lnL>
                    <a:lnR>
                      <a:noFill/>
                    </a:lnR>
                    <a:lnT>
                      <a:noFill/>
                    </a:lnT>
                    <a:lnB>
                      <a:noFill/>
                    </a:lnB>
                    <a:solidFill>
                      <a:srgbClr val="FAFBFC"/>
                    </a:solidFill>
                  </a:tcPr>
                </a:tc>
                <a:extLst>
                  <a:ext uri="{0D108BD9-81ED-4DB2-BD59-A6C34878D82A}">
                    <a16:rowId xmlns:a16="http://schemas.microsoft.com/office/drawing/2014/main" val="2056841207"/>
                  </a:ext>
                </a:extLst>
              </a:tr>
              <a:tr h="505173">
                <a:tc>
                  <a:txBody>
                    <a:bodyPr/>
                    <a:lstStyle/>
                    <a:p>
                      <a:pPr algn="ctr"/>
                      <a:r>
                        <a:rPr lang="en-IN">
                          <a:effectLst/>
                        </a:rPr>
                        <a:t>3</a:t>
                      </a:r>
                    </a:p>
                  </a:txBody>
                  <a:tcPr anchor="ctr">
                    <a:lnL>
                      <a:noFill/>
                    </a:lnL>
                    <a:lnR>
                      <a:noFill/>
                    </a:lnR>
                    <a:lnT>
                      <a:noFill/>
                    </a:lnT>
                    <a:lnB>
                      <a:noFill/>
                    </a:lnB>
                    <a:solidFill>
                      <a:srgbClr val="FAFBFC"/>
                    </a:solidFill>
                  </a:tcPr>
                </a:tc>
                <a:tc>
                  <a:txBody>
                    <a:bodyPr/>
                    <a:lstStyle/>
                    <a:p>
                      <a:pPr algn="ctr"/>
                      <a:r>
                        <a:rPr lang="en-IN">
                          <a:effectLst/>
                        </a:rPr>
                        <a:t>Baljeet</a:t>
                      </a:r>
                    </a:p>
                  </a:txBody>
                  <a:tcPr anchor="ctr">
                    <a:lnL>
                      <a:noFill/>
                    </a:lnL>
                    <a:lnR>
                      <a:noFill/>
                    </a:lnR>
                    <a:lnT>
                      <a:noFill/>
                    </a:lnT>
                    <a:lnB>
                      <a:noFill/>
                    </a:lnB>
                    <a:solidFill>
                      <a:srgbClr val="FAFBFC"/>
                    </a:solidFill>
                  </a:tcPr>
                </a:tc>
                <a:extLst>
                  <a:ext uri="{0D108BD9-81ED-4DB2-BD59-A6C34878D82A}">
                    <a16:rowId xmlns:a16="http://schemas.microsoft.com/office/drawing/2014/main" val="2887224334"/>
                  </a:ext>
                </a:extLst>
              </a:tr>
              <a:tr h="505173">
                <a:tc>
                  <a:txBody>
                    <a:bodyPr/>
                    <a:lstStyle/>
                    <a:p>
                      <a:pPr algn="ctr"/>
                      <a:r>
                        <a:rPr lang="en-IN">
                          <a:effectLst/>
                        </a:rPr>
                        <a:t>4</a:t>
                      </a:r>
                    </a:p>
                  </a:txBody>
                  <a:tcPr anchor="ctr">
                    <a:lnL>
                      <a:noFill/>
                    </a:lnL>
                    <a:lnR>
                      <a:noFill/>
                    </a:lnR>
                    <a:lnT>
                      <a:noFill/>
                    </a:lnT>
                    <a:lnB>
                      <a:noFill/>
                    </a:lnB>
                    <a:solidFill>
                      <a:srgbClr val="FAFBFC"/>
                    </a:solidFill>
                  </a:tcPr>
                </a:tc>
                <a:tc>
                  <a:txBody>
                    <a:bodyPr/>
                    <a:lstStyle/>
                    <a:p>
                      <a:pPr algn="ctr"/>
                      <a:r>
                        <a:rPr lang="en-IN">
                          <a:effectLst/>
                        </a:rPr>
                        <a:t>Harsh</a:t>
                      </a:r>
                    </a:p>
                  </a:txBody>
                  <a:tcPr anchor="ctr">
                    <a:lnL>
                      <a:noFill/>
                    </a:lnL>
                    <a:lnR>
                      <a:noFill/>
                    </a:lnR>
                    <a:lnT>
                      <a:noFill/>
                    </a:lnT>
                    <a:lnB>
                      <a:noFill/>
                    </a:lnB>
                    <a:solidFill>
                      <a:srgbClr val="FAFBFC"/>
                    </a:solidFill>
                  </a:tcPr>
                </a:tc>
                <a:extLst>
                  <a:ext uri="{0D108BD9-81ED-4DB2-BD59-A6C34878D82A}">
                    <a16:rowId xmlns:a16="http://schemas.microsoft.com/office/drawing/2014/main" val="3274715255"/>
                  </a:ext>
                </a:extLst>
              </a:tr>
              <a:tr h="505173">
                <a:tc>
                  <a:txBody>
                    <a:bodyPr/>
                    <a:lstStyle/>
                    <a:p>
                      <a:pPr algn="ctr"/>
                      <a:r>
                        <a:rPr lang="en-IN">
                          <a:effectLst/>
                        </a:rPr>
                        <a:t>5</a:t>
                      </a:r>
                    </a:p>
                  </a:txBody>
                  <a:tcPr anchor="ctr">
                    <a:lnL>
                      <a:noFill/>
                    </a:lnL>
                    <a:lnR>
                      <a:noFill/>
                    </a:lnR>
                    <a:lnT>
                      <a:noFill/>
                    </a:lnT>
                    <a:lnB>
                      <a:noFill/>
                    </a:lnB>
                    <a:solidFill>
                      <a:srgbClr val="FAFBFC"/>
                    </a:solidFill>
                  </a:tcPr>
                </a:tc>
                <a:tc>
                  <a:txBody>
                    <a:bodyPr/>
                    <a:lstStyle/>
                    <a:p>
                      <a:pPr algn="ctr"/>
                      <a:r>
                        <a:rPr lang="en-IN">
                          <a:effectLst/>
                        </a:rPr>
                        <a:t>Prateek</a:t>
                      </a:r>
                    </a:p>
                  </a:txBody>
                  <a:tcPr anchor="ctr">
                    <a:lnL>
                      <a:noFill/>
                    </a:lnL>
                    <a:lnR>
                      <a:noFill/>
                    </a:lnR>
                    <a:lnT>
                      <a:noFill/>
                    </a:lnT>
                    <a:lnB>
                      <a:noFill/>
                    </a:lnB>
                    <a:solidFill>
                      <a:srgbClr val="FAFBFC"/>
                    </a:solidFill>
                  </a:tcPr>
                </a:tc>
                <a:extLst>
                  <a:ext uri="{0D108BD9-81ED-4DB2-BD59-A6C34878D82A}">
                    <a16:rowId xmlns:a16="http://schemas.microsoft.com/office/drawing/2014/main" val="2340515737"/>
                  </a:ext>
                </a:extLst>
              </a:tr>
              <a:tr h="505173">
                <a:tc>
                  <a:txBody>
                    <a:bodyPr/>
                    <a:lstStyle/>
                    <a:p>
                      <a:pPr algn="ctr"/>
                      <a:r>
                        <a:rPr lang="en-IN">
                          <a:effectLst/>
                        </a:rPr>
                        <a:t>6</a:t>
                      </a:r>
                    </a:p>
                  </a:txBody>
                  <a:tcPr anchor="ctr">
                    <a:lnL>
                      <a:noFill/>
                    </a:lnL>
                    <a:lnR>
                      <a:noFill/>
                    </a:lnR>
                    <a:lnT>
                      <a:noFill/>
                    </a:lnT>
                    <a:lnB>
                      <a:noFill/>
                    </a:lnB>
                    <a:solidFill>
                      <a:srgbClr val="FAFBFC"/>
                    </a:solidFill>
                  </a:tcPr>
                </a:tc>
                <a:tc>
                  <a:txBody>
                    <a:bodyPr/>
                    <a:lstStyle/>
                    <a:p>
                      <a:pPr algn="ctr"/>
                      <a:r>
                        <a:rPr lang="en-IN" dirty="0" err="1">
                          <a:effectLst/>
                        </a:rPr>
                        <a:t>Prateek</a:t>
                      </a:r>
                      <a:endParaRPr lang="en-IN" dirty="0">
                        <a:effectLst/>
                      </a:endParaRPr>
                    </a:p>
                  </a:txBody>
                  <a:tcPr anchor="ctr">
                    <a:lnL>
                      <a:noFill/>
                    </a:lnL>
                    <a:lnR>
                      <a:noFill/>
                    </a:lnR>
                    <a:lnT>
                      <a:noFill/>
                    </a:lnT>
                    <a:lnB>
                      <a:noFill/>
                    </a:lnB>
                    <a:solidFill>
                      <a:srgbClr val="FAFBFC"/>
                    </a:solidFill>
                  </a:tcPr>
                </a:tc>
                <a:extLst>
                  <a:ext uri="{0D108BD9-81ED-4DB2-BD59-A6C34878D82A}">
                    <a16:rowId xmlns:a16="http://schemas.microsoft.com/office/drawing/2014/main" val="669787237"/>
                  </a:ext>
                </a:extLst>
              </a:tr>
            </a:tbl>
          </a:graphicData>
        </a:graphic>
      </p:graphicFrame>
    </p:spTree>
    <p:extLst>
      <p:ext uri="{BB962C8B-B14F-4D97-AF65-F5344CB8AC3E}">
        <p14:creationId xmlns:p14="http://schemas.microsoft.com/office/powerpoint/2010/main" val="31035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endParaRPr lang="en-IN" dirty="0"/>
          </a:p>
        </p:txBody>
      </p:sp>
      <p:sp>
        <p:nvSpPr>
          <p:cNvPr id="3" name="Content Placeholder 2"/>
          <p:cNvSpPr>
            <a:spLocks noGrp="1"/>
          </p:cNvSpPr>
          <p:nvPr>
            <p:ph idx="1"/>
          </p:nvPr>
        </p:nvSpPr>
        <p:spPr>
          <a:xfrm>
            <a:off x="457200" y="1260764"/>
            <a:ext cx="8229600" cy="4865399"/>
          </a:xfrm>
        </p:spPr>
        <p:txBody>
          <a:bodyPr>
            <a:normAutofit fontScale="70000" lnSpcReduction="20000"/>
          </a:bodyPr>
          <a:lstStyle/>
          <a:p>
            <a:pPr marL="0" indent="0">
              <a:buNone/>
            </a:pPr>
            <a:r>
              <a:rPr lang="en-US" b="1" dirty="0"/>
              <a:t>Union (∪)</a:t>
            </a:r>
          </a:p>
          <a:p>
            <a:r>
              <a:rPr lang="en-US" dirty="0"/>
              <a:t>Union operation is done by Union Operator which is represented by "union"(∪). It is the same as the union operator from set theory, i.e., </a:t>
            </a:r>
            <a:r>
              <a:rPr lang="en-US" b="1" dirty="0"/>
              <a:t>it selects all tuples from both relations but with the exception that for the union of two relations/tables both relations must have the same set of Attributes</a:t>
            </a:r>
            <a:r>
              <a:rPr lang="en-US" dirty="0"/>
              <a:t>. It is a </a:t>
            </a:r>
            <a:r>
              <a:rPr lang="en-US" b="1" dirty="0"/>
              <a:t>binary operator</a:t>
            </a:r>
            <a:r>
              <a:rPr lang="en-US" dirty="0"/>
              <a:t> as it requires two operands.</a:t>
            </a:r>
            <a:br>
              <a:rPr lang="en-US" dirty="0"/>
            </a:br>
            <a:r>
              <a:rPr lang="en-US" dirty="0"/>
              <a:t>Notation: R ∪ S</a:t>
            </a:r>
            <a:br>
              <a:rPr lang="en-US" dirty="0"/>
            </a:br>
            <a:r>
              <a:rPr lang="en-US" dirty="0"/>
              <a:t>Where R is the first relation</a:t>
            </a:r>
            <a:br>
              <a:rPr lang="en-US" dirty="0"/>
            </a:br>
            <a:r>
              <a:rPr lang="en-US" dirty="0"/>
              <a:t>S is the second relation</a:t>
            </a:r>
          </a:p>
          <a:p>
            <a:r>
              <a:rPr lang="en-US" dirty="0"/>
              <a:t>If relations don't have the same set of attributes, then the union of such relations will result in NULL.</a:t>
            </a:r>
          </a:p>
          <a:p>
            <a:r>
              <a:rPr lang="en-US" dirty="0"/>
              <a:t>Let's have an example to clarify the concept:</a:t>
            </a:r>
            <a:br>
              <a:rPr lang="en-US" dirty="0"/>
            </a:br>
            <a:r>
              <a:rPr lang="en-US" dirty="0"/>
              <a:t>Suppose we want all the names from STUDENT and EMPLOYEE relation.</a:t>
            </a:r>
          </a:p>
          <a:p>
            <a:endParaRPr lang="en-IN" dirty="0"/>
          </a:p>
        </p:txBody>
      </p:sp>
    </p:spTree>
    <p:extLst>
      <p:ext uri="{BB962C8B-B14F-4D97-AF65-F5344CB8AC3E}">
        <p14:creationId xmlns:p14="http://schemas.microsoft.com/office/powerpoint/2010/main" val="3295688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 NAME(STUDENT) ∪ ∏ NAME(EMPLOYEE</a:t>
            </a:r>
            <a:r>
              <a:rPr lang="en-IN" dirty="0"/>
              <a:t>)</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92985657"/>
              </p:ext>
            </p:extLst>
          </p:nvPr>
        </p:nvGraphicFramePr>
        <p:xfrm>
          <a:off x="1524000" y="1925778"/>
          <a:ext cx="6096000" cy="3583323"/>
        </p:xfrm>
        <a:graphic>
          <a:graphicData uri="http://schemas.openxmlformats.org/drawingml/2006/table">
            <a:tbl>
              <a:tblPr/>
              <a:tblGrid>
                <a:gridCol w="6096000">
                  <a:extLst>
                    <a:ext uri="{9D8B030D-6E8A-4147-A177-3AD203B41FA5}">
                      <a16:colId xmlns:a16="http://schemas.microsoft.com/office/drawing/2014/main" val="1882661423"/>
                    </a:ext>
                  </a:extLst>
                </a:gridCol>
              </a:tblGrid>
              <a:tr h="398147">
                <a:tc>
                  <a:txBody>
                    <a:bodyPr/>
                    <a:lstStyle/>
                    <a:p>
                      <a:pPr algn="ctr"/>
                      <a:r>
                        <a:rPr lang="en-IN">
                          <a:effectLst/>
                        </a:rPr>
                        <a:t>NAME</a:t>
                      </a:r>
                    </a:p>
                  </a:txBody>
                  <a:tcPr anchor="ctr">
                    <a:lnL>
                      <a:noFill/>
                    </a:lnL>
                    <a:lnR>
                      <a:noFill/>
                    </a:lnR>
                    <a:lnT>
                      <a:noFill/>
                    </a:lnT>
                    <a:lnB>
                      <a:noFill/>
                    </a:lnB>
                    <a:solidFill>
                      <a:srgbClr val="FAFBFC"/>
                    </a:solidFill>
                  </a:tcPr>
                </a:tc>
                <a:extLst>
                  <a:ext uri="{0D108BD9-81ED-4DB2-BD59-A6C34878D82A}">
                    <a16:rowId xmlns:a16="http://schemas.microsoft.com/office/drawing/2014/main" val="2687097413"/>
                  </a:ext>
                </a:extLst>
              </a:tr>
              <a:tr h="398147">
                <a:tc>
                  <a:txBody>
                    <a:bodyPr/>
                    <a:lstStyle/>
                    <a:p>
                      <a:pPr algn="ctr"/>
                      <a:r>
                        <a:rPr lang="en-IN">
                          <a:effectLst/>
                        </a:rPr>
                        <a:t>Aman</a:t>
                      </a:r>
                    </a:p>
                  </a:txBody>
                  <a:tcPr anchor="ctr">
                    <a:lnL>
                      <a:noFill/>
                    </a:lnL>
                    <a:lnR>
                      <a:noFill/>
                    </a:lnR>
                    <a:lnT>
                      <a:noFill/>
                    </a:lnT>
                    <a:lnB>
                      <a:noFill/>
                    </a:lnB>
                    <a:solidFill>
                      <a:srgbClr val="FAFBFC"/>
                    </a:solidFill>
                  </a:tcPr>
                </a:tc>
                <a:extLst>
                  <a:ext uri="{0D108BD9-81ED-4DB2-BD59-A6C34878D82A}">
                    <a16:rowId xmlns:a16="http://schemas.microsoft.com/office/drawing/2014/main" val="780303391"/>
                  </a:ext>
                </a:extLst>
              </a:tr>
              <a:tr h="398147">
                <a:tc>
                  <a:txBody>
                    <a:bodyPr/>
                    <a:lstStyle/>
                    <a:p>
                      <a:pPr algn="ctr"/>
                      <a:r>
                        <a:rPr lang="en-IN">
                          <a:effectLst/>
                        </a:rPr>
                        <a:t>Anant</a:t>
                      </a:r>
                    </a:p>
                  </a:txBody>
                  <a:tcPr anchor="ctr">
                    <a:lnL>
                      <a:noFill/>
                    </a:lnL>
                    <a:lnR>
                      <a:noFill/>
                    </a:lnR>
                    <a:lnT>
                      <a:noFill/>
                    </a:lnT>
                    <a:lnB>
                      <a:noFill/>
                    </a:lnB>
                    <a:solidFill>
                      <a:srgbClr val="FAFBFC"/>
                    </a:solidFill>
                  </a:tcPr>
                </a:tc>
                <a:extLst>
                  <a:ext uri="{0D108BD9-81ED-4DB2-BD59-A6C34878D82A}">
                    <a16:rowId xmlns:a16="http://schemas.microsoft.com/office/drawing/2014/main" val="2631129452"/>
                  </a:ext>
                </a:extLst>
              </a:tr>
              <a:tr h="398147">
                <a:tc>
                  <a:txBody>
                    <a:bodyPr/>
                    <a:lstStyle/>
                    <a:p>
                      <a:pPr algn="ctr"/>
                      <a:r>
                        <a:rPr lang="en-IN">
                          <a:effectLst/>
                        </a:rPr>
                        <a:t>Ashish</a:t>
                      </a:r>
                    </a:p>
                  </a:txBody>
                  <a:tcPr anchor="ctr">
                    <a:lnL>
                      <a:noFill/>
                    </a:lnL>
                    <a:lnR>
                      <a:noFill/>
                    </a:lnR>
                    <a:lnT>
                      <a:noFill/>
                    </a:lnT>
                    <a:lnB>
                      <a:noFill/>
                    </a:lnB>
                    <a:solidFill>
                      <a:srgbClr val="FAFBFC"/>
                    </a:solidFill>
                  </a:tcPr>
                </a:tc>
                <a:extLst>
                  <a:ext uri="{0D108BD9-81ED-4DB2-BD59-A6C34878D82A}">
                    <a16:rowId xmlns:a16="http://schemas.microsoft.com/office/drawing/2014/main" val="2626593347"/>
                  </a:ext>
                </a:extLst>
              </a:tr>
              <a:tr h="398147">
                <a:tc>
                  <a:txBody>
                    <a:bodyPr/>
                    <a:lstStyle/>
                    <a:p>
                      <a:pPr algn="ctr"/>
                      <a:r>
                        <a:rPr lang="en-IN">
                          <a:effectLst/>
                        </a:rPr>
                        <a:t>Atul</a:t>
                      </a:r>
                    </a:p>
                  </a:txBody>
                  <a:tcPr anchor="ctr">
                    <a:lnL>
                      <a:noFill/>
                    </a:lnL>
                    <a:lnR>
                      <a:noFill/>
                    </a:lnR>
                    <a:lnT>
                      <a:noFill/>
                    </a:lnT>
                    <a:lnB>
                      <a:noFill/>
                    </a:lnB>
                    <a:solidFill>
                      <a:srgbClr val="FAFBFC"/>
                    </a:solidFill>
                  </a:tcPr>
                </a:tc>
                <a:extLst>
                  <a:ext uri="{0D108BD9-81ED-4DB2-BD59-A6C34878D82A}">
                    <a16:rowId xmlns:a16="http://schemas.microsoft.com/office/drawing/2014/main" val="3618987454"/>
                  </a:ext>
                </a:extLst>
              </a:tr>
              <a:tr h="398147">
                <a:tc>
                  <a:txBody>
                    <a:bodyPr/>
                    <a:lstStyle/>
                    <a:p>
                      <a:pPr algn="ctr"/>
                      <a:r>
                        <a:rPr lang="en-IN">
                          <a:effectLst/>
                        </a:rPr>
                        <a:t>Baljeet</a:t>
                      </a:r>
                    </a:p>
                  </a:txBody>
                  <a:tcPr anchor="ctr">
                    <a:lnL>
                      <a:noFill/>
                    </a:lnL>
                    <a:lnR>
                      <a:noFill/>
                    </a:lnR>
                    <a:lnT>
                      <a:noFill/>
                    </a:lnT>
                    <a:lnB>
                      <a:noFill/>
                    </a:lnB>
                    <a:solidFill>
                      <a:srgbClr val="FAFBFC"/>
                    </a:solidFill>
                  </a:tcPr>
                </a:tc>
                <a:extLst>
                  <a:ext uri="{0D108BD9-81ED-4DB2-BD59-A6C34878D82A}">
                    <a16:rowId xmlns:a16="http://schemas.microsoft.com/office/drawing/2014/main" val="3814788612"/>
                  </a:ext>
                </a:extLst>
              </a:tr>
              <a:tr h="398147">
                <a:tc>
                  <a:txBody>
                    <a:bodyPr/>
                    <a:lstStyle/>
                    <a:p>
                      <a:pPr algn="ctr"/>
                      <a:r>
                        <a:rPr lang="en-IN">
                          <a:effectLst/>
                        </a:rPr>
                        <a:t>Harsh</a:t>
                      </a:r>
                    </a:p>
                  </a:txBody>
                  <a:tcPr anchor="ctr">
                    <a:lnL>
                      <a:noFill/>
                    </a:lnL>
                    <a:lnR>
                      <a:noFill/>
                    </a:lnR>
                    <a:lnT>
                      <a:noFill/>
                    </a:lnT>
                    <a:lnB>
                      <a:noFill/>
                    </a:lnB>
                    <a:solidFill>
                      <a:srgbClr val="FAFBFC"/>
                    </a:solidFill>
                  </a:tcPr>
                </a:tc>
                <a:extLst>
                  <a:ext uri="{0D108BD9-81ED-4DB2-BD59-A6C34878D82A}">
                    <a16:rowId xmlns:a16="http://schemas.microsoft.com/office/drawing/2014/main" val="242653181"/>
                  </a:ext>
                </a:extLst>
              </a:tr>
              <a:tr h="398147">
                <a:tc>
                  <a:txBody>
                    <a:bodyPr/>
                    <a:lstStyle/>
                    <a:p>
                      <a:pPr algn="ctr"/>
                      <a:r>
                        <a:rPr lang="en-IN">
                          <a:effectLst/>
                        </a:rPr>
                        <a:t>Pranav</a:t>
                      </a:r>
                    </a:p>
                  </a:txBody>
                  <a:tcPr anchor="ctr">
                    <a:lnL>
                      <a:noFill/>
                    </a:lnL>
                    <a:lnR>
                      <a:noFill/>
                    </a:lnR>
                    <a:lnT>
                      <a:noFill/>
                    </a:lnT>
                    <a:lnB>
                      <a:noFill/>
                    </a:lnB>
                    <a:solidFill>
                      <a:srgbClr val="FAFBFC"/>
                    </a:solidFill>
                  </a:tcPr>
                </a:tc>
                <a:extLst>
                  <a:ext uri="{0D108BD9-81ED-4DB2-BD59-A6C34878D82A}">
                    <a16:rowId xmlns:a16="http://schemas.microsoft.com/office/drawing/2014/main" val="997214834"/>
                  </a:ext>
                </a:extLst>
              </a:tr>
              <a:tr h="398147">
                <a:tc>
                  <a:txBody>
                    <a:bodyPr/>
                    <a:lstStyle/>
                    <a:p>
                      <a:pPr algn="ctr"/>
                      <a:r>
                        <a:rPr lang="en-IN" dirty="0" err="1">
                          <a:effectLst/>
                        </a:rPr>
                        <a:t>Prateek</a:t>
                      </a:r>
                      <a:endParaRPr lang="en-IN" dirty="0">
                        <a:effectLst/>
                      </a:endParaRPr>
                    </a:p>
                  </a:txBody>
                  <a:tcPr anchor="ctr">
                    <a:lnL>
                      <a:noFill/>
                    </a:lnL>
                    <a:lnR>
                      <a:noFill/>
                    </a:lnR>
                    <a:lnT>
                      <a:noFill/>
                    </a:lnT>
                    <a:lnB>
                      <a:noFill/>
                    </a:lnB>
                    <a:solidFill>
                      <a:srgbClr val="FAFBFC"/>
                    </a:solidFill>
                  </a:tcPr>
                </a:tc>
                <a:extLst>
                  <a:ext uri="{0D108BD9-81ED-4DB2-BD59-A6C34878D82A}">
                    <a16:rowId xmlns:a16="http://schemas.microsoft.com/office/drawing/2014/main" val="3597589137"/>
                  </a:ext>
                </a:extLst>
              </a:tr>
            </a:tbl>
          </a:graphicData>
        </a:graphic>
      </p:graphicFrame>
    </p:spTree>
    <p:extLst>
      <p:ext uri="{BB962C8B-B14F-4D97-AF65-F5344CB8AC3E}">
        <p14:creationId xmlns:p14="http://schemas.microsoft.com/office/powerpoint/2010/main" val="673235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endParaRPr lang="en-IN" dirty="0"/>
          </a:p>
        </p:txBody>
      </p:sp>
      <p:sp>
        <p:nvSpPr>
          <p:cNvPr id="3" name="Content Placeholder 2"/>
          <p:cNvSpPr>
            <a:spLocks noGrp="1"/>
          </p:cNvSpPr>
          <p:nvPr>
            <p:ph idx="1"/>
          </p:nvPr>
        </p:nvSpPr>
        <p:spPr/>
        <p:txBody>
          <a:bodyPr>
            <a:normAutofit fontScale="85000" lnSpcReduction="20000"/>
          </a:bodyPr>
          <a:lstStyle/>
          <a:p>
            <a:r>
              <a:rPr lang="en-US" b="1" dirty="0"/>
              <a:t>Set Difference (-)</a:t>
            </a:r>
          </a:p>
          <a:p>
            <a:r>
              <a:rPr lang="en-US" dirty="0"/>
              <a:t>Set Difference as its name indicates is the difference between two relations (R-S). It is denoted by a "Hyphen"(-) and it returns all the tuples(rows) which are in relation R but not in relation S. It is also a </a:t>
            </a:r>
            <a:r>
              <a:rPr lang="en-US" b="1" dirty="0"/>
              <a:t>binary operator</a:t>
            </a:r>
            <a:r>
              <a:rPr lang="en-US" dirty="0"/>
              <a:t>.</a:t>
            </a:r>
            <a:br>
              <a:rPr lang="en-US" dirty="0"/>
            </a:br>
            <a:r>
              <a:rPr lang="en-US" dirty="0"/>
              <a:t>Notation : R - S</a:t>
            </a:r>
            <a:br>
              <a:rPr lang="en-US" dirty="0"/>
            </a:br>
            <a:r>
              <a:rPr lang="en-US" dirty="0"/>
              <a:t>Where R is the first relation</a:t>
            </a:r>
            <a:br>
              <a:rPr lang="en-US" dirty="0"/>
            </a:br>
            <a:r>
              <a:rPr lang="en-US" dirty="0"/>
              <a:t>S is the second relation</a:t>
            </a:r>
          </a:p>
          <a:p>
            <a:r>
              <a:rPr lang="en-US" dirty="0"/>
              <a:t>Just like union, the set difference also comes with the exception of the same set of attributes in both relations.</a:t>
            </a:r>
          </a:p>
          <a:p>
            <a:endParaRPr lang="en-IN" dirty="0"/>
          </a:p>
        </p:txBody>
      </p:sp>
    </p:spTree>
    <p:extLst>
      <p:ext uri="{BB962C8B-B14F-4D97-AF65-F5344CB8AC3E}">
        <p14:creationId xmlns:p14="http://schemas.microsoft.com/office/powerpoint/2010/main" val="414161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 NAME(STUDENT) - ∏ NAME(EMPLOYEE)</a:t>
            </a:r>
            <a:br>
              <a:rPr lang="en-IN" sz="3200" dirty="0"/>
            </a:br>
            <a:endParaRPr lang="en-IN" sz="3200" dirty="0"/>
          </a:p>
        </p:txBody>
      </p:sp>
      <p:graphicFrame>
        <p:nvGraphicFramePr>
          <p:cNvPr id="4" name="Content Placeholder 3"/>
          <p:cNvGraphicFramePr>
            <a:graphicFrameLocks noGrp="1"/>
          </p:cNvGraphicFramePr>
          <p:nvPr>
            <p:ph idx="1"/>
          </p:nvPr>
        </p:nvGraphicFramePr>
        <p:xfrm>
          <a:off x="1524000" y="3131661"/>
          <a:ext cx="6096000" cy="1463040"/>
        </p:xfrm>
        <a:graphic>
          <a:graphicData uri="http://schemas.openxmlformats.org/drawingml/2006/table">
            <a:tbl>
              <a:tblPr/>
              <a:tblGrid>
                <a:gridCol w="6096000">
                  <a:extLst>
                    <a:ext uri="{9D8B030D-6E8A-4147-A177-3AD203B41FA5}">
                      <a16:colId xmlns:a16="http://schemas.microsoft.com/office/drawing/2014/main" val="3420268381"/>
                    </a:ext>
                  </a:extLst>
                </a:gridCol>
              </a:tblGrid>
              <a:tr h="0">
                <a:tc>
                  <a:txBody>
                    <a:bodyPr/>
                    <a:lstStyle/>
                    <a:p>
                      <a:pPr algn="ctr"/>
                      <a:r>
                        <a:rPr lang="en-IN">
                          <a:effectLst/>
                        </a:rPr>
                        <a:t>NAME</a:t>
                      </a:r>
                    </a:p>
                  </a:txBody>
                  <a:tcPr anchor="ctr">
                    <a:lnL>
                      <a:noFill/>
                    </a:lnL>
                    <a:lnR>
                      <a:noFill/>
                    </a:lnR>
                    <a:lnT>
                      <a:noFill/>
                    </a:lnT>
                    <a:lnB>
                      <a:noFill/>
                    </a:lnB>
                    <a:solidFill>
                      <a:srgbClr val="FAFBFC"/>
                    </a:solidFill>
                  </a:tcPr>
                </a:tc>
                <a:extLst>
                  <a:ext uri="{0D108BD9-81ED-4DB2-BD59-A6C34878D82A}">
                    <a16:rowId xmlns:a16="http://schemas.microsoft.com/office/drawing/2014/main" val="475184454"/>
                  </a:ext>
                </a:extLst>
              </a:tr>
              <a:tr h="0">
                <a:tc>
                  <a:txBody>
                    <a:bodyPr/>
                    <a:lstStyle/>
                    <a:p>
                      <a:pPr algn="ctr"/>
                      <a:r>
                        <a:rPr lang="en-IN">
                          <a:effectLst/>
                        </a:rPr>
                        <a:t>Aman</a:t>
                      </a:r>
                    </a:p>
                  </a:txBody>
                  <a:tcPr anchor="ctr">
                    <a:lnL>
                      <a:noFill/>
                    </a:lnL>
                    <a:lnR>
                      <a:noFill/>
                    </a:lnR>
                    <a:lnT>
                      <a:noFill/>
                    </a:lnT>
                    <a:lnB>
                      <a:noFill/>
                    </a:lnB>
                    <a:solidFill>
                      <a:srgbClr val="FAFBFC"/>
                    </a:solidFill>
                  </a:tcPr>
                </a:tc>
                <a:extLst>
                  <a:ext uri="{0D108BD9-81ED-4DB2-BD59-A6C34878D82A}">
                    <a16:rowId xmlns:a16="http://schemas.microsoft.com/office/drawing/2014/main" val="99867072"/>
                  </a:ext>
                </a:extLst>
              </a:tr>
              <a:tr h="0">
                <a:tc>
                  <a:txBody>
                    <a:bodyPr/>
                    <a:lstStyle/>
                    <a:p>
                      <a:pPr algn="ctr"/>
                      <a:r>
                        <a:rPr lang="en-IN">
                          <a:effectLst/>
                        </a:rPr>
                        <a:t>Atul</a:t>
                      </a:r>
                    </a:p>
                  </a:txBody>
                  <a:tcPr anchor="ctr">
                    <a:lnL>
                      <a:noFill/>
                    </a:lnL>
                    <a:lnR>
                      <a:noFill/>
                    </a:lnR>
                    <a:lnT>
                      <a:noFill/>
                    </a:lnT>
                    <a:lnB>
                      <a:noFill/>
                    </a:lnB>
                    <a:solidFill>
                      <a:srgbClr val="FAFBFC"/>
                    </a:solidFill>
                  </a:tcPr>
                </a:tc>
                <a:extLst>
                  <a:ext uri="{0D108BD9-81ED-4DB2-BD59-A6C34878D82A}">
                    <a16:rowId xmlns:a16="http://schemas.microsoft.com/office/drawing/2014/main" val="2772374700"/>
                  </a:ext>
                </a:extLst>
              </a:tr>
              <a:tr h="0">
                <a:tc>
                  <a:txBody>
                    <a:bodyPr/>
                    <a:lstStyle/>
                    <a:p>
                      <a:pPr algn="ctr"/>
                      <a:r>
                        <a:rPr lang="en-IN" dirty="0" err="1">
                          <a:effectLst/>
                        </a:rPr>
                        <a:t>Prateek</a:t>
                      </a:r>
                      <a:endParaRPr lang="en-IN" dirty="0">
                        <a:effectLst/>
                      </a:endParaRPr>
                    </a:p>
                  </a:txBody>
                  <a:tcPr anchor="ctr">
                    <a:lnL>
                      <a:noFill/>
                    </a:lnL>
                    <a:lnR>
                      <a:noFill/>
                    </a:lnR>
                    <a:lnT>
                      <a:noFill/>
                    </a:lnT>
                    <a:lnB>
                      <a:noFill/>
                    </a:lnB>
                    <a:solidFill>
                      <a:srgbClr val="FAFBFC"/>
                    </a:solidFill>
                  </a:tcPr>
                </a:tc>
                <a:extLst>
                  <a:ext uri="{0D108BD9-81ED-4DB2-BD59-A6C34878D82A}">
                    <a16:rowId xmlns:a16="http://schemas.microsoft.com/office/drawing/2014/main" val="2994746172"/>
                  </a:ext>
                </a:extLst>
              </a:tr>
            </a:tbl>
          </a:graphicData>
        </a:graphic>
      </p:graphicFrame>
    </p:spTree>
    <p:extLst>
      <p:ext uri="{BB962C8B-B14F-4D97-AF65-F5344CB8AC3E}">
        <p14:creationId xmlns:p14="http://schemas.microsoft.com/office/powerpoint/2010/main" val="1451836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b="1" dirty="0"/>
              <a:t>Cartesian product (X)</a:t>
            </a:r>
          </a:p>
          <a:p>
            <a:r>
              <a:rPr lang="en-US" dirty="0"/>
              <a:t>Cartesian product is denoted by the "X" symbol. Let's say we have two relations R and S. Cartesian product will combine every tuple(row) from R with all the tuples from S. I know it sounds complicated, but once we look at an example, you'll see what I mean.</a:t>
            </a:r>
            <a:br>
              <a:rPr lang="en-US" dirty="0"/>
            </a:br>
            <a:r>
              <a:rPr lang="en-US" b="1" dirty="0">
                <a:solidFill>
                  <a:srgbClr val="FF0000"/>
                </a:solidFill>
              </a:rPr>
              <a:t>Notation: R X S</a:t>
            </a:r>
            <a:br>
              <a:rPr lang="en-US" b="1" dirty="0">
                <a:solidFill>
                  <a:srgbClr val="FF0000"/>
                </a:solidFill>
              </a:rPr>
            </a:br>
            <a:r>
              <a:rPr lang="en-US" dirty="0"/>
              <a:t>Where R is the first relation</a:t>
            </a:r>
            <a:br>
              <a:rPr lang="en-US" dirty="0"/>
            </a:br>
            <a:r>
              <a:rPr lang="en-US" dirty="0"/>
              <a:t>S is the second relation</a:t>
            </a:r>
          </a:p>
          <a:p>
            <a:r>
              <a:rPr lang="en-US" dirty="0"/>
              <a:t>As we can see from the notation it is also a </a:t>
            </a:r>
            <a:r>
              <a:rPr lang="en-US" b="1" dirty="0"/>
              <a:t>binary operator</a:t>
            </a:r>
            <a:r>
              <a:rPr lang="en-US" dirty="0"/>
              <a:t>.</a:t>
            </a:r>
          </a:p>
          <a:p>
            <a:r>
              <a:rPr lang="en-US" dirty="0"/>
              <a:t>Let's combine the two relations STUDENT and EMPLOYEE.</a:t>
            </a:r>
          </a:p>
          <a:p>
            <a:endParaRPr lang="en-IN" dirty="0"/>
          </a:p>
        </p:txBody>
      </p:sp>
    </p:spTree>
    <p:extLst>
      <p:ext uri="{BB962C8B-B14F-4D97-AF65-F5344CB8AC3E}">
        <p14:creationId xmlns:p14="http://schemas.microsoft.com/office/powerpoint/2010/main" val="184909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STUDENT X EMPLOYEE</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01007518"/>
              </p:ext>
            </p:extLst>
          </p:nvPr>
        </p:nvGraphicFramePr>
        <p:xfrm>
          <a:off x="1039092" y="1714341"/>
          <a:ext cx="7051962" cy="4297680"/>
        </p:xfrm>
        <a:graphic>
          <a:graphicData uri="http://schemas.openxmlformats.org/drawingml/2006/table">
            <a:tbl>
              <a:tblPr/>
              <a:tblGrid>
                <a:gridCol w="1175327">
                  <a:extLst>
                    <a:ext uri="{9D8B030D-6E8A-4147-A177-3AD203B41FA5}">
                      <a16:colId xmlns:a16="http://schemas.microsoft.com/office/drawing/2014/main" val="243997346"/>
                    </a:ext>
                  </a:extLst>
                </a:gridCol>
                <a:gridCol w="1175327">
                  <a:extLst>
                    <a:ext uri="{9D8B030D-6E8A-4147-A177-3AD203B41FA5}">
                      <a16:colId xmlns:a16="http://schemas.microsoft.com/office/drawing/2014/main" val="1598766453"/>
                    </a:ext>
                  </a:extLst>
                </a:gridCol>
                <a:gridCol w="1175327">
                  <a:extLst>
                    <a:ext uri="{9D8B030D-6E8A-4147-A177-3AD203B41FA5}">
                      <a16:colId xmlns:a16="http://schemas.microsoft.com/office/drawing/2014/main" val="2184252564"/>
                    </a:ext>
                  </a:extLst>
                </a:gridCol>
                <a:gridCol w="1175327">
                  <a:extLst>
                    <a:ext uri="{9D8B030D-6E8A-4147-A177-3AD203B41FA5}">
                      <a16:colId xmlns:a16="http://schemas.microsoft.com/office/drawing/2014/main" val="360109517"/>
                    </a:ext>
                  </a:extLst>
                </a:gridCol>
                <a:gridCol w="1175327">
                  <a:extLst>
                    <a:ext uri="{9D8B030D-6E8A-4147-A177-3AD203B41FA5}">
                      <a16:colId xmlns:a16="http://schemas.microsoft.com/office/drawing/2014/main" val="1351359473"/>
                    </a:ext>
                  </a:extLst>
                </a:gridCol>
                <a:gridCol w="1175327">
                  <a:extLst>
                    <a:ext uri="{9D8B030D-6E8A-4147-A177-3AD203B41FA5}">
                      <a16:colId xmlns:a16="http://schemas.microsoft.com/office/drawing/2014/main" val="1208832575"/>
                    </a:ext>
                  </a:extLst>
                </a:gridCol>
              </a:tblGrid>
              <a:tr h="0">
                <a:tc>
                  <a:txBody>
                    <a:bodyPr/>
                    <a:lstStyle/>
                    <a:p>
                      <a:pPr algn="ctr"/>
                      <a:r>
                        <a:rPr lang="en-IN">
                          <a:effectLst/>
                        </a:rPr>
                        <a:t>ROLL</a:t>
                      </a:r>
                    </a:p>
                  </a:txBody>
                  <a:tcPr anchor="ctr">
                    <a:lnL>
                      <a:noFill/>
                    </a:lnL>
                    <a:lnR>
                      <a:noFill/>
                    </a:lnR>
                    <a:lnT>
                      <a:noFill/>
                    </a:lnT>
                    <a:lnB>
                      <a:noFill/>
                    </a:lnB>
                    <a:solidFill>
                      <a:srgbClr val="FAFBFC"/>
                    </a:solidFill>
                  </a:tcPr>
                </a:tc>
                <a:tc>
                  <a:txBody>
                    <a:bodyPr/>
                    <a:lstStyle/>
                    <a:p>
                      <a:pPr algn="ctr"/>
                      <a:r>
                        <a:rPr lang="en-IN">
                          <a:effectLst/>
                        </a:rPr>
                        <a:t>NAME</a:t>
                      </a:r>
                    </a:p>
                  </a:txBody>
                  <a:tcPr anchor="ctr">
                    <a:lnL>
                      <a:noFill/>
                    </a:lnL>
                    <a:lnR>
                      <a:noFill/>
                    </a:lnR>
                    <a:lnT>
                      <a:noFill/>
                    </a:lnT>
                    <a:lnB>
                      <a:noFill/>
                    </a:lnB>
                    <a:solidFill>
                      <a:srgbClr val="FAFBFC"/>
                    </a:solidFill>
                  </a:tcPr>
                </a:tc>
                <a:tc>
                  <a:txBody>
                    <a:bodyPr/>
                    <a:lstStyle/>
                    <a:p>
                      <a:pPr algn="ctr"/>
                      <a:r>
                        <a:rPr lang="en-IN">
                          <a:effectLst/>
                        </a:rPr>
                        <a:t>AGE</a:t>
                      </a:r>
                    </a:p>
                  </a:txBody>
                  <a:tcPr anchor="ctr">
                    <a:lnL>
                      <a:noFill/>
                    </a:lnL>
                    <a:lnR>
                      <a:noFill/>
                    </a:lnR>
                    <a:lnT>
                      <a:noFill/>
                    </a:lnT>
                    <a:lnB>
                      <a:noFill/>
                    </a:lnB>
                    <a:solidFill>
                      <a:srgbClr val="FAFBFC"/>
                    </a:solidFill>
                  </a:tcPr>
                </a:tc>
                <a:tc>
                  <a:txBody>
                    <a:bodyPr/>
                    <a:lstStyle/>
                    <a:p>
                      <a:pPr algn="ctr"/>
                      <a:r>
                        <a:rPr lang="en-IN">
                          <a:effectLst/>
                        </a:rPr>
                        <a:t>EMPLOYEE_NO</a:t>
                      </a:r>
                    </a:p>
                  </a:txBody>
                  <a:tcPr anchor="ctr">
                    <a:lnL>
                      <a:noFill/>
                    </a:lnL>
                    <a:lnR>
                      <a:noFill/>
                    </a:lnR>
                    <a:lnT>
                      <a:noFill/>
                    </a:lnT>
                    <a:lnB>
                      <a:noFill/>
                    </a:lnB>
                    <a:solidFill>
                      <a:srgbClr val="FAFBFC"/>
                    </a:solidFill>
                  </a:tcPr>
                </a:tc>
                <a:tc>
                  <a:txBody>
                    <a:bodyPr/>
                    <a:lstStyle/>
                    <a:p>
                      <a:pPr algn="ctr"/>
                      <a:r>
                        <a:rPr lang="en-IN">
                          <a:effectLst/>
                        </a:rPr>
                        <a:t>NAME</a:t>
                      </a:r>
                    </a:p>
                  </a:txBody>
                  <a:tcPr anchor="ctr">
                    <a:lnL>
                      <a:noFill/>
                    </a:lnL>
                    <a:lnR>
                      <a:noFill/>
                    </a:lnR>
                    <a:lnT>
                      <a:noFill/>
                    </a:lnT>
                    <a:lnB>
                      <a:noFill/>
                    </a:lnB>
                    <a:solidFill>
                      <a:srgbClr val="FAFBFC"/>
                    </a:solidFill>
                  </a:tcPr>
                </a:tc>
                <a:tc>
                  <a:txBody>
                    <a:bodyPr/>
                    <a:lstStyle/>
                    <a:p>
                      <a:pPr algn="ctr"/>
                      <a:r>
                        <a:rPr lang="en-IN">
                          <a:effectLst/>
                        </a:rPr>
                        <a:t>AGE</a:t>
                      </a:r>
                    </a:p>
                  </a:txBody>
                  <a:tcPr anchor="ctr">
                    <a:lnL>
                      <a:noFill/>
                    </a:lnL>
                    <a:lnR>
                      <a:noFill/>
                    </a:lnR>
                    <a:lnT>
                      <a:noFill/>
                    </a:lnT>
                    <a:lnB>
                      <a:noFill/>
                    </a:lnB>
                    <a:solidFill>
                      <a:srgbClr val="FAFBFC"/>
                    </a:solidFill>
                  </a:tcPr>
                </a:tc>
                <a:extLst>
                  <a:ext uri="{0D108BD9-81ED-4DB2-BD59-A6C34878D82A}">
                    <a16:rowId xmlns:a16="http://schemas.microsoft.com/office/drawing/2014/main" val="3176668144"/>
                  </a:ext>
                </a:extLst>
              </a:tr>
              <a:tr h="0">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tc>
                  <a:txBody>
                    <a:bodyPr/>
                    <a:lstStyle/>
                    <a:p>
                      <a:pPr algn="ctr"/>
                      <a:r>
                        <a:rPr lang="en-IN">
                          <a:effectLst/>
                        </a:rPr>
                        <a:t>E-1</a:t>
                      </a:r>
                    </a:p>
                  </a:txBody>
                  <a:tcPr anchor="ctr">
                    <a:lnL>
                      <a:noFill/>
                    </a:lnL>
                    <a:lnR>
                      <a:noFill/>
                    </a:lnR>
                    <a:lnT>
                      <a:noFill/>
                    </a:lnT>
                    <a:lnB>
                      <a:noFill/>
                    </a:lnB>
                    <a:solidFill>
                      <a:srgbClr val="FAFBFC"/>
                    </a:solidFill>
                  </a:tcPr>
                </a:tc>
                <a:tc>
                  <a:txBody>
                    <a:bodyPr/>
                    <a:lstStyle/>
                    <a:p>
                      <a:pPr algn="ctr"/>
                      <a:r>
                        <a:rPr lang="en-IN">
                          <a:effectLst/>
                        </a:rPr>
                        <a:t>Anant</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3824463973"/>
                  </a:ext>
                </a:extLst>
              </a:tr>
              <a:tr h="0">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tc>
                  <a:txBody>
                    <a:bodyPr/>
                    <a:lstStyle/>
                    <a:p>
                      <a:pPr algn="ctr"/>
                      <a:r>
                        <a:rPr lang="en-IN">
                          <a:effectLst/>
                        </a:rPr>
                        <a:t>E-2</a:t>
                      </a:r>
                    </a:p>
                  </a:txBody>
                  <a:tcPr anchor="ctr">
                    <a:lnL>
                      <a:noFill/>
                    </a:lnL>
                    <a:lnR>
                      <a:noFill/>
                    </a:lnR>
                    <a:lnT>
                      <a:noFill/>
                    </a:lnT>
                    <a:lnB>
                      <a:noFill/>
                    </a:lnB>
                    <a:solidFill>
                      <a:srgbClr val="FAFBFC"/>
                    </a:solidFill>
                  </a:tcPr>
                </a:tc>
                <a:tc>
                  <a:txBody>
                    <a:bodyPr/>
                    <a:lstStyle/>
                    <a:p>
                      <a:pPr algn="ctr"/>
                      <a:r>
                        <a:rPr lang="en-IN">
                          <a:effectLst/>
                        </a:rPr>
                        <a:t>Ashish</a:t>
                      </a:r>
                    </a:p>
                  </a:txBody>
                  <a:tcPr anchor="ctr">
                    <a:lnL>
                      <a:noFill/>
                    </a:lnL>
                    <a:lnR>
                      <a:noFill/>
                    </a:lnR>
                    <a:lnT>
                      <a:noFill/>
                    </a:lnT>
                    <a:lnB>
                      <a:noFill/>
                    </a:lnB>
                    <a:solidFill>
                      <a:srgbClr val="FAFBFC"/>
                    </a:solidFill>
                  </a:tcPr>
                </a:tc>
                <a:tc>
                  <a:txBody>
                    <a:bodyPr/>
                    <a:lstStyle/>
                    <a:p>
                      <a:pPr algn="ctr"/>
                      <a:r>
                        <a:rPr lang="en-IN">
                          <a:effectLst/>
                        </a:rPr>
                        <a:t>23</a:t>
                      </a:r>
                    </a:p>
                  </a:txBody>
                  <a:tcPr anchor="ctr">
                    <a:lnL>
                      <a:noFill/>
                    </a:lnL>
                    <a:lnR>
                      <a:noFill/>
                    </a:lnR>
                    <a:lnT>
                      <a:noFill/>
                    </a:lnT>
                    <a:lnB>
                      <a:noFill/>
                    </a:lnB>
                    <a:solidFill>
                      <a:srgbClr val="FAFBFC"/>
                    </a:solidFill>
                  </a:tcPr>
                </a:tc>
                <a:extLst>
                  <a:ext uri="{0D108BD9-81ED-4DB2-BD59-A6C34878D82A}">
                    <a16:rowId xmlns:a16="http://schemas.microsoft.com/office/drawing/2014/main" val="781151387"/>
                  </a:ext>
                </a:extLst>
              </a:tr>
              <a:tr h="0">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tc>
                  <a:txBody>
                    <a:bodyPr/>
                    <a:lstStyle/>
                    <a:p>
                      <a:pPr algn="ctr"/>
                      <a:r>
                        <a:rPr lang="en-IN">
                          <a:effectLst/>
                        </a:rPr>
                        <a:t>E-3</a:t>
                      </a:r>
                    </a:p>
                  </a:txBody>
                  <a:tcPr anchor="ctr">
                    <a:lnL>
                      <a:noFill/>
                    </a:lnL>
                    <a:lnR>
                      <a:noFill/>
                    </a:lnR>
                    <a:lnT>
                      <a:noFill/>
                    </a:lnT>
                    <a:lnB>
                      <a:noFill/>
                    </a:lnB>
                    <a:solidFill>
                      <a:srgbClr val="FAFBFC"/>
                    </a:solidFill>
                  </a:tcPr>
                </a:tc>
                <a:tc>
                  <a:txBody>
                    <a:bodyPr/>
                    <a:lstStyle/>
                    <a:p>
                      <a:pPr algn="ctr"/>
                      <a:r>
                        <a:rPr lang="en-IN">
                          <a:effectLst/>
                        </a:rPr>
                        <a:t>Baljeet</a:t>
                      </a:r>
                    </a:p>
                  </a:txBody>
                  <a:tcPr anchor="ctr">
                    <a:lnL>
                      <a:noFill/>
                    </a:lnL>
                    <a:lnR>
                      <a:noFill/>
                    </a:lnR>
                    <a:lnT>
                      <a:noFill/>
                    </a:lnT>
                    <a:lnB>
                      <a:noFill/>
                    </a:lnB>
                    <a:solidFill>
                      <a:srgbClr val="FAFBFC"/>
                    </a:solidFill>
                  </a:tcPr>
                </a:tc>
                <a:tc>
                  <a:txBody>
                    <a:bodyPr/>
                    <a:lstStyle/>
                    <a:p>
                      <a:pPr algn="ctr"/>
                      <a:r>
                        <a:rPr lang="en-IN">
                          <a:effectLst/>
                        </a:rPr>
                        <a:t>25</a:t>
                      </a:r>
                    </a:p>
                  </a:txBody>
                  <a:tcPr anchor="ctr">
                    <a:lnL>
                      <a:noFill/>
                    </a:lnL>
                    <a:lnR>
                      <a:noFill/>
                    </a:lnR>
                    <a:lnT>
                      <a:noFill/>
                    </a:lnT>
                    <a:lnB>
                      <a:noFill/>
                    </a:lnB>
                    <a:solidFill>
                      <a:srgbClr val="FAFBFC"/>
                    </a:solidFill>
                  </a:tcPr>
                </a:tc>
                <a:extLst>
                  <a:ext uri="{0D108BD9-81ED-4DB2-BD59-A6C34878D82A}">
                    <a16:rowId xmlns:a16="http://schemas.microsoft.com/office/drawing/2014/main" val="2070800140"/>
                  </a:ext>
                </a:extLst>
              </a:tr>
              <a:tr h="0">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tc>
                  <a:txBody>
                    <a:bodyPr/>
                    <a:lstStyle/>
                    <a:p>
                      <a:pPr algn="ctr"/>
                      <a:r>
                        <a:rPr lang="en-IN">
                          <a:effectLst/>
                        </a:rPr>
                        <a:t>E-4</a:t>
                      </a:r>
                    </a:p>
                  </a:txBody>
                  <a:tcPr anchor="ctr">
                    <a:lnL>
                      <a:noFill/>
                    </a:lnL>
                    <a:lnR>
                      <a:noFill/>
                    </a:lnR>
                    <a:lnT>
                      <a:noFill/>
                    </a:lnT>
                    <a:lnB>
                      <a:noFill/>
                    </a:lnB>
                    <a:solidFill>
                      <a:srgbClr val="FAFBFC"/>
                    </a:solidFill>
                  </a:tcPr>
                </a:tc>
                <a:tc>
                  <a:txBody>
                    <a:bodyPr/>
                    <a:lstStyle/>
                    <a:p>
                      <a:pPr algn="ctr"/>
                      <a:r>
                        <a:rPr lang="en-IN">
                          <a:effectLst/>
                        </a:rPr>
                        <a:t>Harsh</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3919893578"/>
                  </a:ext>
                </a:extLst>
              </a:tr>
              <a:tr h="0">
                <a:tc>
                  <a:txBody>
                    <a:bodyPr/>
                    <a:lstStyle/>
                    <a:p>
                      <a:pPr algn="ctr"/>
                      <a:r>
                        <a:rPr lang="en-IN">
                          <a:effectLst/>
                        </a:rPr>
                        <a:t>1</a:t>
                      </a:r>
                    </a:p>
                  </a:txBody>
                  <a:tcPr anchor="ctr">
                    <a:lnL>
                      <a:noFill/>
                    </a:lnL>
                    <a:lnR>
                      <a:noFill/>
                    </a:lnR>
                    <a:lnT>
                      <a:noFill/>
                    </a:lnT>
                    <a:lnB>
                      <a:noFill/>
                    </a:lnB>
                    <a:solidFill>
                      <a:srgbClr val="FAFBFC"/>
                    </a:solidFill>
                  </a:tcPr>
                </a:tc>
                <a:tc>
                  <a:txBody>
                    <a:bodyPr/>
                    <a:lstStyle/>
                    <a:p>
                      <a:pPr algn="ctr"/>
                      <a:r>
                        <a:rPr lang="en-IN">
                          <a:effectLst/>
                        </a:rPr>
                        <a:t>Aman</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tc>
                  <a:txBody>
                    <a:bodyPr/>
                    <a:lstStyle/>
                    <a:p>
                      <a:pPr algn="ctr"/>
                      <a:r>
                        <a:rPr lang="en-IN">
                          <a:effectLst/>
                        </a:rPr>
                        <a:t>E-5</a:t>
                      </a:r>
                    </a:p>
                  </a:txBody>
                  <a:tcPr anchor="ctr">
                    <a:lnL>
                      <a:noFill/>
                    </a:lnL>
                    <a:lnR>
                      <a:noFill/>
                    </a:lnR>
                    <a:lnT>
                      <a:noFill/>
                    </a:lnT>
                    <a:lnB>
                      <a:noFill/>
                    </a:lnB>
                    <a:solidFill>
                      <a:srgbClr val="FAFBFC"/>
                    </a:solidFill>
                  </a:tcPr>
                </a:tc>
                <a:tc>
                  <a:txBody>
                    <a:bodyPr/>
                    <a:lstStyle/>
                    <a:p>
                      <a:pPr algn="ctr"/>
                      <a:r>
                        <a:rPr lang="en-IN">
                          <a:effectLst/>
                        </a:rPr>
                        <a:t>Pranav</a:t>
                      </a:r>
                    </a:p>
                  </a:txBody>
                  <a:tcPr anchor="ctr">
                    <a:lnL>
                      <a:noFill/>
                    </a:lnL>
                    <a:lnR>
                      <a:noFill/>
                    </a:lnR>
                    <a:lnT>
                      <a:noFill/>
                    </a:lnT>
                    <a:lnB>
                      <a:noFill/>
                    </a:lnB>
                    <a:solidFill>
                      <a:srgbClr val="FAFBFC"/>
                    </a:solidFill>
                  </a:tcPr>
                </a:tc>
                <a:tc>
                  <a:txBody>
                    <a:bodyPr/>
                    <a:lstStyle/>
                    <a:p>
                      <a:pPr algn="ctr"/>
                      <a:r>
                        <a:rPr lang="en-IN">
                          <a:effectLst/>
                        </a:rPr>
                        <a:t>22</a:t>
                      </a:r>
                    </a:p>
                  </a:txBody>
                  <a:tcPr anchor="ctr">
                    <a:lnL>
                      <a:noFill/>
                    </a:lnL>
                    <a:lnR>
                      <a:noFill/>
                    </a:lnR>
                    <a:lnT>
                      <a:noFill/>
                    </a:lnT>
                    <a:lnB>
                      <a:noFill/>
                    </a:lnB>
                    <a:solidFill>
                      <a:srgbClr val="FAFBFC"/>
                    </a:solidFill>
                  </a:tcPr>
                </a:tc>
                <a:extLst>
                  <a:ext uri="{0D108BD9-81ED-4DB2-BD59-A6C34878D82A}">
                    <a16:rowId xmlns:a16="http://schemas.microsoft.com/office/drawing/2014/main" val="1668902078"/>
                  </a:ext>
                </a:extLst>
              </a:tr>
              <a:tr h="0">
                <a:tc>
                  <a:txBody>
                    <a:bodyPr/>
                    <a:lstStyle/>
                    <a:p>
                      <a:pPr algn="ctr"/>
                      <a:r>
                        <a:rPr lang="en-IN">
                          <a:effectLst/>
                        </a:rPr>
                        <a:t>2</a:t>
                      </a:r>
                    </a:p>
                  </a:txBody>
                  <a:tcPr anchor="ctr">
                    <a:lnL>
                      <a:noFill/>
                    </a:lnL>
                    <a:lnR>
                      <a:noFill/>
                    </a:lnR>
                    <a:lnT>
                      <a:noFill/>
                    </a:lnT>
                    <a:lnB>
                      <a:noFill/>
                    </a:lnB>
                    <a:solidFill>
                      <a:srgbClr val="FAFBFC"/>
                    </a:solidFill>
                  </a:tcPr>
                </a:tc>
                <a:tc>
                  <a:txBody>
                    <a:bodyPr/>
                    <a:lstStyle/>
                    <a:p>
                      <a:pPr algn="ctr"/>
                      <a:r>
                        <a:rPr lang="en-IN">
                          <a:effectLst/>
                        </a:rPr>
                        <a:t>Atul</a:t>
                      </a:r>
                    </a:p>
                  </a:txBody>
                  <a:tcPr anchor="ctr">
                    <a:lnL>
                      <a:noFill/>
                    </a:lnL>
                    <a:lnR>
                      <a:noFill/>
                    </a:lnR>
                    <a:lnT>
                      <a:noFill/>
                    </a:lnT>
                    <a:lnB>
                      <a:noFill/>
                    </a:lnB>
                    <a:solidFill>
                      <a:srgbClr val="FAFBFC"/>
                    </a:solidFill>
                  </a:tcPr>
                </a:tc>
                <a:tc>
                  <a:txBody>
                    <a:bodyPr/>
                    <a:lstStyle/>
                    <a:p>
                      <a:pPr algn="ctr"/>
                      <a:r>
                        <a:rPr lang="en-IN">
                          <a:effectLst/>
                        </a:rPr>
                        <a:t>18</a:t>
                      </a:r>
                    </a:p>
                  </a:txBody>
                  <a:tcPr anchor="ctr">
                    <a:lnL>
                      <a:noFill/>
                    </a:lnL>
                    <a:lnR>
                      <a:noFill/>
                    </a:lnR>
                    <a:lnT>
                      <a:noFill/>
                    </a:lnT>
                    <a:lnB>
                      <a:noFill/>
                    </a:lnB>
                    <a:solidFill>
                      <a:srgbClr val="FAFBFC"/>
                    </a:solidFill>
                  </a:tcPr>
                </a:tc>
                <a:tc>
                  <a:txBody>
                    <a:bodyPr/>
                    <a:lstStyle/>
                    <a:p>
                      <a:pPr algn="ctr"/>
                      <a:r>
                        <a:rPr lang="en-IN">
                          <a:effectLst/>
                        </a:rPr>
                        <a:t>E-1</a:t>
                      </a:r>
                    </a:p>
                  </a:txBody>
                  <a:tcPr anchor="ctr">
                    <a:lnL>
                      <a:noFill/>
                    </a:lnL>
                    <a:lnR>
                      <a:noFill/>
                    </a:lnR>
                    <a:lnT>
                      <a:noFill/>
                    </a:lnT>
                    <a:lnB>
                      <a:noFill/>
                    </a:lnB>
                    <a:solidFill>
                      <a:srgbClr val="FAFBFC"/>
                    </a:solidFill>
                  </a:tcPr>
                </a:tc>
                <a:tc>
                  <a:txBody>
                    <a:bodyPr/>
                    <a:lstStyle/>
                    <a:p>
                      <a:pPr algn="ctr"/>
                      <a:r>
                        <a:rPr lang="en-IN">
                          <a:effectLst/>
                        </a:rPr>
                        <a:t>Anant</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2081792609"/>
                  </a:ext>
                </a:extLst>
              </a:tr>
              <a:tr h="0">
                <a:tc>
                  <a:txBody>
                    <a:bodyPr/>
                    <a:lstStyle/>
                    <a:p>
                      <a:pPr algn="ctr"/>
                      <a:r>
                        <a:rPr lang="en-IN">
                          <a:effectLst/>
                        </a:rPr>
                        <a:t>2</a:t>
                      </a:r>
                    </a:p>
                  </a:txBody>
                  <a:tcPr anchor="ctr">
                    <a:lnL>
                      <a:noFill/>
                    </a:lnL>
                    <a:lnR>
                      <a:noFill/>
                    </a:lnR>
                    <a:lnT>
                      <a:noFill/>
                    </a:lnT>
                    <a:lnB>
                      <a:noFill/>
                    </a:lnB>
                    <a:solidFill>
                      <a:srgbClr val="FAFBFC"/>
                    </a:solidFill>
                  </a:tcPr>
                </a:tc>
                <a:tc>
                  <a:txBody>
                    <a:bodyPr/>
                    <a:lstStyle/>
                    <a:p>
                      <a:pPr algn="ctr"/>
                      <a:r>
                        <a:rPr lang="en-IN">
                          <a:effectLst/>
                        </a:rPr>
                        <a:t>Atul</a:t>
                      </a:r>
                    </a:p>
                  </a:txBody>
                  <a:tcPr anchor="ctr">
                    <a:lnL>
                      <a:noFill/>
                    </a:lnL>
                    <a:lnR>
                      <a:noFill/>
                    </a:lnR>
                    <a:lnT>
                      <a:noFill/>
                    </a:lnT>
                    <a:lnB>
                      <a:noFill/>
                    </a:lnB>
                    <a:solidFill>
                      <a:srgbClr val="FAFBFC"/>
                    </a:solidFill>
                  </a:tcPr>
                </a:tc>
                <a:tc>
                  <a:txBody>
                    <a:bodyPr/>
                    <a:lstStyle/>
                    <a:p>
                      <a:pPr algn="ctr"/>
                      <a:r>
                        <a:rPr lang="en-IN">
                          <a:effectLst/>
                        </a:rPr>
                        <a:t>18</a:t>
                      </a:r>
                    </a:p>
                  </a:txBody>
                  <a:tcPr anchor="ctr">
                    <a:lnL>
                      <a:noFill/>
                    </a:lnL>
                    <a:lnR>
                      <a:noFill/>
                    </a:lnR>
                    <a:lnT>
                      <a:noFill/>
                    </a:lnT>
                    <a:lnB>
                      <a:noFill/>
                    </a:lnB>
                    <a:solidFill>
                      <a:srgbClr val="FAFBFC"/>
                    </a:solidFill>
                  </a:tcPr>
                </a:tc>
                <a:tc>
                  <a:txBody>
                    <a:bodyPr/>
                    <a:lstStyle/>
                    <a:p>
                      <a:pPr algn="ctr"/>
                      <a:r>
                        <a:rPr lang="en-IN">
                          <a:effectLst/>
                        </a:rPr>
                        <a:t>E-2</a:t>
                      </a:r>
                    </a:p>
                  </a:txBody>
                  <a:tcPr anchor="ctr">
                    <a:lnL>
                      <a:noFill/>
                    </a:lnL>
                    <a:lnR>
                      <a:noFill/>
                    </a:lnR>
                    <a:lnT>
                      <a:noFill/>
                    </a:lnT>
                    <a:lnB>
                      <a:noFill/>
                    </a:lnB>
                    <a:solidFill>
                      <a:srgbClr val="FAFBFC"/>
                    </a:solidFill>
                  </a:tcPr>
                </a:tc>
                <a:tc>
                  <a:txBody>
                    <a:bodyPr/>
                    <a:lstStyle/>
                    <a:p>
                      <a:pPr algn="ctr"/>
                      <a:r>
                        <a:rPr lang="en-IN">
                          <a:effectLst/>
                        </a:rPr>
                        <a:t>Ashish</a:t>
                      </a:r>
                    </a:p>
                  </a:txBody>
                  <a:tcPr anchor="ctr">
                    <a:lnL>
                      <a:noFill/>
                    </a:lnL>
                    <a:lnR>
                      <a:noFill/>
                    </a:lnR>
                    <a:lnT>
                      <a:noFill/>
                    </a:lnT>
                    <a:lnB>
                      <a:noFill/>
                    </a:lnB>
                    <a:solidFill>
                      <a:srgbClr val="FAFBFC"/>
                    </a:solidFill>
                  </a:tcPr>
                </a:tc>
                <a:tc>
                  <a:txBody>
                    <a:bodyPr/>
                    <a:lstStyle/>
                    <a:p>
                      <a:pPr algn="ctr"/>
                      <a:r>
                        <a:rPr lang="en-IN">
                          <a:effectLst/>
                        </a:rPr>
                        <a:t>23</a:t>
                      </a:r>
                    </a:p>
                  </a:txBody>
                  <a:tcPr anchor="ctr">
                    <a:lnL>
                      <a:noFill/>
                    </a:lnL>
                    <a:lnR>
                      <a:noFill/>
                    </a:lnR>
                    <a:lnT>
                      <a:noFill/>
                    </a:lnT>
                    <a:lnB>
                      <a:noFill/>
                    </a:lnB>
                    <a:solidFill>
                      <a:srgbClr val="FAFBFC"/>
                    </a:solidFill>
                  </a:tcPr>
                </a:tc>
                <a:extLst>
                  <a:ext uri="{0D108BD9-81ED-4DB2-BD59-A6C34878D82A}">
                    <a16:rowId xmlns:a16="http://schemas.microsoft.com/office/drawing/2014/main" val="1798636756"/>
                  </a:ext>
                </a:extLst>
              </a:tr>
              <a:tr h="0">
                <a:tc>
                  <a:txBody>
                    <a:bodyPr/>
                    <a:lstStyle/>
                    <a:p>
                      <a:pPr algn="ctr"/>
                      <a:r>
                        <a:rPr lang="en-IN">
                          <a:effectLst/>
                        </a:rPr>
                        <a:t>2</a:t>
                      </a:r>
                    </a:p>
                  </a:txBody>
                  <a:tcPr anchor="ctr">
                    <a:lnL>
                      <a:noFill/>
                    </a:lnL>
                    <a:lnR>
                      <a:noFill/>
                    </a:lnR>
                    <a:lnT>
                      <a:noFill/>
                    </a:lnT>
                    <a:lnB>
                      <a:noFill/>
                    </a:lnB>
                    <a:solidFill>
                      <a:srgbClr val="FAFBFC"/>
                    </a:solidFill>
                  </a:tcPr>
                </a:tc>
                <a:tc>
                  <a:txBody>
                    <a:bodyPr/>
                    <a:lstStyle/>
                    <a:p>
                      <a:pPr algn="ctr"/>
                      <a:r>
                        <a:rPr lang="en-IN">
                          <a:effectLst/>
                        </a:rPr>
                        <a:t>Atul</a:t>
                      </a:r>
                    </a:p>
                  </a:txBody>
                  <a:tcPr anchor="ctr">
                    <a:lnL>
                      <a:noFill/>
                    </a:lnL>
                    <a:lnR>
                      <a:noFill/>
                    </a:lnR>
                    <a:lnT>
                      <a:noFill/>
                    </a:lnT>
                    <a:lnB>
                      <a:noFill/>
                    </a:lnB>
                    <a:solidFill>
                      <a:srgbClr val="FAFBFC"/>
                    </a:solidFill>
                  </a:tcPr>
                </a:tc>
                <a:tc>
                  <a:txBody>
                    <a:bodyPr/>
                    <a:lstStyle/>
                    <a:p>
                      <a:pPr algn="ctr"/>
                      <a:r>
                        <a:rPr lang="en-IN">
                          <a:effectLst/>
                        </a:rPr>
                        <a:t>18</a:t>
                      </a:r>
                    </a:p>
                  </a:txBody>
                  <a:tcPr anchor="ctr">
                    <a:lnL>
                      <a:noFill/>
                    </a:lnL>
                    <a:lnR>
                      <a:noFill/>
                    </a:lnR>
                    <a:lnT>
                      <a:noFill/>
                    </a:lnT>
                    <a:lnB>
                      <a:noFill/>
                    </a:lnB>
                    <a:solidFill>
                      <a:srgbClr val="FAFBFC"/>
                    </a:solidFill>
                  </a:tcPr>
                </a:tc>
                <a:tc>
                  <a:txBody>
                    <a:bodyPr/>
                    <a:lstStyle/>
                    <a:p>
                      <a:pPr algn="ctr"/>
                      <a:r>
                        <a:rPr lang="en-IN">
                          <a:effectLst/>
                        </a:rPr>
                        <a:t>E-3</a:t>
                      </a:r>
                    </a:p>
                  </a:txBody>
                  <a:tcPr anchor="ctr">
                    <a:lnL>
                      <a:noFill/>
                    </a:lnL>
                    <a:lnR>
                      <a:noFill/>
                    </a:lnR>
                    <a:lnT>
                      <a:noFill/>
                    </a:lnT>
                    <a:lnB>
                      <a:noFill/>
                    </a:lnB>
                    <a:solidFill>
                      <a:srgbClr val="FAFBFC"/>
                    </a:solidFill>
                  </a:tcPr>
                </a:tc>
                <a:tc>
                  <a:txBody>
                    <a:bodyPr/>
                    <a:lstStyle/>
                    <a:p>
                      <a:pPr algn="ctr"/>
                      <a:r>
                        <a:rPr lang="en-IN">
                          <a:effectLst/>
                        </a:rPr>
                        <a:t>Baljeet</a:t>
                      </a:r>
                    </a:p>
                  </a:txBody>
                  <a:tcPr anchor="ctr">
                    <a:lnL>
                      <a:noFill/>
                    </a:lnL>
                    <a:lnR>
                      <a:noFill/>
                    </a:lnR>
                    <a:lnT>
                      <a:noFill/>
                    </a:lnT>
                    <a:lnB>
                      <a:noFill/>
                    </a:lnB>
                    <a:solidFill>
                      <a:srgbClr val="FAFBFC"/>
                    </a:solidFill>
                  </a:tcPr>
                </a:tc>
                <a:tc>
                  <a:txBody>
                    <a:bodyPr/>
                    <a:lstStyle/>
                    <a:p>
                      <a:pPr algn="ctr"/>
                      <a:r>
                        <a:rPr lang="en-IN">
                          <a:effectLst/>
                        </a:rPr>
                        <a:t>25</a:t>
                      </a:r>
                    </a:p>
                  </a:txBody>
                  <a:tcPr anchor="ctr">
                    <a:lnL>
                      <a:noFill/>
                    </a:lnL>
                    <a:lnR>
                      <a:noFill/>
                    </a:lnR>
                    <a:lnT>
                      <a:noFill/>
                    </a:lnT>
                    <a:lnB>
                      <a:noFill/>
                    </a:lnB>
                    <a:solidFill>
                      <a:srgbClr val="FAFBFC"/>
                    </a:solidFill>
                  </a:tcPr>
                </a:tc>
                <a:extLst>
                  <a:ext uri="{0D108BD9-81ED-4DB2-BD59-A6C34878D82A}">
                    <a16:rowId xmlns:a16="http://schemas.microsoft.com/office/drawing/2014/main" val="3174799668"/>
                  </a:ext>
                </a:extLst>
              </a:tr>
              <a:tr h="0">
                <a:tc>
                  <a:txBody>
                    <a:bodyPr/>
                    <a:lstStyle/>
                    <a:p>
                      <a:pPr algn="ctr"/>
                      <a:r>
                        <a:rPr lang="en-IN">
                          <a:effectLst/>
                        </a:rPr>
                        <a:t>2</a:t>
                      </a:r>
                    </a:p>
                  </a:txBody>
                  <a:tcPr anchor="ctr">
                    <a:lnL>
                      <a:noFill/>
                    </a:lnL>
                    <a:lnR>
                      <a:noFill/>
                    </a:lnR>
                    <a:lnT>
                      <a:noFill/>
                    </a:lnT>
                    <a:lnB>
                      <a:noFill/>
                    </a:lnB>
                    <a:solidFill>
                      <a:srgbClr val="FAFBFC"/>
                    </a:solidFill>
                  </a:tcPr>
                </a:tc>
                <a:tc>
                  <a:txBody>
                    <a:bodyPr/>
                    <a:lstStyle/>
                    <a:p>
                      <a:pPr algn="ctr"/>
                      <a:r>
                        <a:rPr lang="en-IN">
                          <a:effectLst/>
                        </a:rPr>
                        <a:t>Atul</a:t>
                      </a:r>
                    </a:p>
                  </a:txBody>
                  <a:tcPr anchor="ctr">
                    <a:lnL>
                      <a:noFill/>
                    </a:lnL>
                    <a:lnR>
                      <a:noFill/>
                    </a:lnR>
                    <a:lnT>
                      <a:noFill/>
                    </a:lnT>
                    <a:lnB>
                      <a:noFill/>
                    </a:lnB>
                    <a:solidFill>
                      <a:srgbClr val="FAFBFC"/>
                    </a:solidFill>
                  </a:tcPr>
                </a:tc>
                <a:tc>
                  <a:txBody>
                    <a:bodyPr/>
                    <a:lstStyle/>
                    <a:p>
                      <a:pPr algn="ctr"/>
                      <a:r>
                        <a:rPr lang="en-IN">
                          <a:effectLst/>
                        </a:rPr>
                        <a:t>18</a:t>
                      </a:r>
                    </a:p>
                  </a:txBody>
                  <a:tcPr anchor="ctr">
                    <a:lnL>
                      <a:noFill/>
                    </a:lnL>
                    <a:lnR>
                      <a:noFill/>
                    </a:lnR>
                    <a:lnT>
                      <a:noFill/>
                    </a:lnT>
                    <a:lnB>
                      <a:noFill/>
                    </a:lnB>
                    <a:solidFill>
                      <a:srgbClr val="FAFBFC"/>
                    </a:solidFill>
                  </a:tcPr>
                </a:tc>
                <a:tc>
                  <a:txBody>
                    <a:bodyPr/>
                    <a:lstStyle/>
                    <a:p>
                      <a:pPr algn="ctr"/>
                      <a:r>
                        <a:rPr lang="en-IN">
                          <a:effectLst/>
                        </a:rPr>
                        <a:t>E-4</a:t>
                      </a:r>
                    </a:p>
                  </a:txBody>
                  <a:tcPr anchor="ctr">
                    <a:lnL>
                      <a:noFill/>
                    </a:lnL>
                    <a:lnR>
                      <a:noFill/>
                    </a:lnR>
                    <a:lnT>
                      <a:noFill/>
                    </a:lnT>
                    <a:lnB>
                      <a:noFill/>
                    </a:lnB>
                    <a:solidFill>
                      <a:srgbClr val="FAFBFC"/>
                    </a:solidFill>
                  </a:tcPr>
                </a:tc>
                <a:tc>
                  <a:txBody>
                    <a:bodyPr/>
                    <a:lstStyle/>
                    <a:p>
                      <a:pPr algn="ctr"/>
                      <a:r>
                        <a:rPr lang="en-IN">
                          <a:effectLst/>
                        </a:rPr>
                        <a:t>Harsh</a:t>
                      </a:r>
                    </a:p>
                  </a:txBody>
                  <a:tcPr anchor="ctr">
                    <a:lnL>
                      <a:noFill/>
                    </a:lnL>
                    <a:lnR>
                      <a:noFill/>
                    </a:lnR>
                    <a:lnT>
                      <a:noFill/>
                    </a:lnT>
                    <a:lnB>
                      <a:noFill/>
                    </a:lnB>
                    <a:solidFill>
                      <a:srgbClr val="FAFBFC"/>
                    </a:solidFill>
                  </a:tcPr>
                </a:tc>
                <a:tc>
                  <a:txBody>
                    <a:bodyPr/>
                    <a:lstStyle/>
                    <a:p>
                      <a:pPr algn="ctr"/>
                      <a:r>
                        <a:rPr lang="en-IN">
                          <a:effectLst/>
                        </a:rPr>
                        <a:t>20</a:t>
                      </a:r>
                    </a:p>
                  </a:txBody>
                  <a:tcPr anchor="ctr">
                    <a:lnL>
                      <a:noFill/>
                    </a:lnL>
                    <a:lnR>
                      <a:noFill/>
                    </a:lnR>
                    <a:lnT>
                      <a:noFill/>
                    </a:lnT>
                    <a:lnB>
                      <a:noFill/>
                    </a:lnB>
                    <a:solidFill>
                      <a:srgbClr val="FAFBFC"/>
                    </a:solidFill>
                  </a:tcPr>
                </a:tc>
                <a:extLst>
                  <a:ext uri="{0D108BD9-81ED-4DB2-BD59-A6C34878D82A}">
                    <a16:rowId xmlns:a16="http://schemas.microsoft.com/office/drawing/2014/main" val="3600746677"/>
                  </a:ext>
                </a:extLst>
              </a:tr>
              <a:tr h="0">
                <a:tc>
                  <a:txBody>
                    <a:bodyPr/>
                    <a:lstStyle/>
                    <a:p>
                      <a:pPr algn="ctr"/>
                      <a:r>
                        <a:rPr lang="en-IN">
                          <a:effectLst/>
                        </a:rPr>
                        <a:t>2</a:t>
                      </a:r>
                    </a:p>
                  </a:txBody>
                  <a:tcPr anchor="ctr">
                    <a:lnL>
                      <a:noFill/>
                    </a:lnL>
                    <a:lnR>
                      <a:noFill/>
                    </a:lnR>
                    <a:lnT>
                      <a:noFill/>
                    </a:lnT>
                    <a:lnB>
                      <a:noFill/>
                    </a:lnB>
                    <a:solidFill>
                      <a:srgbClr val="FAFBFC"/>
                    </a:solidFill>
                  </a:tcPr>
                </a:tc>
                <a:tc>
                  <a:txBody>
                    <a:bodyPr/>
                    <a:lstStyle/>
                    <a:p>
                      <a:pPr algn="ctr"/>
                      <a:r>
                        <a:rPr lang="en-IN">
                          <a:effectLst/>
                        </a:rPr>
                        <a:t>Atul</a:t>
                      </a:r>
                    </a:p>
                  </a:txBody>
                  <a:tcPr anchor="ctr">
                    <a:lnL>
                      <a:noFill/>
                    </a:lnL>
                    <a:lnR>
                      <a:noFill/>
                    </a:lnR>
                    <a:lnT>
                      <a:noFill/>
                    </a:lnT>
                    <a:lnB>
                      <a:noFill/>
                    </a:lnB>
                    <a:solidFill>
                      <a:srgbClr val="FAFBFC"/>
                    </a:solidFill>
                  </a:tcPr>
                </a:tc>
                <a:tc>
                  <a:txBody>
                    <a:bodyPr/>
                    <a:lstStyle/>
                    <a:p>
                      <a:pPr algn="ctr"/>
                      <a:r>
                        <a:rPr lang="en-IN">
                          <a:effectLst/>
                        </a:rPr>
                        <a:t>18</a:t>
                      </a:r>
                    </a:p>
                  </a:txBody>
                  <a:tcPr anchor="ctr">
                    <a:lnL>
                      <a:noFill/>
                    </a:lnL>
                    <a:lnR>
                      <a:noFill/>
                    </a:lnR>
                    <a:lnT>
                      <a:noFill/>
                    </a:lnT>
                    <a:lnB>
                      <a:noFill/>
                    </a:lnB>
                    <a:solidFill>
                      <a:srgbClr val="FAFBFC"/>
                    </a:solidFill>
                  </a:tcPr>
                </a:tc>
                <a:tc>
                  <a:txBody>
                    <a:bodyPr/>
                    <a:lstStyle/>
                    <a:p>
                      <a:pPr algn="ctr"/>
                      <a:r>
                        <a:rPr lang="en-IN">
                          <a:effectLst/>
                        </a:rPr>
                        <a:t>E-5</a:t>
                      </a:r>
                    </a:p>
                  </a:txBody>
                  <a:tcPr anchor="ctr">
                    <a:lnL>
                      <a:noFill/>
                    </a:lnL>
                    <a:lnR>
                      <a:noFill/>
                    </a:lnR>
                    <a:lnT>
                      <a:noFill/>
                    </a:lnT>
                    <a:lnB>
                      <a:noFill/>
                    </a:lnB>
                    <a:solidFill>
                      <a:srgbClr val="FAFBFC"/>
                    </a:solidFill>
                  </a:tcPr>
                </a:tc>
                <a:tc>
                  <a:txBody>
                    <a:bodyPr/>
                    <a:lstStyle/>
                    <a:p>
                      <a:pPr algn="ctr"/>
                      <a:r>
                        <a:rPr lang="en-IN">
                          <a:effectLst/>
                        </a:rPr>
                        <a:t>Pranav</a:t>
                      </a:r>
                    </a:p>
                  </a:txBody>
                  <a:tcPr anchor="ctr">
                    <a:lnL>
                      <a:noFill/>
                    </a:lnL>
                    <a:lnR>
                      <a:noFill/>
                    </a:lnR>
                    <a:lnT>
                      <a:noFill/>
                    </a:lnT>
                    <a:lnB>
                      <a:noFill/>
                    </a:lnB>
                    <a:solidFill>
                      <a:srgbClr val="FAFBFC"/>
                    </a:solidFill>
                  </a:tcPr>
                </a:tc>
                <a:tc>
                  <a:txBody>
                    <a:bodyPr/>
                    <a:lstStyle/>
                    <a:p>
                      <a:pPr algn="ctr"/>
                      <a:r>
                        <a:rPr lang="en-IN" dirty="0">
                          <a:effectLst/>
                        </a:rPr>
                        <a:t>22</a:t>
                      </a:r>
                    </a:p>
                  </a:txBody>
                  <a:tcPr anchor="ctr">
                    <a:lnL>
                      <a:noFill/>
                    </a:lnL>
                    <a:lnR>
                      <a:noFill/>
                    </a:lnR>
                    <a:lnT>
                      <a:noFill/>
                    </a:lnT>
                    <a:lnB>
                      <a:noFill/>
                    </a:lnB>
                    <a:solidFill>
                      <a:srgbClr val="FAFBFC"/>
                    </a:solidFill>
                  </a:tcPr>
                </a:tc>
                <a:extLst>
                  <a:ext uri="{0D108BD9-81ED-4DB2-BD59-A6C34878D82A}">
                    <a16:rowId xmlns:a16="http://schemas.microsoft.com/office/drawing/2014/main" val="2185894769"/>
                  </a:ext>
                </a:extLst>
              </a:tr>
            </a:tbl>
          </a:graphicData>
        </a:graphic>
      </p:graphicFrame>
    </p:spTree>
    <p:extLst>
      <p:ext uri="{BB962C8B-B14F-4D97-AF65-F5344CB8AC3E}">
        <p14:creationId xmlns:p14="http://schemas.microsoft.com/office/powerpoint/2010/main" val="22622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Cross Product (X)</a:t>
            </a:r>
            <a:br>
              <a:rPr lang="en-US" b="1" dirty="0"/>
            </a:br>
            <a:endParaRPr lang="en-IN" dirty="0"/>
          </a:p>
        </p:txBody>
      </p:sp>
      <p:sp>
        <p:nvSpPr>
          <p:cNvPr id="3" name="Content Placeholder 2"/>
          <p:cNvSpPr>
            <a:spLocks noGrp="1"/>
          </p:cNvSpPr>
          <p:nvPr>
            <p:ph idx="1"/>
          </p:nvPr>
        </p:nvSpPr>
        <p:spPr/>
        <p:txBody>
          <a:bodyPr/>
          <a:lstStyle/>
          <a:p>
            <a:r>
              <a:rPr lang="en-US" dirty="0" smtClean="0"/>
              <a:t>Cross </a:t>
            </a:r>
            <a:r>
              <a:rPr lang="en-US" dirty="0"/>
              <a:t>Product is done between two relations. It takes two relations as an input and gives one relation the cross product as the output. If there are X attributes in 1st relation and Y in 2nd relation then the final relation will have X+Y attributes. The number of tuples in the Final relation will be X*Y.</a:t>
            </a:r>
          </a:p>
          <a:p>
            <a:endParaRPr lang="en-IN" dirty="0"/>
          </a:p>
        </p:txBody>
      </p:sp>
    </p:spTree>
    <p:extLst>
      <p:ext uri="{BB962C8B-B14F-4D97-AF65-F5344CB8AC3E}">
        <p14:creationId xmlns:p14="http://schemas.microsoft.com/office/powerpoint/2010/main" val="2867112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2945" y="1690256"/>
            <a:ext cx="6497781" cy="4844128"/>
          </a:xfrm>
        </p:spPr>
      </p:pic>
    </p:spTree>
    <p:extLst>
      <p:ext uri="{BB962C8B-B14F-4D97-AF65-F5344CB8AC3E}">
        <p14:creationId xmlns:p14="http://schemas.microsoft.com/office/powerpoint/2010/main" val="2318821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236" y="1593273"/>
            <a:ext cx="8423564" cy="4973781"/>
          </a:xfrm>
        </p:spPr>
      </p:pic>
    </p:spTree>
    <p:extLst>
      <p:ext uri="{BB962C8B-B14F-4D97-AF65-F5344CB8AC3E}">
        <p14:creationId xmlns:p14="http://schemas.microsoft.com/office/powerpoint/2010/main" val="813608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7"/>
            <a:ext cx="8229600" cy="5010871"/>
          </a:xfrm>
        </p:spPr>
      </p:pic>
    </p:spTree>
    <p:extLst>
      <p:ext uri="{BB962C8B-B14F-4D97-AF65-F5344CB8AC3E}">
        <p14:creationId xmlns:p14="http://schemas.microsoft.com/office/powerpoint/2010/main" val="2548151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600200"/>
            <a:ext cx="7259781" cy="4525963"/>
          </a:xfrm>
        </p:spPr>
      </p:pic>
    </p:spTree>
    <p:extLst>
      <p:ext uri="{BB962C8B-B14F-4D97-AF65-F5344CB8AC3E}">
        <p14:creationId xmlns:p14="http://schemas.microsoft.com/office/powerpoint/2010/main" val="3072457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1074" y="1872178"/>
            <a:ext cx="7001852" cy="3982006"/>
          </a:xfrm>
        </p:spPr>
      </p:pic>
    </p:spTree>
    <p:extLst>
      <p:ext uri="{BB962C8B-B14F-4D97-AF65-F5344CB8AC3E}">
        <p14:creationId xmlns:p14="http://schemas.microsoft.com/office/powerpoint/2010/main" val="703778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7526" y="1753098"/>
            <a:ext cx="6525491" cy="4606137"/>
          </a:xfrm>
        </p:spPr>
      </p:pic>
    </p:spTree>
    <p:extLst>
      <p:ext uri="{BB962C8B-B14F-4D97-AF65-F5344CB8AC3E}">
        <p14:creationId xmlns:p14="http://schemas.microsoft.com/office/powerpoint/2010/main" val="1814087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218" y="1607127"/>
            <a:ext cx="8326582" cy="4013662"/>
          </a:xfrm>
        </p:spPr>
      </p:pic>
    </p:spTree>
    <p:extLst>
      <p:ext uri="{BB962C8B-B14F-4D97-AF65-F5344CB8AC3E}">
        <p14:creationId xmlns:p14="http://schemas.microsoft.com/office/powerpoint/2010/main" val="2788927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5018" y="1417638"/>
            <a:ext cx="8021782" cy="5177126"/>
          </a:xfrm>
        </p:spPr>
      </p:pic>
    </p:spTree>
    <p:extLst>
      <p:ext uri="{BB962C8B-B14F-4D97-AF65-F5344CB8AC3E}">
        <p14:creationId xmlns:p14="http://schemas.microsoft.com/office/powerpoint/2010/main" val="930486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Conditional Join</a:t>
            </a:r>
            <a:br>
              <a:rPr lang="en-US" b="1" dirty="0"/>
            </a:br>
            <a:endParaRPr lang="en-IN" dirty="0"/>
          </a:p>
        </p:txBody>
      </p:sp>
      <p:sp>
        <p:nvSpPr>
          <p:cNvPr id="3" name="Content Placeholder 2"/>
          <p:cNvSpPr>
            <a:spLocks noGrp="1"/>
          </p:cNvSpPr>
          <p:nvPr>
            <p:ph idx="1"/>
          </p:nvPr>
        </p:nvSpPr>
        <p:spPr>
          <a:xfrm>
            <a:off x="665017" y="775856"/>
            <a:ext cx="7897091" cy="6156108"/>
          </a:xfrm>
        </p:spPr>
        <p:txBody>
          <a:bodyPr/>
          <a:lstStyle/>
          <a:p>
            <a:pPr marL="0" indent="0" algn="just">
              <a:buNone/>
            </a:pPr>
            <a:r>
              <a:rPr lang="en-US" sz="2800" dirty="0" smtClean="0"/>
              <a:t>It </a:t>
            </a:r>
            <a:r>
              <a:rPr lang="en-US" sz="2800" dirty="0"/>
              <a:t>is also similar to natural join. The only difference between Natural Join and Conditional Join is in natural join the attributes must be equal by default but in conditional join, we can specify the conditions like greater than, less than, etc.</a:t>
            </a: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020291"/>
            <a:ext cx="8104908" cy="3740728"/>
          </a:xfrm>
          <a:prstGeom prst="rect">
            <a:avLst/>
          </a:prstGeom>
        </p:spPr>
      </p:pic>
    </p:spTree>
    <p:extLst>
      <p:ext uri="{BB962C8B-B14F-4D97-AF65-F5344CB8AC3E}">
        <p14:creationId xmlns:p14="http://schemas.microsoft.com/office/powerpoint/2010/main" val="28277774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8873" y="1705468"/>
            <a:ext cx="7620000" cy="4315427"/>
          </a:xfrm>
        </p:spPr>
      </p:pic>
    </p:spTree>
    <p:extLst>
      <p:ext uri="{BB962C8B-B14F-4D97-AF65-F5344CB8AC3E}">
        <p14:creationId xmlns:p14="http://schemas.microsoft.com/office/powerpoint/2010/main" val="2572238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Division operation</a:t>
            </a:r>
          </a:p>
          <a:p>
            <a:r>
              <a:rPr lang="en-US" dirty="0"/>
              <a:t>The division operator is used for queries which involve the 'all'.</a:t>
            </a:r>
          </a:p>
          <a:p>
            <a:r>
              <a:rPr lang="en-US" dirty="0"/>
              <a:t>R1 ÷ R2 = tuples of R1 associated with all tuples of R2.</a:t>
            </a:r>
          </a:p>
          <a:p>
            <a:r>
              <a:rPr lang="en-US" dirty="0"/>
              <a:t>Example</a:t>
            </a:r>
          </a:p>
          <a:p>
            <a:r>
              <a:rPr lang="en-US" dirty="0"/>
              <a:t>Retrieve the name of the subject that is taught in all courses.</a:t>
            </a:r>
          </a:p>
          <a:p>
            <a:endParaRPr lang="en-IN" dirty="0"/>
          </a:p>
        </p:txBody>
      </p:sp>
    </p:spTree>
    <p:extLst>
      <p:ext uri="{BB962C8B-B14F-4D97-AF65-F5344CB8AC3E}">
        <p14:creationId xmlns:p14="http://schemas.microsoft.com/office/powerpoint/2010/main" val="73520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600200"/>
            <a:ext cx="8229600" cy="4525963"/>
          </a:xfrm>
        </p:spPr>
      </p:pic>
    </p:spTree>
    <p:extLst>
      <p:ext uri="{BB962C8B-B14F-4D97-AF65-F5344CB8AC3E}">
        <p14:creationId xmlns:p14="http://schemas.microsoft.com/office/powerpoint/2010/main" val="2109172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8037" y="1748335"/>
            <a:ext cx="8437418" cy="4832573"/>
          </a:xfrm>
        </p:spPr>
      </p:pic>
    </p:spTree>
    <p:extLst>
      <p:ext uri="{BB962C8B-B14F-4D97-AF65-F5344CB8AC3E}">
        <p14:creationId xmlns:p14="http://schemas.microsoft.com/office/powerpoint/2010/main" val="3374106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b="1" dirty="0"/>
              <a:t>Rename (ρ)</a:t>
            </a:r>
          </a:p>
          <a:p>
            <a:pPr marL="0" indent="0">
              <a:buNone/>
            </a:pPr>
            <a:r>
              <a:rPr lang="en-US" dirty="0"/>
              <a:t>Rename operation is denoted by "Rho"(ρ). As its name suggests it is used to rename the output relation. Rename operator too is a </a:t>
            </a:r>
            <a:r>
              <a:rPr lang="en-US" b="1" dirty="0"/>
              <a:t>binary operator</a:t>
            </a:r>
            <a:r>
              <a:rPr lang="en-US" dirty="0"/>
              <a:t>.</a:t>
            </a:r>
            <a:br>
              <a:rPr lang="en-US" dirty="0"/>
            </a:br>
            <a:r>
              <a:rPr lang="en-US" dirty="0"/>
              <a:t>Notation: ρ(R,S)</a:t>
            </a:r>
            <a:br>
              <a:rPr lang="en-US" dirty="0"/>
            </a:br>
            <a:r>
              <a:rPr lang="en-US" dirty="0"/>
              <a:t>Where R is the new relation name</a:t>
            </a:r>
            <a:br>
              <a:rPr lang="en-US" dirty="0"/>
            </a:br>
            <a:r>
              <a:rPr lang="en-US" dirty="0"/>
              <a:t>S is the old relation name</a:t>
            </a:r>
          </a:p>
          <a:p>
            <a:endParaRPr lang="en-IN" dirty="0"/>
          </a:p>
        </p:txBody>
      </p:sp>
    </p:spTree>
    <p:extLst>
      <p:ext uri="{BB962C8B-B14F-4D97-AF65-F5344CB8AC3E}">
        <p14:creationId xmlns:p14="http://schemas.microsoft.com/office/powerpoint/2010/main" val="1440509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53836"/>
          </a:xfrm>
        </p:spPr>
        <p:txBody>
          <a:bodyPr>
            <a:normAutofit fontScale="90000"/>
          </a:bodyPr>
          <a:lstStyle/>
          <a:p>
            <a:r>
              <a:rPr lang="en-US" sz="3600" dirty="0" smtClean="0"/>
              <a:t/>
            </a:r>
            <a:br>
              <a:rPr lang="en-US" sz="3600" dirty="0" smtClean="0"/>
            </a:br>
            <a:r>
              <a:rPr lang="en-US" sz="3600" dirty="0"/>
              <a:t/>
            </a:r>
            <a:br>
              <a:rPr lang="en-US" sz="3600" dirty="0"/>
            </a:br>
            <a:r>
              <a:rPr lang="en-US" sz="3600" dirty="0" smtClean="0"/>
              <a:t/>
            </a:r>
            <a:br>
              <a:rPr lang="en-US" sz="3600" dirty="0" smtClean="0"/>
            </a:br>
            <a:r>
              <a:rPr lang="el-GR" sz="3600" dirty="0" smtClean="0"/>
              <a:t>ρ(</a:t>
            </a:r>
            <a:r>
              <a:rPr lang="en-IN" sz="3600" dirty="0"/>
              <a:t>STUDENT_NAME,∏ NAME(STUDENT</a:t>
            </a:r>
            <a:r>
              <a:rPr lang="en-IN" dirty="0" smtClean="0"/>
              <a:t>))</a:t>
            </a:r>
            <a:br>
              <a:rPr lang="en-IN" dirty="0" smtClean="0"/>
            </a:br>
            <a:r>
              <a:rPr lang="en-IN" dirty="0" smtClean="0"/>
              <a:t>o/p:-</a:t>
            </a:r>
            <a:r>
              <a:rPr lang="en-IN" sz="2700" dirty="0" smtClean="0"/>
              <a:t>STUDENT_NAME</a:t>
            </a:r>
            <a:r>
              <a:rPr lang="en-IN" dirty="0"/>
              <a:t/>
            </a:r>
            <a:br>
              <a:rPr lang="en-IN" dirty="0"/>
            </a:br>
            <a:r>
              <a:rPr lang="en-IN" dirty="0"/>
              <a:t/>
            </a:r>
            <a:br>
              <a:rPr lang="en-IN" dirty="0"/>
            </a:br>
            <a:r>
              <a:rPr lang="en-IN" dirty="0"/>
              <a:t/>
            </a:r>
            <a:br>
              <a:rPr lang="en-IN" dirty="0"/>
            </a:br>
            <a:endParaRPr lang="en-IN"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48033588"/>
              </p:ext>
            </p:extLst>
          </p:nvPr>
        </p:nvGraphicFramePr>
        <p:xfrm>
          <a:off x="651163" y="2202873"/>
          <a:ext cx="7758545" cy="2757588"/>
        </p:xfrm>
        <a:graphic>
          <a:graphicData uri="http://schemas.openxmlformats.org/drawingml/2006/table">
            <a:tbl>
              <a:tblPr/>
              <a:tblGrid>
                <a:gridCol w="7758545">
                  <a:extLst>
                    <a:ext uri="{9D8B030D-6E8A-4147-A177-3AD203B41FA5}">
                      <a16:colId xmlns:a16="http://schemas.microsoft.com/office/drawing/2014/main" val="4290806379"/>
                    </a:ext>
                  </a:extLst>
                </a:gridCol>
              </a:tblGrid>
              <a:tr h="459598">
                <a:tc>
                  <a:txBody>
                    <a:bodyPr/>
                    <a:lstStyle/>
                    <a:p>
                      <a:pPr algn="ctr"/>
                      <a:r>
                        <a:rPr lang="en-IN">
                          <a:effectLst/>
                        </a:rPr>
                        <a:t>NAME</a:t>
                      </a:r>
                    </a:p>
                  </a:txBody>
                  <a:tcPr anchor="ctr">
                    <a:lnL>
                      <a:noFill/>
                    </a:lnL>
                    <a:lnR>
                      <a:noFill/>
                    </a:lnR>
                    <a:lnT>
                      <a:noFill/>
                    </a:lnT>
                    <a:lnB>
                      <a:noFill/>
                    </a:lnB>
                    <a:solidFill>
                      <a:srgbClr val="FAFBFC"/>
                    </a:solidFill>
                  </a:tcPr>
                </a:tc>
                <a:extLst>
                  <a:ext uri="{0D108BD9-81ED-4DB2-BD59-A6C34878D82A}">
                    <a16:rowId xmlns:a16="http://schemas.microsoft.com/office/drawing/2014/main" val="805879035"/>
                  </a:ext>
                </a:extLst>
              </a:tr>
              <a:tr h="459598">
                <a:tc>
                  <a:txBody>
                    <a:bodyPr/>
                    <a:lstStyle/>
                    <a:p>
                      <a:pPr algn="ctr"/>
                      <a:r>
                        <a:rPr lang="en-IN" dirty="0" err="1">
                          <a:effectLst/>
                        </a:rPr>
                        <a:t>Aman</a:t>
                      </a:r>
                      <a:endParaRPr lang="en-IN" dirty="0">
                        <a:effectLst/>
                      </a:endParaRPr>
                    </a:p>
                  </a:txBody>
                  <a:tcPr anchor="ctr">
                    <a:lnL>
                      <a:noFill/>
                    </a:lnL>
                    <a:lnR>
                      <a:noFill/>
                    </a:lnR>
                    <a:lnT>
                      <a:noFill/>
                    </a:lnT>
                    <a:lnB>
                      <a:noFill/>
                    </a:lnB>
                    <a:solidFill>
                      <a:srgbClr val="FAFBFC"/>
                    </a:solidFill>
                  </a:tcPr>
                </a:tc>
                <a:extLst>
                  <a:ext uri="{0D108BD9-81ED-4DB2-BD59-A6C34878D82A}">
                    <a16:rowId xmlns:a16="http://schemas.microsoft.com/office/drawing/2014/main" val="3790130502"/>
                  </a:ext>
                </a:extLst>
              </a:tr>
              <a:tr h="459598">
                <a:tc>
                  <a:txBody>
                    <a:bodyPr/>
                    <a:lstStyle/>
                    <a:p>
                      <a:pPr algn="ctr"/>
                      <a:r>
                        <a:rPr lang="en-IN" dirty="0" err="1">
                          <a:effectLst/>
                        </a:rPr>
                        <a:t>Atul</a:t>
                      </a:r>
                      <a:endParaRPr lang="en-IN" dirty="0">
                        <a:effectLst/>
                      </a:endParaRPr>
                    </a:p>
                  </a:txBody>
                  <a:tcPr anchor="ctr">
                    <a:lnL>
                      <a:noFill/>
                    </a:lnL>
                    <a:lnR>
                      <a:noFill/>
                    </a:lnR>
                    <a:lnT>
                      <a:noFill/>
                    </a:lnT>
                    <a:lnB>
                      <a:noFill/>
                    </a:lnB>
                    <a:solidFill>
                      <a:srgbClr val="FAFBFC"/>
                    </a:solidFill>
                  </a:tcPr>
                </a:tc>
                <a:extLst>
                  <a:ext uri="{0D108BD9-81ED-4DB2-BD59-A6C34878D82A}">
                    <a16:rowId xmlns:a16="http://schemas.microsoft.com/office/drawing/2014/main" val="4097822304"/>
                  </a:ext>
                </a:extLst>
              </a:tr>
              <a:tr h="459598">
                <a:tc>
                  <a:txBody>
                    <a:bodyPr/>
                    <a:lstStyle/>
                    <a:p>
                      <a:pPr algn="ctr"/>
                      <a:r>
                        <a:rPr lang="en-IN">
                          <a:effectLst/>
                        </a:rPr>
                        <a:t>Baljeet</a:t>
                      </a:r>
                    </a:p>
                  </a:txBody>
                  <a:tcPr anchor="ctr">
                    <a:lnL>
                      <a:noFill/>
                    </a:lnL>
                    <a:lnR>
                      <a:noFill/>
                    </a:lnR>
                    <a:lnT>
                      <a:noFill/>
                    </a:lnT>
                    <a:lnB>
                      <a:noFill/>
                    </a:lnB>
                    <a:solidFill>
                      <a:srgbClr val="FAFBFC"/>
                    </a:solidFill>
                  </a:tcPr>
                </a:tc>
                <a:extLst>
                  <a:ext uri="{0D108BD9-81ED-4DB2-BD59-A6C34878D82A}">
                    <a16:rowId xmlns:a16="http://schemas.microsoft.com/office/drawing/2014/main" val="3417417790"/>
                  </a:ext>
                </a:extLst>
              </a:tr>
              <a:tr h="459598">
                <a:tc>
                  <a:txBody>
                    <a:bodyPr/>
                    <a:lstStyle/>
                    <a:p>
                      <a:pPr algn="ctr"/>
                      <a:r>
                        <a:rPr lang="en-IN">
                          <a:effectLst/>
                        </a:rPr>
                        <a:t>Harsh</a:t>
                      </a:r>
                    </a:p>
                  </a:txBody>
                  <a:tcPr anchor="ctr">
                    <a:lnL>
                      <a:noFill/>
                    </a:lnL>
                    <a:lnR>
                      <a:noFill/>
                    </a:lnR>
                    <a:lnT>
                      <a:noFill/>
                    </a:lnT>
                    <a:lnB>
                      <a:noFill/>
                    </a:lnB>
                    <a:solidFill>
                      <a:srgbClr val="FAFBFC"/>
                    </a:solidFill>
                  </a:tcPr>
                </a:tc>
                <a:extLst>
                  <a:ext uri="{0D108BD9-81ED-4DB2-BD59-A6C34878D82A}">
                    <a16:rowId xmlns:a16="http://schemas.microsoft.com/office/drawing/2014/main" val="1717464949"/>
                  </a:ext>
                </a:extLst>
              </a:tr>
              <a:tr h="459598">
                <a:tc>
                  <a:txBody>
                    <a:bodyPr/>
                    <a:lstStyle/>
                    <a:p>
                      <a:pPr algn="ctr"/>
                      <a:r>
                        <a:rPr lang="en-IN" dirty="0" err="1">
                          <a:effectLst/>
                        </a:rPr>
                        <a:t>Prateek</a:t>
                      </a:r>
                      <a:endParaRPr lang="en-IN" dirty="0">
                        <a:effectLst/>
                      </a:endParaRPr>
                    </a:p>
                  </a:txBody>
                  <a:tcPr anchor="ctr">
                    <a:lnL>
                      <a:noFill/>
                    </a:lnL>
                    <a:lnR>
                      <a:noFill/>
                    </a:lnR>
                    <a:lnT>
                      <a:noFill/>
                    </a:lnT>
                    <a:lnB>
                      <a:noFill/>
                    </a:lnB>
                    <a:solidFill>
                      <a:srgbClr val="FAFBFC"/>
                    </a:solidFill>
                  </a:tcPr>
                </a:tc>
                <a:extLst>
                  <a:ext uri="{0D108BD9-81ED-4DB2-BD59-A6C34878D82A}">
                    <a16:rowId xmlns:a16="http://schemas.microsoft.com/office/drawing/2014/main" val="541801338"/>
                  </a:ext>
                </a:extLst>
              </a:tr>
            </a:tbl>
          </a:graphicData>
        </a:graphic>
      </p:graphicFrame>
    </p:spTree>
    <p:extLst>
      <p:ext uri="{BB962C8B-B14F-4D97-AF65-F5344CB8AC3E}">
        <p14:creationId xmlns:p14="http://schemas.microsoft.com/office/powerpoint/2010/main" val="35319704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6635"/>
          </a:xfrm>
        </p:spPr>
        <p:txBody>
          <a:bodyPr>
            <a:normAutofit fontScale="90000"/>
          </a:bodyPr>
          <a:lstStyle/>
          <a:p>
            <a:r>
              <a:rPr lang="en-US" b="1" dirty="0" smtClean="0"/>
              <a:t/>
            </a:r>
            <a:br>
              <a:rPr lang="en-US" b="1" dirty="0" smtClean="0"/>
            </a:br>
            <a:r>
              <a:rPr lang="en-US" b="1" dirty="0" smtClean="0"/>
              <a:t>Derived </a:t>
            </a:r>
            <a:r>
              <a:rPr lang="en-US" b="1" dirty="0"/>
              <a:t>Operations</a:t>
            </a:r>
            <a:br>
              <a:rPr lang="en-US" b="1" dirty="0"/>
            </a:br>
            <a:endParaRPr lang="en-IN" dirty="0"/>
          </a:p>
        </p:txBody>
      </p:sp>
      <p:sp>
        <p:nvSpPr>
          <p:cNvPr id="3" name="Content Placeholder 2"/>
          <p:cNvSpPr>
            <a:spLocks noGrp="1"/>
          </p:cNvSpPr>
          <p:nvPr>
            <p:ph idx="1"/>
          </p:nvPr>
        </p:nvSpPr>
        <p:spPr>
          <a:xfrm>
            <a:off x="457200" y="831273"/>
            <a:ext cx="8229600" cy="5735781"/>
          </a:xfrm>
        </p:spPr>
        <p:txBody>
          <a:bodyPr>
            <a:normAutofit fontScale="70000" lnSpcReduction="20000"/>
          </a:bodyPr>
          <a:lstStyle/>
          <a:p>
            <a:r>
              <a:rPr lang="en-US" dirty="0" smtClean="0"/>
              <a:t>Also </a:t>
            </a:r>
            <a:r>
              <a:rPr lang="en-US" dirty="0"/>
              <a:t>known as extended operations, these operations can be derived from basic operations and hence named Derived Operations. These include three operations: Join Operations, Intersection operations, and Division operations.</a:t>
            </a:r>
          </a:p>
          <a:p>
            <a:r>
              <a:rPr lang="en-US" dirty="0"/>
              <a:t>Let's study them one by one.</a:t>
            </a:r>
          </a:p>
          <a:p>
            <a:pPr marL="0" indent="0">
              <a:buNone/>
            </a:pPr>
            <a:r>
              <a:rPr lang="en-US" b="1" i="1" dirty="0">
                <a:solidFill>
                  <a:srgbClr val="FF0000"/>
                </a:solidFill>
              </a:rPr>
              <a:t>Join Operations</a:t>
            </a:r>
          </a:p>
          <a:p>
            <a:r>
              <a:rPr lang="en-US" dirty="0">
                <a:hlinkClick r:id="rId2"/>
              </a:rPr>
              <a:t>Join Operation in DBMS</a:t>
            </a:r>
            <a:r>
              <a:rPr lang="en-US" dirty="0"/>
              <a:t> are binary operations that allow us to combine two or more relations.</a:t>
            </a:r>
            <a:br>
              <a:rPr lang="en-US" dirty="0"/>
            </a:br>
            <a:r>
              <a:rPr lang="en-US" dirty="0"/>
              <a:t>They are further classified into two types: Inner Join, and Outer Join.</a:t>
            </a:r>
          </a:p>
          <a:p>
            <a:r>
              <a:rPr lang="en-US" dirty="0"/>
              <a:t>First, let's have two relations </a:t>
            </a:r>
            <a:r>
              <a:rPr lang="en-US" b="1" dirty="0"/>
              <a:t>EMPLOYEE</a:t>
            </a:r>
            <a:r>
              <a:rPr lang="en-US" dirty="0"/>
              <a:t> consisting of </a:t>
            </a:r>
            <a:r>
              <a:rPr lang="en-US" b="1" dirty="0"/>
              <a:t>E_NO</a:t>
            </a:r>
            <a:r>
              <a:rPr lang="en-US" dirty="0"/>
              <a:t>, </a:t>
            </a:r>
            <a:r>
              <a:rPr lang="en-US" b="1" dirty="0"/>
              <a:t>E_NAME</a:t>
            </a:r>
            <a:r>
              <a:rPr lang="en-US" dirty="0"/>
              <a:t>, </a:t>
            </a:r>
            <a:r>
              <a:rPr lang="en-US" b="1" dirty="0"/>
              <a:t>CITY</a:t>
            </a:r>
            <a:r>
              <a:rPr lang="en-US" dirty="0"/>
              <a:t> and </a:t>
            </a:r>
            <a:r>
              <a:rPr lang="en-US" b="1" dirty="0"/>
              <a:t>EXPERIENCE</a:t>
            </a:r>
            <a:r>
              <a:rPr lang="en-US" dirty="0"/>
              <a:t>. EMPLOYEE table contains employee's information such as id, name, city, and experience of employee(In Years). The other relation is </a:t>
            </a:r>
            <a:r>
              <a:rPr lang="en-US" b="1" dirty="0"/>
              <a:t>DEPARTMENT</a:t>
            </a:r>
            <a:r>
              <a:rPr lang="en-US" dirty="0"/>
              <a:t> consisting of </a:t>
            </a:r>
            <a:r>
              <a:rPr lang="en-US" b="1" dirty="0"/>
              <a:t>D_NO</a:t>
            </a:r>
            <a:r>
              <a:rPr lang="en-US" dirty="0"/>
              <a:t>, </a:t>
            </a:r>
            <a:r>
              <a:rPr lang="en-US" b="1" dirty="0"/>
              <a:t>D_NAME</a:t>
            </a:r>
            <a:r>
              <a:rPr lang="en-US" dirty="0"/>
              <a:t>, </a:t>
            </a:r>
            <a:r>
              <a:rPr lang="en-US" b="1" dirty="0"/>
              <a:t>E_NO</a:t>
            </a:r>
            <a:r>
              <a:rPr lang="en-US" dirty="0"/>
              <a:t> and </a:t>
            </a:r>
            <a:r>
              <a:rPr lang="en-US" b="1" dirty="0"/>
              <a:t>MIN_EXPERIENCE</a:t>
            </a:r>
            <a:r>
              <a:rPr lang="en-US" dirty="0"/>
              <a:t>.</a:t>
            </a:r>
          </a:p>
          <a:p>
            <a:r>
              <a:rPr lang="en-US" dirty="0"/>
              <a:t>DEPARTMENT table defines the mapping of an employee to their department. It contains Department Number, Department Name, Employee Id of the employee working in that department, and the minimum experience required(In Years) to be in that department.</a:t>
            </a:r>
          </a:p>
          <a:p>
            <a:endParaRPr lang="en-IN" dirty="0"/>
          </a:p>
        </p:txBody>
      </p:sp>
    </p:spTree>
    <p:extLst>
      <p:ext uri="{BB962C8B-B14F-4D97-AF65-F5344CB8AC3E}">
        <p14:creationId xmlns:p14="http://schemas.microsoft.com/office/powerpoint/2010/main" val="3972779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53547198"/>
              </p:ext>
            </p:extLst>
          </p:nvPr>
        </p:nvGraphicFramePr>
        <p:xfrm>
          <a:off x="678872" y="1648691"/>
          <a:ext cx="7800112" cy="3851565"/>
        </p:xfrm>
        <a:graphic>
          <a:graphicData uri="http://schemas.openxmlformats.org/drawingml/2006/table">
            <a:tbl>
              <a:tblPr/>
              <a:tblGrid>
                <a:gridCol w="1950028">
                  <a:extLst>
                    <a:ext uri="{9D8B030D-6E8A-4147-A177-3AD203B41FA5}">
                      <a16:colId xmlns:a16="http://schemas.microsoft.com/office/drawing/2014/main" val="259104117"/>
                    </a:ext>
                  </a:extLst>
                </a:gridCol>
                <a:gridCol w="1950028">
                  <a:extLst>
                    <a:ext uri="{9D8B030D-6E8A-4147-A177-3AD203B41FA5}">
                      <a16:colId xmlns:a16="http://schemas.microsoft.com/office/drawing/2014/main" val="532987182"/>
                    </a:ext>
                  </a:extLst>
                </a:gridCol>
                <a:gridCol w="1950028">
                  <a:extLst>
                    <a:ext uri="{9D8B030D-6E8A-4147-A177-3AD203B41FA5}">
                      <a16:colId xmlns:a16="http://schemas.microsoft.com/office/drawing/2014/main" val="1096967650"/>
                    </a:ext>
                  </a:extLst>
                </a:gridCol>
                <a:gridCol w="1950028">
                  <a:extLst>
                    <a:ext uri="{9D8B030D-6E8A-4147-A177-3AD203B41FA5}">
                      <a16:colId xmlns:a16="http://schemas.microsoft.com/office/drawing/2014/main" val="3629126279"/>
                    </a:ext>
                  </a:extLst>
                </a:gridCol>
              </a:tblGrid>
              <a:tr h="770313">
                <a:tc>
                  <a:txBody>
                    <a:bodyPr/>
                    <a:lstStyle/>
                    <a:p>
                      <a:pPr algn="ctr"/>
                      <a:r>
                        <a:rPr lang="en-IN" b="1" dirty="0">
                          <a:solidFill>
                            <a:srgbClr val="FF0000"/>
                          </a:solidFill>
                          <a:effectLst/>
                        </a:rPr>
                        <a:t>E_NO</a:t>
                      </a:r>
                    </a:p>
                  </a:txBody>
                  <a:tcPr anchor="ctr">
                    <a:lnL>
                      <a:noFill/>
                    </a:lnL>
                    <a:lnR>
                      <a:noFill/>
                    </a:lnR>
                    <a:lnT>
                      <a:noFill/>
                    </a:lnT>
                    <a:lnB>
                      <a:noFill/>
                    </a:lnB>
                  </a:tcPr>
                </a:tc>
                <a:tc>
                  <a:txBody>
                    <a:bodyPr/>
                    <a:lstStyle/>
                    <a:p>
                      <a:pPr algn="ctr"/>
                      <a:r>
                        <a:rPr lang="en-IN" b="1" dirty="0">
                          <a:solidFill>
                            <a:srgbClr val="FF0000"/>
                          </a:solidFill>
                          <a:effectLst/>
                        </a:rPr>
                        <a:t>E_NAME</a:t>
                      </a:r>
                    </a:p>
                  </a:txBody>
                  <a:tcPr anchor="ctr">
                    <a:lnL>
                      <a:noFill/>
                    </a:lnL>
                    <a:lnR>
                      <a:noFill/>
                    </a:lnR>
                    <a:lnT>
                      <a:noFill/>
                    </a:lnT>
                    <a:lnB>
                      <a:noFill/>
                    </a:lnB>
                  </a:tcPr>
                </a:tc>
                <a:tc>
                  <a:txBody>
                    <a:bodyPr/>
                    <a:lstStyle/>
                    <a:p>
                      <a:pPr algn="ctr"/>
                      <a:r>
                        <a:rPr lang="en-IN" b="1" dirty="0">
                          <a:solidFill>
                            <a:srgbClr val="FF0000"/>
                          </a:solidFill>
                          <a:effectLst/>
                        </a:rPr>
                        <a:t>CITY</a:t>
                      </a:r>
                    </a:p>
                  </a:txBody>
                  <a:tcPr anchor="ctr">
                    <a:lnL>
                      <a:noFill/>
                    </a:lnL>
                    <a:lnR>
                      <a:noFill/>
                    </a:lnR>
                    <a:lnT>
                      <a:noFill/>
                    </a:lnT>
                    <a:lnB>
                      <a:noFill/>
                    </a:lnB>
                  </a:tcPr>
                </a:tc>
                <a:tc>
                  <a:txBody>
                    <a:bodyPr/>
                    <a:lstStyle/>
                    <a:p>
                      <a:pPr algn="ctr"/>
                      <a:r>
                        <a:rPr lang="en-IN" b="1" dirty="0">
                          <a:solidFill>
                            <a:srgbClr val="FF0000"/>
                          </a:solidFill>
                          <a:effectLst/>
                        </a:rPr>
                        <a:t>EXPERIENCE</a:t>
                      </a:r>
                    </a:p>
                  </a:txBody>
                  <a:tcPr anchor="ctr">
                    <a:lnL>
                      <a:noFill/>
                    </a:lnL>
                    <a:lnR>
                      <a:noFill/>
                    </a:lnR>
                    <a:lnT>
                      <a:noFill/>
                    </a:lnT>
                    <a:lnB>
                      <a:noFill/>
                    </a:lnB>
                  </a:tcPr>
                </a:tc>
                <a:extLst>
                  <a:ext uri="{0D108BD9-81ED-4DB2-BD59-A6C34878D82A}">
                    <a16:rowId xmlns:a16="http://schemas.microsoft.com/office/drawing/2014/main" val="2641893740"/>
                  </a:ext>
                </a:extLst>
              </a:tr>
              <a:tr h="770313">
                <a:tc>
                  <a:txBody>
                    <a:bodyPr/>
                    <a:lstStyle/>
                    <a:p>
                      <a:pPr algn="ctr"/>
                      <a:r>
                        <a:rPr lang="en-IN">
                          <a:effectLst/>
                        </a:rPr>
                        <a:t>E-1</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Ram</a:t>
                      </a:r>
                    </a:p>
                  </a:txBody>
                  <a:tcPr anchor="ctr">
                    <a:lnL>
                      <a:noFill/>
                    </a:lnL>
                    <a:lnR>
                      <a:noFill/>
                    </a:lnR>
                    <a:lnT>
                      <a:noFill/>
                    </a:lnT>
                    <a:lnB>
                      <a:noFill/>
                    </a:lnB>
                  </a:tcPr>
                </a:tc>
                <a:tc>
                  <a:txBody>
                    <a:bodyPr/>
                    <a:lstStyle/>
                    <a:p>
                      <a:pPr algn="ctr"/>
                      <a:r>
                        <a:rPr lang="en-IN">
                          <a:effectLst/>
                        </a:rPr>
                        <a:t>Delhi</a:t>
                      </a:r>
                    </a:p>
                  </a:txBody>
                  <a:tcPr anchor="ctr">
                    <a:lnL>
                      <a:noFill/>
                    </a:lnL>
                    <a:lnR>
                      <a:noFill/>
                    </a:lnR>
                    <a:lnT>
                      <a:noFill/>
                    </a:lnT>
                    <a:lnB>
                      <a:noFill/>
                    </a:lnB>
                  </a:tcPr>
                </a:tc>
                <a:tc>
                  <a:txBody>
                    <a:bodyPr/>
                    <a:lstStyle/>
                    <a:p>
                      <a:pPr algn="ctr"/>
                      <a:r>
                        <a:rPr lang="en-IN">
                          <a:effectLst/>
                        </a:rPr>
                        <a:t>04</a:t>
                      </a:r>
                    </a:p>
                  </a:txBody>
                  <a:tcPr anchor="ctr">
                    <a:lnL>
                      <a:noFill/>
                    </a:lnL>
                    <a:lnR>
                      <a:noFill/>
                    </a:lnR>
                    <a:lnT>
                      <a:noFill/>
                    </a:lnT>
                    <a:lnB>
                      <a:noFill/>
                    </a:lnB>
                  </a:tcPr>
                </a:tc>
                <a:extLst>
                  <a:ext uri="{0D108BD9-81ED-4DB2-BD59-A6C34878D82A}">
                    <a16:rowId xmlns:a16="http://schemas.microsoft.com/office/drawing/2014/main" val="4253742917"/>
                  </a:ext>
                </a:extLst>
              </a:tr>
              <a:tr h="770313">
                <a:tc>
                  <a:txBody>
                    <a:bodyPr/>
                    <a:lstStyle/>
                    <a:p>
                      <a:pPr algn="ctr"/>
                      <a:r>
                        <a:rPr lang="en-IN">
                          <a:effectLst/>
                        </a:rPr>
                        <a:t>E-2</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Varun</a:t>
                      </a:r>
                    </a:p>
                  </a:txBody>
                  <a:tcPr anchor="ctr">
                    <a:lnL>
                      <a:noFill/>
                    </a:lnL>
                    <a:lnR>
                      <a:noFill/>
                    </a:lnR>
                    <a:lnT>
                      <a:noFill/>
                    </a:lnT>
                    <a:lnB>
                      <a:noFill/>
                    </a:lnB>
                  </a:tcPr>
                </a:tc>
                <a:tc>
                  <a:txBody>
                    <a:bodyPr/>
                    <a:lstStyle/>
                    <a:p>
                      <a:pPr algn="ctr"/>
                      <a:r>
                        <a:rPr lang="en-IN" dirty="0">
                          <a:effectLst/>
                        </a:rPr>
                        <a:t>Chandigarh</a:t>
                      </a:r>
                    </a:p>
                  </a:txBody>
                  <a:tcPr anchor="ctr">
                    <a:lnL>
                      <a:noFill/>
                    </a:lnL>
                    <a:lnR>
                      <a:noFill/>
                    </a:lnR>
                    <a:lnT>
                      <a:noFill/>
                    </a:lnT>
                    <a:lnB>
                      <a:noFill/>
                    </a:lnB>
                  </a:tcPr>
                </a:tc>
                <a:tc>
                  <a:txBody>
                    <a:bodyPr/>
                    <a:lstStyle/>
                    <a:p>
                      <a:pPr algn="ctr"/>
                      <a:r>
                        <a:rPr lang="en-IN">
                          <a:effectLst/>
                        </a:rPr>
                        <a:t>09</a:t>
                      </a:r>
                    </a:p>
                  </a:txBody>
                  <a:tcPr anchor="ctr">
                    <a:lnL>
                      <a:noFill/>
                    </a:lnL>
                    <a:lnR>
                      <a:noFill/>
                    </a:lnR>
                    <a:lnT>
                      <a:noFill/>
                    </a:lnT>
                    <a:lnB>
                      <a:noFill/>
                    </a:lnB>
                  </a:tcPr>
                </a:tc>
                <a:extLst>
                  <a:ext uri="{0D108BD9-81ED-4DB2-BD59-A6C34878D82A}">
                    <a16:rowId xmlns:a16="http://schemas.microsoft.com/office/drawing/2014/main" val="1507746707"/>
                  </a:ext>
                </a:extLst>
              </a:tr>
              <a:tr h="770313">
                <a:tc>
                  <a:txBody>
                    <a:bodyPr/>
                    <a:lstStyle/>
                    <a:p>
                      <a:pPr algn="ctr"/>
                      <a:r>
                        <a:rPr lang="en-IN">
                          <a:effectLst/>
                        </a:rPr>
                        <a:t>E-3</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Ravi</a:t>
                      </a:r>
                    </a:p>
                  </a:txBody>
                  <a:tcPr anchor="ctr">
                    <a:lnL>
                      <a:noFill/>
                    </a:lnL>
                    <a:lnR>
                      <a:noFill/>
                    </a:lnR>
                    <a:lnT>
                      <a:noFill/>
                    </a:lnT>
                    <a:lnB>
                      <a:noFill/>
                    </a:lnB>
                  </a:tcPr>
                </a:tc>
                <a:tc>
                  <a:txBody>
                    <a:bodyPr/>
                    <a:lstStyle/>
                    <a:p>
                      <a:pPr algn="ctr"/>
                      <a:r>
                        <a:rPr lang="en-IN">
                          <a:effectLst/>
                        </a:rPr>
                        <a:t>Noida</a:t>
                      </a:r>
                    </a:p>
                  </a:txBody>
                  <a:tcPr anchor="ctr">
                    <a:lnL>
                      <a:noFill/>
                    </a:lnL>
                    <a:lnR>
                      <a:noFill/>
                    </a:lnR>
                    <a:lnT>
                      <a:noFill/>
                    </a:lnT>
                    <a:lnB>
                      <a:noFill/>
                    </a:lnB>
                  </a:tcPr>
                </a:tc>
                <a:tc>
                  <a:txBody>
                    <a:bodyPr/>
                    <a:lstStyle/>
                    <a:p>
                      <a:pPr algn="ctr"/>
                      <a:r>
                        <a:rPr lang="en-IN">
                          <a:effectLst/>
                        </a:rPr>
                        <a:t>03</a:t>
                      </a:r>
                    </a:p>
                  </a:txBody>
                  <a:tcPr anchor="ctr">
                    <a:lnL>
                      <a:noFill/>
                    </a:lnL>
                    <a:lnR>
                      <a:noFill/>
                    </a:lnR>
                    <a:lnT>
                      <a:noFill/>
                    </a:lnT>
                    <a:lnB>
                      <a:noFill/>
                    </a:lnB>
                  </a:tcPr>
                </a:tc>
                <a:extLst>
                  <a:ext uri="{0D108BD9-81ED-4DB2-BD59-A6C34878D82A}">
                    <a16:rowId xmlns:a16="http://schemas.microsoft.com/office/drawing/2014/main" val="1810800878"/>
                  </a:ext>
                </a:extLst>
              </a:tr>
              <a:tr h="770313">
                <a:tc>
                  <a:txBody>
                    <a:bodyPr/>
                    <a:lstStyle/>
                    <a:p>
                      <a:pPr algn="ctr"/>
                      <a:r>
                        <a:rPr lang="en-IN">
                          <a:effectLst/>
                        </a:rPr>
                        <a:t>E-4</a:t>
                      </a:r>
                    </a:p>
                  </a:txBody>
                  <a:tcPr anchor="ctr">
                    <a:lnL>
                      <a:noFill/>
                    </a:lnL>
                    <a:lnR>
                      <a:noFill/>
                    </a:lnR>
                    <a:lnT>
                      <a:noFill/>
                    </a:lnT>
                    <a:lnB>
                      <a:noFill/>
                    </a:lnB>
                  </a:tcPr>
                </a:tc>
                <a:tc>
                  <a:txBody>
                    <a:bodyPr/>
                    <a:lstStyle/>
                    <a:p>
                      <a:pPr algn="ctr"/>
                      <a:r>
                        <a:rPr lang="en-IN">
                          <a:effectLst/>
                        </a:rPr>
                        <a:t>Amit</a:t>
                      </a:r>
                    </a:p>
                  </a:txBody>
                  <a:tcPr anchor="ctr">
                    <a:lnL>
                      <a:noFill/>
                    </a:lnL>
                    <a:lnR>
                      <a:noFill/>
                    </a:lnR>
                    <a:lnT>
                      <a:noFill/>
                    </a:lnT>
                    <a:lnB>
                      <a:noFill/>
                    </a:lnB>
                  </a:tcPr>
                </a:tc>
                <a:tc>
                  <a:txBody>
                    <a:bodyPr/>
                    <a:lstStyle/>
                    <a:p>
                      <a:pPr algn="ctr"/>
                      <a:r>
                        <a:rPr lang="en-IN">
                          <a:effectLst/>
                        </a:rPr>
                        <a:t>Bangalore</a:t>
                      </a:r>
                    </a:p>
                  </a:txBody>
                  <a:tcPr anchor="ctr">
                    <a:lnL>
                      <a:noFill/>
                    </a:lnL>
                    <a:lnR>
                      <a:noFill/>
                    </a:lnR>
                    <a:lnT>
                      <a:noFill/>
                    </a:lnT>
                    <a:lnB>
                      <a:noFill/>
                    </a:lnB>
                  </a:tcPr>
                </a:tc>
                <a:tc>
                  <a:txBody>
                    <a:bodyPr/>
                    <a:lstStyle/>
                    <a:p>
                      <a:pPr algn="ctr"/>
                      <a:r>
                        <a:rPr lang="en-IN" dirty="0">
                          <a:effectLst/>
                        </a:rPr>
                        <a:t>07</a:t>
                      </a:r>
                    </a:p>
                  </a:txBody>
                  <a:tcPr anchor="ctr">
                    <a:lnL>
                      <a:noFill/>
                    </a:lnL>
                    <a:lnR>
                      <a:noFill/>
                    </a:lnR>
                    <a:lnT>
                      <a:noFill/>
                    </a:lnT>
                    <a:lnB>
                      <a:noFill/>
                    </a:lnB>
                  </a:tcPr>
                </a:tc>
                <a:extLst>
                  <a:ext uri="{0D108BD9-81ED-4DB2-BD59-A6C34878D82A}">
                    <a16:rowId xmlns:a16="http://schemas.microsoft.com/office/drawing/2014/main" val="4167018942"/>
                  </a:ext>
                </a:extLst>
              </a:tr>
            </a:tbl>
          </a:graphicData>
        </a:graphic>
      </p:graphicFrame>
    </p:spTree>
    <p:extLst>
      <p:ext uri="{BB962C8B-B14F-4D97-AF65-F5344CB8AC3E}">
        <p14:creationId xmlns:p14="http://schemas.microsoft.com/office/powerpoint/2010/main" val="3855461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Department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45749451"/>
              </p:ext>
            </p:extLst>
          </p:nvPr>
        </p:nvGraphicFramePr>
        <p:xfrm>
          <a:off x="581892" y="1981198"/>
          <a:ext cx="7869380" cy="4447312"/>
        </p:xfrm>
        <a:graphic>
          <a:graphicData uri="http://schemas.openxmlformats.org/drawingml/2006/table">
            <a:tbl>
              <a:tblPr/>
              <a:tblGrid>
                <a:gridCol w="1967345">
                  <a:extLst>
                    <a:ext uri="{9D8B030D-6E8A-4147-A177-3AD203B41FA5}">
                      <a16:colId xmlns:a16="http://schemas.microsoft.com/office/drawing/2014/main" val="3491651631"/>
                    </a:ext>
                  </a:extLst>
                </a:gridCol>
                <a:gridCol w="1967345">
                  <a:extLst>
                    <a:ext uri="{9D8B030D-6E8A-4147-A177-3AD203B41FA5}">
                      <a16:colId xmlns:a16="http://schemas.microsoft.com/office/drawing/2014/main" val="2516643173"/>
                    </a:ext>
                  </a:extLst>
                </a:gridCol>
                <a:gridCol w="1967345">
                  <a:extLst>
                    <a:ext uri="{9D8B030D-6E8A-4147-A177-3AD203B41FA5}">
                      <a16:colId xmlns:a16="http://schemas.microsoft.com/office/drawing/2014/main" val="2226464346"/>
                    </a:ext>
                  </a:extLst>
                </a:gridCol>
                <a:gridCol w="1967345">
                  <a:extLst>
                    <a:ext uri="{9D8B030D-6E8A-4147-A177-3AD203B41FA5}">
                      <a16:colId xmlns:a16="http://schemas.microsoft.com/office/drawing/2014/main" val="3381358574"/>
                    </a:ext>
                  </a:extLst>
                </a:gridCol>
              </a:tblGrid>
              <a:tr h="1638481">
                <a:tc>
                  <a:txBody>
                    <a:bodyPr/>
                    <a:lstStyle/>
                    <a:p>
                      <a:pPr algn="ctr"/>
                      <a:r>
                        <a:rPr lang="en-IN" b="1" dirty="0">
                          <a:solidFill>
                            <a:srgbClr val="FF0000"/>
                          </a:solidFill>
                          <a:effectLst/>
                        </a:rPr>
                        <a:t>D_NO</a:t>
                      </a:r>
                    </a:p>
                  </a:txBody>
                  <a:tcPr anchor="ctr">
                    <a:lnL>
                      <a:noFill/>
                    </a:lnL>
                    <a:lnR>
                      <a:noFill/>
                    </a:lnR>
                    <a:lnT>
                      <a:noFill/>
                    </a:lnT>
                    <a:lnB>
                      <a:noFill/>
                    </a:lnB>
                    <a:solidFill>
                      <a:srgbClr val="FAFBFC"/>
                    </a:solidFill>
                  </a:tcPr>
                </a:tc>
                <a:tc>
                  <a:txBody>
                    <a:bodyPr/>
                    <a:lstStyle/>
                    <a:p>
                      <a:pPr algn="ctr"/>
                      <a:r>
                        <a:rPr lang="en-IN" b="1" dirty="0">
                          <a:solidFill>
                            <a:srgbClr val="FF0000"/>
                          </a:solidFill>
                          <a:effectLst/>
                        </a:rPr>
                        <a:t>D_NAME</a:t>
                      </a:r>
                    </a:p>
                  </a:txBody>
                  <a:tcPr anchor="ctr">
                    <a:lnL>
                      <a:noFill/>
                    </a:lnL>
                    <a:lnR>
                      <a:noFill/>
                    </a:lnR>
                    <a:lnT>
                      <a:noFill/>
                    </a:lnT>
                    <a:lnB>
                      <a:noFill/>
                    </a:lnB>
                    <a:solidFill>
                      <a:srgbClr val="FAFBFC"/>
                    </a:solidFill>
                  </a:tcPr>
                </a:tc>
                <a:tc>
                  <a:txBody>
                    <a:bodyPr/>
                    <a:lstStyle/>
                    <a:p>
                      <a:pPr algn="ctr"/>
                      <a:r>
                        <a:rPr lang="en-IN" b="1" dirty="0">
                          <a:solidFill>
                            <a:srgbClr val="FF0000"/>
                          </a:solidFill>
                          <a:effectLst/>
                        </a:rPr>
                        <a:t>E_NO</a:t>
                      </a:r>
                    </a:p>
                  </a:txBody>
                  <a:tcPr anchor="ctr">
                    <a:lnL>
                      <a:noFill/>
                    </a:lnL>
                    <a:lnR>
                      <a:noFill/>
                    </a:lnR>
                    <a:lnT>
                      <a:noFill/>
                    </a:lnT>
                    <a:lnB>
                      <a:noFill/>
                    </a:lnB>
                    <a:solidFill>
                      <a:srgbClr val="FAFBFC"/>
                    </a:solidFill>
                  </a:tcPr>
                </a:tc>
                <a:tc>
                  <a:txBody>
                    <a:bodyPr/>
                    <a:lstStyle/>
                    <a:p>
                      <a:pPr algn="ctr"/>
                      <a:r>
                        <a:rPr lang="en-IN" b="1" dirty="0">
                          <a:solidFill>
                            <a:srgbClr val="FF0000"/>
                          </a:solidFill>
                          <a:effectLst/>
                        </a:rPr>
                        <a:t>MIN_EXPERIENCE</a:t>
                      </a:r>
                    </a:p>
                  </a:txBody>
                  <a:tcPr anchor="ctr">
                    <a:lnL>
                      <a:noFill/>
                    </a:lnL>
                    <a:lnR>
                      <a:noFill/>
                    </a:lnR>
                    <a:lnT>
                      <a:noFill/>
                    </a:lnT>
                    <a:lnB>
                      <a:noFill/>
                    </a:lnB>
                    <a:solidFill>
                      <a:srgbClr val="FAFBFC"/>
                    </a:solidFill>
                  </a:tcPr>
                </a:tc>
                <a:extLst>
                  <a:ext uri="{0D108BD9-81ED-4DB2-BD59-A6C34878D82A}">
                    <a16:rowId xmlns:a16="http://schemas.microsoft.com/office/drawing/2014/main" val="636885044"/>
                  </a:ext>
                </a:extLst>
              </a:tr>
              <a:tr h="936277">
                <a:tc>
                  <a:txBody>
                    <a:bodyPr/>
                    <a:lstStyle/>
                    <a:p>
                      <a:pPr algn="ctr"/>
                      <a:r>
                        <a:rPr lang="en-IN">
                          <a:effectLst/>
                        </a:rPr>
                        <a:t>D-1</a:t>
                      </a:r>
                    </a:p>
                  </a:txBody>
                  <a:tcPr anchor="ctr">
                    <a:lnL>
                      <a:noFill/>
                    </a:lnL>
                    <a:lnR>
                      <a:noFill/>
                    </a:lnR>
                    <a:lnT>
                      <a:noFill/>
                    </a:lnT>
                    <a:lnB>
                      <a:noFill/>
                    </a:lnB>
                    <a:solidFill>
                      <a:srgbClr val="FAFBFC"/>
                    </a:solidFill>
                  </a:tcPr>
                </a:tc>
                <a:tc>
                  <a:txBody>
                    <a:bodyPr/>
                    <a:lstStyle/>
                    <a:p>
                      <a:pPr algn="ctr"/>
                      <a:r>
                        <a:rPr lang="en-IN">
                          <a:effectLst/>
                        </a:rPr>
                        <a:t>HR</a:t>
                      </a:r>
                    </a:p>
                  </a:txBody>
                  <a:tcPr anchor="ctr">
                    <a:lnL>
                      <a:noFill/>
                    </a:lnL>
                    <a:lnR>
                      <a:noFill/>
                    </a:lnR>
                    <a:lnT>
                      <a:noFill/>
                    </a:lnT>
                    <a:lnB>
                      <a:noFill/>
                    </a:lnB>
                    <a:solidFill>
                      <a:srgbClr val="FAFBFC"/>
                    </a:solidFill>
                  </a:tcPr>
                </a:tc>
                <a:tc>
                  <a:txBody>
                    <a:bodyPr/>
                    <a:lstStyle/>
                    <a:p>
                      <a:pPr algn="ctr"/>
                      <a:r>
                        <a:rPr lang="en-IN">
                          <a:effectLst/>
                        </a:rPr>
                        <a:t>E-1</a:t>
                      </a:r>
                    </a:p>
                  </a:txBody>
                  <a:tcPr anchor="ctr">
                    <a:lnL>
                      <a:noFill/>
                    </a:lnL>
                    <a:lnR>
                      <a:noFill/>
                    </a:lnR>
                    <a:lnT>
                      <a:noFill/>
                    </a:lnT>
                    <a:lnB>
                      <a:noFill/>
                    </a:lnB>
                    <a:solidFill>
                      <a:srgbClr val="FAFBFC"/>
                    </a:solidFill>
                  </a:tcPr>
                </a:tc>
                <a:tc>
                  <a:txBody>
                    <a:bodyPr/>
                    <a:lstStyle/>
                    <a:p>
                      <a:pPr algn="ctr"/>
                      <a:r>
                        <a:rPr lang="en-IN">
                          <a:effectLst/>
                        </a:rPr>
                        <a:t>03</a:t>
                      </a:r>
                    </a:p>
                  </a:txBody>
                  <a:tcPr anchor="ctr">
                    <a:lnL>
                      <a:noFill/>
                    </a:lnL>
                    <a:lnR>
                      <a:noFill/>
                    </a:lnR>
                    <a:lnT>
                      <a:noFill/>
                    </a:lnT>
                    <a:lnB>
                      <a:noFill/>
                    </a:lnB>
                    <a:solidFill>
                      <a:srgbClr val="FAFBFC"/>
                    </a:solidFill>
                  </a:tcPr>
                </a:tc>
                <a:extLst>
                  <a:ext uri="{0D108BD9-81ED-4DB2-BD59-A6C34878D82A}">
                    <a16:rowId xmlns:a16="http://schemas.microsoft.com/office/drawing/2014/main" val="1046751657"/>
                  </a:ext>
                </a:extLst>
              </a:tr>
              <a:tr h="936277">
                <a:tc>
                  <a:txBody>
                    <a:bodyPr/>
                    <a:lstStyle/>
                    <a:p>
                      <a:pPr algn="ctr"/>
                      <a:r>
                        <a:rPr lang="en-IN">
                          <a:effectLst/>
                        </a:rPr>
                        <a:t>D-2</a:t>
                      </a:r>
                    </a:p>
                  </a:txBody>
                  <a:tcPr anchor="ctr">
                    <a:lnL>
                      <a:noFill/>
                    </a:lnL>
                    <a:lnR>
                      <a:noFill/>
                    </a:lnR>
                    <a:lnT>
                      <a:noFill/>
                    </a:lnT>
                    <a:lnB>
                      <a:noFill/>
                    </a:lnB>
                    <a:solidFill>
                      <a:srgbClr val="FAFBFC"/>
                    </a:solidFill>
                  </a:tcPr>
                </a:tc>
                <a:tc>
                  <a:txBody>
                    <a:bodyPr/>
                    <a:lstStyle/>
                    <a:p>
                      <a:pPr algn="ctr"/>
                      <a:r>
                        <a:rPr lang="en-IN" dirty="0">
                          <a:effectLst/>
                        </a:rPr>
                        <a:t>IT</a:t>
                      </a:r>
                    </a:p>
                  </a:txBody>
                  <a:tcPr anchor="ctr">
                    <a:lnL>
                      <a:noFill/>
                    </a:lnL>
                    <a:lnR>
                      <a:noFill/>
                    </a:lnR>
                    <a:lnT>
                      <a:noFill/>
                    </a:lnT>
                    <a:lnB>
                      <a:noFill/>
                    </a:lnB>
                    <a:solidFill>
                      <a:srgbClr val="FAFBFC"/>
                    </a:solidFill>
                  </a:tcPr>
                </a:tc>
                <a:tc>
                  <a:txBody>
                    <a:bodyPr/>
                    <a:lstStyle/>
                    <a:p>
                      <a:pPr algn="ctr"/>
                      <a:r>
                        <a:rPr lang="en-IN">
                          <a:effectLst/>
                        </a:rPr>
                        <a:t>E-2</a:t>
                      </a:r>
                    </a:p>
                  </a:txBody>
                  <a:tcPr anchor="ctr">
                    <a:lnL>
                      <a:noFill/>
                    </a:lnL>
                    <a:lnR>
                      <a:noFill/>
                    </a:lnR>
                    <a:lnT>
                      <a:noFill/>
                    </a:lnT>
                    <a:lnB>
                      <a:noFill/>
                    </a:lnB>
                    <a:solidFill>
                      <a:srgbClr val="FAFBFC"/>
                    </a:solidFill>
                  </a:tcPr>
                </a:tc>
                <a:tc>
                  <a:txBody>
                    <a:bodyPr/>
                    <a:lstStyle/>
                    <a:p>
                      <a:pPr algn="ctr"/>
                      <a:r>
                        <a:rPr lang="en-IN">
                          <a:effectLst/>
                        </a:rPr>
                        <a:t>05</a:t>
                      </a:r>
                    </a:p>
                  </a:txBody>
                  <a:tcPr anchor="ctr">
                    <a:lnL>
                      <a:noFill/>
                    </a:lnL>
                    <a:lnR>
                      <a:noFill/>
                    </a:lnR>
                    <a:lnT>
                      <a:noFill/>
                    </a:lnT>
                    <a:lnB>
                      <a:noFill/>
                    </a:lnB>
                    <a:solidFill>
                      <a:srgbClr val="FAFBFC"/>
                    </a:solidFill>
                  </a:tcPr>
                </a:tc>
                <a:extLst>
                  <a:ext uri="{0D108BD9-81ED-4DB2-BD59-A6C34878D82A}">
                    <a16:rowId xmlns:a16="http://schemas.microsoft.com/office/drawing/2014/main" val="43017647"/>
                  </a:ext>
                </a:extLst>
              </a:tr>
              <a:tr h="936277">
                <a:tc>
                  <a:txBody>
                    <a:bodyPr/>
                    <a:lstStyle/>
                    <a:p>
                      <a:pPr algn="ctr"/>
                      <a:r>
                        <a:rPr lang="en-IN">
                          <a:effectLst/>
                        </a:rPr>
                        <a:t>D-3</a:t>
                      </a:r>
                    </a:p>
                  </a:txBody>
                  <a:tcPr anchor="ctr">
                    <a:lnL>
                      <a:noFill/>
                    </a:lnL>
                    <a:lnR>
                      <a:noFill/>
                    </a:lnR>
                    <a:lnT>
                      <a:noFill/>
                    </a:lnT>
                    <a:lnB>
                      <a:noFill/>
                    </a:lnB>
                    <a:solidFill>
                      <a:srgbClr val="FAFBFC"/>
                    </a:solidFill>
                  </a:tcPr>
                </a:tc>
                <a:tc>
                  <a:txBody>
                    <a:bodyPr/>
                    <a:lstStyle/>
                    <a:p>
                      <a:pPr algn="ctr"/>
                      <a:r>
                        <a:rPr lang="en-IN" dirty="0">
                          <a:effectLst/>
                        </a:rPr>
                        <a:t>Marketing</a:t>
                      </a:r>
                    </a:p>
                  </a:txBody>
                  <a:tcPr anchor="ctr">
                    <a:lnL>
                      <a:noFill/>
                    </a:lnL>
                    <a:lnR>
                      <a:noFill/>
                    </a:lnR>
                    <a:lnT>
                      <a:noFill/>
                    </a:lnT>
                    <a:lnB>
                      <a:noFill/>
                    </a:lnB>
                    <a:solidFill>
                      <a:srgbClr val="FAFBFC"/>
                    </a:solidFill>
                  </a:tcPr>
                </a:tc>
                <a:tc>
                  <a:txBody>
                    <a:bodyPr/>
                    <a:lstStyle/>
                    <a:p>
                      <a:pPr algn="ctr"/>
                      <a:r>
                        <a:rPr lang="en-IN">
                          <a:effectLst/>
                        </a:rPr>
                        <a:t>E-3</a:t>
                      </a:r>
                    </a:p>
                  </a:txBody>
                  <a:tcPr anchor="ctr">
                    <a:lnL>
                      <a:noFill/>
                    </a:lnL>
                    <a:lnR>
                      <a:noFill/>
                    </a:lnR>
                    <a:lnT>
                      <a:noFill/>
                    </a:lnT>
                    <a:lnB>
                      <a:noFill/>
                    </a:lnB>
                    <a:solidFill>
                      <a:srgbClr val="FAFBFC"/>
                    </a:solidFill>
                  </a:tcPr>
                </a:tc>
                <a:tc>
                  <a:txBody>
                    <a:bodyPr/>
                    <a:lstStyle/>
                    <a:p>
                      <a:pPr algn="ctr"/>
                      <a:r>
                        <a:rPr lang="en-IN" dirty="0">
                          <a:effectLst/>
                        </a:rPr>
                        <a:t>02</a:t>
                      </a:r>
                    </a:p>
                  </a:txBody>
                  <a:tcPr anchor="ctr">
                    <a:lnL>
                      <a:noFill/>
                    </a:lnL>
                    <a:lnR>
                      <a:noFill/>
                    </a:lnR>
                    <a:lnT>
                      <a:noFill/>
                    </a:lnT>
                    <a:lnB>
                      <a:noFill/>
                    </a:lnB>
                    <a:solidFill>
                      <a:srgbClr val="FAFBFC"/>
                    </a:solidFill>
                  </a:tcPr>
                </a:tc>
                <a:extLst>
                  <a:ext uri="{0D108BD9-81ED-4DB2-BD59-A6C34878D82A}">
                    <a16:rowId xmlns:a16="http://schemas.microsoft.com/office/drawing/2014/main" val="2636994085"/>
                  </a:ext>
                </a:extLst>
              </a:tr>
            </a:tbl>
          </a:graphicData>
        </a:graphic>
      </p:graphicFrame>
    </p:spTree>
    <p:extLst>
      <p:ext uri="{BB962C8B-B14F-4D97-AF65-F5344CB8AC3E}">
        <p14:creationId xmlns:p14="http://schemas.microsoft.com/office/powerpoint/2010/main" val="850841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53967895"/>
              </p:ext>
            </p:extLst>
          </p:nvPr>
        </p:nvGraphicFramePr>
        <p:xfrm>
          <a:off x="789706" y="1576561"/>
          <a:ext cx="7897096" cy="4782675"/>
        </p:xfrm>
        <a:graphic>
          <a:graphicData uri="http://schemas.openxmlformats.org/drawingml/2006/table">
            <a:tbl>
              <a:tblPr/>
              <a:tblGrid>
                <a:gridCol w="987137">
                  <a:extLst>
                    <a:ext uri="{9D8B030D-6E8A-4147-A177-3AD203B41FA5}">
                      <a16:colId xmlns:a16="http://schemas.microsoft.com/office/drawing/2014/main" val="1929130398"/>
                    </a:ext>
                  </a:extLst>
                </a:gridCol>
                <a:gridCol w="987137">
                  <a:extLst>
                    <a:ext uri="{9D8B030D-6E8A-4147-A177-3AD203B41FA5}">
                      <a16:colId xmlns:a16="http://schemas.microsoft.com/office/drawing/2014/main" val="539102944"/>
                    </a:ext>
                  </a:extLst>
                </a:gridCol>
                <a:gridCol w="987137">
                  <a:extLst>
                    <a:ext uri="{9D8B030D-6E8A-4147-A177-3AD203B41FA5}">
                      <a16:colId xmlns:a16="http://schemas.microsoft.com/office/drawing/2014/main" val="78968128"/>
                    </a:ext>
                  </a:extLst>
                </a:gridCol>
                <a:gridCol w="987137">
                  <a:extLst>
                    <a:ext uri="{9D8B030D-6E8A-4147-A177-3AD203B41FA5}">
                      <a16:colId xmlns:a16="http://schemas.microsoft.com/office/drawing/2014/main" val="3134640240"/>
                    </a:ext>
                  </a:extLst>
                </a:gridCol>
                <a:gridCol w="987137">
                  <a:extLst>
                    <a:ext uri="{9D8B030D-6E8A-4147-A177-3AD203B41FA5}">
                      <a16:colId xmlns:a16="http://schemas.microsoft.com/office/drawing/2014/main" val="3260062378"/>
                    </a:ext>
                  </a:extLst>
                </a:gridCol>
                <a:gridCol w="987137">
                  <a:extLst>
                    <a:ext uri="{9D8B030D-6E8A-4147-A177-3AD203B41FA5}">
                      <a16:colId xmlns:a16="http://schemas.microsoft.com/office/drawing/2014/main" val="723676911"/>
                    </a:ext>
                  </a:extLst>
                </a:gridCol>
                <a:gridCol w="987137">
                  <a:extLst>
                    <a:ext uri="{9D8B030D-6E8A-4147-A177-3AD203B41FA5}">
                      <a16:colId xmlns:a16="http://schemas.microsoft.com/office/drawing/2014/main" val="417568243"/>
                    </a:ext>
                  </a:extLst>
                </a:gridCol>
                <a:gridCol w="987137">
                  <a:extLst>
                    <a:ext uri="{9D8B030D-6E8A-4147-A177-3AD203B41FA5}">
                      <a16:colId xmlns:a16="http://schemas.microsoft.com/office/drawing/2014/main" val="713210434"/>
                    </a:ext>
                  </a:extLst>
                </a:gridCol>
              </a:tblGrid>
              <a:tr h="582195">
                <a:tc>
                  <a:txBody>
                    <a:bodyPr/>
                    <a:lstStyle/>
                    <a:p>
                      <a:pPr algn="ctr"/>
                      <a:r>
                        <a:rPr lang="en-IN" sz="1100">
                          <a:effectLst/>
                        </a:rPr>
                        <a:t>E_NO</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E_NAME</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CITY</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EXPERIENCE</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D_NO</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D_NAME</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E_NO</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MIN_EXPERIENCE</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501157886"/>
                  </a:ext>
                </a:extLst>
              </a:tr>
              <a:tr h="235046">
                <a:tc>
                  <a:txBody>
                    <a:bodyPr/>
                    <a:lstStyle/>
                    <a:p>
                      <a:pPr algn="ctr"/>
                      <a:r>
                        <a:rPr lang="en-IN" sz="1100">
                          <a:effectLst/>
                        </a:rPr>
                        <a:t>E-1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Ram</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Delhi</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04</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HR</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03</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3005045595"/>
                  </a:ext>
                </a:extLst>
              </a:tr>
              <a:tr h="235046">
                <a:tc>
                  <a:txBody>
                    <a:bodyPr/>
                    <a:lstStyle/>
                    <a:p>
                      <a:pPr algn="ctr"/>
                      <a:r>
                        <a:rPr lang="en-IN" sz="1100">
                          <a:effectLst/>
                        </a:rPr>
                        <a:t>E-1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Ram</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Delhi</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04</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IT</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05</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2061397755"/>
                  </a:ext>
                </a:extLst>
              </a:tr>
              <a:tr h="407537">
                <a:tc>
                  <a:txBody>
                    <a:bodyPr/>
                    <a:lstStyle/>
                    <a:p>
                      <a:pPr algn="ctr"/>
                      <a:r>
                        <a:rPr lang="en-IN" sz="1100">
                          <a:effectLst/>
                        </a:rPr>
                        <a:t>E-1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Ram</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Delhi</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04</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Marketing</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02</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4109033549"/>
                  </a:ext>
                </a:extLst>
              </a:tr>
              <a:tr h="407537">
                <a:tc>
                  <a:txBody>
                    <a:bodyPr/>
                    <a:lstStyle/>
                    <a:p>
                      <a:pPr algn="ctr"/>
                      <a:r>
                        <a:rPr lang="en-IN" sz="1100">
                          <a:effectLst/>
                        </a:rPr>
                        <a:t>E-2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Varun</a:t>
                      </a:r>
                    </a:p>
                  </a:txBody>
                  <a:tcPr marL="55195" marR="55195" marT="27597" marB="27597" anchor="ctr">
                    <a:lnL>
                      <a:noFill/>
                    </a:lnL>
                    <a:lnR>
                      <a:noFill/>
                    </a:lnR>
                    <a:lnT>
                      <a:noFill/>
                    </a:lnT>
                    <a:lnB>
                      <a:noFill/>
                    </a:lnB>
                    <a:solidFill>
                      <a:srgbClr val="FAFBFC"/>
                    </a:solidFill>
                  </a:tcPr>
                </a:tc>
                <a:tc>
                  <a:txBody>
                    <a:bodyPr/>
                    <a:lstStyle/>
                    <a:p>
                      <a:pPr algn="ctr"/>
                      <a:r>
                        <a:rPr lang="en-IN" sz="1100" dirty="0">
                          <a:effectLst/>
                        </a:rPr>
                        <a:t>Chandigarh</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09</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HR</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03</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288181942"/>
                  </a:ext>
                </a:extLst>
              </a:tr>
              <a:tr h="407537">
                <a:tc>
                  <a:txBody>
                    <a:bodyPr/>
                    <a:lstStyle/>
                    <a:p>
                      <a:pPr algn="ctr"/>
                      <a:r>
                        <a:rPr lang="en-IN" sz="1100">
                          <a:effectLst/>
                        </a:rPr>
                        <a:t>E-2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Varun</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Chandigarh</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09</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IT</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05</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743891034"/>
                  </a:ext>
                </a:extLst>
              </a:tr>
              <a:tr h="407537">
                <a:tc>
                  <a:txBody>
                    <a:bodyPr/>
                    <a:lstStyle/>
                    <a:p>
                      <a:pPr algn="ctr"/>
                      <a:r>
                        <a:rPr lang="en-IN" sz="1100">
                          <a:effectLst/>
                        </a:rPr>
                        <a:t>E-2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Varun</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Chandigarh</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09</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Marketing</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02</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3369893788"/>
                  </a:ext>
                </a:extLst>
              </a:tr>
              <a:tr h="235046">
                <a:tc>
                  <a:txBody>
                    <a:bodyPr/>
                    <a:lstStyle/>
                    <a:p>
                      <a:pPr algn="ctr"/>
                      <a:r>
                        <a:rPr lang="en-IN" sz="1100">
                          <a:effectLst/>
                        </a:rPr>
                        <a:t>E-3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Ravi</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Noida</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HR</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03</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1034026232"/>
                  </a:ext>
                </a:extLst>
              </a:tr>
              <a:tr h="235046">
                <a:tc>
                  <a:txBody>
                    <a:bodyPr/>
                    <a:lstStyle/>
                    <a:p>
                      <a:pPr algn="ctr"/>
                      <a:r>
                        <a:rPr lang="en-IN" sz="1100">
                          <a:effectLst/>
                        </a:rPr>
                        <a:t>E-3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Ravi</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Noida</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IT</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05</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3108237527"/>
                  </a:ext>
                </a:extLst>
              </a:tr>
              <a:tr h="407537">
                <a:tc>
                  <a:txBody>
                    <a:bodyPr/>
                    <a:lstStyle/>
                    <a:p>
                      <a:pPr algn="ctr"/>
                      <a:r>
                        <a:rPr lang="en-IN" sz="1100">
                          <a:effectLst/>
                        </a:rPr>
                        <a:t>E-3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Ravi</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Noida</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Marketing</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02</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4184649577"/>
                  </a:ext>
                </a:extLst>
              </a:tr>
              <a:tr h="407537">
                <a:tc>
                  <a:txBody>
                    <a:bodyPr/>
                    <a:lstStyle/>
                    <a:p>
                      <a:pPr algn="ctr"/>
                      <a:r>
                        <a:rPr lang="en-IN" sz="1100">
                          <a:effectLst/>
                        </a:rPr>
                        <a:t>E-4</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Amit</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Bangalore</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07</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HR</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E-1</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03</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3181676527"/>
                  </a:ext>
                </a:extLst>
              </a:tr>
              <a:tr h="407537">
                <a:tc>
                  <a:txBody>
                    <a:bodyPr/>
                    <a:lstStyle/>
                    <a:p>
                      <a:pPr algn="ctr"/>
                      <a:r>
                        <a:rPr lang="en-IN" sz="1100">
                          <a:effectLst/>
                        </a:rPr>
                        <a:t>E-4</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Amit</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Bangalore</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07</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IT</a:t>
                      </a:r>
                    </a:p>
                  </a:txBody>
                  <a:tcPr marL="55195" marR="55195" marT="27597" marB="27597" anchor="ctr">
                    <a:lnL>
                      <a:noFill/>
                    </a:lnL>
                    <a:lnR>
                      <a:noFill/>
                    </a:lnR>
                    <a:lnT>
                      <a:noFill/>
                    </a:lnT>
                    <a:lnB>
                      <a:noFill/>
                    </a:lnB>
                    <a:solidFill>
                      <a:srgbClr val="FAFBFC"/>
                    </a:solidFill>
                  </a:tcPr>
                </a:tc>
                <a:tc>
                  <a:txBody>
                    <a:bodyPr/>
                    <a:lstStyle/>
                    <a:p>
                      <a:pPr algn="ctr"/>
                      <a:r>
                        <a:rPr lang="en-IN" sz="1100" dirty="0">
                          <a:effectLst/>
                        </a:rPr>
                        <a:t>E-2</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05</a:t>
                      </a:r>
                    </a:p>
                  </a:txBody>
                  <a:tcPr marL="55195" marR="55195" marT="27597" marB="27597" anchor="ctr">
                    <a:lnL>
                      <a:noFill/>
                    </a:lnL>
                    <a:lnR>
                      <a:noFill/>
                    </a:lnR>
                    <a:lnT>
                      <a:noFill/>
                    </a:lnT>
                    <a:lnB>
                      <a:noFill/>
                    </a:lnB>
                    <a:solidFill>
                      <a:srgbClr val="FAFBFC"/>
                    </a:solidFill>
                  </a:tcPr>
                </a:tc>
                <a:extLst>
                  <a:ext uri="{0D108BD9-81ED-4DB2-BD59-A6C34878D82A}">
                    <a16:rowId xmlns:a16="http://schemas.microsoft.com/office/drawing/2014/main" val="1866821086"/>
                  </a:ext>
                </a:extLst>
              </a:tr>
              <a:tr h="407537">
                <a:tc>
                  <a:txBody>
                    <a:bodyPr/>
                    <a:lstStyle/>
                    <a:p>
                      <a:pPr algn="ctr"/>
                      <a:r>
                        <a:rPr lang="en-IN" sz="1100">
                          <a:effectLst/>
                        </a:rPr>
                        <a:t>E-4</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Amit</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Bangalore</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07</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D-3</a:t>
                      </a:r>
                    </a:p>
                  </a:txBody>
                  <a:tcPr marL="55195" marR="55195" marT="27597" marB="27597" anchor="ctr">
                    <a:lnL>
                      <a:noFill/>
                    </a:lnL>
                    <a:lnR>
                      <a:noFill/>
                    </a:lnR>
                    <a:lnT>
                      <a:noFill/>
                    </a:lnT>
                    <a:lnB>
                      <a:noFill/>
                    </a:lnB>
                    <a:solidFill>
                      <a:srgbClr val="FAFBFC"/>
                    </a:solidFill>
                  </a:tcPr>
                </a:tc>
                <a:tc>
                  <a:txBody>
                    <a:bodyPr/>
                    <a:lstStyle/>
                    <a:p>
                      <a:pPr algn="ctr"/>
                      <a:r>
                        <a:rPr lang="en-IN" sz="1100">
                          <a:effectLst/>
                        </a:rPr>
                        <a:t>Marketing</a:t>
                      </a:r>
                    </a:p>
                  </a:txBody>
                  <a:tcPr marL="55195" marR="55195" marT="27597" marB="27597" anchor="ctr">
                    <a:lnL>
                      <a:noFill/>
                    </a:lnL>
                    <a:lnR>
                      <a:noFill/>
                    </a:lnR>
                    <a:lnT>
                      <a:noFill/>
                    </a:lnT>
                    <a:lnB>
                      <a:noFill/>
                    </a:lnB>
                    <a:solidFill>
                      <a:srgbClr val="FAFBFC"/>
                    </a:solidFill>
                  </a:tcPr>
                </a:tc>
                <a:tc>
                  <a:txBody>
                    <a:bodyPr/>
                    <a:lstStyle/>
                    <a:p>
                      <a:endParaRPr lang="en-IN" sz="1100" dirty="0"/>
                    </a:p>
                  </a:txBody>
                  <a:tcPr marL="55195" marR="55195" marT="27597" marB="27597">
                    <a:lnL>
                      <a:noFill/>
                    </a:lnL>
                    <a:lnT>
                      <a:noFill/>
                    </a:lnT>
                  </a:tcPr>
                </a:tc>
                <a:tc>
                  <a:txBody>
                    <a:bodyPr/>
                    <a:lstStyle/>
                    <a:p>
                      <a:endParaRPr lang="en-IN" sz="1100" dirty="0"/>
                    </a:p>
                  </a:txBody>
                  <a:tcPr marL="55195" marR="55195" marT="27597" marB="27597">
                    <a:lnT>
                      <a:noFill/>
                    </a:lnT>
                  </a:tcPr>
                </a:tc>
                <a:extLst>
                  <a:ext uri="{0D108BD9-81ED-4DB2-BD59-A6C34878D82A}">
                    <a16:rowId xmlns:a16="http://schemas.microsoft.com/office/drawing/2014/main" val="2684028079"/>
                  </a:ext>
                </a:extLst>
              </a:tr>
            </a:tbl>
          </a:graphicData>
        </a:graphic>
      </p:graphicFrame>
    </p:spTree>
    <p:extLst>
      <p:ext uri="{BB962C8B-B14F-4D97-AF65-F5344CB8AC3E}">
        <p14:creationId xmlns:p14="http://schemas.microsoft.com/office/powerpoint/2010/main" val="36231705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2889"/>
          </a:xfrm>
        </p:spPr>
        <p:txBody>
          <a:bodyPr>
            <a:normAutofit fontScale="90000"/>
          </a:bodyPr>
          <a:lstStyle/>
          <a:p>
            <a:r>
              <a:rPr lang="en-US" dirty="0" smtClean="0"/>
              <a:t>Contd..</a:t>
            </a:r>
            <a:endParaRPr lang="en-IN" dirty="0"/>
          </a:p>
        </p:txBody>
      </p:sp>
      <p:sp>
        <p:nvSpPr>
          <p:cNvPr id="3" name="Content Placeholder 2"/>
          <p:cNvSpPr>
            <a:spLocks noGrp="1"/>
          </p:cNvSpPr>
          <p:nvPr>
            <p:ph idx="1"/>
          </p:nvPr>
        </p:nvSpPr>
        <p:spPr>
          <a:xfrm>
            <a:off x="457200" y="997528"/>
            <a:ext cx="8229600" cy="5541818"/>
          </a:xfrm>
        </p:spPr>
        <p:txBody>
          <a:bodyPr>
            <a:normAutofit fontScale="77500" lnSpcReduction="20000"/>
          </a:bodyPr>
          <a:lstStyle/>
          <a:p>
            <a:pPr marL="0" indent="0">
              <a:buNone/>
            </a:pPr>
            <a:r>
              <a:rPr lang="en-US" b="1" dirty="0">
                <a:solidFill>
                  <a:srgbClr val="FF0000"/>
                </a:solidFill>
              </a:rPr>
              <a:t>Inner Join</a:t>
            </a:r>
          </a:p>
          <a:p>
            <a:r>
              <a:rPr lang="en-US" dirty="0"/>
              <a:t>When we perform Inner Join, only those tuples returned that satisfy the certain condition. It is also classified into three types: </a:t>
            </a:r>
            <a:r>
              <a:rPr lang="en-US" b="1" i="1" dirty="0">
                <a:solidFill>
                  <a:schemeClr val="tx2">
                    <a:lumMod val="60000"/>
                    <a:lumOff val="40000"/>
                  </a:schemeClr>
                </a:solidFill>
              </a:rPr>
              <a:t>Theta Join, Equi Join and Natural Join</a:t>
            </a:r>
            <a:r>
              <a:rPr lang="en-US" dirty="0"/>
              <a:t>.</a:t>
            </a:r>
          </a:p>
          <a:p>
            <a:pPr marL="0" indent="0">
              <a:buNone/>
            </a:pPr>
            <a:r>
              <a:rPr lang="en-US" b="1" dirty="0">
                <a:solidFill>
                  <a:srgbClr val="FF0000"/>
                </a:solidFill>
              </a:rPr>
              <a:t>Theta Join (θ)</a:t>
            </a:r>
          </a:p>
          <a:p>
            <a:r>
              <a:rPr lang="en-US" dirty="0"/>
              <a:t>Theta Join combines two relations using a condition. This condition is represented by the symbol "theta"(θ). Here conditions can be inequality conditions such as &gt;,&lt;,&gt;=,&lt;=, etc.</a:t>
            </a:r>
            <a:br>
              <a:rPr lang="en-US" dirty="0"/>
            </a:br>
            <a:r>
              <a:rPr lang="en-US" dirty="0"/>
              <a:t>Notation : R ⋈θ S</a:t>
            </a:r>
            <a:br>
              <a:rPr lang="en-US" dirty="0"/>
            </a:br>
            <a:r>
              <a:rPr lang="en-US" dirty="0"/>
              <a:t>Where R is the first relation</a:t>
            </a:r>
            <a:br>
              <a:rPr lang="en-US" dirty="0"/>
            </a:br>
            <a:r>
              <a:rPr lang="en-US" dirty="0"/>
              <a:t>S is the second relation</a:t>
            </a:r>
          </a:p>
          <a:p>
            <a:r>
              <a:rPr lang="en-US" dirty="0"/>
              <a:t>Let's have a simple example to understand this.</a:t>
            </a:r>
          </a:p>
          <a:p>
            <a:r>
              <a:rPr lang="en-US" dirty="0"/>
              <a:t>Suppose we want a relation where EXPERIENCE from EMPLOYEE &gt;= MIN_EXPERIENCE from DEPARTMENT.</a:t>
            </a:r>
          </a:p>
          <a:p>
            <a:endParaRPr lang="en-IN" dirty="0"/>
          </a:p>
        </p:txBody>
      </p:sp>
    </p:spTree>
    <p:extLst>
      <p:ext uri="{BB962C8B-B14F-4D97-AF65-F5344CB8AC3E}">
        <p14:creationId xmlns:p14="http://schemas.microsoft.com/office/powerpoint/2010/main" val="4212799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smtClean="0"/>
              <a:t/>
            </a:r>
            <a:br>
              <a:rPr lang="en-US" sz="2800" dirty="0" smtClean="0"/>
            </a:br>
            <a:r>
              <a:rPr lang="en-US" sz="2800" dirty="0" err="1" smtClean="0"/>
              <a:t>EMPLOYEE</a:t>
            </a:r>
            <a:r>
              <a:rPr lang="en-US" sz="2800" dirty="0" err="1"/>
              <a:t>⋈θ</a:t>
            </a:r>
            <a:r>
              <a:rPr lang="en-US" sz="2800" dirty="0"/>
              <a:t> EMPLOYEE.EXPERIENCE&gt;=DEPARTMENT.MIN_EXPERIENCE DEPARTMENT</a:t>
            </a:r>
            <a:br>
              <a:rPr lang="en-US" sz="2800" dirty="0"/>
            </a:br>
            <a:endParaRPr lang="en-IN" sz="2800" dirty="0"/>
          </a:p>
        </p:txBody>
      </p:sp>
      <p:sp>
        <p:nvSpPr>
          <p:cNvPr id="3" name="Content Placeholder 2"/>
          <p:cNvSpPr>
            <a:spLocks noGrp="1"/>
          </p:cNvSpPr>
          <p:nvPr>
            <p:ph idx="1"/>
          </p:nvPr>
        </p:nvSpPr>
        <p:spPr/>
        <p:txBody>
          <a:bodyPr/>
          <a:lstStyle/>
          <a:p>
            <a:r>
              <a:rPr lang="en-US" dirty="0" err="1"/>
              <a:t>EMPLOYEE⋈θ</a:t>
            </a:r>
            <a:r>
              <a:rPr lang="en-US" dirty="0"/>
              <a:t> EMPLOYEE.EXPERIENCE&gt;=DEPARTMENT.MIN_EXPERIENCE DEPARTMENT</a:t>
            </a:r>
          </a:p>
          <a:p>
            <a:endParaRPr lang="en-IN" dirty="0"/>
          </a:p>
        </p:txBody>
      </p:sp>
    </p:spTree>
    <p:extLst>
      <p:ext uri="{BB962C8B-B14F-4D97-AF65-F5344CB8AC3E}">
        <p14:creationId xmlns:p14="http://schemas.microsoft.com/office/powerpoint/2010/main" val="1866725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11312227"/>
              </p:ext>
            </p:extLst>
          </p:nvPr>
        </p:nvGraphicFramePr>
        <p:xfrm>
          <a:off x="457200" y="1537859"/>
          <a:ext cx="8229600" cy="5156343"/>
        </p:xfrm>
        <a:graphic>
          <a:graphicData uri="http://schemas.openxmlformats.org/drawingml/2006/table">
            <a:tbl>
              <a:tblPr/>
              <a:tblGrid>
                <a:gridCol w="1028700">
                  <a:extLst>
                    <a:ext uri="{9D8B030D-6E8A-4147-A177-3AD203B41FA5}">
                      <a16:colId xmlns:a16="http://schemas.microsoft.com/office/drawing/2014/main" val="3384610195"/>
                    </a:ext>
                  </a:extLst>
                </a:gridCol>
                <a:gridCol w="1028700">
                  <a:extLst>
                    <a:ext uri="{9D8B030D-6E8A-4147-A177-3AD203B41FA5}">
                      <a16:colId xmlns:a16="http://schemas.microsoft.com/office/drawing/2014/main" val="2403190209"/>
                    </a:ext>
                  </a:extLst>
                </a:gridCol>
                <a:gridCol w="1028700">
                  <a:extLst>
                    <a:ext uri="{9D8B030D-6E8A-4147-A177-3AD203B41FA5}">
                      <a16:colId xmlns:a16="http://schemas.microsoft.com/office/drawing/2014/main" val="165028782"/>
                    </a:ext>
                  </a:extLst>
                </a:gridCol>
                <a:gridCol w="1028700">
                  <a:extLst>
                    <a:ext uri="{9D8B030D-6E8A-4147-A177-3AD203B41FA5}">
                      <a16:colId xmlns:a16="http://schemas.microsoft.com/office/drawing/2014/main" val="1697576966"/>
                    </a:ext>
                  </a:extLst>
                </a:gridCol>
                <a:gridCol w="1028700">
                  <a:extLst>
                    <a:ext uri="{9D8B030D-6E8A-4147-A177-3AD203B41FA5}">
                      <a16:colId xmlns:a16="http://schemas.microsoft.com/office/drawing/2014/main" val="1002631742"/>
                    </a:ext>
                  </a:extLst>
                </a:gridCol>
                <a:gridCol w="1028700">
                  <a:extLst>
                    <a:ext uri="{9D8B030D-6E8A-4147-A177-3AD203B41FA5}">
                      <a16:colId xmlns:a16="http://schemas.microsoft.com/office/drawing/2014/main" val="2971922736"/>
                    </a:ext>
                  </a:extLst>
                </a:gridCol>
                <a:gridCol w="1028700">
                  <a:extLst>
                    <a:ext uri="{9D8B030D-6E8A-4147-A177-3AD203B41FA5}">
                      <a16:colId xmlns:a16="http://schemas.microsoft.com/office/drawing/2014/main" val="3167315101"/>
                    </a:ext>
                  </a:extLst>
                </a:gridCol>
                <a:gridCol w="1028700">
                  <a:extLst>
                    <a:ext uri="{9D8B030D-6E8A-4147-A177-3AD203B41FA5}">
                      <a16:colId xmlns:a16="http://schemas.microsoft.com/office/drawing/2014/main" val="2225181565"/>
                    </a:ext>
                  </a:extLst>
                </a:gridCol>
              </a:tblGrid>
              <a:tr h="696803">
                <a:tc>
                  <a:txBody>
                    <a:bodyPr/>
                    <a:lstStyle/>
                    <a:p>
                      <a:pPr algn="ctr"/>
                      <a:r>
                        <a:rPr lang="en-IN" sz="1200">
                          <a:effectLst/>
                        </a:rPr>
                        <a:t>E_NO</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E_NAME</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CITY</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EXPERIENCE</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D_NO</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D_NAME</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E_NO</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MIN_EXPERIENCE</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1450941048"/>
                  </a:ext>
                </a:extLst>
              </a:tr>
              <a:tr h="278722">
                <a:tc>
                  <a:txBody>
                    <a:bodyPr/>
                    <a:lstStyle/>
                    <a:p>
                      <a:pPr algn="ctr"/>
                      <a:r>
                        <a:rPr lang="en-IN" sz="1200" dirty="0">
                          <a:effectLst/>
                        </a:rPr>
                        <a:t>E-1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Ram</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Delhi</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04</a:t>
                      </a:r>
                    </a:p>
                  </a:txBody>
                  <a:tcPr marL="61162" marR="61162" marT="30581" marB="30581" anchor="ctr">
                    <a:lnL>
                      <a:noFill/>
                    </a:lnL>
                    <a:lnR>
                      <a:noFill/>
                    </a:lnR>
                    <a:lnT>
                      <a:noFill/>
                    </a:lnT>
                    <a:lnB>
                      <a:noFill/>
                    </a:lnB>
                    <a:solidFill>
                      <a:srgbClr val="FAFBFC"/>
                    </a:solidFill>
                  </a:tcPr>
                </a:tc>
                <a:tc>
                  <a:txBody>
                    <a:bodyPr/>
                    <a:lstStyle/>
                    <a:p>
                      <a:pPr algn="ctr"/>
                      <a:r>
                        <a:rPr lang="en-IN" sz="1200" dirty="0">
                          <a:solidFill>
                            <a:srgbClr val="FF0000"/>
                          </a:solidFill>
                          <a:effectLst/>
                        </a:rPr>
                        <a:t>D-1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HR</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03</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313983498"/>
                  </a:ext>
                </a:extLst>
              </a:tr>
              <a:tr h="487762">
                <a:tc>
                  <a:txBody>
                    <a:bodyPr/>
                    <a:lstStyle/>
                    <a:p>
                      <a:pPr algn="ctr"/>
                      <a:r>
                        <a:rPr lang="en-IN" sz="1200">
                          <a:effectLst/>
                        </a:rPr>
                        <a:t>E-1</a:t>
                      </a:r>
                    </a:p>
                  </a:txBody>
                  <a:tcPr marL="61162" marR="61162" marT="30581" marB="30581" anchor="ctr">
                    <a:lnL>
                      <a:noFill/>
                    </a:lnL>
                    <a:lnR>
                      <a:noFill/>
                    </a:lnR>
                    <a:lnT>
                      <a:noFill/>
                    </a:lnT>
                    <a:lnB>
                      <a:noFill/>
                    </a:lnB>
                    <a:solidFill>
                      <a:srgbClr val="FAFBFC"/>
                    </a:solidFill>
                  </a:tcPr>
                </a:tc>
                <a:tc>
                  <a:txBody>
                    <a:bodyPr/>
                    <a:lstStyle/>
                    <a:p>
                      <a:pPr algn="ctr"/>
                      <a:r>
                        <a:rPr lang="en-IN" sz="1200" dirty="0">
                          <a:effectLst/>
                        </a:rPr>
                        <a:t>Ram</a:t>
                      </a:r>
                    </a:p>
                  </a:txBody>
                  <a:tcPr marL="61162" marR="61162" marT="30581" marB="30581" anchor="ctr">
                    <a:lnL>
                      <a:noFill/>
                    </a:lnL>
                    <a:lnR>
                      <a:noFill/>
                    </a:lnR>
                    <a:lnT>
                      <a:noFill/>
                    </a:lnT>
                    <a:lnB>
                      <a:noFill/>
                    </a:lnB>
                    <a:solidFill>
                      <a:srgbClr val="FAFBFC"/>
                    </a:solidFill>
                  </a:tcPr>
                </a:tc>
                <a:tc>
                  <a:txBody>
                    <a:bodyPr/>
                    <a:lstStyle/>
                    <a:p>
                      <a:pPr algn="ctr"/>
                      <a:r>
                        <a:rPr lang="en-IN" sz="1200" dirty="0">
                          <a:effectLst/>
                        </a:rPr>
                        <a:t>Delhi</a:t>
                      </a:r>
                    </a:p>
                  </a:txBody>
                  <a:tcPr marL="61162" marR="61162" marT="30581" marB="30581" anchor="ctr">
                    <a:lnL>
                      <a:noFill/>
                    </a:lnL>
                    <a:lnR>
                      <a:noFill/>
                    </a:lnR>
                    <a:lnT>
                      <a:noFill/>
                    </a:lnT>
                    <a:lnB>
                      <a:noFill/>
                    </a:lnB>
                    <a:solidFill>
                      <a:srgbClr val="FAFBFC"/>
                    </a:solidFill>
                  </a:tcPr>
                </a:tc>
                <a:tc>
                  <a:txBody>
                    <a:bodyPr/>
                    <a:lstStyle/>
                    <a:p>
                      <a:pPr algn="ctr"/>
                      <a:r>
                        <a:rPr lang="en-IN" sz="1200" dirty="0">
                          <a:effectLst/>
                        </a:rPr>
                        <a:t>04</a:t>
                      </a:r>
                    </a:p>
                  </a:txBody>
                  <a:tcPr marL="61162" marR="61162" marT="30581" marB="30581" anchor="ctr">
                    <a:lnL>
                      <a:noFill/>
                    </a:lnL>
                    <a:lnR>
                      <a:noFill/>
                    </a:lnR>
                    <a:lnT>
                      <a:noFill/>
                    </a:lnT>
                    <a:lnB>
                      <a:noFill/>
                    </a:lnB>
                    <a:solidFill>
                      <a:srgbClr val="FAFBFC"/>
                    </a:solidFill>
                  </a:tcPr>
                </a:tc>
                <a:tc>
                  <a:txBody>
                    <a:bodyPr/>
                    <a:lstStyle/>
                    <a:p>
                      <a:pPr algn="ctr"/>
                      <a:r>
                        <a:rPr lang="en-IN" sz="1200" dirty="0">
                          <a:solidFill>
                            <a:srgbClr val="FF0000"/>
                          </a:solidFill>
                          <a:effectLst/>
                        </a:rPr>
                        <a:t>D-3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Marketing</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02</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834956886"/>
                  </a:ext>
                </a:extLst>
              </a:tr>
              <a:tr h="487762">
                <a:tc>
                  <a:txBody>
                    <a:bodyPr/>
                    <a:lstStyle/>
                    <a:p>
                      <a:pPr algn="ctr"/>
                      <a:r>
                        <a:rPr lang="en-IN" sz="1200">
                          <a:effectLst/>
                        </a:rPr>
                        <a:t>E-2</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Varun</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Chandigarh</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09</a:t>
                      </a:r>
                    </a:p>
                  </a:txBody>
                  <a:tcPr marL="61162" marR="61162" marT="30581" marB="30581" anchor="ctr">
                    <a:lnL>
                      <a:noFill/>
                    </a:lnL>
                    <a:lnR>
                      <a:noFill/>
                    </a:lnR>
                    <a:lnT>
                      <a:noFill/>
                    </a:lnT>
                    <a:lnB>
                      <a:noFill/>
                    </a:lnB>
                    <a:solidFill>
                      <a:srgbClr val="FAFBFC"/>
                    </a:solidFill>
                  </a:tcPr>
                </a:tc>
                <a:tc>
                  <a:txBody>
                    <a:bodyPr/>
                    <a:lstStyle/>
                    <a:p>
                      <a:pPr algn="ctr"/>
                      <a:r>
                        <a:rPr lang="en-IN" sz="1200" dirty="0">
                          <a:effectLst/>
                        </a:rPr>
                        <a:t>D-1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HR</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03</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3032195758"/>
                  </a:ext>
                </a:extLst>
              </a:tr>
              <a:tr h="487762">
                <a:tc>
                  <a:txBody>
                    <a:bodyPr/>
                    <a:lstStyle/>
                    <a:p>
                      <a:pPr algn="ctr"/>
                      <a:r>
                        <a:rPr lang="en-IN" sz="1200">
                          <a:effectLst/>
                        </a:rPr>
                        <a:t>E-2</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Varun</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Chandigarh</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09</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D-2</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IT</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E-2</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05</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637189580"/>
                  </a:ext>
                </a:extLst>
              </a:tr>
              <a:tr h="487762">
                <a:tc>
                  <a:txBody>
                    <a:bodyPr/>
                    <a:lstStyle/>
                    <a:p>
                      <a:pPr algn="ctr"/>
                      <a:r>
                        <a:rPr lang="en-IN" sz="1200">
                          <a:effectLst/>
                        </a:rPr>
                        <a:t>E-2</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Varun</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Chandigarh</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09</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Marketing</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02</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4102888385"/>
                  </a:ext>
                </a:extLst>
              </a:tr>
              <a:tr h="278722">
                <a:tc>
                  <a:txBody>
                    <a:bodyPr/>
                    <a:lstStyle/>
                    <a:p>
                      <a:pPr algn="ctr"/>
                      <a:r>
                        <a:rPr lang="en-IN" sz="1200">
                          <a:effectLst/>
                        </a:rPr>
                        <a:t>E-3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Ravi</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Noida</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HR</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03</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2732904662"/>
                  </a:ext>
                </a:extLst>
              </a:tr>
              <a:tr h="487762">
                <a:tc>
                  <a:txBody>
                    <a:bodyPr/>
                    <a:lstStyle/>
                    <a:p>
                      <a:pPr algn="ctr"/>
                      <a:r>
                        <a:rPr lang="en-IN" sz="1200">
                          <a:effectLst/>
                        </a:rPr>
                        <a:t>E-3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Ravi</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Noida</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Marketing</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02</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4285553892"/>
                  </a:ext>
                </a:extLst>
              </a:tr>
              <a:tr h="487762">
                <a:tc>
                  <a:txBody>
                    <a:bodyPr/>
                    <a:lstStyle/>
                    <a:p>
                      <a:pPr algn="ctr"/>
                      <a:r>
                        <a:rPr lang="en-IN" sz="1200">
                          <a:effectLst/>
                        </a:rPr>
                        <a:t>E-4</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Amit</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Bangalore</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07</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HR</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E-1</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03</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1556748179"/>
                  </a:ext>
                </a:extLst>
              </a:tr>
              <a:tr h="487762">
                <a:tc>
                  <a:txBody>
                    <a:bodyPr/>
                    <a:lstStyle/>
                    <a:p>
                      <a:pPr algn="ctr"/>
                      <a:r>
                        <a:rPr lang="en-IN" sz="1200">
                          <a:effectLst/>
                        </a:rPr>
                        <a:t>E-4</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Amit</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Bangalore</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07</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D-2</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IT</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E-2</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05</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1014457774"/>
                  </a:ext>
                </a:extLst>
              </a:tr>
              <a:tr h="487762">
                <a:tc>
                  <a:txBody>
                    <a:bodyPr/>
                    <a:lstStyle/>
                    <a:p>
                      <a:pPr algn="ctr"/>
                      <a:r>
                        <a:rPr lang="en-IN" sz="1200">
                          <a:effectLst/>
                        </a:rPr>
                        <a:t>E-4</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Amit</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Bangalore</a:t>
                      </a:r>
                    </a:p>
                  </a:txBody>
                  <a:tcPr marL="61162" marR="61162" marT="30581" marB="30581" anchor="ctr">
                    <a:lnL>
                      <a:noFill/>
                    </a:lnL>
                    <a:lnR>
                      <a:noFill/>
                    </a:lnR>
                    <a:lnT>
                      <a:noFill/>
                    </a:lnT>
                    <a:lnB>
                      <a:noFill/>
                    </a:lnB>
                    <a:solidFill>
                      <a:srgbClr val="FAFBFC"/>
                    </a:solidFill>
                  </a:tcPr>
                </a:tc>
                <a:tc>
                  <a:txBody>
                    <a:bodyPr/>
                    <a:lstStyle/>
                    <a:p>
                      <a:pPr algn="ctr"/>
                      <a:r>
                        <a:rPr lang="en-IN" sz="1200" dirty="0">
                          <a:effectLst/>
                        </a:rPr>
                        <a:t>07</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D-3</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Marketing</a:t>
                      </a:r>
                    </a:p>
                  </a:txBody>
                  <a:tcPr marL="61162" marR="61162" marT="30581" marB="30581" anchor="ctr">
                    <a:lnL>
                      <a:noFill/>
                    </a:lnL>
                    <a:lnR>
                      <a:noFill/>
                    </a:lnR>
                    <a:lnT>
                      <a:noFill/>
                    </a:lnT>
                    <a:lnB>
                      <a:noFill/>
                    </a:lnB>
                    <a:solidFill>
                      <a:srgbClr val="FAFBFC"/>
                    </a:solidFill>
                  </a:tcPr>
                </a:tc>
                <a:tc>
                  <a:txBody>
                    <a:bodyPr/>
                    <a:lstStyle/>
                    <a:p>
                      <a:pPr algn="ctr"/>
                      <a:r>
                        <a:rPr lang="en-IN" sz="1200">
                          <a:effectLst/>
                        </a:rPr>
                        <a:t>E-3</a:t>
                      </a:r>
                    </a:p>
                  </a:txBody>
                  <a:tcPr marL="61162" marR="61162" marT="30581" marB="30581" anchor="ctr">
                    <a:lnL>
                      <a:noFill/>
                    </a:lnL>
                    <a:lnR>
                      <a:noFill/>
                    </a:lnR>
                    <a:lnT>
                      <a:noFill/>
                    </a:lnT>
                    <a:lnB>
                      <a:noFill/>
                    </a:lnB>
                    <a:solidFill>
                      <a:srgbClr val="FAFBFC"/>
                    </a:solidFill>
                  </a:tcPr>
                </a:tc>
                <a:tc>
                  <a:txBody>
                    <a:bodyPr/>
                    <a:lstStyle/>
                    <a:p>
                      <a:pPr algn="ctr"/>
                      <a:r>
                        <a:rPr lang="en-IN" sz="1200" dirty="0">
                          <a:effectLst/>
                        </a:rPr>
                        <a:t>02</a:t>
                      </a:r>
                    </a:p>
                  </a:txBody>
                  <a:tcPr marL="61162" marR="61162" marT="30581" marB="30581" anchor="ctr">
                    <a:lnL>
                      <a:noFill/>
                    </a:lnL>
                    <a:lnR>
                      <a:noFill/>
                    </a:lnR>
                    <a:lnT>
                      <a:noFill/>
                    </a:lnT>
                    <a:lnB>
                      <a:noFill/>
                    </a:lnB>
                    <a:solidFill>
                      <a:srgbClr val="FAFBFC"/>
                    </a:solidFill>
                  </a:tcPr>
                </a:tc>
                <a:extLst>
                  <a:ext uri="{0D108BD9-81ED-4DB2-BD59-A6C34878D82A}">
                    <a16:rowId xmlns:a16="http://schemas.microsoft.com/office/drawing/2014/main" val="249882790"/>
                  </a:ext>
                </a:extLst>
              </a:tr>
            </a:tbl>
          </a:graphicData>
        </a:graphic>
      </p:graphicFrame>
    </p:spTree>
    <p:extLst>
      <p:ext uri="{BB962C8B-B14F-4D97-AF65-F5344CB8AC3E}">
        <p14:creationId xmlns:p14="http://schemas.microsoft.com/office/powerpoint/2010/main" val="37298874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50598"/>
          </a:xfrm>
        </p:spPr>
        <p:txBody>
          <a:bodyPr>
            <a:normAutofit fontScale="90000"/>
          </a:bodyPr>
          <a:lstStyle/>
          <a:p>
            <a:endParaRPr lang="en-IN" dirty="0"/>
          </a:p>
        </p:txBody>
      </p:sp>
      <p:sp>
        <p:nvSpPr>
          <p:cNvPr id="3" name="Content Placeholder 2"/>
          <p:cNvSpPr>
            <a:spLocks noGrp="1"/>
          </p:cNvSpPr>
          <p:nvPr>
            <p:ph idx="1"/>
          </p:nvPr>
        </p:nvSpPr>
        <p:spPr>
          <a:xfrm>
            <a:off x="457200" y="1025236"/>
            <a:ext cx="8229600" cy="5444837"/>
          </a:xfrm>
        </p:spPr>
        <p:txBody>
          <a:bodyPr>
            <a:normAutofit fontScale="85000" lnSpcReduction="10000"/>
          </a:bodyPr>
          <a:lstStyle/>
          <a:p>
            <a:r>
              <a:rPr lang="en-US" dirty="0"/>
              <a:t>Check the Cartesian Product, if in any tuple/row EXPERIENCE &gt;= MIN_EXPERIENCE then insert this tuple/row in output relation.</a:t>
            </a:r>
          </a:p>
          <a:p>
            <a:pPr marL="0" indent="0">
              <a:buNone/>
            </a:pPr>
            <a:r>
              <a:rPr lang="en-US" b="1" u="sng" dirty="0">
                <a:solidFill>
                  <a:srgbClr val="FF0000"/>
                </a:solidFill>
              </a:rPr>
              <a:t>Equi Join</a:t>
            </a:r>
          </a:p>
          <a:p>
            <a:r>
              <a:rPr lang="en-US" dirty="0"/>
              <a:t>Equi Join is a special case of theta join where the condition can only contain **equality(=)** comparisons.</a:t>
            </a:r>
            <a:br>
              <a:rPr lang="en-US" dirty="0"/>
            </a:br>
            <a:r>
              <a:rPr lang="en-US" dirty="0"/>
              <a:t>A non-equijoin is the inverse of an </a:t>
            </a:r>
            <a:r>
              <a:rPr lang="en-US" dirty="0" err="1"/>
              <a:t>equi</a:t>
            </a:r>
            <a:r>
              <a:rPr lang="en-US" dirty="0"/>
              <a:t> join, which occurs when you join on a condition other than "=".</a:t>
            </a:r>
          </a:p>
          <a:p>
            <a:r>
              <a:rPr lang="en-US" dirty="0"/>
              <a:t>Let's have an example where we would like to join EMPLOYEE and DEPARTMENT relation where E_NO from EMPLOYEE = E_NO from DEPARTMENT.</a:t>
            </a:r>
          </a:p>
          <a:p>
            <a:endParaRPr lang="en-IN" dirty="0"/>
          </a:p>
        </p:txBody>
      </p:sp>
    </p:spTree>
    <p:extLst>
      <p:ext uri="{BB962C8B-B14F-4D97-AF65-F5344CB8AC3E}">
        <p14:creationId xmlns:p14="http://schemas.microsoft.com/office/powerpoint/2010/main" val="38045371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2700" dirty="0" smtClean="0"/>
              <a:t/>
            </a:r>
            <a:br>
              <a:rPr lang="en-IN" sz="2700" dirty="0" smtClean="0"/>
            </a:br>
            <a:r>
              <a:rPr lang="en-IN" sz="2700" dirty="0" smtClean="0"/>
              <a:t>EMPLOYEE </a:t>
            </a:r>
            <a:r>
              <a:rPr lang="en-IN" sz="2700" dirty="0"/>
              <a:t>⋈EMPLOYEE.E_NO = DEPARTMENT.E_NO DEPARTMENT</a:t>
            </a:r>
            <a:r>
              <a:rPr lang="en-IN" dirty="0"/>
              <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10659747"/>
              </p:ext>
            </p:extLst>
          </p:nvPr>
        </p:nvGraphicFramePr>
        <p:xfrm>
          <a:off x="511226" y="1821021"/>
          <a:ext cx="8452664" cy="4025596"/>
        </p:xfrm>
        <a:graphic>
          <a:graphicData uri="http://schemas.openxmlformats.org/drawingml/2006/table">
            <a:tbl>
              <a:tblPr/>
              <a:tblGrid>
                <a:gridCol w="1056583">
                  <a:extLst>
                    <a:ext uri="{9D8B030D-6E8A-4147-A177-3AD203B41FA5}">
                      <a16:colId xmlns:a16="http://schemas.microsoft.com/office/drawing/2014/main" val="3446496805"/>
                    </a:ext>
                  </a:extLst>
                </a:gridCol>
                <a:gridCol w="1056583">
                  <a:extLst>
                    <a:ext uri="{9D8B030D-6E8A-4147-A177-3AD203B41FA5}">
                      <a16:colId xmlns:a16="http://schemas.microsoft.com/office/drawing/2014/main" val="1484933053"/>
                    </a:ext>
                  </a:extLst>
                </a:gridCol>
                <a:gridCol w="1056583">
                  <a:extLst>
                    <a:ext uri="{9D8B030D-6E8A-4147-A177-3AD203B41FA5}">
                      <a16:colId xmlns:a16="http://schemas.microsoft.com/office/drawing/2014/main" val="2089387437"/>
                    </a:ext>
                  </a:extLst>
                </a:gridCol>
                <a:gridCol w="1056583">
                  <a:extLst>
                    <a:ext uri="{9D8B030D-6E8A-4147-A177-3AD203B41FA5}">
                      <a16:colId xmlns:a16="http://schemas.microsoft.com/office/drawing/2014/main" val="1287276912"/>
                    </a:ext>
                  </a:extLst>
                </a:gridCol>
                <a:gridCol w="1056583">
                  <a:extLst>
                    <a:ext uri="{9D8B030D-6E8A-4147-A177-3AD203B41FA5}">
                      <a16:colId xmlns:a16="http://schemas.microsoft.com/office/drawing/2014/main" val="1279222704"/>
                    </a:ext>
                  </a:extLst>
                </a:gridCol>
                <a:gridCol w="1056583">
                  <a:extLst>
                    <a:ext uri="{9D8B030D-6E8A-4147-A177-3AD203B41FA5}">
                      <a16:colId xmlns:a16="http://schemas.microsoft.com/office/drawing/2014/main" val="2881011383"/>
                    </a:ext>
                  </a:extLst>
                </a:gridCol>
                <a:gridCol w="1056583">
                  <a:extLst>
                    <a:ext uri="{9D8B030D-6E8A-4147-A177-3AD203B41FA5}">
                      <a16:colId xmlns:a16="http://schemas.microsoft.com/office/drawing/2014/main" val="2029869663"/>
                    </a:ext>
                  </a:extLst>
                </a:gridCol>
                <a:gridCol w="1056583">
                  <a:extLst>
                    <a:ext uri="{9D8B030D-6E8A-4147-A177-3AD203B41FA5}">
                      <a16:colId xmlns:a16="http://schemas.microsoft.com/office/drawing/2014/main" val="322196645"/>
                    </a:ext>
                  </a:extLst>
                </a:gridCol>
              </a:tblGrid>
              <a:tr h="1437713">
                <a:tc>
                  <a:txBody>
                    <a:bodyPr/>
                    <a:lstStyle/>
                    <a:p>
                      <a:pPr algn="ctr"/>
                      <a:r>
                        <a:rPr lang="en-IN" i="1" dirty="0">
                          <a:solidFill>
                            <a:srgbClr val="FF0000"/>
                          </a:solidFill>
                          <a:effectLst/>
                        </a:rPr>
                        <a:t>E_NO</a:t>
                      </a:r>
                    </a:p>
                  </a:txBody>
                  <a:tcPr anchor="ctr">
                    <a:lnL>
                      <a:noFill/>
                    </a:lnL>
                    <a:lnR>
                      <a:noFill/>
                    </a:lnR>
                    <a:lnT>
                      <a:noFill/>
                    </a:lnT>
                    <a:lnB>
                      <a:noFill/>
                    </a:lnB>
                    <a:solidFill>
                      <a:srgbClr val="FAFBFC"/>
                    </a:solidFill>
                  </a:tcPr>
                </a:tc>
                <a:tc>
                  <a:txBody>
                    <a:bodyPr/>
                    <a:lstStyle/>
                    <a:p>
                      <a:pPr algn="ctr"/>
                      <a:r>
                        <a:rPr lang="en-IN" i="1" dirty="0">
                          <a:solidFill>
                            <a:srgbClr val="FF0000"/>
                          </a:solidFill>
                          <a:effectLst/>
                        </a:rPr>
                        <a:t>E_NAME</a:t>
                      </a:r>
                    </a:p>
                  </a:txBody>
                  <a:tcPr anchor="ctr">
                    <a:lnL>
                      <a:noFill/>
                    </a:lnL>
                    <a:lnR>
                      <a:noFill/>
                    </a:lnR>
                    <a:lnT>
                      <a:noFill/>
                    </a:lnT>
                    <a:lnB>
                      <a:noFill/>
                    </a:lnB>
                    <a:solidFill>
                      <a:srgbClr val="FAFBFC"/>
                    </a:solidFill>
                  </a:tcPr>
                </a:tc>
                <a:tc>
                  <a:txBody>
                    <a:bodyPr/>
                    <a:lstStyle/>
                    <a:p>
                      <a:pPr algn="ctr"/>
                      <a:r>
                        <a:rPr lang="en-IN" i="1" dirty="0">
                          <a:solidFill>
                            <a:srgbClr val="FF0000"/>
                          </a:solidFill>
                          <a:effectLst/>
                        </a:rPr>
                        <a:t>CITY</a:t>
                      </a:r>
                    </a:p>
                  </a:txBody>
                  <a:tcPr anchor="ctr">
                    <a:lnL>
                      <a:noFill/>
                    </a:lnL>
                    <a:lnR>
                      <a:noFill/>
                    </a:lnR>
                    <a:lnT>
                      <a:noFill/>
                    </a:lnT>
                    <a:lnB>
                      <a:noFill/>
                    </a:lnB>
                    <a:solidFill>
                      <a:srgbClr val="FAFBFC"/>
                    </a:solidFill>
                  </a:tcPr>
                </a:tc>
                <a:tc>
                  <a:txBody>
                    <a:bodyPr/>
                    <a:lstStyle/>
                    <a:p>
                      <a:pPr algn="ctr"/>
                      <a:r>
                        <a:rPr lang="en-IN" i="1" dirty="0">
                          <a:solidFill>
                            <a:srgbClr val="FF0000"/>
                          </a:solidFill>
                          <a:effectLst/>
                        </a:rPr>
                        <a:t>EXPERIENCE</a:t>
                      </a:r>
                    </a:p>
                  </a:txBody>
                  <a:tcPr anchor="ctr">
                    <a:lnL>
                      <a:noFill/>
                    </a:lnL>
                    <a:lnR>
                      <a:noFill/>
                    </a:lnR>
                    <a:lnT>
                      <a:noFill/>
                    </a:lnT>
                    <a:lnB>
                      <a:noFill/>
                    </a:lnB>
                    <a:solidFill>
                      <a:srgbClr val="FAFBFC"/>
                    </a:solidFill>
                  </a:tcPr>
                </a:tc>
                <a:tc>
                  <a:txBody>
                    <a:bodyPr/>
                    <a:lstStyle/>
                    <a:p>
                      <a:pPr algn="ctr"/>
                      <a:r>
                        <a:rPr lang="en-IN" i="1" dirty="0">
                          <a:solidFill>
                            <a:srgbClr val="FF0000"/>
                          </a:solidFill>
                          <a:effectLst/>
                        </a:rPr>
                        <a:t>D_NO</a:t>
                      </a:r>
                    </a:p>
                  </a:txBody>
                  <a:tcPr anchor="ctr">
                    <a:lnL>
                      <a:noFill/>
                    </a:lnL>
                    <a:lnR>
                      <a:noFill/>
                    </a:lnR>
                    <a:lnT>
                      <a:noFill/>
                    </a:lnT>
                    <a:lnB>
                      <a:noFill/>
                    </a:lnB>
                    <a:solidFill>
                      <a:srgbClr val="FAFBFC"/>
                    </a:solidFill>
                  </a:tcPr>
                </a:tc>
                <a:tc>
                  <a:txBody>
                    <a:bodyPr/>
                    <a:lstStyle/>
                    <a:p>
                      <a:pPr algn="ctr"/>
                      <a:r>
                        <a:rPr lang="en-IN" i="1" dirty="0">
                          <a:solidFill>
                            <a:srgbClr val="FF0000"/>
                          </a:solidFill>
                          <a:effectLst/>
                        </a:rPr>
                        <a:t>D_NAME</a:t>
                      </a:r>
                    </a:p>
                  </a:txBody>
                  <a:tcPr anchor="ctr">
                    <a:lnL>
                      <a:noFill/>
                    </a:lnL>
                    <a:lnR>
                      <a:noFill/>
                    </a:lnR>
                    <a:lnT>
                      <a:noFill/>
                    </a:lnT>
                    <a:lnB>
                      <a:noFill/>
                    </a:lnB>
                    <a:solidFill>
                      <a:srgbClr val="FAFBFC"/>
                    </a:solidFill>
                  </a:tcPr>
                </a:tc>
                <a:tc>
                  <a:txBody>
                    <a:bodyPr/>
                    <a:lstStyle/>
                    <a:p>
                      <a:pPr algn="ctr"/>
                      <a:r>
                        <a:rPr lang="en-IN" i="1" dirty="0">
                          <a:solidFill>
                            <a:srgbClr val="FF0000"/>
                          </a:solidFill>
                          <a:effectLst/>
                        </a:rPr>
                        <a:t>E_NO</a:t>
                      </a:r>
                    </a:p>
                  </a:txBody>
                  <a:tcPr anchor="ctr">
                    <a:lnL>
                      <a:noFill/>
                    </a:lnL>
                    <a:lnR>
                      <a:noFill/>
                    </a:lnR>
                    <a:lnT>
                      <a:noFill/>
                    </a:lnT>
                    <a:lnB>
                      <a:noFill/>
                    </a:lnB>
                    <a:solidFill>
                      <a:srgbClr val="FAFBFC"/>
                    </a:solidFill>
                  </a:tcPr>
                </a:tc>
                <a:tc>
                  <a:txBody>
                    <a:bodyPr/>
                    <a:lstStyle/>
                    <a:p>
                      <a:pPr algn="ctr"/>
                      <a:r>
                        <a:rPr lang="en-IN" i="1" dirty="0">
                          <a:solidFill>
                            <a:srgbClr val="FF0000"/>
                          </a:solidFill>
                          <a:effectLst/>
                        </a:rPr>
                        <a:t>MIN_EXPERIENCE</a:t>
                      </a:r>
                    </a:p>
                  </a:txBody>
                  <a:tcPr anchor="ctr">
                    <a:lnL>
                      <a:noFill/>
                    </a:lnL>
                    <a:lnR>
                      <a:noFill/>
                    </a:lnR>
                    <a:lnT>
                      <a:noFill/>
                    </a:lnT>
                    <a:lnB>
                      <a:noFill/>
                    </a:lnB>
                    <a:solidFill>
                      <a:srgbClr val="FAFBFC"/>
                    </a:solidFill>
                  </a:tcPr>
                </a:tc>
                <a:extLst>
                  <a:ext uri="{0D108BD9-81ED-4DB2-BD59-A6C34878D82A}">
                    <a16:rowId xmlns:a16="http://schemas.microsoft.com/office/drawing/2014/main" val="2991446507"/>
                  </a:ext>
                </a:extLst>
              </a:tr>
              <a:tr h="575085">
                <a:tc>
                  <a:txBody>
                    <a:bodyPr/>
                    <a:lstStyle/>
                    <a:p>
                      <a:pPr algn="ctr"/>
                      <a:r>
                        <a:rPr lang="en-IN">
                          <a:effectLst/>
                        </a:rPr>
                        <a:t>E-1</a:t>
                      </a:r>
                    </a:p>
                  </a:txBody>
                  <a:tcPr anchor="ctr">
                    <a:lnL>
                      <a:noFill/>
                    </a:lnL>
                    <a:lnR>
                      <a:noFill/>
                    </a:lnR>
                    <a:lnT>
                      <a:noFill/>
                    </a:lnT>
                    <a:lnB>
                      <a:noFill/>
                    </a:lnB>
                    <a:solidFill>
                      <a:srgbClr val="FAFBFC"/>
                    </a:solidFill>
                  </a:tcPr>
                </a:tc>
                <a:tc>
                  <a:txBody>
                    <a:bodyPr/>
                    <a:lstStyle/>
                    <a:p>
                      <a:pPr algn="ctr"/>
                      <a:r>
                        <a:rPr lang="en-IN">
                          <a:effectLst/>
                        </a:rPr>
                        <a:t>Ram</a:t>
                      </a:r>
                    </a:p>
                  </a:txBody>
                  <a:tcPr anchor="ctr">
                    <a:lnL>
                      <a:noFill/>
                    </a:lnL>
                    <a:lnR>
                      <a:noFill/>
                    </a:lnR>
                    <a:lnT>
                      <a:noFill/>
                    </a:lnT>
                    <a:lnB>
                      <a:noFill/>
                    </a:lnB>
                    <a:solidFill>
                      <a:srgbClr val="FAFBFC"/>
                    </a:solidFill>
                  </a:tcPr>
                </a:tc>
                <a:tc>
                  <a:txBody>
                    <a:bodyPr/>
                    <a:lstStyle/>
                    <a:p>
                      <a:pPr algn="ctr"/>
                      <a:r>
                        <a:rPr lang="en-IN">
                          <a:effectLst/>
                        </a:rPr>
                        <a:t>Delhi</a:t>
                      </a:r>
                    </a:p>
                  </a:txBody>
                  <a:tcPr anchor="ctr">
                    <a:lnL>
                      <a:noFill/>
                    </a:lnL>
                    <a:lnR>
                      <a:noFill/>
                    </a:lnR>
                    <a:lnT>
                      <a:noFill/>
                    </a:lnT>
                    <a:lnB>
                      <a:noFill/>
                    </a:lnB>
                    <a:solidFill>
                      <a:srgbClr val="FAFBFC"/>
                    </a:solidFill>
                  </a:tcPr>
                </a:tc>
                <a:tc>
                  <a:txBody>
                    <a:bodyPr/>
                    <a:lstStyle/>
                    <a:p>
                      <a:pPr algn="ctr"/>
                      <a:r>
                        <a:rPr lang="en-IN">
                          <a:effectLst/>
                        </a:rPr>
                        <a:t>04</a:t>
                      </a:r>
                    </a:p>
                  </a:txBody>
                  <a:tcPr anchor="ctr">
                    <a:lnL>
                      <a:noFill/>
                    </a:lnL>
                    <a:lnR>
                      <a:noFill/>
                    </a:lnR>
                    <a:lnT>
                      <a:noFill/>
                    </a:lnT>
                    <a:lnB>
                      <a:noFill/>
                    </a:lnB>
                    <a:solidFill>
                      <a:srgbClr val="FAFBFC"/>
                    </a:solidFill>
                  </a:tcPr>
                </a:tc>
                <a:tc>
                  <a:txBody>
                    <a:bodyPr/>
                    <a:lstStyle/>
                    <a:p>
                      <a:pPr algn="ctr"/>
                      <a:r>
                        <a:rPr lang="en-IN">
                          <a:effectLst/>
                        </a:rPr>
                        <a:t>D-1</a:t>
                      </a:r>
                    </a:p>
                  </a:txBody>
                  <a:tcPr anchor="ctr">
                    <a:lnL>
                      <a:noFill/>
                    </a:lnL>
                    <a:lnR>
                      <a:noFill/>
                    </a:lnR>
                    <a:lnT>
                      <a:noFill/>
                    </a:lnT>
                    <a:lnB>
                      <a:noFill/>
                    </a:lnB>
                    <a:solidFill>
                      <a:srgbClr val="FAFBFC"/>
                    </a:solidFill>
                  </a:tcPr>
                </a:tc>
                <a:tc>
                  <a:txBody>
                    <a:bodyPr/>
                    <a:lstStyle/>
                    <a:p>
                      <a:pPr algn="ctr"/>
                      <a:r>
                        <a:rPr lang="en-IN" dirty="0">
                          <a:effectLst/>
                        </a:rPr>
                        <a:t>HR</a:t>
                      </a:r>
                    </a:p>
                  </a:txBody>
                  <a:tcPr anchor="ctr">
                    <a:lnL>
                      <a:noFill/>
                    </a:lnL>
                    <a:lnR>
                      <a:noFill/>
                    </a:lnR>
                    <a:lnT>
                      <a:noFill/>
                    </a:lnT>
                    <a:lnB>
                      <a:noFill/>
                    </a:lnB>
                    <a:solidFill>
                      <a:srgbClr val="FAFBFC"/>
                    </a:solidFill>
                  </a:tcPr>
                </a:tc>
                <a:tc>
                  <a:txBody>
                    <a:bodyPr/>
                    <a:lstStyle/>
                    <a:p>
                      <a:pPr algn="ctr"/>
                      <a:r>
                        <a:rPr lang="en-IN">
                          <a:effectLst/>
                        </a:rPr>
                        <a:t>E-1</a:t>
                      </a:r>
                    </a:p>
                  </a:txBody>
                  <a:tcPr anchor="ctr">
                    <a:lnL>
                      <a:noFill/>
                    </a:lnL>
                    <a:lnR>
                      <a:noFill/>
                    </a:lnR>
                    <a:lnT>
                      <a:noFill/>
                    </a:lnT>
                    <a:lnB>
                      <a:noFill/>
                    </a:lnB>
                    <a:solidFill>
                      <a:srgbClr val="FAFBFC"/>
                    </a:solidFill>
                  </a:tcPr>
                </a:tc>
                <a:tc>
                  <a:txBody>
                    <a:bodyPr/>
                    <a:lstStyle/>
                    <a:p>
                      <a:pPr algn="ctr"/>
                      <a:r>
                        <a:rPr lang="en-IN">
                          <a:effectLst/>
                        </a:rPr>
                        <a:t>03</a:t>
                      </a:r>
                    </a:p>
                  </a:txBody>
                  <a:tcPr anchor="ctr">
                    <a:lnL>
                      <a:noFill/>
                    </a:lnL>
                    <a:lnR>
                      <a:noFill/>
                    </a:lnR>
                    <a:lnT>
                      <a:noFill/>
                    </a:lnT>
                    <a:lnB>
                      <a:noFill/>
                    </a:lnB>
                    <a:solidFill>
                      <a:srgbClr val="FAFBFC"/>
                    </a:solidFill>
                  </a:tcPr>
                </a:tc>
                <a:extLst>
                  <a:ext uri="{0D108BD9-81ED-4DB2-BD59-A6C34878D82A}">
                    <a16:rowId xmlns:a16="http://schemas.microsoft.com/office/drawing/2014/main" val="2184724827"/>
                  </a:ext>
                </a:extLst>
              </a:tr>
              <a:tr h="1006399">
                <a:tc>
                  <a:txBody>
                    <a:bodyPr/>
                    <a:lstStyle/>
                    <a:p>
                      <a:pPr algn="ctr"/>
                      <a:r>
                        <a:rPr lang="en-IN">
                          <a:effectLst/>
                        </a:rPr>
                        <a:t>E-2</a:t>
                      </a:r>
                    </a:p>
                  </a:txBody>
                  <a:tcPr anchor="ctr">
                    <a:lnL>
                      <a:noFill/>
                    </a:lnL>
                    <a:lnR>
                      <a:noFill/>
                    </a:lnR>
                    <a:lnT>
                      <a:noFill/>
                    </a:lnT>
                    <a:lnB>
                      <a:noFill/>
                    </a:lnB>
                    <a:solidFill>
                      <a:srgbClr val="FAFBFC"/>
                    </a:solidFill>
                  </a:tcPr>
                </a:tc>
                <a:tc>
                  <a:txBody>
                    <a:bodyPr/>
                    <a:lstStyle/>
                    <a:p>
                      <a:pPr algn="ctr"/>
                      <a:r>
                        <a:rPr lang="en-IN">
                          <a:effectLst/>
                        </a:rPr>
                        <a:t>Varun</a:t>
                      </a:r>
                    </a:p>
                  </a:txBody>
                  <a:tcPr anchor="ctr">
                    <a:lnL>
                      <a:noFill/>
                    </a:lnL>
                    <a:lnR>
                      <a:noFill/>
                    </a:lnR>
                    <a:lnT>
                      <a:noFill/>
                    </a:lnT>
                    <a:lnB>
                      <a:noFill/>
                    </a:lnB>
                    <a:solidFill>
                      <a:srgbClr val="FAFBFC"/>
                    </a:solidFill>
                  </a:tcPr>
                </a:tc>
                <a:tc>
                  <a:txBody>
                    <a:bodyPr/>
                    <a:lstStyle/>
                    <a:p>
                      <a:pPr algn="ctr"/>
                      <a:r>
                        <a:rPr lang="en-IN">
                          <a:effectLst/>
                        </a:rPr>
                        <a:t>Chandigarh</a:t>
                      </a:r>
                    </a:p>
                  </a:txBody>
                  <a:tcPr anchor="ctr">
                    <a:lnL>
                      <a:noFill/>
                    </a:lnL>
                    <a:lnR>
                      <a:noFill/>
                    </a:lnR>
                    <a:lnT>
                      <a:noFill/>
                    </a:lnT>
                    <a:lnB>
                      <a:noFill/>
                    </a:lnB>
                    <a:solidFill>
                      <a:srgbClr val="FAFBFC"/>
                    </a:solidFill>
                  </a:tcPr>
                </a:tc>
                <a:tc>
                  <a:txBody>
                    <a:bodyPr/>
                    <a:lstStyle/>
                    <a:p>
                      <a:pPr algn="ctr"/>
                      <a:r>
                        <a:rPr lang="en-IN">
                          <a:effectLst/>
                        </a:rPr>
                        <a:t>09</a:t>
                      </a:r>
                    </a:p>
                  </a:txBody>
                  <a:tcPr anchor="ctr">
                    <a:lnL>
                      <a:noFill/>
                    </a:lnL>
                    <a:lnR>
                      <a:noFill/>
                    </a:lnR>
                    <a:lnT>
                      <a:noFill/>
                    </a:lnT>
                    <a:lnB>
                      <a:noFill/>
                    </a:lnB>
                    <a:solidFill>
                      <a:srgbClr val="FAFBFC"/>
                    </a:solidFill>
                  </a:tcPr>
                </a:tc>
                <a:tc>
                  <a:txBody>
                    <a:bodyPr/>
                    <a:lstStyle/>
                    <a:p>
                      <a:pPr algn="ctr"/>
                      <a:r>
                        <a:rPr lang="en-IN">
                          <a:effectLst/>
                        </a:rPr>
                        <a:t>D-2</a:t>
                      </a:r>
                    </a:p>
                  </a:txBody>
                  <a:tcPr anchor="ctr">
                    <a:lnL>
                      <a:noFill/>
                    </a:lnL>
                    <a:lnR>
                      <a:noFill/>
                    </a:lnR>
                    <a:lnT>
                      <a:noFill/>
                    </a:lnT>
                    <a:lnB>
                      <a:noFill/>
                    </a:lnB>
                    <a:solidFill>
                      <a:srgbClr val="FAFBFC"/>
                    </a:solidFill>
                  </a:tcPr>
                </a:tc>
                <a:tc>
                  <a:txBody>
                    <a:bodyPr/>
                    <a:lstStyle/>
                    <a:p>
                      <a:pPr algn="ctr"/>
                      <a:r>
                        <a:rPr lang="en-IN">
                          <a:effectLst/>
                        </a:rPr>
                        <a:t>IT</a:t>
                      </a:r>
                    </a:p>
                  </a:txBody>
                  <a:tcPr anchor="ctr">
                    <a:lnL>
                      <a:noFill/>
                    </a:lnL>
                    <a:lnR>
                      <a:noFill/>
                    </a:lnR>
                    <a:lnT>
                      <a:noFill/>
                    </a:lnT>
                    <a:lnB>
                      <a:noFill/>
                    </a:lnB>
                    <a:solidFill>
                      <a:srgbClr val="FAFBFC"/>
                    </a:solidFill>
                  </a:tcPr>
                </a:tc>
                <a:tc>
                  <a:txBody>
                    <a:bodyPr/>
                    <a:lstStyle/>
                    <a:p>
                      <a:pPr algn="ctr"/>
                      <a:r>
                        <a:rPr lang="en-IN">
                          <a:effectLst/>
                        </a:rPr>
                        <a:t>E-2</a:t>
                      </a:r>
                    </a:p>
                  </a:txBody>
                  <a:tcPr anchor="ctr">
                    <a:lnL>
                      <a:noFill/>
                    </a:lnL>
                    <a:lnR>
                      <a:noFill/>
                    </a:lnR>
                    <a:lnT>
                      <a:noFill/>
                    </a:lnT>
                    <a:lnB>
                      <a:noFill/>
                    </a:lnB>
                    <a:solidFill>
                      <a:srgbClr val="FAFBFC"/>
                    </a:solidFill>
                  </a:tcPr>
                </a:tc>
                <a:tc>
                  <a:txBody>
                    <a:bodyPr/>
                    <a:lstStyle/>
                    <a:p>
                      <a:pPr algn="ctr"/>
                      <a:r>
                        <a:rPr lang="en-IN">
                          <a:effectLst/>
                        </a:rPr>
                        <a:t>05</a:t>
                      </a:r>
                    </a:p>
                  </a:txBody>
                  <a:tcPr anchor="ctr">
                    <a:lnL>
                      <a:noFill/>
                    </a:lnL>
                    <a:lnR>
                      <a:noFill/>
                    </a:lnR>
                    <a:lnT>
                      <a:noFill/>
                    </a:lnT>
                    <a:lnB>
                      <a:noFill/>
                    </a:lnB>
                    <a:solidFill>
                      <a:srgbClr val="FAFBFC"/>
                    </a:solidFill>
                  </a:tcPr>
                </a:tc>
                <a:extLst>
                  <a:ext uri="{0D108BD9-81ED-4DB2-BD59-A6C34878D82A}">
                    <a16:rowId xmlns:a16="http://schemas.microsoft.com/office/drawing/2014/main" val="7419945"/>
                  </a:ext>
                </a:extLst>
              </a:tr>
              <a:tr h="1006399">
                <a:tc>
                  <a:txBody>
                    <a:bodyPr/>
                    <a:lstStyle/>
                    <a:p>
                      <a:pPr algn="ctr"/>
                      <a:r>
                        <a:rPr lang="en-IN">
                          <a:effectLst/>
                        </a:rPr>
                        <a:t>E-3</a:t>
                      </a:r>
                    </a:p>
                  </a:txBody>
                  <a:tcPr anchor="ctr">
                    <a:lnL>
                      <a:noFill/>
                    </a:lnL>
                    <a:lnR>
                      <a:noFill/>
                    </a:lnR>
                    <a:lnT>
                      <a:noFill/>
                    </a:lnT>
                    <a:lnB>
                      <a:noFill/>
                    </a:lnB>
                    <a:solidFill>
                      <a:srgbClr val="FAFBFC"/>
                    </a:solidFill>
                  </a:tcPr>
                </a:tc>
                <a:tc>
                  <a:txBody>
                    <a:bodyPr/>
                    <a:lstStyle/>
                    <a:p>
                      <a:pPr algn="ctr"/>
                      <a:r>
                        <a:rPr lang="en-IN">
                          <a:effectLst/>
                        </a:rPr>
                        <a:t>Ravi</a:t>
                      </a:r>
                    </a:p>
                  </a:txBody>
                  <a:tcPr anchor="ctr">
                    <a:lnL>
                      <a:noFill/>
                    </a:lnL>
                    <a:lnR>
                      <a:noFill/>
                    </a:lnR>
                    <a:lnT>
                      <a:noFill/>
                    </a:lnT>
                    <a:lnB>
                      <a:noFill/>
                    </a:lnB>
                    <a:solidFill>
                      <a:srgbClr val="FAFBFC"/>
                    </a:solidFill>
                  </a:tcPr>
                </a:tc>
                <a:tc>
                  <a:txBody>
                    <a:bodyPr/>
                    <a:lstStyle/>
                    <a:p>
                      <a:pPr algn="ctr"/>
                      <a:r>
                        <a:rPr lang="en-IN">
                          <a:effectLst/>
                        </a:rPr>
                        <a:t>Noida</a:t>
                      </a:r>
                    </a:p>
                  </a:txBody>
                  <a:tcPr anchor="ctr">
                    <a:lnL>
                      <a:noFill/>
                    </a:lnL>
                    <a:lnR>
                      <a:noFill/>
                    </a:lnR>
                    <a:lnT>
                      <a:noFill/>
                    </a:lnT>
                    <a:lnB>
                      <a:noFill/>
                    </a:lnB>
                    <a:solidFill>
                      <a:srgbClr val="FAFBFC"/>
                    </a:solidFill>
                  </a:tcPr>
                </a:tc>
                <a:tc>
                  <a:txBody>
                    <a:bodyPr/>
                    <a:lstStyle/>
                    <a:p>
                      <a:pPr algn="ctr"/>
                      <a:r>
                        <a:rPr lang="en-IN">
                          <a:effectLst/>
                        </a:rPr>
                        <a:t>03</a:t>
                      </a:r>
                    </a:p>
                  </a:txBody>
                  <a:tcPr anchor="ctr">
                    <a:lnL>
                      <a:noFill/>
                    </a:lnL>
                    <a:lnR>
                      <a:noFill/>
                    </a:lnR>
                    <a:lnT>
                      <a:noFill/>
                    </a:lnT>
                    <a:lnB>
                      <a:noFill/>
                    </a:lnB>
                    <a:solidFill>
                      <a:srgbClr val="FAFBFC"/>
                    </a:solidFill>
                  </a:tcPr>
                </a:tc>
                <a:tc>
                  <a:txBody>
                    <a:bodyPr/>
                    <a:lstStyle/>
                    <a:p>
                      <a:pPr algn="ctr"/>
                      <a:r>
                        <a:rPr lang="en-IN">
                          <a:effectLst/>
                        </a:rPr>
                        <a:t>D-3</a:t>
                      </a:r>
                    </a:p>
                  </a:txBody>
                  <a:tcPr anchor="ctr">
                    <a:lnL>
                      <a:noFill/>
                    </a:lnL>
                    <a:lnR>
                      <a:noFill/>
                    </a:lnR>
                    <a:lnT>
                      <a:noFill/>
                    </a:lnT>
                    <a:lnB>
                      <a:noFill/>
                    </a:lnB>
                    <a:solidFill>
                      <a:srgbClr val="FAFBFC"/>
                    </a:solidFill>
                  </a:tcPr>
                </a:tc>
                <a:tc>
                  <a:txBody>
                    <a:bodyPr/>
                    <a:lstStyle/>
                    <a:p>
                      <a:pPr algn="ctr"/>
                      <a:r>
                        <a:rPr lang="en-IN">
                          <a:effectLst/>
                        </a:rPr>
                        <a:t>Marketing</a:t>
                      </a:r>
                    </a:p>
                  </a:txBody>
                  <a:tcPr anchor="ctr">
                    <a:lnL>
                      <a:noFill/>
                    </a:lnL>
                    <a:lnR>
                      <a:noFill/>
                    </a:lnR>
                    <a:lnT>
                      <a:noFill/>
                    </a:lnT>
                    <a:lnB>
                      <a:noFill/>
                    </a:lnB>
                    <a:solidFill>
                      <a:srgbClr val="FAFBFC"/>
                    </a:solidFill>
                  </a:tcPr>
                </a:tc>
                <a:tc>
                  <a:txBody>
                    <a:bodyPr/>
                    <a:lstStyle/>
                    <a:p>
                      <a:pPr algn="ctr"/>
                      <a:r>
                        <a:rPr lang="en-IN">
                          <a:effectLst/>
                        </a:rPr>
                        <a:t>E-3</a:t>
                      </a:r>
                    </a:p>
                  </a:txBody>
                  <a:tcPr anchor="ctr">
                    <a:lnL>
                      <a:noFill/>
                    </a:lnL>
                    <a:lnR>
                      <a:noFill/>
                    </a:lnR>
                    <a:lnT>
                      <a:noFill/>
                    </a:lnT>
                    <a:lnB>
                      <a:noFill/>
                    </a:lnB>
                    <a:solidFill>
                      <a:srgbClr val="FAFBFC"/>
                    </a:solidFill>
                  </a:tcPr>
                </a:tc>
                <a:tc>
                  <a:txBody>
                    <a:bodyPr/>
                    <a:lstStyle/>
                    <a:p>
                      <a:pPr algn="ctr"/>
                      <a:r>
                        <a:rPr lang="en-IN" dirty="0">
                          <a:effectLst/>
                        </a:rPr>
                        <a:t>02</a:t>
                      </a:r>
                    </a:p>
                  </a:txBody>
                  <a:tcPr anchor="ctr">
                    <a:lnL>
                      <a:noFill/>
                    </a:lnL>
                    <a:lnR>
                      <a:noFill/>
                    </a:lnR>
                    <a:lnT>
                      <a:noFill/>
                    </a:lnT>
                    <a:lnB>
                      <a:noFill/>
                    </a:lnB>
                    <a:solidFill>
                      <a:srgbClr val="FAFBFC"/>
                    </a:solidFill>
                  </a:tcPr>
                </a:tc>
                <a:extLst>
                  <a:ext uri="{0D108BD9-81ED-4DB2-BD59-A6C34878D82A}">
                    <a16:rowId xmlns:a16="http://schemas.microsoft.com/office/drawing/2014/main" val="2529011493"/>
                  </a:ext>
                </a:extLst>
              </a:tr>
            </a:tbl>
          </a:graphicData>
        </a:graphic>
      </p:graphicFrame>
    </p:spTree>
    <p:extLst>
      <p:ext uri="{BB962C8B-B14F-4D97-AF65-F5344CB8AC3E}">
        <p14:creationId xmlns:p14="http://schemas.microsoft.com/office/powerpoint/2010/main" val="165116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89"/>
          </a:xfrm>
        </p:spPr>
        <p:txBody>
          <a:bodyPr>
            <a:normAutofit fontScale="90000"/>
          </a:bodyPr>
          <a:lstStyle/>
          <a:p>
            <a:r>
              <a:rPr lang="en-US" dirty="0" smtClean="0"/>
              <a:t>Contd..</a:t>
            </a:r>
            <a:endParaRPr lang="en-IN" dirty="0"/>
          </a:p>
        </p:txBody>
      </p:sp>
      <p:sp>
        <p:nvSpPr>
          <p:cNvPr id="3" name="Content Placeholder 2"/>
          <p:cNvSpPr>
            <a:spLocks noGrp="1"/>
          </p:cNvSpPr>
          <p:nvPr>
            <p:ph idx="1"/>
          </p:nvPr>
        </p:nvSpPr>
        <p:spPr>
          <a:xfrm>
            <a:off x="457200" y="692727"/>
            <a:ext cx="8229600" cy="6040582"/>
          </a:xfrm>
        </p:spPr>
        <p:txBody>
          <a:bodyPr>
            <a:normAutofit fontScale="77500" lnSpcReduction="20000"/>
          </a:bodyPr>
          <a:lstStyle/>
          <a:p>
            <a:pPr marL="0" indent="0">
              <a:buNone/>
            </a:pPr>
            <a:r>
              <a:rPr lang="en-US" b="1" i="1" dirty="0">
                <a:solidFill>
                  <a:schemeClr val="tx2">
                    <a:lumMod val="60000"/>
                    <a:lumOff val="40000"/>
                  </a:schemeClr>
                </a:solidFill>
              </a:rPr>
              <a:t>Natural Join (⋈)</a:t>
            </a:r>
          </a:p>
          <a:p>
            <a:r>
              <a:rPr lang="en-US" b="1" dirty="0"/>
              <a:t>A comparison operator is not used in a natural join.</a:t>
            </a:r>
            <a:r>
              <a:rPr lang="en-US" dirty="0"/>
              <a:t> It does not concatenate like a Cartesian product. A Natural Join can be performed only if two relations share at least </a:t>
            </a:r>
            <a:r>
              <a:rPr lang="en-US" b="1" dirty="0"/>
              <a:t>one common attribute</a:t>
            </a:r>
            <a:r>
              <a:rPr lang="en-US" dirty="0"/>
              <a:t>. Furthermore, the attributes </a:t>
            </a:r>
            <a:r>
              <a:rPr lang="en-US" b="1" dirty="0"/>
              <a:t>must share the same name and domain</a:t>
            </a:r>
            <a:r>
              <a:rPr lang="en-US" dirty="0"/>
              <a:t>.</a:t>
            </a:r>
            <a:br>
              <a:rPr lang="en-US" dirty="0"/>
            </a:br>
            <a:r>
              <a:rPr lang="en-US" dirty="0"/>
              <a:t>Natural join operates on matching attributes where the values of the attributes in both relations are the same and </a:t>
            </a:r>
            <a:r>
              <a:rPr lang="en-US" b="1" dirty="0"/>
              <a:t>remove the duplicate</a:t>
            </a:r>
            <a:r>
              <a:rPr lang="en-US" dirty="0"/>
              <a:t> ones.</a:t>
            </a:r>
            <a:br>
              <a:rPr lang="en-US" dirty="0"/>
            </a:br>
            <a:r>
              <a:rPr lang="en-US" b="1" dirty="0"/>
              <a:t>Preferably Natural Join is performed on the foreign key.</a:t>
            </a:r>
            <a:r>
              <a:rPr lang="en-US" dirty="0"/>
              <a:t/>
            </a:r>
            <a:br>
              <a:rPr lang="en-US" dirty="0"/>
            </a:br>
            <a:r>
              <a:rPr lang="en-US" dirty="0"/>
              <a:t>Notation : R ⋈ S</a:t>
            </a:r>
            <a:br>
              <a:rPr lang="en-US" dirty="0"/>
            </a:br>
            <a:r>
              <a:rPr lang="en-US" dirty="0"/>
              <a:t>Where R is the first relation</a:t>
            </a:r>
            <a:br>
              <a:rPr lang="en-US" dirty="0"/>
            </a:br>
            <a:r>
              <a:rPr lang="en-US" dirty="0"/>
              <a:t>S is the second relation</a:t>
            </a:r>
          </a:p>
          <a:p>
            <a:r>
              <a:rPr lang="en-US" dirty="0"/>
              <a:t>Let's say we want to join </a:t>
            </a:r>
            <a:r>
              <a:rPr lang="en-US" b="1" dirty="0">
                <a:solidFill>
                  <a:schemeClr val="tx2">
                    <a:lumMod val="60000"/>
                    <a:lumOff val="40000"/>
                  </a:schemeClr>
                </a:solidFill>
              </a:rPr>
              <a:t>EMPLOYEE </a:t>
            </a:r>
            <a:r>
              <a:rPr lang="en-US" dirty="0"/>
              <a:t>and </a:t>
            </a:r>
            <a:r>
              <a:rPr lang="en-US" b="1" dirty="0">
                <a:solidFill>
                  <a:schemeClr val="tx2">
                    <a:lumMod val="60000"/>
                    <a:lumOff val="40000"/>
                  </a:schemeClr>
                </a:solidFill>
              </a:rPr>
              <a:t>DEPARTMENT </a:t>
            </a:r>
            <a:r>
              <a:rPr lang="en-US" dirty="0"/>
              <a:t>relation with E_NO as a common attribute.</a:t>
            </a:r>
          </a:p>
          <a:p>
            <a:r>
              <a:rPr lang="en-US" dirty="0"/>
              <a:t>Notice, here E_NO has the same name in both the relations and also consists of the same domain, i.e., in both relations E_NO is a string.</a:t>
            </a:r>
          </a:p>
          <a:p>
            <a:endParaRPr lang="en-IN" dirty="0"/>
          </a:p>
        </p:txBody>
      </p:sp>
    </p:spTree>
    <p:extLst>
      <p:ext uri="{BB962C8B-B14F-4D97-AF65-F5344CB8AC3E}">
        <p14:creationId xmlns:p14="http://schemas.microsoft.com/office/powerpoint/2010/main" val="200133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EMPLOYEE ⋈ DEPARTMENT</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36201051"/>
              </p:ext>
            </p:extLst>
          </p:nvPr>
        </p:nvGraphicFramePr>
        <p:xfrm>
          <a:off x="457202" y="1773381"/>
          <a:ext cx="8562106" cy="4558146"/>
        </p:xfrm>
        <a:graphic>
          <a:graphicData uri="http://schemas.openxmlformats.org/drawingml/2006/table">
            <a:tbl>
              <a:tblPr/>
              <a:tblGrid>
                <a:gridCol w="1223158">
                  <a:extLst>
                    <a:ext uri="{9D8B030D-6E8A-4147-A177-3AD203B41FA5}">
                      <a16:colId xmlns:a16="http://schemas.microsoft.com/office/drawing/2014/main" val="4206639823"/>
                    </a:ext>
                  </a:extLst>
                </a:gridCol>
                <a:gridCol w="1223158">
                  <a:extLst>
                    <a:ext uri="{9D8B030D-6E8A-4147-A177-3AD203B41FA5}">
                      <a16:colId xmlns:a16="http://schemas.microsoft.com/office/drawing/2014/main" val="3496652677"/>
                    </a:ext>
                  </a:extLst>
                </a:gridCol>
                <a:gridCol w="1223158">
                  <a:extLst>
                    <a:ext uri="{9D8B030D-6E8A-4147-A177-3AD203B41FA5}">
                      <a16:colId xmlns:a16="http://schemas.microsoft.com/office/drawing/2014/main" val="2416635940"/>
                    </a:ext>
                  </a:extLst>
                </a:gridCol>
                <a:gridCol w="1223158">
                  <a:extLst>
                    <a:ext uri="{9D8B030D-6E8A-4147-A177-3AD203B41FA5}">
                      <a16:colId xmlns:a16="http://schemas.microsoft.com/office/drawing/2014/main" val="2510409108"/>
                    </a:ext>
                  </a:extLst>
                </a:gridCol>
                <a:gridCol w="1223158">
                  <a:extLst>
                    <a:ext uri="{9D8B030D-6E8A-4147-A177-3AD203B41FA5}">
                      <a16:colId xmlns:a16="http://schemas.microsoft.com/office/drawing/2014/main" val="859675290"/>
                    </a:ext>
                  </a:extLst>
                </a:gridCol>
                <a:gridCol w="1223158">
                  <a:extLst>
                    <a:ext uri="{9D8B030D-6E8A-4147-A177-3AD203B41FA5}">
                      <a16:colId xmlns:a16="http://schemas.microsoft.com/office/drawing/2014/main" val="3415544222"/>
                    </a:ext>
                  </a:extLst>
                </a:gridCol>
                <a:gridCol w="1223158">
                  <a:extLst>
                    <a:ext uri="{9D8B030D-6E8A-4147-A177-3AD203B41FA5}">
                      <a16:colId xmlns:a16="http://schemas.microsoft.com/office/drawing/2014/main" val="3519075882"/>
                    </a:ext>
                  </a:extLst>
                </a:gridCol>
              </a:tblGrid>
              <a:tr h="1276281">
                <a:tc>
                  <a:txBody>
                    <a:bodyPr/>
                    <a:lstStyle/>
                    <a:p>
                      <a:pPr algn="ctr"/>
                      <a:r>
                        <a:rPr lang="en-IN" b="1" dirty="0">
                          <a:solidFill>
                            <a:schemeClr val="tx2">
                              <a:lumMod val="60000"/>
                              <a:lumOff val="40000"/>
                            </a:schemeClr>
                          </a:solidFill>
                          <a:effectLst/>
                        </a:rPr>
                        <a:t>E_NO</a:t>
                      </a:r>
                    </a:p>
                  </a:txBody>
                  <a:tcPr anchor="ctr">
                    <a:lnL>
                      <a:noFill/>
                    </a:lnL>
                    <a:lnR>
                      <a:noFill/>
                    </a:lnR>
                    <a:lnT>
                      <a:noFill/>
                    </a:lnT>
                    <a:lnB>
                      <a:noFill/>
                    </a:lnB>
                    <a:solidFill>
                      <a:srgbClr val="FAFBFC"/>
                    </a:solidFill>
                  </a:tcPr>
                </a:tc>
                <a:tc>
                  <a:txBody>
                    <a:bodyPr/>
                    <a:lstStyle/>
                    <a:p>
                      <a:pPr algn="ctr"/>
                      <a:r>
                        <a:rPr lang="en-IN" b="1" dirty="0">
                          <a:solidFill>
                            <a:schemeClr val="tx2">
                              <a:lumMod val="60000"/>
                              <a:lumOff val="40000"/>
                            </a:schemeClr>
                          </a:solidFill>
                          <a:effectLst/>
                        </a:rPr>
                        <a:t>E_NAME</a:t>
                      </a:r>
                    </a:p>
                  </a:txBody>
                  <a:tcPr anchor="ctr">
                    <a:lnL>
                      <a:noFill/>
                    </a:lnL>
                    <a:lnR>
                      <a:noFill/>
                    </a:lnR>
                    <a:lnT>
                      <a:noFill/>
                    </a:lnT>
                    <a:lnB>
                      <a:noFill/>
                    </a:lnB>
                    <a:solidFill>
                      <a:srgbClr val="FAFBFC"/>
                    </a:solidFill>
                  </a:tcPr>
                </a:tc>
                <a:tc>
                  <a:txBody>
                    <a:bodyPr/>
                    <a:lstStyle/>
                    <a:p>
                      <a:pPr algn="ctr"/>
                      <a:r>
                        <a:rPr lang="en-IN" b="1" dirty="0">
                          <a:solidFill>
                            <a:schemeClr val="tx2">
                              <a:lumMod val="60000"/>
                              <a:lumOff val="40000"/>
                            </a:schemeClr>
                          </a:solidFill>
                          <a:effectLst/>
                        </a:rPr>
                        <a:t>CITY</a:t>
                      </a:r>
                    </a:p>
                  </a:txBody>
                  <a:tcPr anchor="ctr">
                    <a:lnL>
                      <a:noFill/>
                    </a:lnL>
                    <a:lnR>
                      <a:noFill/>
                    </a:lnR>
                    <a:lnT>
                      <a:noFill/>
                    </a:lnT>
                    <a:lnB>
                      <a:noFill/>
                    </a:lnB>
                    <a:solidFill>
                      <a:srgbClr val="FAFBFC"/>
                    </a:solidFill>
                  </a:tcPr>
                </a:tc>
                <a:tc>
                  <a:txBody>
                    <a:bodyPr/>
                    <a:lstStyle/>
                    <a:p>
                      <a:pPr algn="ctr"/>
                      <a:r>
                        <a:rPr lang="en-IN" b="1" dirty="0">
                          <a:solidFill>
                            <a:schemeClr val="tx2">
                              <a:lumMod val="60000"/>
                              <a:lumOff val="40000"/>
                            </a:schemeClr>
                          </a:solidFill>
                          <a:effectLst/>
                        </a:rPr>
                        <a:t>EXPERIENCE</a:t>
                      </a:r>
                    </a:p>
                  </a:txBody>
                  <a:tcPr anchor="ctr">
                    <a:lnL>
                      <a:noFill/>
                    </a:lnL>
                    <a:lnR>
                      <a:noFill/>
                    </a:lnR>
                    <a:lnT>
                      <a:noFill/>
                    </a:lnT>
                    <a:lnB>
                      <a:noFill/>
                    </a:lnB>
                    <a:solidFill>
                      <a:srgbClr val="FAFBFC"/>
                    </a:solidFill>
                  </a:tcPr>
                </a:tc>
                <a:tc>
                  <a:txBody>
                    <a:bodyPr/>
                    <a:lstStyle/>
                    <a:p>
                      <a:pPr algn="ctr"/>
                      <a:r>
                        <a:rPr lang="en-IN" b="1" dirty="0">
                          <a:solidFill>
                            <a:schemeClr val="tx2">
                              <a:lumMod val="60000"/>
                              <a:lumOff val="40000"/>
                            </a:schemeClr>
                          </a:solidFill>
                          <a:effectLst/>
                        </a:rPr>
                        <a:t>D_NO</a:t>
                      </a:r>
                    </a:p>
                  </a:txBody>
                  <a:tcPr anchor="ctr">
                    <a:lnL>
                      <a:noFill/>
                    </a:lnL>
                    <a:lnR>
                      <a:noFill/>
                    </a:lnR>
                    <a:lnT>
                      <a:noFill/>
                    </a:lnT>
                    <a:lnB>
                      <a:noFill/>
                    </a:lnB>
                    <a:solidFill>
                      <a:srgbClr val="FAFBFC"/>
                    </a:solidFill>
                  </a:tcPr>
                </a:tc>
                <a:tc>
                  <a:txBody>
                    <a:bodyPr/>
                    <a:lstStyle/>
                    <a:p>
                      <a:pPr algn="ctr"/>
                      <a:r>
                        <a:rPr lang="en-IN" b="1" dirty="0">
                          <a:solidFill>
                            <a:schemeClr val="tx2">
                              <a:lumMod val="60000"/>
                              <a:lumOff val="40000"/>
                            </a:schemeClr>
                          </a:solidFill>
                          <a:effectLst/>
                        </a:rPr>
                        <a:t>D_NAME</a:t>
                      </a:r>
                    </a:p>
                  </a:txBody>
                  <a:tcPr anchor="ctr">
                    <a:lnL>
                      <a:noFill/>
                    </a:lnL>
                    <a:lnR>
                      <a:noFill/>
                    </a:lnR>
                    <a:lnT>
                      <a:noFill/>
                    </a:lnT>
                    <a:lnB>
                      <a:noFill/>
                    </a:lnB>
                    <a:solidFill>
                      <a:srgbClr val="FAFBFC"/>
                    </a:solidFill>
                  </a:tcPr>
                </a:tc>
                <a:tc>
                  <a:txBody>
                    <a:bodyPr/>
                    <a:lstStyle/>
                    <a:p>
                      <a:pPr algn="ctr"/>
                      <a:r>
                        <a:rPr lang="en-IN" b="1" dirty="0">
                          <a:solidFill>
                            <a:schemeClr val="tx2">
                              <a:lumMod val="60000"/>
                              <a:lumOff val="40000"/>
                            </a:schemeClr>
                          </a:solidFill>
                          <a:effectLst/>
                        </a:rPr>
                        <a:t>MIN_EXPERIENCE</a:t>
                      </a:r>
                    </a:p>
                  </a:txBody>
                  <a:tcPr anchor="ctr">
                    <a:lnL>
                      <a:noFill/>
                    </a:lnL>
                    <a:lnR>
                      <a:noFill/>
                    </a:lnR>
                    <a:lnT>
                      <a:noFill/>
                    </a:lnT>
                    <a:lnB>
                      <a:noFill/>
                    </a:lnB>
                    <a:solidFill>
                      <a:srgbClr val="FAFBFC"/>
                    </a:solidFill>
                  </a:tcPr>
                </a:tc>
                <a:extLst>
                  <a:ext uri="{0D108BD9-81ED-4DB2-BD59-A6C34878D82A}">
                    <a16:rowId xmlns:a16="http://schemas.microsoft.com/office/drawing/2014/main" val="2615794087"/>
                  </a:ext>
                </a:extLst>
              </a:tr>
              <a:tr h="729303">
                <a:tc>
                  <a:txBody>
                    <a:bodyPr/>
                    <a:lstStyle/>
                    <a:p>
                      <a:pPr algn="ctr"/>
                      <a:r>
                        <a:rPr lang="en-IN">
                          <a:effectLst/>
                        </a:rPr>
                        <a:t>E-1</a:t>
                      </a:r>
                    </a:p>
                  </a:txBody>
                  <a:tcPr anchor="ctr">
                    <a:lnL>
                      <a:noFill/>
                    </a:lnL>
                    <a:lnR>
                      <a:noFill/>
                    </a:lnR>
                    <a:lnT>
                      <a:noFill/>
                    </a:lnT>
                    <a:lnB>
                      <a:noFill/>
                    </a:lnB>
                    <a:solidFill>
                      <a:srgbClr val="FAFBFC"/>
                    </a:solidFill>
                  </a:tcPr>
                </a:tc>
                <a:tc>
                  <a:txBody>
                    <a:bodyPr/>
                    <a:lstStyle/>
                    <a:p>
                      <a:pPr algn="ctr"/>
                      <a:r>
                        <a:rPr lang="en-IN">
                          <a:effectLst/>
                        </a:rPr>
                        <a:t>Ram</a:t>
                      </a:r>
                    </a:p>
                  </a:txBody>
                  <a:tcPr anchor="ctr">
                    <a:lnL>
                      <a:noFill/>
                    </a:lnL>
                    <a:lnR>
                      <a:noFill/>
                    </a:lnR>
                    <a:lnT>
                      <a:noFill/>
                    </a:lnT>
                    <a:lnB>
                      <a:noFill/>
                    </a:lnB>
                    <a:solidFill>
                      <a:srgbClr val="FAFBFC"/>
                    </a:solidFill>
                  </a:tcPr>
                </a:tc>
                <a:tc>
                  <a:txBody>
                    <a:bodyPr/>
                    <a:lstStyle/>
                    <a:p>
                      <a:pPr algn="ctr"/>
                      <a:r>
                        <a:rPr lang="en-IN">
                          <a:effectLst/>
                        </a:rPr>
                        <a:t>Delhi</a:t>
                      </a:r>
                    </a:p>
                  </a:txBody>
                  <a:tcPr anchor="ctr">
                    <a:lnL>
                      <a:noFill/>
                    </a:lnL>
                    <a:lnR>
                      <a:noFill/>
                    </a:lnR>
                    <a:lnT>
                      <a:noFill/>
                    </a:lnT>
                    <a:lnB>
                      <a:noFill/>
                    </a:lnB>
                    <a:solidFill>
                      <a:srgbClr val="FAFBFC"/>
                    </a:solidFill>
                  </a:tcPr>
                </a:tc>
                <a:tc>
                  <a:txBody>
                    <a:bodyPr/>
                    <a:lstStyle/>
                    <a:p>
                      <a:pPr algn="ctr"/>
                      <a:r>
                        <a:rPr lang="en-IN" dirty="0">
                          <a:effectLst/>
                        </a:rPr>
                        <a:t>04</a:t>
                      </a:r>
                    </a:p>
                  </a:txBody>
                  <a:tcPr anchor="ctr">
                    <a:lnL>
                      <a:noFill/>
                    </a:lnL>
                    <a:lnR>
                      <a:noFill/>
                    </a:lnR>
                    <a:lnT>
                      <a:noFill/>
                    </a:lnT>
                    <a:lnB>
                      <a:noFill/>
                    </a:lnB>
                    <a:solidFill>
                      <a:srgbClr val="FAFBFC"/>
                    </a:solidFill>
                  </a:tcPr>
                </a:tc>
                <a:tc>
                  <a:txBody>
                    <a:bodyPr/>
                    <a:lstStyle/>
                    <a:p>
                      <a:pPr algn="ctr"/>
                      <a:r>
                        <a:rPr lang="en-IN">
                          <a:effectLst/>
                        </a:rPr>
                        <a:t>D-1</a:t>
                      </a:r>
                    </a:p>
                  </a:txBody>
                  <a:tcPr anchor="ctr">
                    <a:lnL>
                      <a:noFill/>
                    </a:lnL>
                    <a:lnR>
                      <a:noFill/>
                    </a:lnR>
                    <a:lnT>
                      <a:noFill/>
                    </a:lnT>
                    <a:lnB>
                      <a:noFill/>
                    </a:lnB>
                    <a:solidFill>
                      <a:srgbClr val="FAFBFC"/>
                    </a:solidFill>
                  </a:tcPr>
                </a:tc>
                <a:tc>
                  <a:txBody>
                    <a:bodyPr/>
                    <a:lstStyle/>
                    <a:p>
                      <a:pPr algn="ctr"/>
                      <a:r>
                        <a:rPr lang="en-IN">
                          <a:effectLst/>
                        </a:rPr>
                        <a:t>HR</a:t>
                      </a:r>
                    </a:p>
                  </a:txBody>
                  <a:tcPr anchor="ctr">
                    <a:lnL>
                      <a:noFill/>
                    </a:lnL>
                    <a:lnR>
                      <a:noFill/>
                    </a:lnR>
                    <a:lnT>
                      <a:noFill/>
                    </a:lnT>
                    <a:lnB>
                      <a:noFill/>
                    </a:lnB>
                    <a:solidFill>
                      <a:srgbClr val="FAFBFC"/>
                    </a:solidFill>
                  </a:tcPr>
                </a:tc>
                <a:tc>
                  <a:txBody>
                    <a:bodyPr/>
                    <a:lstStyle/>
                    <a:p>
                      <a:pPr algn="ctr"/>
                      <a:r>
                        <a:rPr lang="en-IN">
                          <a:effectLst/>
                        </a:rPr>
                        <a:t>03</a:t>
                      </a:r>
                    </a:p>
                  </a:txBody>
                  <a:tcPr anchor="ctr">
                    <a:lnL>
                      <a:noFill/>
                    </a:lnL>
                    <a:lnR>
                      <a:noFill/>
                    </a:lnR>
                    <a:lnT>
                      <a:noFill/>
                    </a:lnT>
                    <a:lnB>
                      <a:noFill/>
                    </a:lnB>
                    <a:solidFill>
                      <a:srgbClr val="FAFBFC"/>
                    </a:solidFill>
                  </a:tcPr>
                </a:tc>
                <a:extLst>
                  <a:ext uri="{0D108BD9-81ED-4DB2-BD59-A6C34878D82A}">
                    <a16:rowId xmlns:a16="http://schemas.microsoft.com/office/drawing/2014/main" val="1477827487"/>
                  </a:ext>
                </a:extLst>
              </a:tr>
              <a:tr h="1276281">
                <a:tc>
                  <a:txBody>
                    <a:bodyPr/>
                    <a:lstStyle/>
                    <a:p>
                      <a:pPr algn="ctr"/>
                      <a:r>
                        <a:rPr lang="en-IN">
                          <a:effectLst/>
                        </a:rPr>
                        <a:t>E-2</a:t>
                      </a:r>
                    </a:p>
                  </a:txBody>
                  <a:tcPr anchor="ctr">
                    <a:lnL>
                      <a:noFill/>
                    </a:lnL>
                    <a:lnR>
                      <a:noFill/>
                    </a:lnR>
                    <a:lnT>
                      <a:noFill/>
                    </a:lnT>
                    <a:lnB>
                      <a:noFill/>
                    </a:lnB>
                    <a:solidFill>
                      <a:srgbClr val="FAFBFC"/>
                    </a:solidFill>
                  </a:tcPr>
                </a:tc>
                <a:tc>
                  <a:txBody>
                    <a:bodyPr/>
                    <a:lstStyle/>
                    <a:p>
                      <a:pPr algn="ctr"/>
                      <a:r>
                        <a:rPr lang="en-IN">
                          <a:effectLst/>
                        </a:rPr>
                        <a:t>Varun</a:t>
                      </a:r>
                    </a:p>
                  </a:txBody>
                  <a:tcPr anchor="ctr">
                    <a:lnL>
                      <a:noFill/>
                    </a:lnL>
                    <a:lnR>
                      <a:noFill/>
                    </a:lnR>
                    <a:lnT>
                      <a:noFill/>
                    </a:lnT>
                    <a:lnB>
                      <a:noFill/>
                    </a:lnB>
                    <a:solidFill>
                      <a:srgbClr val="FAFBFC"/>
                    </a:solidFill>
                  </a:tcPr>
                </a:tc>
                <a:tc>
                  <a:txBody>
                    <a:bodyPr/>
                    <a:lstStyle/>
                    <a:p>
                      <a:pPr algn="ctr"/>
                      <a:r>
                        <a:rPr lang="en-IN">
                          <a:effectLst/>
                        </a:rPr>
                        <a:t>Chandigarh</a:t>
                      </a:r>
                    </a:p>
                  </a:txBody>
                  <a:tcPr anchor="ctr">
                    <a:lnL>
                      <a:noFill/>
                    </a:lnL>
                    <a:lnR>
                      <a:noFill/>
                    </a:lnR>
                    <a:lnT>
                      <a:noFill/>
                    </a:lnT>
                    <a:lnB>
                      <a:noFill/>
                    </a:lnB>
                    <a:solidFill>
                      <a:srgbClr val="FAFBFC"/>
                    </a:solidFill>
                  </a:tcPr>
                </a:tc>
                <a:tc>
                  <a:txBody>
                    <a:bodyPr/>
                    <a:lstStyle/>
                    <a:p>
                      <a:pPr algn="ctr"/>
                      <a:r>
                        <a:rPr lang="en-IN">
                          <a:effectLst/>
                        </a:rPr>
                        <a:t>09</a:t>
                      </a:r>
                    </a:p>
                  </a:txBody>
                  <a:tcPr anchor="ctr">
                    <a:lnL>
                      <a:noFill/>
                    </a:lnL>
                    <a:lnR>
                      <a:noFill/>
                    </a:lnR>
                    <a:lnT>
                      <a:noFill/>
                    </a:lnT>
                    <a:lnB>
                      <a:noFill/>
                    </a:lnB>
                    <a:solidFill>
                      <a:srgbClr val="FAFBFC"/>
                    </a:solidFill>
                  </a:tcPr>
                </a:tc>
                <a:tc>
                  <a:txBody>
                    <a:bodyPr/>
                    <a:lstStyle/>
                    <a:p>
                      <a:pPr algn="ctr"/>
                      <a:r>
                        <a:rPr lang="en-IN">
                          <a:effectLst/>
                        </a:rPr>
                        <a:t>D-2</a:t>
                      </a:r>
                    </a:p>
                  </a:txBody>
                  <a:tcPr anchor="ctr">
                    <a:lnL>
                      <a:noFill/>
                    </a:lnL>
                    <a:lnR>
                      <a:noFill/>
                    </a:lnR>
                    <a:lnT>
                      <a:noFill/>
                    </a:lnT>
                    <a:lnB>
                      <a:noFill/>
                    </a:lnB>
                    <a:solidFill>
                      <a:srgbClr val="FAFBFC"/>
                    </a:solidFill>
                  </a:tcPr>
                </a:tc>
                <a:tc>
                  <a:txBody>
                    <a:bodyPr/>
                    <a:lstStyle/>
                    <a:p>
                      <a:pPr algn="ctr"/>
                      <a:r>
                        <a:rPr lang="en-IN">
                          <a:effectLst/>
                        </a:rPr>
                        <a:t>IT</a:t>
                      </a:r>
                    </a:p>
                  </a:txBody>
                  <a:tcPr anchor="ctr">
                    <a:lnL>
                      <a:noFill/>
                    </a:lnL>
                    <a:lnR>
                      <a:noFill/>
                    </a:lnR>
                    <a:lnT>
                      <a:noFill/>
                    </a:lnT>
                    <a:lnB>
                      <a:noFill/>
                    </a:lnB>
                    <a:solidFill>
                      <a:srgbClr val="FAFBFC"/>
                    </a:solidFill>
                  </a:tcPr>
                </a:tc>
                <a:tc>
                  <a:txBody>
                    <a:bodyPr/>
                    <a:lstStyle/>
                    <a:p>
                      <a:pPr algn="ctr"/>
                      <a:r>
                        <a:rPr lang="en-IN">
                          <a:effectLst/>
                        </a:rPr>
                        <a:t>05</a:t>
                      </a:r>
                    </a:p>
                  </a:txBody>
                  <a:tcPr anchor="ctr">
                    <a:lnL>
                      <a:noFill/>
                    </a:lnL>
                    <a:lnR>
                      <a:noFill/>
                    </a:lnR>
                    <a:lnT>
                      <a:noFill/>
                    </a:lnT>
                    <a:lnB>
                      <a:noFill/>
                    </a:lnB>
                    <a:solidFill>
                      <a:srgbClr val="FAFBFC"/>
                    </a:solidFill>
                  </a:tcPr>
                </a:tc>
                <a:extLst>
                  <a:ext uri="{0D108BD9-81ED-4DB2-BD59-A6C34878D82A}">
                    <a16:rowId xmlns:a16="http://schemas.microsoft.com/office/drawing/2014/main" val="1817421808"/>
                  </a:ext>
                </a:extLst>
              </a:tr>
              <a:tr h="1276281">
                <a:tc>
                  <a:txBody>
                    <a:bodyPr/>
                    <a:lstStyle/>
                    <a:p>
                      <a:pPr algn="ctr"/>
                      <a:r>
                        <a:rPr lang="en-IN">
                          <a:effectLst/>
                        </a:rPr>
                        <a:t>E-3</a:t>
                      </a:r>
                    </a:p>
                  </a:txBody>
                  <a:tcPr anchor="ctr">
                    <a:lnL>
                      <a:noFill/>
                    </a:lnL>
                    <a:lnR>
                      <a:noFill/>
                    </a:lnR>
                    <a:lnT>
                      <a:noFill/>
                    </a:lnT>
                    <a:lnB>
                      <a:noFill/>
                    </a:lnB>
                    <a:solidFill>
                      <a:srgbClr val="FAFBFC"/>
                    </a:solidFill>
                  </a:tcPr>
                </a:tc>
                <a:tc>
                  <a:txBody>
                    <a:bodyPr/>
                    <a:lstStyle/>
                    <a:p>
                      <a:pPr algn="ctr"/>
                      <a:r>
                        <a:rPr lang="en-IN">
                          <a:effectLst/>
                        </a:rPr>
                        <a:t>Ravi</a:t>
                      </a:r>
                    </a:p>
                  </a:txBody>
                  <a:tcPr anchor="ctr">
                    <a:lnL>
                      <a:noFill/>
                    </a:lnL>
                    <a:lnR>
                      <a:noFill/>
                    </a:lnR>
                    <a:lnT>
                      <a:noFill/>
                    </a:lnT>
                    <a:lnB>
                      <a:noFill/>
                    </a:lnB>
                    <a:solidFill>
                      <a:srgbClr val="FAFBFC"/>
                    </a:solidFill>
                  </a:tcPr>
                </a:tc>
                <a:tc>
                  <a:txBody>
                    <a:bodyPr/>
                    <a:lstStyle/>
                    <a:p>
                      <a:pPr algn="ctr"/>
                      <a:r>
                        <a:rPr lang="en-IN">
                          <a:effectLst/>
                        </a:rPr>
                        <a:t>Noida</a:t>
                      </a:r>
                    </a:p>
                  </a:txBody>
                  <a:tcPr anchor="ctr">
                    <a:lnL>
                      <a:noFill/>
                    </a:lnL>
                    <a:lnR>
                      <a:noFill/>
                    </a:lnR>
                    <a:lnT>
                      <a:noFill/>
                    </a:lnT>
                    <a:lnB>
                      <a:noFill/>
                    </a:lnB>
                    <a:solidFill>
                      <a:srgbClr val="FAFBFC"/>
                    </a:solidFill>
                  </a:tcPr>
                </a:tc>
                <a:tc>
                  <a:txBody>
                    <a:bodyPr/>
                    <a:lstStyle/>
                    <a:p>
                      <a:pPr algn="ctr"/>
                      <a:r>
                        <a:rPr lang="en-IN">
                          <a:effectLst/>
                        </a:rPr>
                        <a:t>03</a:t>
                      </a:r>
                    </a:p>
                  </a:txBody>
                  <a:tcPr anchor="ctr">
                    <a:lnL>
                      <a:noFill/>
                    </a:lnL>
                    <a:lnR>
                      <a:noFill/>
                    </a:lnR>
                    <a:lnT>
                      <a:noFill/>
                    </a:lnT>
                    <a:lnB>
                      <a:noFill/>
                    </a:lnB>
                    <a:solidFill>
                      <a:srgbClr val="FAFBFC"/>
                    </a:solidFill>
                  </a:tcPr>
                </a:tc>
                <a:tc>
                  <a:txBody>
                    <a:bodyPr/>
                    <a:lstStyle/>
                    <a:p>
                      <a:pPr algn="ctr"/>
                      <a:r>
                        <a:rPr lang="en-IN">
                          <a:effectLst/>
                        </a:rPr>
                        <a:t>D-3</a:t>
                      </a:r>
                    </a:p>
                  </a:txBody>
                  <a:tcPr anchor="ctr">
                    <a:lnL>
                      <a:noFill/>
                    </a:lnL>
                    <a:lnR>
                      <a:noFill/>
                    </a:lnR>
                    <a:lnT>
                      <a:noFill/>
                    </a:lnT>
                    <a:lnB>
                      <a:noFill/>
                    </a:lnB>
                    <a:solidFill>
                      <a:srgbClr val="FAFBFC"/>
                    </a:solidFill>
                  </a:tcPr>
                </a:tc>
                <a:tc>
                  <a:txBody>
                    <a:bodyPr/>
                    <a:lstStyle/>
                    <a:p>
                      <a:pPr algn="ctr"/>
                      <a:r>
                        <a:rPr lang="en-IN">
                          <a:effectLst/>
                        </a:rPr>
                        <a:t>Marketing</a:t>
                      </a:r>
                    </a:p>
                  </a:txBody>
                  <a:tcPr anchor="ctr">
                    <a:lnL>
                      <a:noFill/>
                    </a:lnL>
                    <a:lnR>
                      <a:noFill/>
                    </a:lnR>
                    <a:lnT>
                      <a:noFill/>
                    </a:lnT>
                    <a:lnB>
                      <a:noFill/>
                    </a:lnB>
                    <a:solidFill>
                      <a:srgbClr val="FAFBFC"/>
                    </a:solidFill>
                  </a:tcPr>
                </a:tc>
                <a:tc>
                  <a:txBody>
                    <a:bodyPr/>
                    <a:lstStyle/>
                    <a:p>
                      <a:pPr algn="ctr"/>
                      <a:r>
                        <a:rPr lang="en-IN" dirty="0">
                          <a:effectLst/>
                        </a:rPr>
                        <a:t>02</a:t>
                      </a:r>
                    </a:p>
                  </a:txBody>
                  <a:tcPr anchor="ctr">
                    <a:lnL>
                      <a:noFill/>
                    </a:lnL>
                    <a:lnR>
                      <a:noFill/>
                    </a:lnR>
                    <a:lnT>
                      <a:noFill/>
                    </a:lnT>
                    <a:lnB>
                      <a:noFill/>
                    </a:lnB>
                    <a:solidFill>
                      <a:srgbClr val="FAFBFC"/>
                    </a:solidFill>
                  </a:tcPr>
                </a:tc>
                <a:extLst>
                  <a:ext uri="{0D108BD9-81ED-4DB2-BD59-A6C34878D82A}">
                    <a16:rowId xmlns:a16="http://schemas.microsoft.com/office/drawing/2014/main" val="632928161"/>
                  </a:ext>
                </a:extLst>
              </a:tr>
            </a:tbl>
          </a:graphicData>
        </a:graphic>
      </p:graphicFrame>
    </p:spTree>
    <p:extLst>
      <p:ext uri="{BB962C8B-B14F-4D97-AF65-F5344CB8AC3E}">
        <p14:creationId xmlns:p14="http://schemas.microsoft.com/office/powerpoint/2010/main" val="2918941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0545" y="1814945"/>
            <a:ext cx="7620000" cy="4439239"/>
          </a:xfrm>
        </p:spPr>
      </p:pic>
    </p:spTree>
    <p:extLst>
      <p:ext uri="{BB962C8B-B14F-4D97-AF65-F5344CB8AC3E}">
        <p14:creationId xmlns:p14="http://schemas.microsoft.com/office/powerpoint/2010/main" val="33633443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199" y="1600200"/>
            <a:ext cx="8465127" cy="4883727"/>
          </a:xfrm>
        </p:spPr>
        <p:txBody>
          <a:bodyPr>
            <a:normAutofit fontScale="92500" lnSpcReduction="20000"/>
          </a:bodyPr>
          <a:lstStyle/>
          <a:p>
            <a:r>
              <a:rPr lang="en-US" b="1" dirty="0"/>
              <a:t>Left Outer Join</a:t>
            </a:r>
          </a:p>
          <a:p>
            <a:r>
              <a:rPr lang="en-US" dirty="0"/>
              <a:t>As we can see from the diagram, Left Outer Join returns the matching tuples(tuples present in both relations) and the tuples which are only present in Left Relation, here R.</a:t>
            </a:r>
          </a:p>
          <a:p>
            <a:r>
              <a:rPr lang="en-US" dirty="0"/>
              <a:t>However, if the matching tuples are NULL, then attributes/columns of Right Relation, here S are made NULL in the output relation.</a:t>
            </a:r>
          </a:p>
          <a:p>
            <a:r>
              <a:rPr lang="en-US" dirty="0"/>
              <a:t>Let's understand this a bit more using an example</a:t>
            </a:r>
            <a:r>
              <a:rPr lang="en-US" dirty="0" smtClean="0"/>
              <a:t>:</a:t>
            </a:r>
          </a:p>
          <a:p>
            <a:r>
              <a:rPr lang="en-US" dirty="0" smtClean="0"/>
              <a:t>EMPLOYEE </a:t>
            </a:r>
            <a:r>
              <a:rPr lang="en-US" dirty="0"/>
              <a:t>⟕EMPLOYEE.E_NO = DEPARTMENT.E_NO DEPARTMENT</a:t>
            </a:r>
          </a:p>
          <a:p>
            <a:endParaRPr lang="en-US" dirty="0"/>
          </a:p>
          <a:p>
            <a:endParaRPr lang="en-IN" dirty="0"/>
          </a:p>
        </p:txBody>
      </p:sp>
    </p:spTree>
    <p:extLst>
      <p:ext uri="{BB962C8B-B14F-4D97-AF65-F5344CB8AC3E}">
        <p14:creationId xmlns:p14="http://schemas.microsoft.com/office/powerpoint/2010/main" val="2852846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Here we are combining EMPLOYEE and DEPARTMENT relation with the constraint that EMPLOYEE's E_NO must be equal to DEPARTMENT's E_NO.</a:t>
            </a:r>
            <a:endParaRPr lang="en-IN" sz="24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62216347"/>
              </p:ext>
            </p:extLst>
          </p:nvPr>
        </p:nvGraphicFramePr>
        <p:xfrm>
          <a:off x="290943" y="1801092"/>
          <a:ext cx="8548260" cy="4350327"/>
        </p:xfrm>
        <a:graphic>
          <a:graphicData uri="http://schemas.openxmlformats.org/drawingml/2006/table">
            <a:tbl>
              <a:tblPr/>
              <a:tblGrid>
                <a:gridCol w="1221180">
                  <a:extLst>
                    <a:ext uri="{9D8B030D-6E8A-4147-A177-3AD203B41FA5}">
                      <a16:colId xmlns:a16="http://schemas.microsoft.com/office/drawing/2014/main" val="1279411357"/>
                    </a:ext>
                  </a:extLst>
                </a:gridCol>
                <a:gridCol w="1221180">
                  <a:extLst>
                    <a:ext uri="{9D8B030D-6E8A-4147-A177-3AD203B41FA5}">
                      <a16:colId xmlns:a16="http://schemas.microsoft.com/office/drawing/2014/main" val="2504412389"/>
                    </a:ext>
                  </a:extLst>
                </a:gridCol>
                <a:gridCol w="1221180">
                  <a:extLst>
                    <a:ext uri="{9D8B030D-6E8A-4147-A177-3AD203B41FA5}">
                      <a16:colId xmlns:a16="http://schemas.microsoft.com/office/drawing/2014/main" val="2937671327"/>
                    </a:ext>
                  </a:extLst>
                </a:gridCol>
                <a:gridCol w="1221180">
                  <a:extLst>
                    <a:ext uri="{9D8B030D-6E8A-4147-A177-3AD203B41FA5}">
                      <a16:colId xmlns:a16="http://schemas.microsoft.com/office/drawing/2014/main" val="3147832951"/>
                    </a:ext>
                  </a:extLst>
                </a:gridCol>
                <a:gridCol w="1221180">
                  <a:extLst>
                    <a:ext uri="{9D8B030D-6E8A-4147-A177-3AD203B41FA5}">
                      <a16:colId xmlns:a16="http://schemas.microsoft.com/office/drawing/2014/main" val="2938256366"/>
                    </a:ext>
                  </a:extLst>
                </a:gridCol>
                <a:gridCol w="1221180">
                  <a:extLst>
                    <a:ext uri="{9D8B030D-6E8A-4147-A177-3AD203B41FA5}">
                      <a16:colId xmlns:a16="http://schemas.microsoft.com/office/drawing/2014/main" val="566418696"/>
                    </a:ext>
                  </a:extLst>
                </a:gridCol>
                <a:gridCol w="1221180">
                  <a:extLst>
                    <a:ext uri="{9D8B030D-6E8A-4147-A177-3AD203B41FA5}">
                      <a16:colId xmlns:a16="http://schemas.microsoft.com/office/drawing/2014/main" val="601216570"/>
                    </a:ext>
                  </a:extLst>
                </a:gridCol>
              </a:tblGrid>
              <a:tr h="951634">
                <a:tc>
                  <a:txBody>
                    <a:bodyPr/>
                    <a:lstStyle/>
                    <a:p>
                      <a:pPr algn="ctr"/>
                      <a:r>
                        <a:rPr lang="en-IN" b="1" i="1" dirty="0">
                          <a:solidFill>
                            <a:schemeClr val="accent2">
                              <a:lumMod val="50000"/>
                            </a:schemeClr>
                          </a:solidFill>
                          <a:effectLst/>
                        </a:rPr>
                        <a:t>E_NO</a:t>
                      </a:r>
                    </a:p>
                  </a:txBody>
                  <a:tcPr anchor="ctr">
                    <a:lnL>
                      <a:noFill/>
                    </a:lnL>
                    <a:lnR>
                      <a:noFill/>
                    </a:lnR>
                    <a:lnT>
                      <a:noFill/>
                    </a:lnT>
                    <a:lnB>
                      <a:noFill/>
                    </a:lnB>
                    <a:solidFill>
                      <a:srgbClr val="FAFBFC"/>
                    </a:solidFill>
                  </a:tcPr>
                </a:tc>
                <a:tc>
                  <a:txBody>
                    <a:bodyPr/>
                    <a:lstStyle/>
                    <a:p>
                      <a:pPr algn="ctr"/>
                      <a:r>
                        <a:rPr lang="en-IN" b="1" i="1" dirty="0">
                          <a:solidFill>
                            <a:schemeClr val="accent2">
                              <a:lumMod val="50000"/>
                            </a:schemeClr>
                          </a:solidFill>
                          <a:effectLst/>
                        </a:rPr>
                        <a:t>E_NAME</a:t>
                      </a:r>
                    </a:p>
                  </a:txBody>
                  <a:tcPr anchor="ctr">
                    <a:lnL>
                      <a:noFill/>
                    </a:lnL>
                    <a:lnR>
                      <a:noFill/>
                    </a:lnR>
                    <a:lnT>
                      <a:noFill/>
                    </a:lnT>
                    <a:lnB>
                      <a:noFill/>
                    </a:lnB>
                    <a:solidFill>
                      <a:srgbClr val="FAFBFC"/>
                    </a:solidFill>
                  </a:tcPr>
                </a:tc>
                <a:tc>
                  <a:txBody>
                    <a:bodyPr/>
                    <a:lstStyle/>
                    <a:p>
                      <a:pPr algn="ctr"/>
                      <a:r>
                        <a:rPr lang="en-IN" b="1" i="1" dirty="0">
                          <a:solidFill>
                            <a:schemeClr val="accent2">
                              <a:lumMod val="50000"/>
                            </a:schemeClr>
                          </a:solidFill>
                          <a:effectLst/>
                        </a:rPr>
                        <a:t>CITY</a:t>
                      </a:r>
                    </a:p>
                  </a:txBody>
                  <a:tcPr anchor="ctr">
                    <a:lnL>
                      <a:noFill/>
                    </a:lnL>
                    <a:lnR>
                      <a:noFill/>
                    </a:lnR>
                    <a:lnT>
                      <a:noFill/>
                    </a:lnT>
                    <a:lnB>
                      <a:noFill/>
                    </a:lnB>
                    <a:solidFill>
                      <a:srgbClr val="FAFBFC"/>
                    </a:solidFill>
                  </a:tcPr>
                </a:tc>
                <a:tc>
                  <a:txBody>
                    <a:bodyPr/>
                    <a:lstStyle/>
                    <a:p>
                      <a:pPr algn="ctr"/>
                      <a:r>
                        <a:rPr lang="en-IN" b="1" i="1" dirty="0">
                          <a:solidFill>
                            <a:schemeClr val="accent2">
                              <a:lumMod val="50000"/>
                            </a:schemeClr>
                          </a:solidFill>
                          <a:effectLst/>
                        </a:rPr>
                        <a:t>EXPERIENCE</a:t>
                      </a:r>
                    </a:p>
                  </a:txBody>
                  <a:tcPr anchor="ctr">
                    <a:lnL>
                      <a:noFill/>
                    </a:lnL>
                    <a:lnR>
                      <a:noFill/>
                    </a:lnR>
                    <a:lnT>
                      <a:noFill/>
                    </a:lnT>
                    <a:lnB>
                      <a:noFill/>
                    </a:lnB>
                    <a:solidFill>
                      <a:srgbClr val="FAFBFC"/>
                    </a:solidFill>
                  </a:tcPr>
                </a:tc>
                <a:tc>
                  <a:txBody>
                    <a:bodyPr/>
                    <a:lstStyle/>
                    <a:p>
                      <a:pPr algn="ctr"/>
                      <a:r>
                        <a:rPr lang="en-IN" b="1" i="1" dirty="0">
                          <a:solidFill>
                            <a:schemeClr val="accent2">
                              <a:lumMod val="50000"/>
                            </a:schemeClr>
                          </a:solidFill>
                          <a:effectLst/>
                        </a:rPr>
                        <a:t>D_NO</a:t>
                      </a:r>
                    </a:p>
                  </a:txBody>
                  <a:tcPr anchor="ctr">
                    <a:lnL>
                      <a:noFill/>
                    </a:lnL>
                    <a:lnR>
                      <a:noFill/>
                    </a:lnR>
                    <a:lnT>
                      <a:noFill/>
                    </a:lnT>
                    <a:lnB>
                      <a:noFill/>
                    </a:lnB>
                    <a:solidFill>
                      <a:srgbClr val="FAFBFC"/>
                    </a:solidFill>
                  </a:tcPr>
                </a:tc>
                <a:tc>
                  <a:txBody>
                    <a:bodyPr/>
                    <a:lstStyle/>
                    <a:p>
                      <a:pPr algn="ctr"/>
                      <a:r>
                        <a:rPr lang="en-IN" b="1" i="1" dirty="0">
                          <a:solidFill>
                            <a:schemeClr val="accent2">
                              <a:lumMod val="50000"/>
                            </a:schemeClr>
                          </a:solidFill>
                          <a:effectLst/>
                        </a:rPr>
                        <a:t>D_NAME</a:t>
                      </a:r>
                    </a:p>
                  </a:txBody>
                  <a:tcPr anchor="ctr">
                    <a:lnL>
                      <a:noFill/>
                    </a:lnL>
                    <a:lnR>
                      <a:noFill/>
                    </a:lnR>
                    <a:lnT>
                      <a:noFill/>
                    </a:lnT>
                    <a:lnB>
                      <a:noFill/>
                    </a:lnB>
                    <a:solidFill>
                      <a:srgbClr val="FAFBFC"/>
                    </a:solidFill>
                  </a:tcPr>
                </a:tc>
                <a:tc>
                  <a:txBody>
                    <a:bodyPr/>
                    <a:lstStyle/>
                    <a:p>
                      <a:pPr algn="ctr"/>
                      <a:r>
                        <a:rPr lang="en-IN" b="1" i="1" dirty="0">
                          <a:solidFill>
                            <a:schemeClr val="accent2">
                              <a:lumMod val="50000"/>
                            </a:schemeClr>
                          </a:solidFill>
                          <a:effectLst/>
                        </a:rPr>
                        <a:t>MIN_EXPERIENCE</a:t>
                      </a:r>
                    </a:p>
                  </a:txBody>
                  <a:tcPr anchor="ctr">
                    <a:lnL>
                      <a:noFill/>
                    </a:lnL>
                    <a:lnR>
                      <a:noFill/>
                    </a:lnR>
                    <a:lnT>
                      <a:noFill/>
                    </a:lnT>
                    <a:lnB>
                      <a:noFill/>
                    </a:lnB>
                    <a:solidFill>
                      <a:srgbClr val="FAFBFC"/>
                    </a:solidFill>
                  </a:tcPr>
                </a:tc>
                <a:extLst>
                  <a:ext uri="{0D108BD9-81ED-4DB2-BD59-A6C34878D82A}">
                    <a16:rowId xmlns:a16="http://schemas.microsoft.com/office/drawing/2014/main" val="2517489904"/>
                  </a:ext>
                </a:extLst>
              </a:tr>
              <a:tr h="543791">
                <a:tc>
                  <a:txBody>
                    <a:bodyPr/>
                    <a:lstStyle/>
                    <a:p>
                      <a:pPr algn="ctr"/>
                      <a:r>
                        <a:rPr lang="en-IN">
                          <a:effectLst/>
                        </a:rPr>
                        <a:t>E-1</a:t>
                      </a:r>
                    </a:p>
                  </a:txBody>
                  <a:tcPr anchor="ctr">
                    <a:lnL>
                      <a:noFill/>
                    </a:lnL>
                    <a:lnR>
                      <a:noFill/>
                    </a:lnR>
                    <a:lnT>
                      <a:noFill/>
                    </a:lnT>
                    <a:lnB>
                      <a:noFill/>
                    </a:lnB>
                    <a:solidFill>
                      <a:srgbClr val="FAFBFC"/>
                    </a:solidFill>
                  </a:tcPr>
                </a:tc>
                <a:tc>
                  <a:txBody>
                    <a:bodyPr/>
                    <a:lstStyle/>
                    <a:p>
                      <a:pPr algn="ctr"/>
                      <a:r>
                        <a:rPr lang="en-IN">
                          <a:effectLst/>
                        </a:rPr>
                        <a:t>Ram</a:t>
                      </a:r>
                    </a:p>
                  </a:txBody>
                  <a:tcPr anchor="ctr">
                    <a:lnL>
                      <a:noFill/>
                    </a:lnL>
                    <a:lnR>
                      <a:noFill/>
                    </a:lnR>
                    <a:lnT>
                      <a:noFill/>
                    </a:lnT>
                    <a:lnB>
                      <a:noFill/>
                    </a:lnB>
                    <a:solidFill>
                      <a:srgbClr val="FAFBFC"/>
                    </a:solidFill>
                  </a:tcPr>
                </a:tc>
                <a:tc>
                  <a:txBody>
                    <a:bodyPr/>
                    <a:lstStyle/>
                    <a:p>
                      <a:pPr algn="ctr"/>
                      <a:r>
                        <a:rPr lang="en-IN">
                          <a:effectLst/>
                        </a:rPr>
                        <a:t>Delhi</a:t>
                      </a:r>
                    </a:p>
                  </a:txBody>
                  <a:tcPr anchor="ctr">
                    <a:lnL>
                      <a:noFill/>
                    </a:lnL>
                    <a:lnR>
                      <a:noFill/>
                    </a:lnR>
                    <a:lnT>
                      <a:noFill/>
                    </a:lnT>
                    <a:lnB>
                      <a:noFill/>
                    </a:lnB>
                    <a:solidFill>
                      <a:srgbClr val="FAFBFC"/>
                    </a:solidFill>
                  </a:tcPr>
                </a:tc>
                <a:tc>
                  <a:txBody>
                    <a:bodyPr/>
                    <a:lstStyle/>
                    <a:p>
                      <a:pPr algn="ctr"/>
                      <a:r>
                        <a:rPr lang="en-IN">
                          <a:effectLst/>
                        </a:rPr>
                        <a:t>04</a:t>
                      </a:r>
                    </a:p>
                  </a:txBody>
                  <a:tcPr anchor="ctr">
                    <a:lnL>
                      <a:noFill/>
                    </a:lnL>
                    <a:lnR>
                      <a:noFill/>
                    </a:lnR>
                    <a:lnT>
                      <a:noFill/>
                    </a:lnT>
                    <a:lnB>
                      <a:noFill/>
                    </a:lnB>
                    <a:solidFill>
                      <a:srgbClr val="FAFBFC"/>
                    </a:solidFill>
                  </a:tcPr>
                </a:tc>
                <a:tc>
                  <a:txBody>
                    <a:bodyPr/>
                    <a:lstStyle/>
                    <a:p>
                      <a:pPr algn="ctr"/>
                      <a:r>
                        <a:rPr lang="en-IN">
                          <a:effectLst/>
                        </a:rPr>
                        <a:t>D-1</a:t>
                      </a:r>
                    </a:p>
                  </a:txBody>
                  <a:tcPr anchor="ctr">
                    <a:lnL>
                      <a:noFill/>
                    </a:lnL>
                    <a:lnR>
                      <a:noFill/>
                    </a:lnR>
                    <a:lnT>
                      <a:noFill/>
                    </a:lnT>
                    <a:lnB>
                      <a:noFill/>
                    </a:lnB>
                    <a:solidFill>
                      <a:srgbClr val="FAFBFC"/>
                    </a:solidFill>
                  </a:tcPr>
                </a:tc>
                <a:tc>
                  <a:txBody>
                    <a:bodyPr/>
                    <a:lstStyle/>
                    <a:p>
                      <a:pPr algn="ctr"/>
                      <a:r>
                        <a:rPr lang="en-IN">
                          <a:effectLst/>
                        </a:rPr>
                        <a:t>HR</a:t>
                      </a:r>
                    </a:p>
                  </a:txBody>
                  <a:tcPr anchor="ctr">
                    <a:lnL>
                      <a:noFill/>
                    </a:lnL>
                    <a:lnR>
                      <a:noFill/>
                    </a:lnR>
                    <a:lnT>
                      <a:noFill/>
                    </a:lnT>
                    <a:lnB>
                      <a:noFill/>
                    </a:lnB>
                    <a:solidFill>
                      <a:srgbClr val="FAFBFC"/>
                    </a:solidFill>
                  </a:tcPr>
                </a:tc>
                <a:tc>
                  <a:txBody>
                    <a:bodyPr/>
                    <a:lstStyle/>
                    <a:p>
                      <a:pPr algn="ctr"/>
                      <a:r>
                        <a:rPr lang="en-IN">
                          <a:effectLst/>
                        </a:rPr>
                        <a:t>03</a:t>
                      </a:r>
                    </a:p>
                  </a:txBody>
                  <a:tcPr anchor="ctr">
                    <a:lnL>
                      <a:noFill/>
                    </a:lnL>
                    <a:lnR>
                      <a:noFill/>
                    </a:lnR>
                    <a:lnT>
                      <a:noFill/>
                    </a:lnT>
                    <a:lnB>
                      <a:noFill/>
                    </a:lnB>
                    <a:solidFill>
                      <a:srgbClr val="FAFBFC"/>
                    </a:solidFill>
                  </a:tcPr>
                </a:tc>
                <a:extLst>
                  <a:ext uri="{0D108BD9-81ED-4DB2-BD59-A6C34878D82A}">
                    <a16:rowId xmlns:a16="http://schemas.microsoft.com/office/drawing/2014/main" val="4110703758"/>
                  </a:ext>
                </a:extLst>
              </a:tr>
              <a:tr h="951634">
                <a:tc>
                  <a:txBody>
                    <a:bodyPr/>
                    <a:lstStyle/>
                    <a:p>
                      <a:pPr algn="ctr"/>
                      <a:r>
                        <a:rPr lang="en-IN">
                          <a:effectLst/>
                        </a:rPr>
                        <a:t>E-2</a:t>
                      </a:r>
                    </a:p>
                  </a:txBody>
                  <a:tcPr anchor="ctr">
                    <a:lnL>
                      <a:noFill/>
                    </a:lnL>
                    <a:lnR>
                      <a:noFill/>
                    </a:lnR>
                    <a:lnT>
                      <a:noFill/>
                    </a:lnT>
                    <a:lnB>
                      <a:noFill/>
                    </a:lnB>
                    <a:solidFill>
                      <a:srgbClr val="FAFBFC"/>
                    </a:solidFill>
                  </a:tcPr>
                </a:tc>
                <a:tc>
                  <a:txBody>
                    <a:bodyPr/>
                    <a:lstStyle/>
                    <a:p>
                      <a:pPr algn="ctr"/>
                      <a:r>
                        <a:rPr lang="en-IN">
                          <a:effectLst/>
                        </a:rPr>
                        <a:t>Varun</a:t>
                      </a:r>
                    </a:p>
                  </a:txBody>
                  <a:tcPr anchor="ctr">
                    <a:lnL>
                      <a:noFill/>
                    </a:lnL>
                    <a:lnR>
                      <a:noFill/>
                    </a:lnR>
                    <a:lnT>
                      <a:noFill/>
                    </a:lnT>
                    <a:lnB>
                      <a:noFill/>
                    </a:lnB>
                    <a:solidFill>
                      <a:srgbClr val="FAFBFC"/>
                    </a:solidFill>
                  </a:tcPr>
                </a:tc>
                <a:tc>
                  <a:txBody>
                    <a:bodyPr/>
                    <a:lstStyle/>
                    <a:p>
                      <a:pPr algn="ctr"/>
                      <a:r>
                        <a:rPr lang="en-IN">
                          <a:effectLst/>
                        </a:rPr>
                        <a:t>Chandigarh</a:t>
                      </a:r>
                    </a:p>
                  </a:txBody>
                  <a:tcPr anchor="ctr">
                    <a:lnL>
                      <a:noFill/>
                    </a:lnL>
                    <a:lnR>
                      <a:noFill/>
                    </a:lnR>
                    <a:lnT>
                      <a:noFill/>
                    </a:lnT>
                    <a:lnB>
                      <a:noFill/>
                    </a:lnB>
                    <a:solidFill>
                      <a:srgbClr val="FAFBFC"/>
                    </a:solidFill>
                  </a:tcPr>
                </a:tc>
                <a:tc>
                  <a:txBody>
                    <a:bodyPr/>
                    <a:lstStyle/>
                    <a:p>
                      <a:pPr algn="ctr"/>
                      <a:r>
                        <a:rPr lang="en-IN">
                          <a:effectLst/>
                        </a:rPr>
                        <a:t>09</a:t>
                      </a:r>
                    </a:p>
                  </a:txBody>
                  <a:tcPr anchor="ctr">
                    <a:lnL>
                      <a:noFill/>
                    </a:lnL>
                    <a:lnR>
                      <a:noFill/>
                    </a:lnR>
                    <a:lnT>
                      <a:noFill/>
                    </a:lnT>
                    <a:lnB>
                      <a:noFill/>
                    </a:lnB>
                    <a:solidFill>
                      <a:srgbClr val="FAFBFC"/>
                    </a:solidFill>
                  </a:tcPr>
                </a:tc>
                <a:tc>
                  <a:txBody>
                    <a:bodyPr/>
                    <a:lstStyle/>
                    <a:p>
                      <a:pPr algn="ctr"/>
                      <a:r>
                        <a:rPr lang="en-IN">
                          <a:effectLst/>
                        </a:rPr>
                        <a:t>D-2</a:t>
                      </a:r>
                    </a:p>
                  </a:txBody>
                  <a:tcPr anchor="ctr">
                    <a:lnL>
                      <a:noFill/>
                    </a:lnL>
                    <a:lnR>
                      <a:noFill/>
                    </a:lnR>
                    <a:lnT>
                      <a:noFill/>
                    </a:lnT>
                    <a:lnB>
                      <a:noFill/>
                    </a:lnB>
                    <a:solidFill>
                      <a:srgbClr val="FAFBFC"/>
                    </a:solidFill>
                  </a:tcPr>
                </a:tc>
                <a:tc>
                  <a:txBody>
                    <a:bodyPr/>
                    <a:lstStyle/>
                    <a:p>
                      <a:pPr algn="ctr"/>
                      <a:r>
                        <a:rPr lang="en-IN">
                          <a:effectLst/>
                        </a:rPr>
                        <a:t>IT</a:t>
                      </a:r>
                    </a:p>
                  </a:txBody>
                  <a:tcPr anchor="ctr">
                    <a:lnL>
                      <a:noFill/>
                    </a:lnL>
                    <a:lnR>
                      <a:noFill/>
                    </a:lnR>
                    <a:lnT>
                      <a:noFill/>
                    </a:lnT>
                    <a:lnB>
                      <a:noFill/>
                    </a:lnB>
                    <a:solidFill>
                      <a:srgbClr val="FAFBFC"/>
                    </a:solidFill>
                  </a:tcPr>
                </a:tc>
                <a:tc>
                  <a:txBody>
                    <a:bodyPr/>
                    <a:lstStyle/>
                    <a:p>
                      <a:pPr algn="ctr"/>
                      <a:r>
                        <a:rPr lang="en-IN">
                          <a:effectLst/>
                        </a:rPr>
                        <a:t>05</a:t>
                      </a:r>
                    </a:p>
                  </a:txBody>
                  <a:tcPr anchor="ctr">
                    <a:lnL>
                      <a:noFill/>
                    </a:lnL>
                    <a:lnR>
                      <a:noFill/>
                    </a:lnR>
                    <a:lnT>
                      <a:noFill/>
                    </a:lnT>
                    <a:lnB>
                      <a:noFill/>
                    </a:lnB>
                    <a:solidFill>
                      <a:srgbClr val="FAFBFC"/>
                    </a:solidFill>
                  </a:tcPr>
                </a:tc>
                <a:extLst>
                  <a:ext uri="{0D108BD9-81ED-4DB2-BD59-A6C34878D82A}">
                    <a16:rowId xmlns:a16="http://schemas.microsoft.com/office/drawing/2014/main" val="1090046464"/>
                  </a:ext>
                </a:extLst>
              </a:tr>
              <a:tr h="951634">
                <a:tc>
                  <a:txBody>
                    <a:bodyPr/>
                    <a:lstStyle/>
                    <a:p>
                      <a:pPr algn="ctr"/>
                      <a:r>
                        <a:rPr lang="en-IN">
                          <a:effectLst/>
                        </a:rPr>
                        <a:t>E-3</a:t>
                      </a:r>
                    </a:p>
                  </a:txBody>
                  <a:tcPr anchor="ctr">
                    <a:lnL>
                      <a:noFill/>
                    </a:lnL>
                    <a:lnR>
                      <a:noFill/>
                    </a:lnR>
                    <a:lnT>
                      <a:noFill/>
                    </a:lnT>
                    <a:lnB>
                      <a:noFill/>
                    </a:lnB>
                    <a:solidFill>
                      <a:srgbClr val="FAFBFC"/>
                    </a:solidFill>
                  </a:tcPr>
                </a:tc>
                <a:tc>
                  <a:txBody>
                    <a:bodyPr/>
                    <a:lstStyle/>
                    <a:p>
                      <a:pPr algn="ctr"/>
                      <a:r>
                        <a:rPr lang="en-IN">
                          <a:effectLst/>
                        </a:rPr>
                        <a:t>Ravi</a:t>
                      </a:r>
                    </a:p>
                  </a:txBody>
                  <a:tcPr anchor="ctr">
                    <a:lnL>
                      <a:noFill/>
                    </a:lnL>
                    <a:lnR>
                      <a:noFill/>
                    </a:lnR>
                    <a:lnT>
                      <a:noFill/>
                    </a:lnT>
                    <a:lnB>
                      <a:noFill/>
                    </a:lnB>
                    <a:solidFill>
                      <a:srgbClr val="FAFBFC"/>
                    </a:solidFill>
                  </a:tcPr>
                </a:tc>
                <a:tc>
                  <a:txBody>
                    <a:bodyPr/>
                    <a:lstStyle/>
                    <a:p>
                      <a:pPr algn="ctr"/>
                      <a:r>
                        <a:rPr lang="en-IN">
                          <a:effectLst/>
                        </a:rPr>
                        <a:t>Noida</a:t>
                      </a:r>
                    </a:p>
                  </a:txBody>
                  <a:tcPr anchor="ctr">
                    <a:lnL>
                      <a:noFill/>
                    </a:lnL>
                    <a:lnR>
                      <a:noFill/>
                    </a:lnR>
                    <a:lnT>
                      <a:noFill/>
                    </a:lnT>
                    <a:lnB>
                      <a:noFill/>
                    </a:lnB>
                    <a:solidFill>
                      <a:srgbClr val="FAFBFC"/>
                    </a:solidFill>
                  </a:tcPr>
                </a:tc>
                <a:tc>
                  <a:txBody>
                    <a:bodyPr/>
                    <a:lstStyle/>
                    <a:p>
                      <a:pPr algn="ctr"/>
                      <a:r>
                        <a:rPr lang="en-IN">
                          <a:effectLst/>
                        </a:rPr>
                        <a:t>03</a:t>
                      </a:r>
                    </a:p>
                  </a:txBody>
                  <a:tcPr anchor="ctr">
                    <a:lnL>
                      <a:noFill/>
                    </a:lnL>
                    <a:lnR>
                      <a:noFill/>
                    </a:lnR>
                    <a:lnT>
                      <a:noFill/>
                    </a:lnT>
                    <a:lnB>
                      <a:noFill/>
                    </a:lnB>
                    <a:solidFill>
                      <a:srgbClr val="FAFBFC"/>
                    </a:solidFill>
                  </a:tcPr>
                </a:tc>
                <a:tc>
                  <a:txBody>
                    <a:bodyPr/>
                    <a:lstStyle/>
                    <a:p>
                      <a:pPr algn="ctr"/>
                      <a:r>
                        <a:rPr lang="en-IN">
                          <a:effectLst/>
                        </a:rPr>
                        <a:t>D-3</a:t>
                      </a:r>
                    </a:p>
                  </a:txBody>
                  <a:tcPr anchor="ctr">
                    <a:lnL>
                      <a:noFill/>
                    </a:lnL>
                    <a:lnR>
                      <a:noFill/>
                    </a:lnR>
                    <a:lnT>
                      <a:noFill/>
                    </a:lnT>
                    <a:lnB>
                      <a:noFill/>
                    </a:lnB>
                    <a:solidFill>
                      <a:srgbClr val="FAFBFC"/>
                    </a:solidFill>
                  </a:tcPr>
                </a:tc>
                <a:tc>
                  <a:txBody>
                    <a:bodyPr/>
                    <a:lstStyle/>
                    <a:p>
                      <a:pPr algn="ctr"/>
                      <a:r>
                        <a:rPr lang="en-IN">
                          <a:effectLst/>
                        </a:rPr>
                        <a:t>Marketing</a:t>
                      </a:r>
                    </a:p>
                  </a:txBody>
                  <a:tcPr anchor="ctr">
                    <a:lnL>
                      <a:noFill/>
                    </a:lnL>
                    <a:lnR>
                      <a:noFill/>
                    </a:lnR>
                    <a:lnT>
                      <a:noFill/>
                    </a:lnT>
                    <a:lnB>
                      <a:noFill/>
                    </a:lnB>
                    <a:solidFill>
                      <a:srgbClr val="FAFBFC"/>
                    </a:solidFill>
                  </a:tcPr>
                </a:tc>
                <a:tc>
                  <a:txBody>
                    <a:bodyPr/>
                    <a:lstStyle/>
                    <a:p>
                      <a:pPr algn="ctr"/>
                      <a:r>
                        <a:rPr lang="en-IN">
                          <a:effectLst/>
                        </a:rPr>
                        <a:t>02</a:t>
                      </a:r>
                    </a:p>
                  </a:txBody>
                  <a:tcPr anchor="ctr">
                    <a:lnL>
                      <a:noFill/>
                    </a:lnL>
                    <a:lnR>
                      <a:noFill/>
                    </a:lnR>
                    <a:lnT>
                      <a:noFill/>
                    </a:lnT>
                    <a:lnB>
                      <a:noFill/>
                    </a:lnB>
                    <a:solidFill>
                      <a:srgbClr val="FAFBFC"/>
                    </a:solidFill>
                  </a:tcPr>
                </a:tc>
                <a:extLst>
                  <a:ext uri="{0D108BD9-81ED-4DB2-BD59-A6C34878D82A}">
                    <a16:rowId xmlns:a16="http://schemas.microsoft.com/office/drawing/2014/main" val="316490413"/>
                  </a:ext>
                </a:extLst>
              </a:tr>
              <a:tr h="951634">
                <a:tc>
                  <a:txBody>
                    <a:bodyPr/>
                    <a:lstStyle/>
                    <a:p>
                      <a:pPr algn="ctr"/>
                      <a:r>
                        <a:rPr lang="en-IN">
                          <a:effectLst/>
                        </a:rPr>
                        <a:t>E-4</a:t>
                      </a:r>
                    </a:p>
                  </a:txBody>
                  <a:tcPr anchor="ctr">
                    <a:lnL>
                      <a:noFill/>
                    </a:lnL>
                    <a:lnR>
                      <a:noFill/>
                    </a:lnR>
                    <a:lnT>
                      <a:noFill/>
                    </a:lnT>
                    <a:lnB>
                      <a:noFill/>
                    </a:lnB>
                    <a:solidFill>
                      <a:srgbClr val="FAFBFC"/>
                    </a:solidFill>
                  </a:tcPr>
                </a:tc>
                <a:tc>
                  <a:txBody>
                    <a:bodyPr/>
                    <a:lstStyle/>
                    <a:p>
                      <a:pPr algn="ctr"/>
                      <a:r>
                        <a:rPr lang="en-IN">
                          <a:effectLst/>
                        </a:rPr>
                        <a:t>Amit</a:t>
                      </a:r>
                    </a:p>
                  </a:txBody>
                  <a:tcPr anchor="ctr">
                    <a:lnL>
                      <a:noFill/>
                    </a:lnL>
                    <a:lnR>
                      <a:noFill/>
                    </a:lnR>
                    <a:lnT>
                      <a:noFill/>
                    </a:lnT>
                    <a:lnB>
                      <a:noFill/>
                    </a:lnB>
                    <a:solidFill>
                      <a:srgbClr val="FAFBFC"/>
                    </a:solidFill>
                  </a:tcPr>
                </a:tc>
                <a:tc>
                  <a:txBody>
                    <a:bodyPr/>
                    <a:lstStyle/>
                    <a:p>
                      <a:pPr algn="ctr"/>
                      <a:r>
                        <a:rPr lang="en-IN">
                          <a:effectLst/>
                        </a:rPr>
                        <a:t>Bangalore</a:t>
                      </a:r>
                    </a:p>
                  </a:txBody>
                  <a:tcPr anchor="ctr">
                    <a:lnL>
                      <a:noFill/>
                    </a:lnL>
                    <a:lnR>
                      <a:noFill/>
                    </a:lnR>
                    <a:lnT>
                      <a:noFill/>
                    </a:lnT>
                    <a:lnB>
                      <a:noFill/>
                    </a:lnB>
                    <a:solidFill>
                      <a:srgbClr val="FAFBFC"/>
                    </a:solidFill>
                  </a:tcPr>
                </a:tc>
                <a:tc>
                  <a:txBody>
                    <a:bodyPr/>
                    <a:lstStyle/>
                    <a:p>
                      <a:pPr algn="ctr"/>
                      <a:r>
                        <a:rPr lang="en-IN">
                          <a:effectLst/>
                        </a:rPr>
                        <a:t>07</a:t>
                      </a:r>
                    </a:p>
                  </a:txBody>
                  <a:tcPr anchor="ctr">
                    <a:lnL>
                      <a:noFill/>
                    </a:lnL>
                    <a:lnR>
                      <a:noFill/>
                    </a:lnR>
                    <a:lnT>
                      <a:noFill/>
                    </a:lnT>
                    <a:lnB>
                      <a:noFill/>
                    </a:lnB>
                    <a:solidFill>
                      <a:srgbClr val="FAFBFC"/>
                    </a:solidFill>
                  </a:tcPr>
                </a:tc>
                <a:tc>
                  <a:txBody>
                    <a:bodyPr/>
                    <a:lstStyle/>
                    <a:p>
                      <a:pPr algn="ctr"/>
                      <a:r>
                        <a:rPr lang="en-IN" b="1" dirty="0">
                          <a:solidFill>
                            <a:schemeClr val="accent2">
                              <a:lumMod val="50000"/>
                            </a:schemeClr>
                          </a:solidFill>
                          <a:effectLst/>
                        </a:rPr>
                        <a:t>-</a:t>
                      </a:r>
                    </a:p>
                  </a:txBody>
                  <a:tcPr anchor="ctr">
                    <a:lnL>
                      <a:noFill/>
                    </a:lnL>
                    <a:lnR>
                      <a:noFill/>
                    </a:lnR>
                    <a:lnT>
                      <a:noFill/>
                    </a:lnT>
                    <a:lnB>
                      <a:noFill/>
                    </a:lnB>
                    <a:solidFill>
                      <a:srgbClr val="FAFBFC"/>
                    </a:solidFill>
                  </a:tcPr>
                </a:tc>
                <a:tc>
                  <a:txBody>
                    <a:bodyPr/>
                    <a:lstStyle/>
                    <a:p>
                      <a:pPr algn="ctr"/>
                      <a:r>
                        <a:rPr lang="en-IN" b="1" dirty="0">
                          <a:solidFill>
                            <a:schemeClr val="accent2">
                              <a:lumMod val="50000"/>
                            </a:schemeClr>
                          </a:solidFill>
                          <a:effectLst/>
                        </a:rPr>
                        <a:t>-</a:t>
                      </a:r>
                    </a:p>
                  </a:txBody>
                  <a:tcPr anchor="ctr">
                    <a:lnL>
                      <a:noFill/>
                    </a:lnL>
                    <a:lnR>
                      <a:noFill/>
                    </a:lnR>
                    <a:lnT>
                      <a:noFill/>
                    </a:lnT>
                    <a:lnB>
                      <a:noFill/>
                    </a:lnB>
                    <a:solidFill>
                      <a:srgbClr val="FAFBFC"/>
                    </a:solidFill>
                  </a:tcPr>
                </a:tc>
                <a:tc>
                  <a:txBody>
                    <a:bodyPr/>
                    <a:lstStyle/>
                    <a:p>
                      <a:pPr algn="ctr"/>
                      <a:r>
                        <a:rPr lang="en-IN" b="1" dirty="0">
                          <a:solidFill>
                            <a:schemeClr val="accent2">
                              <a:lumMod val="50000"/>
                            </a:schemeClr>
                          </a:solidFill>
                          <a:effectLst/>
                        </a:rPr>
                        <a:t>-</a:t>
                      </a:r>
                    </a:p>
                  </a:txBody>
                  <a:tcPr anchor="ctr">
                    <a:lnL>
                      <a:noFill/>
                    </a:lnL>
                    <a:lnR>
                      <a:noFill/>
                    </a:lnR>
                    <a:lnT>
                      <a:noFill/>
                    </a:lnT>
                    <a:lnB>
                      <a:noFill/>
                    </a:lnB>
                    <a:solidFill>
                      <a:srgbClr val="FAFBFC"/>
                    </a:solidFill>
                  </a:tcPr>
                </a:tc>
                <a:extLst>
                  <a:ext uri="{0D108BD9-81ED-4DB2-BD59-A6C34878D82A}">
                    <a16:rowId xmlns:a16="http://schemas.microsoft.com/office/drawing/2014/main" val="2443623812"/>
                  </a:ext>
                </a:extLst>
              </a:tr>
            </a:tbl>
          </a:graphicData>
        </a:graphic>
      </p:graphicFrame>
    </p:spTree>
    <p:extLst>
      <p:ext uri="{BB962C8B-B14F-4D97-AF65-F5344CB8AC3E}">
        <p14:creationId xmlns:p14="http://schemas.microsoft.com/office/powerpoint/2010/main" val="31514043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6635"/>
          </a:xfrm>
        </p:spPr>
        <p:txBody>
          <a:bodyPr>
            <a:normAutofit fontScale="90000"/>
          </a:bodyPr>
          <a:lstStyle/>
          <a:p>
            <a:endParaRPr lang="en-IN" dirty="0"/>
          </a:p>
        </p:txBody>
      </p:sp>
      <p:sp>
        <p:nvSpPr>
          <p:cNvPr id="3" name="Content Placeholder 2"/>
          <p:cNvSpPr>
            <a:spLocks noGrp="1"/>
          </p:cNvSpPr>
          <p:nvPr>
            <p:ph idx="1"/>
          </p:nvPr>
        </p:nvSpPr>
        <p:spPr/>
        <p:txBody>
          <a:bodyPr>
            <a:normAutofit fontScale="70000" lnSpcReduction="20000"/>
          </a:bodyPr>
          <a:lstStyle/>
          <a:p>
            <a:r>
              <a:rPr lang="en-US" dirty="0"/>
              <a:t>As you can see here, all the tuples from left, i.e., EMPLOYEE relation are present. But E-4 is not satisfying the given condition, i.e., E_NO from EMPLOYEE must be equal to E_NO from DEPARTMENT, still it is included in the output relation. This is because Outer Join also includes some/all the tuples which don't satisfy the condition. That's why Outer Join marked E-4's corresponding tuple/row from DEPARTMENT as NULL.</a:t>
            </a:r>
          </a:p>
          <a:p>
            <a:pPr marL="0" indent="0">
              <a:buNone/>
            </a:pPr>
            <a:r>
              <a:rPr lang="en-US" b="1" dirty="0"/>
              <a:t>Right Outer Join</a:t>
            </a:r>
          </a:p>
          <a:p>
            <a:r>
              <a:rPr lang="en-US" dirty="0"/>
              <a:t>Right Outer Join </a:t>
            </a:r>
            <a:r>
              <a:rPr lang="en-US" b="1" dirty="0"/>
              <a:t>returns the matching tuples and the tuples which are only present in Right Relation</a:t>
            </a:r>
            <a:r>
              <a:rPr lang="en-US" dirty="0"/>
              <a:t> here S.</a:t>
            </a:r>
          </a:p>
          <a:p>
            <a:r>
              <a:rPr lang="en-US" dirty="0"/>
              <a:t>The same happens with the Right Outer Join, if the matching tuples are NULL, then the attributes of Left Relation, here R are made NULL in the output relation.</a:t>
            </a:r>
          </a:p>
          <a:p>
            <a:r>
              <a:rPr lang="en-US" dirty="0"/>
              <a:t>We will combine EMPLOYEE and DEPARTMENT relations with the same constraint as above.</a:t>
            </a:r>
          </a:p>
          <a:p>
            <a:endParaRPr lang="en-IN" dirty="0"/>
          </a:p>
        </p:txBody>
      </p:sp>
    </p:spTree>
    <p:extLst>
      <p:ext uri="{BB962C8B-B14F-4D97-AF65-F5344CB8AC3E}">
        <p14:creationId xmlns:p14="http://schemas.microsoft.com/office/powerpoint/2010/main" val="38198975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
            </a:r>
            <a:br>
              <a:rPr lang="en-IN" dirty="0" smtClean="0"/>
            </a:br>
            <a:r>
              <a:rPr lang="en-IN" dirty="0" smtClean="0"/>
              <a:t>EMPLOYEE </a:t>
            </a:r>
            <a:r>
              <a:rPr lang="en-IN" dirty="0"/>
              <a:t>⟖EMPLOYEE.E_NO = DEPARTMENT.E_NO DEPARTMENT</a:t>
            </a:r>
            <a:br>
              <a:rPr lang="en-IN"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87727235"/>
              </p:ext>
            </p:extLst>
          </p:nvPr>
        </p:nvGraphicFramePr>
        <p:xfrm>
          <a:off x="457200" y="1995055"/>
          <a:ext cx="8229599" cy="3713018"/>
        </p:xfrm>
        <a:graphic>
          <a:graphicData uri="http://schemas.openxmlformats.org/drawingml/2006/table">
            <a:tbl>
              <a:tblPr/>
              <a:tblGrid>
                <a:gridCol w="1175657">
                  <a:extLst>
                    <a:ext uri="{9D8B030D-6E8A-4147-A177-3AD203B41FA5}">
                      <a16:colId xmlns:a16="http://schemas.microsoft.com/office/drawing/2014/main" val="2231354191"/>
                    </a:ext>
                  </a:extLst>
                </a:gridCol>
                <a:gridCol w="1175657">
                  <a:extLst>
                    <a:ext uri="{9D8B030D-6E8A-4147-A177-3AD203B41FA5}">
                      <a16:colId xmlns:a16="http://schemas.microsoft.com/office/drawing/2014/main" val="230736542"/>
                    </a:ext>
                  </a:extLst>
                </a:gridCol>
                <a:gridCol w="1175657">
                  <a:extLst>
                    <a:ext uri="{9D8B030D-6E8A-4147-A177-3AD203B41FA5}">
                      <a16:colId xmlns:a16="http://schemas.microsoft.com/office/drawing/2014/main" val="1504007798"/>
                    </a:ext>
                  </a:extLst>
                </a:gridCol>
                <a:gridCol w="1175657">
                  <a:extLst>
                    <a:ext uri="{9D8B030D-6E8A-4147-A177-3AD203B41FA5}">
                      <a16:colId xmlns:a16="http://schemas.microsoft.com/office/drawing/2014/main" val="538148184"/>
                    </a:ext>
                  </a:extLst>
                </a:gridCol>
                <a:gridCol w="1175657">
                  <a:extLst>
                    <a:ext uri="{9D8B030D-6E8A-4147-A177-3AD203B41FA5}">
                      <a16:colId xmlns:a16="http://schemas.microsoft.com/office/drawing/2014/main" val="682234686"/>
                    </a:ext>
                  </a:extLst>
                </a:gridCol>
                <a:gridCol w="1175657">
                  <a:extLst>
                    <a:ext uri="{9D8B030D-6E8A-4147-A177-3AD203B41FA5}">
                      <a16:colId xmlns:a16="http://schemas.microsoft.com/office/drawing/2014/main" val="906581254"/>
                    </a:ext>
                  </a:extLst>
                </a:gridCol>
                <a:gridCol w="1175657">
                  <a:extLst>
                    <a:ext uri="{9D8B030D-6E8A-4147-A177-3AD203B41FA5}">
                      <a16:colId xmlns:a16="http://schemas.microsoft.com/office/drawing/2014/main" val="683031682"/>
                    </a:ext>
                  </a:extLst>
                </a:gridCol>
              </a:tblGrid>
              <a:tr h="1181415">
                <a:tc>
                  <a:txBody>
                    <a:bodyPr/>
                    <a:lstStyle/>
                    <a:p>
                      <a:pPr algn="ctr"/>
                      <a:r>
                        <a:rPr lang="en-IN" b="1" dirty="0">
                          <a:solidFill>
                            <a:schemeClr val="tx2">
                              <a:lumMod val="60000"/>
                              <a:lumOff val="40000"/>
                            </a:schemeClr>
                          </a:solidFill>
                          <a:effectLst/>
                        </a:rPr>
                        <a:t>E_NO</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E_NAME</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CITY</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EXPERIENCE</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D_NO</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D_NAME</a:t>
                      </a:r>
                    </a:p>
                  </a:txBody>
                  <a:tcPr anchor="ctr">
                    <a:lnL>
                      <a:noFill/>
                    </a:lnL>
                    <a:lnR>
                      <a:noFill/>
                    </a:lnR>
                    <a:lnT>
                      <a:noFill/>
                    </a:lnT>
                    <a:lnB>
                      <a:noFill/>
                    </a:lnB>
                  </a:tcPr>
                </a:tc>
                <a:tc>
                  <a:txBody>
                    <a:bodyPr/>
                    <a:lstStyle/>
                    <a:p>
                      <a:pPr algn="ctr"/>
                      <a:r>
                        <a:rPr lang="en-IN" b="1" dirty="0">
                          <a:solidFill>
                            <a:schemeClr val="tx2">
                              <a:lumMod val="60000"/>
                              <a:lumOff val="40000"/>
                            </a:schemeClr>
                          </a:solidFill>
                          <a:effectLst/>
                        </a:rPr>
                        <a:t>MIN_EXPERIENCE</a:t>
                      </a:r>
                    </a:p>
                  </a:txBody>
                  <a:tcPr anchor="ctr">
                    <a:lnL>
                      <a:noFill/>
                    </a:lnL>
                    <a:lnR>
                      <a:noFill/>
                    </a:lnR>
                    <a:lnT>
                      <a:noFill/>
                    </a:lnT>
                    <a:lnB>
                      <a:noFill/>
                    </a:lnB>
                  </a:tcPr>
                </a:tc>
                <a:extLst>
                  <a:ext uri="{0D108BD9-81ED-4DB2-BD59-A6C34878D82A}">
                    <a16:rowId xmlns:a16="http://schemas.microsoft.com/office/drawing/2014/main" val="885253817"/>
                  </a:ext>
                </a:extLst>
              </a:tr>
              <a:tr h="675094">
                <a:tc>
                  <a:txBody>
                    <a:bodyPr/>
                    <a:lstStyle/>
                    <a:p>
                      <a:pPr algn="ctr"/>
                      <a:r>
                        <a:rPr lang="en-IN">
                          <a:effectLst/>
                        </a:rPr>
                        <a:t>E-1</a:t>
                      </a:r>
                    </a:p>
                  </a:txBody>
                  <a:tcPr anchor="ctr">
                    <a:lnL>
                      <a:noFill/>
                    </a:lnL>
                    <a:lnR>
                      <a:noFill/>
                    </a:lnR>
                    <a:lnT>
                      <a:noFill/>
                    </a:lnT>
                    <a:lnB>
                      <a:noFill/>
                    </a:lnB>
                  </a:tcPr>
                </a:tc>
                <a:tc>
                  <a:txBody>
                    <a:bodyPr/>
                    <a:lstStyle/>
                    <a:p>
                      <a:pPr algn="ctr"/>
                      <a:r>
                        <a:rPr lang="en-IN">
                          <a:effectLst/>
                        </a:rPr>
                        <a:t>Ram</a:t>
                      </a:r>
                    </a:p>
                  </a:txBody>
                  <a:tcPr anchor="ctr">
                    <a:lnL>
                      <a:noFill/>
                    </a:lnL>
                    <a:lnR>
                      <a:noFill/>
                    </a:lnR>
                    <a:lnT>
                      <a:noFill/>
                    </a:lnT>
                    <a:lnB>
                      <a:noFill/>
                    </a:lnB>
                  </a:tcPr>
                </a:tc>
                <a:tc>
                  <a:txBody>
                    <a:bodyPr/>
                    <a:lstStyle/>
                    <a:p>
                      <a:pPr algn="ctr"/>
                      <a:r>
                        <a:rPr lang="en-IN">
                          <a:effectLst/>
                        </a:rPr>
                        <a:t>Delhi</a:t>
                      </a:r>
                    </a:p>
                  </a:txBody>
                  <a:tcPr anchor="ctr">
                    <a:lnL>
                      <a:noFill/>
                    </a:lnL>
                    <a:lnR>
                      <a:noFill/>
                    </a:lnR>
                    <a:lnT>
                      <a:noFill/>
                    </a:lnT>
                    <a:lnB>
                      <a:noFill/>
                    </a:lnB>
                  </a:tcPr>
                </a:tc>
                <a:tc>
                  <a:txBody>
                    <a:bodyPr/>
                    <a:lstStyle/>
                    <a:p>
                      <a:pPr algn="ctr"/>
                      <a:r>
                        <a:rPr lang="en-IN">
                          <a:effectLst/>
                        </a:rPr>
                        <a:t>04</a:t>
                      </a:r>
                    </a:p>
                  </a:txBody>
                  <a:tcPr anchor="ctr">
                    <a:lnL>
                      <a:noFill/>
                    </a:lnL>
                    <a:lnR>
                      <a:noFill/>
                    </a:lnR>
                    <a:lnT>
                      <a:noFill/>
                    </a:lnT>
                    <a:lnB>
                      <a:noFill/>
                    </a:lnB>
                  </a:tcPr>
                </a:tc>
                <a:tc>
                  <a:txBody>
                    <a:bodyPr/>
                    <a:lstStyle/>
                    <a:p>
                      <a:pPr algn="ctr"/>
                      <a:r>
                        <a:rPr lang="en-IN">
                          <a:effectLst/>
                        </a:rPr>
                        <a:t>D-1</a:t>
                      </a:r>
                    </a:p>
                  </a:txBody>
                  <a:tcPr anchor="ctr">
                    <a:lnL>
                      <a:noFill/>
                    </a:lnL>
                    <a:lnR>
                      <a:noFill/>
                    </a:lnR>
                    <a:lnT>
                      <a:noFill/>
                    </a:lnT>
                    <a:lnB>
                      <a:noFill/>
                    </a:lnB>
                  </a:tcPr>
                </a:tc>
                <a:tc>
                  <a:txBody>
                    <a:bodyPr/>
                    <a:lstStyle/>
                    <a:p>
                      <a:pPr algn="ctr"/>
                      <a:r>
                        <a:rPr lang="en-IN" dirty="0">
                          <a:effectLst/>
                        </a:rPr>
                        <a:t>HR</a:t>
                      </a:r>
                    </a:p>
                  </a:txBody>
                  <a:tcPr anchor="ctr">
                    <a:lnL>
                      <a:noFill/>
                    </a:lnL>
                    <a:lnR>
                      <a:noFill/>
                    </a:lnR>
                    <a:lnT>
                      <a:noFill/>
                    </a:lnT>
                    <a:lnB>
                      <a:noFill/>
                    </a:lnB>
                  </a:tcPr>
                </a:tc>
                <a:tc>
                  <a:txBody>
                    <a:bodyPr/>
                    <a:lstStyle/>
                    <a:p>
                      <a:pPr algn="ctr"/>
                      <a:r>
                        <a:rPr lang="en-IN" dirty="0">
                          <a:effectLst/>
                        </a:rPr>
                        <a:t>03</a:t>
                      </a:r>
                    </a:p>
                  </a:txBody>
                  <a:tcPr anchor="ctr">
                    <a:lnL>
                      <a:noFill/>
                    </a:lnL>
                    <a:lnR>
                      <a:noFill/>
                    </a:lnR>
                    <a:lnT>
                      <a:noFill/>
                    </a:lnT>
                    <a:lnB>
                      <a:noFill/>
                    </a:lnB>
                  </a:tcPr>
                </a:tc>
                <a:extLst>
                  <a:ext uri="{0D108BD9-81ED-4DB2-BD59-A6C34878D82A}">
                    <a16:rowId xmlns:a16="http://schemas.microsoft.com/office/drawing/2014/main" val="1261755340"/>
                  </a:ext>
                </a:extLst>
              </a:tr>
              <a:tr h="1181415">
                <a:tc>
                  <a:txBody>
                    <a:bodyPr/>
                    <a:lstStyle/>
                    <a:p>
                      <a:pPr algn="ctr"/>
                      <a:r>
                        <a:rPr lang="en-IN">
                          <a:effectLst/>
                        </a:rPr>
                        <a:t>E-2</a:t>
                      </a:r>
                    </a:p>
                  </a:txBody>
                  <a:tcPr anchor="ctr">
                    <a:lnL>
                      <a:noFill/>
                    </a:lnL>
                    <a:lnR>
                      <a:noFill/>
                    </a:lnR>
                    <a:lnT>
                      <a:noFill/>
                    </a:lnT>
                    <a:lnB>
                      <a:noFill/>
                    </a:lnB>
                  </a:tcPr>
                </a:tc>
                <a:tc>
                  <a:txBody>
                    <a:bodyPr/>
                    <a:lstStyle/>
                    <a:p>
                      <a:pPr algn="ctr"/>
                      <a:r>
                        <a:rPr lang="en-IN">
                          <a:effectLst/>
                        </a:rPr>
                        <a:t>Varun</a:t>
                      </a:r>
                    </a:p>
                  </a:txBody>
                  <a:tcPr anchor="ctr">
                    <a:lnL>
                      <a:noFill/>
                    </a:lnL>
                    <a:lnR>
                      <a:noFill/>
                    </a:lnR>
                    <a:lnT>
                      <a:noFill/>
                    </a:lnT>
                    <a:lnB>
                      <a:noFill/>
                    </a:lnB>
                  </a:tcPr>
                </a:tc>
                <a:tc>
                  <a:txBody>
                    <a:bodyPr/>
                    <a:lstStyle/>
                    <a:p>
                      <a:pPr algn="ctr"/>
                      <a:r>
                        <a:rPr lang="en-IN">
                          <a:effectLst/>
                        </a:rPr>
                        <a:t>Chandigarh</a:t>
                      </a:r>
                    </a:p>
                  </a:txBody>
                  <a:tcPr anchor="ctr">
                    <a:lnL>
                      <a:noFill/>
                    </a:lnL>
                    <a:lnR>
                      <a:noFill/>
                    </a:lnR>
                    <a:lnT>
                      <a:noFill/>
                    </a:lnT>
                    <a:lnB>
                      <a:noFill/>
                    </a:lnB>
                  </a:tcPr>
                </a:tc>
                <a:tc>
                  <a:txBody>
                    <a:bodyPr/>
                    <a:lstStyle/>
                    <a:p>
                      <a:pPr algn="ctr"/>
                      <a:r>
                        <a:rPr lang="en-IN">
                          <a:effectLst/>
                        </a:rPr>
                        <a:t>09</a:t>
                      </a:r>
                    </a:p>
                  </a:txBody>
                  <a:tcPr anchor="ctr">
                    <a:lnL>
                      <a:noFill/>
                    </a:lnL>
                    <a:lnR>
                      <a:noFill/>
                    </a:lnR>
                    <a:lnT>
                      <a:noFill/>
                    </a:lnT>
                    <a:lnB>
                      <a:noFill/>
                    </a:lnB>
                  </a:tcPr>
                </a:tc>
                <a:tc>
                  <a:txBody>
                    <a:bodyPr/>
                    <a:lstStyle/>
                    <a:p>
                      <a:pPr algn="ctr"/>
                      <a:r>
                        <a:rPr lang="en-IN">
                          <a:effectLst/>
                        </a:rPr>
                        <a:t>D-2</a:t>
                      </a:r>
                    </a:p>
                  </a:txBody>
                  <a:tcPr anchor="ctr">
                    <a:lnL>
                      <a:noFill/>
                    </a:lnL>
                    <a:lnR>
                      <a:noFill/>
                    </a:lnR>
                    <a:lnT>
                      <a:noFill/>
                    </a:lnT>
                    <a:lnB>
                      <a:noFill/>
                    </a:lnB>
                  </a:tcPr>
                </a:tc>
                <a:tc>
                  <a:txBody>
                    <a:bodyPr/>
                    <a:lstStyle/>
                    <a:p>
                      <a:pPr algn="ctr"/>
                      <a:r>
                        <a:rPr lang="en-IN">
                          <a:effectLst/>
                        </a:rPr>
                        <a:t>IT</a:t>
                      </a:r>
                    </a:p>
                  </a:txBody>
                  <a:tcPr anchor="ctr">
                    <a:lnL>
                      <a:noFill/>
                    </a:lnL>
                    <a:lnR>
                      <a:noFill/>
                    </a:lnR>
                    <a:lnT>
                      <a:noFill/>
                    </a:lnT>
                    <a:lnB>
                      <a:noFill/>
                    </a:lnB>
                  </a:tcPr>
                </a:tc>
                <a:tc>
                  <a:txBody>
                    <a:bodyPr/>
                    <a:lstStyle/>
                    <a:p>
                      <a:pPr algn="ctr"/>
                      <a:r>
                        <a:rPr lang="en-IN">
                          <a:effectLst/>
                        </a:rPr>
                        <a:t>05</a:t>
                      </a:r>
                    </a:p>
                  </a:txBody>
                  <a:tcPr anchor="ctr">
                    <a:lnL>
                      <a:noFill/>
                    </a:lnL>
                    <a:lnR>
                      <a:noFill/>
                    </a:lnR>
                    <a:lnT>
                      <a:noFill/>
                    </a:lnT>
                    <a:lnB>
                      <a:noFill/>
                    </a:lnB>
                  </a:tcPr>
                </a:tc>
                <a:extLst>
                  <a:ext uri="{0D108BD9-81ED-4DB2-BD59-A6C34878D82A}">
                    <a16:rowId xmlns:a16="http://schemas.microsoft.com/office/drawing/2014/main" val="1431364874"/>
                  </a:ext>
                </a:extLst>
              </a:tr>
              <a:tr h="675094">
                <a:tc>
                  <a:txBody>
                    <a:bodyPr/>
                    <a:lstStyle/>
                    <a:p>
                      <a:pPr algn="ctr"/>
                      <a:r>
                        <a:rPr lang="en-IN">
                          <a:effectLst/>
                        </a:rPr>
                        <a:t>E-3</a:t>
                      </a:r>
                    </a:p>
                  </a:txBody>
                  <a:tcPr anchor="ctr">
                    <a:lnL>
                      <a:noFill/>
                    </a:lnL>
                    <a:lnR>
                      <a:noFill/>
                    </a:lnR>
                    <a:lnT>
                      <a:noFill/>
                    </a:lnT>
                    <a:lnB>
                      <a:noFill/>
                    </a:lnB>
                  </a:tcPr>
                </a:tc>
                <a:tc>
                  <a:txBody>
                    <a:bodyPr/>
                    <a:lstStyle/>
                    <a:p>
                      <a:pPr algn="ctr"/>
                      <a:r>
                        <a:rPr lang="en-IN">
                          <a:effectLst/>
                        </a:rPr>
                        <a:t>Ravi</a:t>
                      </a:r>
                    </a:p>
                  </a:txBody>
                  <a:tcPr anchor="ctr">
                    <a:lnL>
                      <a:noFill/>
                    </a:lnL>
                    <a:lnR>
                      <a:noFill/>
                    </a:lnR>
                    <a:lnT>
                      <a:noFill/>
                    </a:lnT>
                    <a:lnB>
                      <a:noFill/>
                    </a:lnB>
                  </a:tcPr>
                </a:tc>
                <a:tc>
                  <a:txBody>
                    <a:bodyPr/>
                    <a:lstStyle/>
                    <a:p>
                      <a:pPr algn="ctr"/>
                      <a:r>
                        <a:rPr lang="en-IN">
                          <a:effectLst/>
                        </a:rPr>
                        <a:t>Noida</a:t>
                      </a:r>
                    </a:p>
                  </a:txBody>
                  <a:tcPr anchor="ctr">
                    <a:lnL>
                      <a:noFill/>
                    </a:lnL>
                    <a:lnR>
                      <a:noFill/>
                    </a:lnR>
                    <a:lnT>
                      <a:noFill/>
                    </a:lnT>
                    <a:lnB>
                      <a:noFill/>
                    </a:lnB>
                  </a:tcPr>
                </a:tc>
                <a:tc>
                  <a:txBody>
                    <a:bodyPr/>
                    <a:lstStyle/>
                    <a:p>
                      <a:pPr algn="ctr"/>
                      <a:r>
                        <a:rPr lang="en-IN">
                          <a:effectLst/>
                        </a:rPr>
                        <a:t>03</a:t>
                      </a:r>
                    </a:p>
                  </a:txBody>
                  <a:tcPr anchor="ctr">
                    <a:lnL>
                      <a:noFill/>
                    </a:lnL>
                    <a:lnR>
                      <a:noFill/>
                    </a:lnR>
                    <a:lnT>
                      <a:noFill/>
                    </a:lnT>
                    <a:lnB>
                      <a:noFill/>
                    </a:lnB>
                  </a:tcPr>
                </a:tc>
                <a:tc>
                  <a:txBody>
                    <a:bodyPr/>
                    <a:lstStyle/>
                    <a:p>
                      <a:pPr algn="ctr"/>
                      <a:r>
                        <a:rPr lang="en-IN">
                          <a:effectLst/>
                        </a:rPr>
                        <a:t>D-3</a:t>
                      </a:r>
                    </a:p>
                  </a:txBody>
                  <a:tcPr anchor="ctr">
                    <a:lnL>
                      <a:noFill/>
                    </a:lnL>
                    <a:lnR>
                      <a:noFill/>
                    </a:lnR>
                    <a:lnT>
                      <a:noFill/>
                    </a:lnT>
                    <a:lnB>
                      <a:noFill/>
                    </a:lnB>
                  </a:tcPr>
                </a:tc>
                <a:tc>
                  <a:txBody>
                    <a:bodyPr/>
                    <a:lstStyle/>
                    <a:p>
                      <a:pPr algn="ctr"/>
                      <a:r>
                        <a:rPr lang="en-IN">
                          <a:effectLst/>
                        </a:rPr>
                        <a:t>Marketing</a:t>
                      </a:r>
                    </a:p>
                  </a:txBody>
                  <a:tcPr anchor="ctr">
                    <a:lnL>
                      <a:noFill/>
                    </a:lnL>
                    <a:lnR>
                      <a:noFill/>
                    </a:lnR>
                    <a:lnT>
                      <a:noFill/>
                    </a:lnT>
                    <a:lnB>
                      <a:noFill/>
                    </a:lnB>
                  </a:tcPr>
                </a:tc>
                <a:tc>
                  <a:txBody>
                    <a:bodyPr/>
                    <a:lstStyle/>
                    <a:p>
                      <a:pPr algn="ctr"/>
                      <a:r>
                        <a:rPr lang="en-IN" dirty="0">
                          <a:effectLst/>
                        </a:rPr>
                        <a:t>02</a:t>
                      </a:r>
                    </a:p>
                  </a:txBody>
                  <a:tcPr anchor="ctr">
                    <a:lnL>
                      <a:noFill/>
                    </a:lnL>
                    <a:lnR>
                      <a:noFill/>
                    </a:lnR>
                    <a:lnT>
                      <a:noFill/>
                    </a:lnT>
                    <a:lnB>
                      <a:noFill/>
                    </a:lnB>
                  </a:tcPr>
                </a:tc>
                <a:extLst>
                  <a:ext uri="{0D108BD9-81ED-4DB2-BD59-A6C34878D82A}">
                    <a16:rowId xmlns:a16="http://schemas.microsoft.com/office/drawing/2014/main" val="1040229153"/>
                  </a:ext>
                </a:extLst>
              </a:tr>
            </a:tbl>
          </a:graphicData>
        </a:graphic>
      </p:graphicFrame>
    </p:spTree>
    <p:extLst>
      <p:ext uri="{BB962C8B-B14F-4D97-AF65-F5344CB8AC3E}">
        <p14:creationId xmlns:p14="http://schemas.microsoft.com/office/powerpoint/2010/main" val="15863097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a:bodyPr>
          <a:lstStyle/>
          <a:p>
            <a:r>
              <a:rPr lang="en-US" b="1" dirty="0"/>
              <a:t>Full Outer Join</a:t>
            </a:r>
          </a:p>
          <a:p>
            <a:r>
              <a:rPr lang="en-US" dirty="0"/>
              <a:t>Full Outer Join </a:t>
            </a:r>
            <a:r>
              <a:rPr lang="en-US" b="1" dirty="0"/>
              <a:t>returns all the tuples from both relations</a:t>
            </a:r>
            <a:r>
              <a:rPr lang="en-US" dirty="0"/>
              <a:t>. However, if there are no matching tuples then, their respective attributes are made NULL in output relation.</a:t>
            </a:r>
          </a:p>
          <a:p>
            <a:r>
              <a:rPr lang="en-US" dirty="0"/>
              <a:t>Again, combine the EMPLOYEE and DEPARTMENT relation with the same constraint.</a:t>
            </a:r>
          </a:p>
          <a:p>
            <a:pPr marL="0" indent="0">
              <a:buNone/>
            </a:pPr>
            <a:r>
              <a:rPr lang="en-IN" dirty="0" smtClean="0"/>
              <a:t>Ex-EMPLOYEE </a:t>
            </a:r>
            <a:r>
              <a:rPr lang="en-IN" dirty="0"/>
              <a:t>⟗EMPLOYEE.E_NO = DEPARTMENT.E_NO DEPARTMENT</a:t>
            </a:r>
          </a:p>
          <a:p>
            <a:endParaRPr lang="en-IN" dirty="0"/>
          </a:p>
        </p:txBody>
      </p:sp>
    </p:spTree>
    <p:extLst>
      <p:ext uri="{BB962C8B-B14F-4D97-AF65-F5344CB8AC3E}">
        <p14:creationId xmlns:p14="http://schemas.microsoft.com/office/powerpoint/2010/main" val="16623824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5907"/>
          </a:xfrm>
        </p:spPr>
        <p:txBody>
          <a:bodyPr>
            <a:normAutofit fontScale="90000"/>
          </a:bodyPr>
          <a:lstStyle/>
          <a:p>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04698980"/>
              </p:ext>
            </p:extLst>
          </p:nvPr>
        </p:nvGraphicFramePr>
        <p:xfrm>
          <a:off x="124690" y="1219200"/>
          <a:ext cx="8853054" cy="5278581"/>
        </p:xfrm>
        <a:graphic>
          <a:graphicData uri="http://schemas.openxmlformats.org/drawingml/2006/table">
            <a:tbl>
              <a:tblPr/>
              <a:tblGrid>
                <a:gridCol w="1264722">
                  <a:extLst>
                    <a:ext uri="{9D8B030D-6E8A-4147-A177-3AD203B41FA5}">
                      <a16:colId xmlns:a16="http://schemas.microsoft.com/office/drawing/2014/main" val="3946015284"/>
                    </a:ext>
                  </a:extLst>
                </a:gridCol>
                <a:gridCol w="1264722">
                  <a:extLst>
                    <a:ext uri="{9D8B030D-6E8A-4147-A177-3AD203B41FA5}">
                      <a16:colId xmlns:a16="http://schemas.microsoft.com/office/drawing/2014/main" val="844883909"/>
                    </a:ext>
                  </a:extLst>
                </a:gridCol>
                <a:gridCol w="1264722">
                  <a:extLst>
                    <a:ext uri="{9D8B030D-6E8A-4147-A177-3AD203B41FA5}">
                      <a16:colId xmlns:a16="http://schemas.microsoft.com/office/drawing/2014/main" val="3742717011"/>
                    </a:ext>
                  </a:extLst>
                </a:gridCol>
                <a:gridCol w="1264722">
                  <a:extLst>
                    <a:ext uri="{9D8B030D-6E8A-4147-A177-3AD203B41FA5}">
                      <a16:colId xmlns:a16="http://schemas.microsoft.com/office/drawing/2014/main" val="3150178438"/>
                    </a:ext>
                  </a:extLst>
                </a:gridCol>
                <a:gridCol w="1264722">
                  <a:extLst>
                    <a:ext uri="{9D8B030D-6E8A-4147-A177-3AD203B41FA5}">
                      <a16:colId xmlns:a16="http://schemas.microsoft.com/office/drawing/2014/main" val="1330451357"/>
                    </a:ext>
                  </a:extLst>
                </a:gridCol>
                <a:gridCol w="1264722">
                  <a:extLst>
                    <a:ext uri="{9D8B030D-6E8A-4147-A177-3AD203B41FA5}">
                      <a16:colId xmlns:a16="http://schemas.microsoft.com/office/drawing/2014/main" val="3321515596"/>
                    </a:ext>
                  </a:extLst>
                </a:gridCol>
                <a:gridCol w="1264722">
                  <a:extLst>
                    <a:ext uri="{9D8B030D-6E8A-4147-A177-3AD203B41FA5}">
                      <a16:colId xmlns:a16="http://schemas.microsoft.com/office/drawing/2014/main" val="5872203"/>
                    </a:ext>
                  </a:extLst>
                </a:gridCol>
              </a:tblGrid>
              <a:tr h="1421157">
                <a:tc>
                  <a:txBody>
                    <a:bodyPr/>
                    <a:lstStyle/>
                    <a:p>
                      <a:pPr algn="ctr"/>
                      <a:r>
                        <a:rPr lang="en-IN" b="1" i="1" dirty="0">
                          <a:solidFill>
                            <a:schemeClr val="tx2">
                              <a:lumMod val="60000"/>
                              <a:lumOff val="40000"/>
                            </a:schemeClr>
                          </a:solidFill>
                          <a:effectLst/>
                        </a:rPr>
                        <a:t>E_NO</a:t>
                      </a:r>
                    </a:p>
                  </a:txBody>
                  <a:tcPr anchor="ctr">
                    <a:lnL>
                      <a:noFill/>
                    </a:lnL>
                    <a:lnR>
                      <a:noFill/>
                    </a:lnR>
                    <a:lnT>
                      <a:noFill/>
                    </a:lnT>
                    <a:lnB>
                      <a:noFill/>
                    </a:lnB>
                  </a:tcPr>
                </a:tc>
                <a:tc>
                  <a:txBody>
                    <a:bodyPr/>
                    <a:lstStyle/>
                    <a:p>
                      <a:pPr algn="ctr"/>
                      <a:r>
                        <a:rPr lang="en-IN" b="1" i="1" dirty="0">
                          <a:solidFill>
                            <a:schemeClr val="tx2">
                              <a:lumMod val="60000"/>
                              <a:lumOff val="40000"/>
                            </a:schemeClr>
                          </a:solidFill>
                          <a:effectLst/>
                        </a:rPr>
                        <a:t>E_NAME</a:t>
                      </a:r>
                    </a:p>
                  </a:txBody>
                  <a:tcPr anchor="ctr">
                    <a:lnL>
                      <a:noFill/>
                    </a:lnL>
                    <a:lnR>
                      <a:noFill/>
                    </a:lnR>
                    <a:lnT>
                      <a:noFill/>
                    </a:lnT>
                    <a:lnB>
                      <a:noFill/>
                    </a:lnB>
                  </a:tcPr>
                </a:tc>
                <a:tc>
                  <a:txBody>
                    <a:bodyPr/>
                    <a:lstStyle/>
                    <a:p>
                      <a:pPr algn="ctr"/>
                      <a:r>
                        <a:rPr lang="en-IN" b="1" i="1" dirty="0">
                          <a:solidFill>
                            <a:schemeClr val="tx2">
                              <a:lumMod val="60000"/>
                              <a:lumOff val="40000"/>
                            </a:schemeClr>
                          </a:solidFill>
                          <a:effectLst/>
                        </a:rPr>
                        <a:t>CITY</a:t>
                      </a:r>
                    </a:p>
                  </a:txBody>
                  <a:tcPr anchor="ctr">
                    <a:lnL>
                      <a:noFill/>
                    </a:lnL>
                    <a:lnR>
                      <a:noFill/>
                    </a:lnR>
                    <a:lnT>
                      <a:noFill/>
                    </a:lnT>
                    <a:lnB>
                      <a:noFill/>
                    </a:lnB>
                  </a:tcPr>
                </a:tc>
                <a:tc>
                  <a:txBody>
                    <a:bodyPr/>
                    <a:lstStyle/>
                    <a:p>
                      <a:pPr algn="ctr"/>
                      <a:r>
                        <a:rPr lang="en-IN" b="1" i="1" dirty="0">
                          <a:solidFill>
                            <a:schemeClr val="tx2">
                              <a:lumMod val="60000"/>
                              <a:lumOff val="40000"/>
                            </a:schemeClr>
                          </a:solidFill>
                          <a:effectLst/>
                        </a:rPr>
                        <a:t>EXPERIENCE</a:t>
                      </a:r>
                    </a:p>
                  </a:txBody>
                  <a:tcPr anchor="ctr">
                    <a:lnL>
                      <a:noFill/>
                    </a:lnL>
                    <a:lnR>
                      <a:noFill/>
                    </a:lnR>
                    <a:lnT>
                      <a:noFill/>
                    </a:lnT>
                    <a:lnB>
                      <a:noFill/>
                    </a:lnB>
                  </a:tcPr>
                </a:tc>
                <a:tc>
                  <a:txBody>
                    <a:bodyPr/>
                    <a:lstStyle/>
                    <a:p>
                      <a:pPr algn="ctr"/>
                      <a:r>
                        <a:rPr lang="en-IN" b="1" i="1" dirty="0">
                          <a:solidFill>
                            <a:schemeClr val="tx2">
                              <a:lumMod val="60000"/>
                              <a:lumOff val="40000"/>
                            </a:schemeClr>
                          </a:solidFill>
                          <a:effectLst/>
                        </a:rPr>
                        <a:t>D_NO</a:t>
                      </a:r>
                    </a:p>
                  </a:txBody>
                  <a:tcPr anchor="ctr">
                    <a:lnL>
                      <a:noFill/>
                    </a:lnL>
                    <a:lnR>
                      <a:noFill/>
                    </a:lnR>
                    <a:lnT>
                      <a:noFill/>
                    </a:lnT>
                    <a:lnB>
                      <a:noFill/>
                    </a:lnB>
                  </a:tcPr>
                </a:tc>
                <a:tc>
                  <a:txBody>
                    <a:bodyPr/>
                    <a:lstStyle/>
                    <a:p>
                      <a:pPr algn="ctr"/>
                      <a:r>
                        <a:rPr lang="en-IN" b="1" i="1" dirty="0">
                          <a:solidFill>
                            <a:schemeClr val="tx2">
                              <a:lumMod val="60000"/>
                              <a:lumOff val="40000"/>
                            </a:schemeClr>
                          </a:solidFill>
                          <a:effectLst/>
                        </a:rPr>
                        <a:t>D_NAME</a:t>
                      </a:r>
                    </a:p>
                  </a:txBody>
                  <a:tcPr anchor="ctr">
                    <a:lnL>
                      <a:noFill/>
                    </a:lnL>
                    <a:lnR>
                      <a:noFill/>
                    </a:lnR>
                    <a:lnT>
                      <a:noFill/>
                    </a:lnT>
                    <a:lnB>
                      <a:noFill/>
                    </a:lnB>
                  </a:tcPr>
                </a:tc>
                <a:tc>
                  <a:txBody>
                    <a:bodyPr/>
                    <a:lstStyle/>
                    <a:p>
                      <a:pPr algn="ctr"/>
                      <a:r>
                        <a:rPr lang="en-IN" b="1" i="1" dirty="0">
                          <a:solidFill>
                            <a:schemeClr val="tx2">
                              <a:lumMod val="60000"/>
                              <a:lumOff val="40000"/>
                            </a:schemeClr>
                          </a:solidFill>
                          <a:effectLst/>
                        </a:rPr>
                        <a:t>MIN_EXPERIENCE</a:t>
                      </a:r>
                    </a:p>
                  </a:txBody>
                  <a:tcPr anchor="ctr">
                    <a:lnL>
                      <a:noFill/>
                    </a:lnL>
                    <a:lnR>
                      <a:noFill/>
                    </a:lnR>
                    <a:lnT>
                      <a:noFill/>
                    </a:lnT>
                    <a:lnB>
                      <a:noFill/>
                    </a:lnB>
                  </a:tcPr>
                </a:tc>
                <a:extLst>
                  <a:ext uri="{0D108BD9-81ED-4DB2-BD59-A6C34878D82A}">
                    <a16:rowId xmlns:a16="http://schemas.microsoft.com/office/drawing/2014/main" val="3181688956"/>
                  </a:ext>
                </a:extLst>
              </a:tr>
              <a:tr h="812089">
                <a:tc>
                  <a:txBody>
                    <a:bodyPr/>
                    <a:lstStyle/>
                    <a:p>
                      <a:pPr algn="ctr"/>
                      <a:r>
                        <a:rPr lang="en-IN">
                          <a:effectLst/>
                        </a:rPr>
                        <a:t>E-1</a:t>
                      </a:r>
                    </a:p>
                  </a:txBody>
                  <a:tcPr anchor="ctr">
                    <a:lnL>
                      <a:noFill/>
                    </a:lnL>
                    <a:lnR>
                      <a:noFill/>
                    </a:lnR>
                    <a:lnT>
                      <a:noFill/>
                    </a:lnT>
                    <a:lnB>
                      <a:noFill/>
                    </a:lnB>
                  </a:tcPr>
                </a:tc>
                <a:tc>
                  <a:txBody>
                    <a:bodyPr/>
                    <a:lstStyle/>
                    <a:p>
                      <a:pPr algn="ctr"/>
                      <a:r>
                        <a:rPr lang="en-IN">
                          <a:effectLst/>
                        </a:rPr>
                        <a:t>Ram</a:t>
                      </a:r>
                    </a:p>
                  </a:txBody>
                  <a:tcPr anchor="ctr">
                    <a:lnL>
                      <a:noFill/>
                    </a:lnL>
                    <a:lnR>
                      <a:noFill/>
                    </a:lnR>
                    <a:lnT>
                      <a:noFill/>
                    </a:lnT>
                    <a:lnB>
                      <a:noFill/>
                    </a:lnB>
                  </a:tcPr>
                </a:tc>
                <a:tc>
                  <a:txBody>
                    <a:bodyPr/>
                    <a:lstStyle/>
                    <a:p>
                      <a:pPr algn="ctr"/>
                      <a:r>
                        <a:rPr lang="en-IN">
                          <a:effectLst/>
                        </a:rPr>
                        <a:t>Delhi</a:t>
                      </a:r>
                    </a:p>
                  </a:txBody>
                  <a:tcPr anchor="ctr">
                    <a:lnL>
                      <a:noFill/>
                    </a:lnL>
                    <a:lnR>
                      <a:noFill/>
                    </a:lnR>
                    <a:lnT>
                      <a:noFill/>
                    </a:lnT>
                    <a:lnB>
                      <a:noFill/>
                    </a:lnB>
                  </a:tcPr>
                </a:tc>
                <a:tc>
                  <a:txBody>
                    <a:bodyPr/>
                    <a:lstStyle/>
                    <a:p>
                      <a:pPr algn="ctr"/>
                      <a:r>
                        <a:rPr lang="en-IN">
                          <a:effectLst/>
                        </a:rPr>
                        <a:t>04</a:t>
                      </a:r>
                    </a:p>
                  </a:txBody>
                  <a:tcPr anchor="ctr">
                    <a:lnL>
                      <a:noFill/>
                    </a:lnL>
                    <a:lnR>
                      <a:noFill/>
                    </a:lnR>
                    <a:lnT>
                      <a:noFill/>
                    </a:lnT>
                    <a:lnB>
                      <a:noFill/>
                    </a:lnB>
                  </a:tcPr>
                </a:tc>
                <a:tc>
                  <a:txBody>
                    <a:bodyPr/>
                    <a:lstStyle/>
                    <a:p>
                      <a:pPr algn="ctr"/>
                      <a:r>
                        <a:rPr lang="en-IN">
                          <a:effectLst/>
                        </a:rPr>
                        <a:t>D-1</a:t>
                      </a:r>
                    </a:p>
                  </a:txBody>
                  <a:tcPr anchor="ctr">
                    <a:lnL>
                      <a:noFill/>
                    </a:lnL>
                    <a:lnR>
                      <a:noFill/>
                    </a:lnR>
                    <a:lnT>
                      <a:noFill/>
                    </a:lnT>
                    <a:lnB>
                      <a:noFill/>
                    </a:lnB>
                  </a:tcPr>
                </a:tc>
                <a:tc>
                  <a:txBody>
                    <a:bodyPr/>
                    <a:lstStyle/>
                    <a:p>
                      <a:pPr algn="ctr"/>
                      <a:r>
                        <a:rPr lang="en-IN">
                          <a:effectLst/>
                        </a:rPr>
                        <a:t>HR</a:t>
                      </a:r>
                    </a:p>
                  </a:txBody>
                  <a:tcPr anchor="ctr">
                    <a:lnL>
                      <a:noFill/>
                    </a:lnL>
                    <a:lnR>
                      <a:noFill/>
                    </a:lnR>
                    <a:lnT>
                      <a:noFill/>
                    </a:lnT>
                    <a:lnB>
                      <a:noFill/>
                    </a:lnB>
                  </a:tcPr>
                </a:tc>
                <a:tc>
                  <a:txBody>
                    <a:bodyPr/>
                    <a:lstStyle/>
                    <a:p>
                      <a:pPr algn="ctr"/>
                      <a:r>
                        <a:rPr lang="en-IN">
                          <a:effectLst/>
                        </a:rPr>
                        <a:t>03</a:t>
                      </a:r>
                    </a:p>
                  </a:txBody>
                  <a:tcPr anchor="ctr">
                    <a:lnL>
                      <a:noFill/>
                    </a:lnL>
                    <a:lnR>
                      <a:noFill/>
                    </a:lnR>
                    <a:lnT>
                      <a:noFill/>
                    </a:lnT>
                    <a:lnB>
                      <a:noFill/>
                    </a:lnB>
                  </a:tcPr>
                </a:tc>
                <a:extLst>
                  <a:ext uri="{0D108BD9-81ED-4DB2-BD59-A6C34878D82A}">
                    <a16:rowId xmlns:a16="http://schemas.microsoft.com/office/drawing/2014/main" val="546593691"/>
                  </a:ext>
                </a:extLst>
              </a:tr>
              <a:tr h="1421157">
                <a:tc>
                  <a:txBody>
                    <a:bodyPr/>
                    <a:lstStyle/>
                    <a:p>
                      <a:pPr algn="ctr"/>
                      <a:r>
                        <a:rPr lang="en-IN">
                          <a:effectLst/>
                        </a:rPr>
                        <a:t>E-2</a:t>
                      </a:r>
                    </a:p>
                  </a:txBody>
                  <a:tcPr anchor="ctr">
                    <a:lnL>
                      <a:noFill/>
                    </a:lnL>
                    <a:lnR>
                      <a:noFill/>
                    </a:lnR>
                    <a:lnT>
                      <a:noFill/>
                    </a:lnT>
                    <a:lnB>
                      <a:noFill/>
                    </a:lnB>
                  </a:tcPr>
                </a:tc>
                <a:tc>
                  <a:txBody>
                    <a:bodyPr/>
                    <a:lstStyle/>
                    <a:p>
                      <a:pPr algn="ctr"/>
                      <a:r>
                        <a:rPr lang="en-IN" dirty="0">
                          <a:effectLst/>
                        </a:rPr>
                        <a:t>Varun</a:t>
                      </a:r>
                    </a:p>
                  </a:txBody>
                  <a:tcPr anchor="ctr">
                    <a:lnL>
                      <a:noFill/>
                    </a:lnL>
                    <a:lnR>
                      <a:noFill/>
                    </a:lnR>
                    <a:lnT>
                      <a:noFill/>
                    </a:lnT>
                    <a:lnB>
                      <a:noFill/>
                    </a:lnB>
                  </a:tcPr>
                </a:tc>
                <a:tc>
                  <a:txBody>
                    <a:bodyPr/>
                    <a:lstStyle/>
                    <a:p>
                      <a:pPr algn="ctr"/>
                      <a:r>
                        <a:rPr lang="en-IN">
                          <a:effectLst/>
                        </a:rPr>
                        <a:t>Chandigarh</a:t>
                      </a:r>
                    </a:p>
                  </a:txBody>
                  <a:tcPr anchor="ctr">
                    <a:lnL>
                      <a:noFill/>
                    </a:lnL>
                    <a:lnR>
                      <a:noFill/>
                    </a:lnR>
                    <a:lnT>
                      <a:noFill/>
                    </a:lnT>
                    <a:lnB>
                      <a:noFill/>
                    </a:lnB>
                  </a:tcPr>
                </a:tc>
                <a:tc>
                  <a:txBody>
                    <a:bodyPr/>
                    <a:lstStyle/>
                    <a:p>
                      <a:pPr algn="ctr"/>
                      <a:r>
                        <a:rPr lang="en-IN">
                          <a:effectLst/>
                        </a:rPr>
                        <a:t>09</a:t>
                      </a:r>
                    </a:p>
                  </a:txBody>
                  <a:tcPr anchor="ctr">
                    <a:lnL>
                      <a:noFill/>
                    </a:lnL>
                    <a:lnR>
                      <a:noFill/>
                    </a:lnR>
                    <a:lnT>
                      <a:noFill/>
                    </a:lnT>
                    <a:lnB>
                      <a:noFill/>
                    </a:lnB>
                  </a:tcPr>
                </a:tc>
                <a:tc>
                  <a:txBody>
                    <a:bodyPr/>
                    <a:lstStyle/>
                    <a:p>
                      <a:pPr algn="ctr"/>
                      <a:r>
                        <a:rPr lang="en-IN" dirty="0">
                          <a:effectLst/>
                        </a:rPr>
                        <a:t>D-2</a:t>
                      </a:r>
                    </a:p>
                  </a:txBody>
                  <a:tcPr anchor="ctr">
                    <a:lnL>
                      <a:noFill/>
                    </a:lnL>
                    <a:lnR>
                      <a:noFill/>
                    </a:lnR>
                    <a:lnT>
                      <a:noFill/>
                    </a:lnT>
                    <a:lnB>
                      <a:noFill/>
                    </a:lnB>
                  </a:tcPr>
                </a:tc>
                <a:tc>
                  <a:txBody>
                    <a:bodyPr/>
                    <a:lstStyle/>
                    <a:p>
                      <a:pPr algn="ctr"/>
                      <a:r>
                        <a:rPr lang="en-IN">
                          <a:effectLst/>
                        </a:rPr>
                        <a:t>IT</a:t>
                      </a:r>
                    </a:p>
                  </a:txBody>
                  <a:tcPr anchor="ctr">
                    <a:lnL>
                      <a:noFill/>
                    </a:lnL>
                    <a:lnR>
                      <a:noFill/>
                    </a:lnR>
                    <a:lnT>
                      <a:noFill/>
                    </a:lnT>
                    <a:lnB>
                      <a:noFill/>
                    </a:lnB>
                  </a:tcPr>
                </a:tc>
                <a:tc>
                  <a:txBody>
                    <a:bodyPr/>
                    <a:lstStyle/>
                    <a:p>
                      <a:pPr algn="ctr"/>
                      <a:r>
                        <a:rPr lang="en-IN">
                          <a:effectLst/>
                        </a:rPr>
                        <a:t>05</a:t>
                      </a:r>
                    </a:p>
                  </a:txBody>
                  <a:tcPr anchor="ctr">
                    <a:lnL>
                      <a:noFill/>
                    </a:lnL>
                    <a:lnR>
                      <a:noFill/>
                    </a:lnR>
                    <a:lnT>
                      <a:noFill/>
                    </a:lnT>
                    <a:lnB>
                      <a:noFill/>
                    </a:lnB>
                  </a:tcPr>
                </a:tc>
                <a:extLst>
                  <a:ext uri="{0D108BD9-81ED-4DB2-BD59-A6C34878D82A}">
                    <a16:rowId xmlns:a16="http://schemas.microsoft.com/office/drawing/2014/main" val="448322208"/>
                  </a:ext>
                </a:extLst>
              </a:tr>
              <a:tr h="812089">
                <a:tc>
                  <a:txBody>
                    <a:bodyPr/>
                    <a:lstStyle/>
                    <a:p>
                      <a:pPr algn="ctr"/>
                      <a:r>
                        <a:rPr lang="en-IN">
                          <a:effectLst/>
                        </a:rPr>
                        <a:t>E-3</a:t>
                      </a:r>
                    </a:p>
                  </a:txBody>
                  <a:tcPr anchor="ctr">
                    <a:lnL>
                      <a:noFill/>
                    </a:lnL>
                    <a:lnR>
                      <a:noFill/>
                    </a:lnR>
                    <a:lnT>
                      <a:noFill/>
                    </a:lnT>
                    <a:lnB>
                      <a:noFill/>
                    </a:lnB>
                  </a:tcPr>
                </a:tc>
                <a:tc>
                  <a:txBody>
                    <a:bodyPr/>
                    <a:lstStyle/>
                    <a:p>
                      <a:pPr algn="ctr"/>
                      <a:r>
                        <a:rPr lang="en-IN">
                          <a:effectLst/>
                        </a:rPr>
                        <a:t>Ravi</a:t>
                      </a:r>
                    </a:p>
                  </a:txBody>
                  <a:tcPr anchor="ctr">
                    <a:lnL>
                      <a:noFill/>
                    </a:lnL>
                    <a:lnR>
                      <a:noFill/>
                    </a:lnR>
                    <a:lnT>
                      <a:noFill/>
                    </a:lnT>
                    <a:lnB>
                      <a:noFill/>
                    </a:lnB>
                  </a:tcPr>
                </a:tc>
                <a:tc>
                  <a:txBody>
                    <a:bodyPr/>
                    <a:lstStyle/>
                    <a:p>
                      <a:pPr algn="ctr"/>
                      <a:r>
                        <a:rPr lang="en-IN">
                          <a:effectLst/>
                        </a:rPr>
                        <a:t>Noida</a:t>
                      </a:r>
                    </a:p>
                  </a:txBody>
                  <a:tcPr anchor="ctr">
                    <a:lnL>
                      <a:noFill/>
                    </a:lnL>
                    <a:lnR>
                      <a:noFill/>
                    </a:lnR>
                    <a:lnT>
                      <a:noFill/>
                    </a:lnT>
                    <a:lnB>
                      <a:noFill/>
                    </a:lnB>
                  </a:tcPr>
                </a:tc>
                <a:tc>
                  <a:txBody>
                    <a:bodyPr/>
                    <a:lstStyle/>
                    <a:p>
                      <a:pPr algn="ctr"/>
                      <a:r>
                        <a:rPr lang="en-IN">
                          <a:effectLst/>
                        </a:rPr>
                        <a:t>03</a:t>
                      </a:r>
                    </a:p>
                  </a:txBody>
                  <a:tcPr anchor="ctr">
                    <a:lnL>
                      <a:noFill/>
                    </a:lnL>
                    <a:lnR>
                      <a:noFill/>
                    </a:lnR>
                    <a:lnT>
                      <a:noFill/>
                    </a:lnT>
                    <a:lnB>
                      <a:noFill/>
                    </a:lnB>
                  </a:tcPr>
                </a:tc>
                <a:tc>
                  <a:txBody>
                    <a:bodyPr/>
                    <a:lstStyle/>
                    <a:p>
                      <a:pPr algn="ctr"/>
                      <a:r>
                        <a:rPr lang="en-IN">
                          <a:effectLst/>
                        </a:rPr>
                        <a:t>D-3</a:t>
                      </a:r>
                    </a:p>
                  </a:txBody>
                  <a:tcPr anchor="ctr">
                    <a:lnL>
                      <a:noFill/>
                    </a:lnL>
                    <a:lnR>
                      <a:noFill/>
                    </a:lnR>
                    <a:lnT>
                      <a:noFill/>
                    </a:lnT>
                    <a:lnB>
                      <a:noFill/>
                    </a:lnB>
                  </a:tcPr>
                </a:tc>
                <a:tc>
                  <a:txBody>
                    <a:bodyPr/>
                    <a:lstStyle/>
                    <a:p>
                      <a:pPr algn="ctr"/>
                      <a:r>
                        <a:rPr lang="en-IN" dirty="0">
                          <a:effectLst/>
                        </a:rPr>
                        <a:t>Marketing</a:t>
                      </a:r>
                    </a:p>
                  </a:txBody>
                  <a:tcPr anchor="ctr">
                    <a:lnL>
                      <a:noFill/>
                    </a:lnL>
                    <a:lnR>
                      <a:noFill/>
                    </a:lnR>
                    <a:lnT>
                      <a:noFill/>
                    </a:lnT>
                    <a:lnB>
                      <a:noFill/>
                    </a:lnB>
                  </a:tcPr>
                </a:tc>
                <a:tc>
                  <a:txBody>
                    <a:bodyPr/>
                    <a:lstStyle/>
                    <a:p>
                      <a:pPr algn="ctr"/>
                      <a:r>
                        <a:rPr lang="en-IN">
                          <a:effectLst/>
                        </a:rPr>
                        <a:t>02</a:t>
                      </a:r>
                    </a:p>
                  </a:txBody>
                  <a:tcPr anchor="ctr">
                    <a:lnL>
                      <a:noFill/>
                    </a:lnL>
                    <a:lnR>
                      <a:noFill/>
                    </a:lnR>
                    <a:lnT>
                      <a:noFill/>
                    </a:lnT>
                    <a:lnB>
                      <a:noFill/>
                    </a:lnB>
                  </a:tcPr>
                </a:tc>
                <a:extLst>
                  <a:ext uri="{0D108BD9-81ED-4DB2-BD59-A6C34878D82A}">
                    <a16:rowId xmlns:a16="http://schemas.microsoft.com/office/drawing/2014/main" val="1610139596"/>
                  </a:ext>
                </a:extLst>
              </a:tr>
              <a:tr h="812089">
                <a:tc>
                  <a:txBody>
                    <a:bodyPr/>
                    <a:lstStyle/>
                    <a:p>
                      <a:pPr algn="ctr"/>
                      <a:r>
                        <a:rPr lang="en-IN">
                          <a:effectLst/>
                        </a:rPr>
                        <a:t>E-4</a:t>
                      </a:r>
                    </a:p>
                  </a:txBody>
                  <a:tcPr anchor="ctr">
                    <a:lnL>
                      <a:noFill/>
                    </a:lnL>
                    <a:lnR>
                      <a:noFill/>
                    </a:lnR>
                    <a:lnT>
                      <a:noFill/>
                    </a:lnT>
                    <a:lnB>
                      <a:noFill/>
                    </a:lnB>
                  </a:tcPr>
                </a:tc>
                <a:tc>
                  <a:txBody>
                    <a:bodyPr/>
                    <a:lstStyle/>
                    <a:p>
                      <a:pPr algn="ctr"/>
                      <a:r>
                        <a:rPr lang="en-IN">
                          <a:effectLst/>
                        </a:rPr>
                        <a:t>Amit</a:t>
                      </a:r>
                    </a:p>
                  </a:txBody>
                  <a:tcPr anchor="ctr">
                    <a:lnL>
                      <a:noFill/>
                    </a:lnL>
                    <a:lnR>
                      <a:noFill/>
                    </a:lnR>
                    <a:lnT>
                      <a:noFill/>
                    </a:lnT>
                    <a:lnB>
                      <a:noFill/>
                    </a:lnB>
                  </a:tcPr>
                </a:tc>
                <a:tc>
                  <a:txBody>
                    <a:bodyPr/>
                    <a:lstStyle/>
                    <a:p>
                      <a:pPr algn="ctr"/>
                      <a:r>
                        <a:rPr lang="en-IN">
                          <a:effectLst/>
                        </a:rPr>
                        <a:t>Bangalore</a:t>
                      </a:r>
                    </a:p>
                  </a:txBody>
                  <a:tcPr anchor="ctr">
                    <a:lnL>
                      <a:noFill/>
                    </a:lnL>
                    <a:lnR>
                      <a:noFill/>
                    </a:lnR>
                    <a:lnT>
                      <a:noFill/>
                    </a:lnT>
                    <a:lnB>
                      <a:noFill/>
                    </a:lnB>
                  </a:tcPr>
                </a:tc>
                <a:tc>
                  <a:txBody>
                    <a:bodyPr/>
                    <a:lstStyle/>
                    <a:p>
                      <a:pPr algn="ctr"/>
                      <a:r>
                        <a:rPr lang="en-IN">
                          <a:effectLst/>
                        </a:rPr>
                        <a:t>07</a:t>
                      </a:r>
                    </a:p>
                  </a:txBody>
                  <a:tcPr anchor="ctr">
                    <a:lnL>
                      <a:noFill/>
                    </a:lnL>
                    <a:lnR>
                      <a:noFill/>
                    </a:lnR>
                    <a:lnT>
                      <a:noFill/>
                    </a:lnT>
                    <a:lnB>
                      <a:noFill/>
                    </a:lnB>
                  </a:tcPr>
                </a:tc>
                <a:tc>
                  <a:txBody>
                    <a:bodyPr/>
                    <a:lstStyle/>
                    <a:p>
                      <a:pPr algn="ctr"/>
                      <a:r>
                        <a:rPr lang="en-IN">
                          <a:effectLst/>
                        </a:rPr>
                        <a:t>-</a:t>
                      </a:r>
                    </a:p>
                  </a:txBody>
                  <a:tcPr anchor="ctr">
                    <a:lnL>
                      <a:noFill/>
                    </a:lnL>
                    <a:lnR>
                      <a:noFill/>
                    </a:lnR>
                    <a:lnT>
                      <a:noFill/>
                    </a:lnT>
                    <a:lnB>
                      <a:noFill/>
                    </a:lnB>
                  </a:tcPr>
                </a:tc>
                <a:tc>
                  <a:txBody>
                    <a:bodyPr/>
                    <a:lstStyle/>
                    <a:p>
                      <a:pPr algn="ctr"/>
                      <a:r>
                        <a:rPr lang="en-IN" dirty="0">
                          <a:effectLst/>
                        </a:rPr>
                        <a:t>-</a:t>
                      </a:r>
                    </a:p>
                  </a:txBody>
                  <a:tcPr anchor="ctr">
                    <a:lnL>
                      <a:noFill/>
                    </a:lnL>
                    <a:lnR>
                      <a:noFill/>
                    </a:lnR>
                    <a:lnT>
                      <a:noFill/>
                    </a:lnT>
                    <a:lnB>
                      <a:noFill/>
                    </a:lnB>
                  </a:tcPr>
                </a:tc>
                <a:tc>
                  <a:txBody>
                    <a:bodyPr/>
                    <a:lstStyle/>
                    <a:p>
                      <a:pPr algn="ctr"/>
                      <a:r>
                        <a:rPr lang="en-IN" dirty="0">
                          <a:effectLst/>
                        </a:rPr>
                        <a:t>-</a:t>
                      </a:r>
                    </a:p>
                  </a:txBody>
                  <a:tcPr anchor="ctr">
                    <a:lnL>
                      <a:noFill/>
                    </a:lnL>
                    <a:lnR>
                      <a:noFill/>
                    </a:lnR>
                    <a:lnT>
                      <a:noFill/>
                    </a:lnT>
                    <a:lnB>
                      <a:noFill/>
                    </a:lnB>
                  </a:tcPr>
                </a:tc>
                <a:extLst>
                  <a:ext uri="{0D108BD9-81ED-4DB2-BD59-A6C34878D82A}">
                    <a16:rowId xmlns:a16="http://schemas.microsoft.com/office/drawing/2014/main" val="2156970056"/>
                  </a:ext>
                </a:extLst>
              </a:tr>
            </a:tbl>
          </a:graphicData>
        </a:graphic>
      </p:graphicFrame>
    </p:spTree>
    <p:extLst>
      <p:ext uri="{BB962C8B-B14F-4D97-AF65-F5344CB8AC3E}">
        <p14:creationId xmlns:p14="http://schemas.microsoft.com/office/powerpoint/2010/main" val="40135522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818" y="498764"/>
            <a:ext cx="8478982" cy="347374"/>
          </a:xfrm>
        </p:spPr>
        <p:txBody>
          <a:bodyPr>
            <a:normAutofit fontScale="90000"/>
          </a:bodyPr>
          <a:lstStyle/>
          <a:p>
            <a:r>
              <a:rPr lang="en-US" dirty="0" smtClean="0"/>
              <a:t>Example</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7818" y="1509125"/>
            <a:ext cx="4933681" cy="389414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1390" y="1705401"/>
            <a:ext cx="4182610" cy="3697872"/>
          </a:xfrm>
          <a:prstGeom prst="rect">
            <a:avLst/>
          </a:prstGeom>
        </p:spPr>
      </p:pic>
    </p:spTree>
    <p:extLst>
      <p:ext uri="{BB962C8B-B14F-4D97-AF65-F5344CB8AC3E}">
        <p14:creationId xmlns:p14="http://schemas.microsoft.com/office/powerpoint/2010/main" val="34876046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3617"/>
          </a:xfrm>
        </p:spPr>
        <p:txBody>
          <a:bodyPr>
            <a:normAutofit fontScale="90000"/>
          </a:bodyPr>
          <a:lstStyle/>
          <a:p>
            <a:r>
              <a:rPr lang="en-US" dirty="0" smtClean="0"/>
              <a:t>Right Join</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381" y="928256"/>
            <a:ext cx="8756073" cy="5805054"/>
          </a:xfrm>
        </p:spPr>
      </p:pic>
    </p:spTree>
    <p:extLst>
      <p:ext uri="{BB962C8B-B14F-4D97-AF65-F5344CB8AC3E}">
        <p14:creationId xmlns:p14="http://schemas.microsoft.com/office/powerpoint/2010/main" val="2177999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Student table</a:t>
            </a:r>
            <a:endParaRPr lang="en-IN" dirty="0"/>
          </a:p>
        </p:txBody>
      </p:sp>
      <p:pic>
        <p:nvPicPr>
          <p:cNvPr id="1026" name="Picture 2" descr="student tab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381" y="2005996"/>
            <a:ext cx="6095238" cy="3028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38356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Table</a:t>
            </a:r>
            <a:endParaRPr lang="en-IN" dirty="0"/>
          </a:p>
        </p:txBody>
      </p:sp>
      <p:pic>
        <p:nvPicPr>
          <p:cNvPr id="2050" name="Picture 2" descr="course tabl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52737" y="2386806"/>
            <a:ext cx="3438525" cy="295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8579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217" y="2167495"/>
            <a:ext cx="8160327" cy="4482687"/>
          </a:xfrm>
        </p:spPr>
      </p:pic>
      <p:sp>
        <p:nvSpPr>
          <p:cNvPr id="4" name="Rectangle 1"/>
          <p:cNvSpPr>
            <a:spLocks noGrp="1" noChangeArrowheads="1"/>
          </p:cNvSpPr>
          <p:nvPr>
            <p:ph type="title"/>
          </p:nvPr>
        </p:nvSpPr>
        <p:spPr bwMode="auto">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rgbClr val="273239"/>
                </a:solidFill>
                <a:effectLst/>
                <a:latin typeface="Nunito"/>
              </a:rPr>
              <a:t>Query:</a:t>
            </a:r>
            <a:endParaRPr kumimoji="0" lang="en-US" altLang="en-US" sz="1200" b="0" i="0" u="none" strike="noStrike" cap="none" normalizeH="0" baseline="0" dirty="0" smtClean="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Consolas" panose="020B0609020204030204" pitchFamily="49" charset="0"/>
              </a:rPr>
              <a:t>SELECT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s.roll_no</a:t>
            </a:r>
            <a:r>
              <a:rPr kumimoji="0" lang="en-US" altLang="en-US" sz="1200" b="0" i="0" u="none" strike="noStrike" cap="none" normalizeH="0" baseline="0" dirty="0" smtClean="0">
                <a:ln>
                  <a:noFill/>
                </a:ln>
                <a:solidFill>
                  <a:schemeClr val="tx1"/>
                </a:solidFill>
                <a:effectLst/>
                <a:latin typeface="Consolas" panose="020B0609020204030204" pitchFamily="49" charset="0"/>
              </a:rPr>
              <a:t>, s.name,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s.address</a:t>
            </a:r>
            <a:r>
              <a:rPr kumimoji="0" lang="en-US" altLang="en-US" sz="1200" b="0" i="0" u="none" strike="noStrike" cap="none" normalizeH="0" baseline="0" dirty="0" smtClean="0">
                <a:ln>
                  <a:noFill/>
                </a:ln>
                <a:solidFill>
                  <a:schemeClr val="tx1"/>
                </a:solidFill>
                <a:effectLst/>
                <a:latin typeface="Consolas" panose="020B0609020204030204" pitchFamily="49" charset="0"/>
              </a:rPr>
              <a:t>,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s.phone</a:t>
            </a:r>
            <a:r>
              <a:rPr kumimoji="0" lang="en-US" altLang="en-US" sz="1200" b="0" i="0" u="none" strike="noStrike" cap="none" normalizeH="0" baseline="0" dirty="0" smtClean="0">
                <a:ln>
                  <a:noFill/>
                </a:ln>
                <a:solidFill>
                  <a:schemeClr val="tx1"/>
                </a:solidFill>
                <a:effectLst/>
                <a:latin typeface="Consolas" panose="020B0609020204030204" pitchFamily="49" charset="0"/>
              </a:rPr>
              <a:t>,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s.age</a:t>
            </a:r>
            <a:r>
              <a:rPr kumimoji="0" lang="en-US" altLang="en-US" sz="1200" b="0" i="0" u="none" strike="noStrike" cap="none" normalizeH="0" baseline="0" dirty="0" smtClean="0">
                <a:ln>
                  <a:noFill/>
                </a:ln>
                <a:solidFill>
                  <a:schemeClr val="tx1"/>
                </a:solidFill>
                <a:effectLst/>
                <a:latin typeface="Consolas" panose="020B0609020204030204" pitchFamily="49" charset="0"/>
              </a:rPr>
              <a:t>,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sc.course_id</a:t>
            </a:r>
            <a:r>
              <a:rPr kumimoji="0" lang="en-US" altLang="en-US" sz="1200" b="0" i="0" u="none" strike="noStrike" cap="none" normalizeH="0" baseline="0" dirty="0" smtClean="0">
                <a:ln>
                  <a:noFill/>
                </a:ln>
                <a:solidFill>
                  <a:schemeClr val="tx1"/>
                </a:solidFill>
                <a:effectLst/>
                <a:latin typeface="Consolas" panose="020B0609020204030204" pitchFamily="49" charset="0"/>
              </a:rPr>
              <a:t/>
            </a:r>
            <a:br>
              <a:rPr kumimoji="0" lang="en-US" altLang="en-US" sz="1200" b="0" i="0" u="none" strike="noStrike" cap="none" normalizeH="0" baseline="0" dirty="0" smtClean="0">
                <a:ln>
                  <a:noFill/>
                </a:ln>
                <a:solidFill>
                  <a:schemeClr val="tx1"/>
                </a:solidFill>
                <a:effectLst/>
                <a:latin typeface="Consolas" panose="020B0609020204030204" pitchFamily="49" charset="0"/>
              </a:rPr>
            </a:br>
            <a:r>
              <a:rPr kumimoji="0" lang="en-US" altLang="en-US" sz="1200" b="0" i="0" u="none" strike="noStrike" cap="none" normalizeH="0" baseline="0" dirty="0" smtClean="0">
                <a:ln>
                  <a:noFill/>
                </a:ln>
                <a:solidFill>
                  <a:schemeClr val="tx1"/>
                </a:solidFill>
                <a:effectLst/>
                <a:latin typeface="Consolas" panose="020B0609020204030204" pitchFamily="49" charset="0"/>
              </a:rPr>
              <a:t>FROM Student s</a:t>
            </a:r>
            <a:br>
              <a:rPr kumimoji="0" lang="en-US" altLang="en-US" sz="1200" b="0" i="0" u="none" strike="noStrike" cap="none" normalizeH="0" baseline="0" dirty="0" smtClean="0">
                <a:ln>
                  <a:noFill/>
                </a:ln>
                <a:solidFill>
                  <a:schemeClr val="tx1"/>
                </a:solidFill>
                <a:effectLst/>
                <a:latin typeface="Consolas" panose="020B0609020204030204" pitchFamily="49" charset="0"/>
              </a:rPr>
            </a:br>
            <a:r>
              <a:rPr kumimoji="0" lang="en-US" altLang="en-US" sz="1200" b="0" i="0" u="none" strike="noStrike" cap="none" normalizeH="0" baseline="0" dirty="0" smtClean="0">
                <a:ln>
                  <a:noFill/>
                </a:ln>
                <a:solidFill>
                  <a:schemeClr val="tx1"/>
                </a:solidFill>
                <a:effectLst/>
                <a:latin typeface="Consolas" panose="020B0609020204030204" pitchFamily="49" charset="0"/>
              </a:rPr>
              <a:t>JOIN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StudentCourse</a:t>
            </a:r>
            <a:r>
              <a:rPr kumimoji="0" lang="en-US" altLang="en-US" sz="1200" b="0" i="0" u="none" strike="noStrike" cap="none" normalizeH="0" baseline="0" dirty="0" smtClean="0">
                <a:ln>
                  <a:noFill/>
                </a:ln>
                <a:solidFill>
                  <a:schemeClr val="tx1"/>
                </a:solidFill>
                <a:effectLst/>
                <a:latin typeface="Consolas" panose="020B0609020204030204" pitchFamily="49" charset="0"/>
              </a:rPr>
              <a:t>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sc</a:t>
            </a:r>
            <a:r>
              <a:rPr kumimoji="0" lang="en-US" altLang="en-US" sz="1200" b="0" i="0" u="none" strike="noStrike" cap="none" normalizeH="0" baseline="0" dirty="0" smtClean="0">
                <a:ln>
                  <a:noFill/>
                </a:ln>
                <a:solidFill>
                  <a:schemeClr val="tx1"/>
                </a:solidFill>
                <a:effectLst/>
                <a:latin typeface="Consolas" panose="020B0609020204030204" pitchFamily="49" charset="0"/>
              </a:rPr>
              <a:t> ON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s.roll_no</a:t>
            </a:r>
            <a:r>
              <a:rPr kumimoji="0" lang="en-US" altLang="en-US" sz="1200" b="0" i="0" u="none" strike="noStrike" cap="none" normalizeH="0" baseline="0" dirty="0" smtClean="0">
                <a:ln>
                  <a:noFill/>
                </a:ln>
                <a:solidFill>
                  <a:schemeClr val="tx1"/>
                </a:solidFill>
                <a:effectLst/>
                <a:latin typeface="Consolas" panose="020B0609020204030204" pitchFamily="49" charset="0"/>
              </a:rPr>
              <a:t> = </a:t>
            </a:r>
            <a:r>
              <a:rPr kumimoji="0" lang="en-US" altLang="en-US" sz="1200" b="0" i="0" u="none" strike="noStrike" cap="none" normalizeH="0" baseline="0" dirty="0" err="1" smtClean="0">
                <a:ln>
                  <a:noFill/>
                </a:ln>
                <a:solidFill>
                  <a:schemeClr val="tx1"/>
                </a:solidFill>
                <a:effectLst/>
                <a:latin typeface="Consolas" panose="020B0609020204030204" pitchFamily="49" charset="0"/>
              </a:rPr>
              <a:t>sc.roll_no</a:t>
            </a:r>
            <a:r>
              <a:rPr kumimoji="0" lang="en-US" altLang="en-US" sz="1200" b="0" i="0" u="none" strike="noStrike" cap="none" normalizeH="0" baseline="0" dirty="0" smtClean="0">
                <a:ln>
                  <a:noFill/>
                </a:ln>
                <a:solidFill>
                  <a:schemeClr val="tx1"/>
                </a:solidFill>
                <a:effectLst/>
                <a:latin typeface="Consolas" panose="020B0609020204030204" pitchFamily="49" charset="0"/>
              </a:rPr>
              <a:t>;</a:t>
            </a:r>
            <a:r>
              <a:rPr kumimoji="0" lang="en-US" altLang="en-US" sz="8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08530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8198"/>
          </a:xfrm>
        </p:spPr>
        <p:txBody>
          <a:bodyPr>
            <a:normAutofit fontScale="90000"/>
          </a:bodyPr>
          <a:lstStyle/>
          <a:p>
            <a:r>
              <a:rPr lang="en-US" dirty="0" smtClean="0"/>
              <a:t/>
            </a:r>
            <a:br>
              <a:rPr lang="en-US" dirty="0" smtClean="0"/>
            </a:br>
            <a:r>
              <a:rPr lang="en-US" dirty="0" smtClean="0"/>
              <a:t>1</a:t>
            </a:r>
            <a:r>
              <a:rPr lang="en-US" dirty="0"/>
              <a:t>. SQL INNER JOIN</a:t>
            </a:r>
            <a:br>
              <a:rPr lang="en-US" dirty="0"/>
            </a:br>
            <a:endParaRPr lang="en-IN" dirty="0"/>
          </a:p>
        </p:txBody>
      </p:sp>
      <p:sp>
        <p:nvSpPr>
          <p:cNvPr id="3" name="Content Placeholder 2"/>
          <p:cNvSpPr>
            <a:spLocks noGrp="1"/>
          </p:cNvSpPr>
          <p:nvPr>
            <p:ph idx="1"/>
          </p:nvPr>
        </p:nvSpPr>
        <p:spPr>
          <a:xfrm>
            <a:off x="457200" y="872836"/>
            <a:ext cx="8229600" cy="5888182"/>
          </a:xfrm>
        </p:spPr>
        <p:txBody>
          <a:bodyPr>
            <a:normAutofit fontScale="70000" lnSpcReduction="20000"/>
          </a:bodyPr>
          <a:lstStyle/>
          <a:p>
            <a:r>
              <a:rPr lang="en-US" dirty="0" smtClean="0"/>
              <a:t>The </a:t>
            </a:r>
            <a:r>
              <a:rPr lang="en-US" dirty="0"/>
              <a:t>INNER JOIN keyword selects all rows from both the tables as long as the condition is satisfied. This keyword will create the result-set by combining all rows from both the tables where the condition satisfies </a:t>
            </a:r>
            <a:r>
              <a:rPr lang="en-US" dirty="0" err="1"/>
              <a:t>i.e</a:t>
            </a:r>
            <a:r>
              <a:rPr lang="en-US" dirty="0"/>
              <a:t> value of the common field will be the same. </a:t>
            </a:r>
          </a:p>
          <a:p>
            <a:endParaRPr lang="en-US" dirty="0"/>
          </a:p>
          <a:p>
            <a:r>
              <a:rPr lang="en-US" dirty="0"/>
              <a:t>Syntax</a:t>
            </a:r>
          </a:p>
          <a:p>
            <a:endParaRPr lang="en-US" dirty="0"/>
          </a:p>
          <a:p>
            <a:r>
              <a:rPr lang="en-US" dirty="0"/>
              <a:t>SELECT table1.column1,table1.column2,table2.column1,....</a:t>
            </a:r>
          </a:p>
          <a:p>
            <a:r>
              <a:rPr lang="en-US" dirty="0"/>
              <a:t>FROM table1 </a:t>
            </a:r>
          </a:p>
          <a:p>
            <a:r>
              <a:rPr lang="en-US" dirty="0"/>
              <a:t>INNER JOIN table2</a:t>
            </a:r>
          </a:p>
          <a:p>
            <a:r>
              <a:rPr lang="en-US" dirty="0"/>
              <a:t>ON  table1.matching_column = table2.matching_column;</a:t>
            </a:r>
          </a:p>
          <a:p>
            <a:r>
              <a:rPr lang="en-US" dirty="0"/>
              <a:t>Key Terms</a:t>
            </a:r>
          </a:p>
          <a:p>
            <a:endParaRPr lang="en-US" dirty="0"/>
          </a:p>
          <a:p>
            <a:r>
              <a:rPr lang="en-US" dirty="0"/>
              <a:t>table1: First table.</a:t>
            </a:r>
          </a:p>
          <a:p>
            <a:r>
              <a:rPr lang="en-US" dirty="0"/>
              <a:t>table2: Second table</a:t>
            </a:r>
          </a:p>
          <a:p>
            <a:r>
              <a:rPr lang="en-US" dirty="0"/>
              <a:t>matching_column: Column common to both the tables.</a:t>
            </a:r>
          </a:p>
          <a:p>
            <a:r>
              <a:rPr lang="en-US" dirty="0"/>
              <a:t>Note: We can also write JOIN instead of INNER JOIN. JOIN is same as INNER JOIN. </a:t>
            </a:r>
            <a:endParaRPr lang="en-IN" dirty="0"/>
          </a:p>
        </p:txBody>
      </p:sp>
    </p:spTree>
    <p:extLst>
      <p:ext uri="{BB962C8B-B14F-4D97-AF65-F5344CB8AC3E}">
        <p14:creationId xmlns:p14="http://schemas.microsoft.com/office/powerpoint/2010/main" val="25514409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descr="sql inner join visual represent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1225" y="2296319"/>
            <a:ext cx="4781550" cy="3133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4300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a:buNone/>
            </a:pPr>
            <a:r>
              <a:rPr lang="en-US" dirty="0"/>
              <a:t>INNER JOIN Example</a:t>
            </a:r>
          </a:p>
          <a:p>
            <a:r>
              <a:rPr lang="en-US" dirty="0"/>
              <a:t>Let’s look at the example of INNER JOIN clause, and understand it’s working. This query will show the names and age of students enrolled in different courses.  </a:t>
            </a:r>
          </a:p>
          <a:p>
            <a:endParaRPr lang="en-US" dirty="0"/>
          </a:p>
          <a:p>
            <a:r>
              <a:rPr lang="en-US" dirty="0"/>
              <a:t>Query:</a:t>
            </a:r>
          </a:p>
          <a:p>
            <a:endParaRPr lang="en-US" dirty="0"/>
          </a:p>
          <a:p>
            <a:r>
              <a:rPr lang="en-US" dirty="0"/>
              <a:t>SELECT </a:t>
            </a:r>
            <a:r>
              <a:rPr lang="en-US" dirty="0" err="1"/>
              <a:t>StudentCourse.COURSE_ID</a:t>
            </a:r>
            <a:r>
              <a:rPr lang="en-US" dirty="0"/>
              <a:t>, Student.NAME, </a:t>
            </a:r>
            <a:r>
              <a:rPr lang="en-US" dirty="0" err="1"/>
              <a:t>Student.AGE</a:t>
            </a:r>
            <a:r>
              <a:rPr lang="en-US" dirty="0"/>
              <a:t> FROM Student</a:t>
            </a:r>
          </a:p>
          <a:p>
            <a:r>
              <a:rPr lang="en-US" dirty="0"/>
              <a:t>INNER JOIN </a:t>
            </a:r>
            <a:r>
              <a:rPr lang="en-US" dirty="0" err="1"/>
              <a:t>StudentCourse</a:t>
            </a:r>
            <a:endParaRPr lang="en-US" dirty="0"/>
          </a:p>
          <a:p>
            <a:r>
              <a:rPr lang="en-US" dirty="0"/>
              <a:t>ON </a:t>
            </a:r>
            <a:r>
              <a:rPr lang="en-US" dirty="0" err="1"/>
              <a:t>Student.ROLL_NO</a:t>
            </a:r>
            <a:r>
              <a:rPr lang="en-US" dirty="0"/>
              <a:t> = </a:t>
            </a:r>
            <a:r>
              <a:rPr lang="en-US" dirty="0" err="1"/>
              <a:t>StudentCourse.ROLL_NO</a:t>
            </a:r>
            <a:r>
              <a:rPr lang="en-US" dirty="0"/>
              <a:t>;</a:t>
            </a:r>
            <a:endParaRPr lang="en-IN" dirty="0"/>
          </a:p>
        </p:txBody>
      </p:sp>
    </p:spTree>
    <p:extLst>
      <p:ext uri="{BB962C8B-B14F-4D97-AF65-F5344CB8AC3E}">
        <p14:creationId xmlns:p14="http://schemas.microsoft.com/office/powerpoint/2010/main" val="1634440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descr="sql inner join example outpu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0219" y="1717964"/>
            <a:ext cx="7994072" cy="3135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6432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SQL LEFT JOIN</a:t>
            </a:r>
            <a:br>
              <a:rPr lang="en-US" dirty="0"/>
            </a:br>
            <a:endParaRPr lang="en-IN" dirty="0"/>
          </a:p>
        </p:txBody>
      </p:sp>
      <p:sp>
        <p:nvSpPr>
          <p:cNvPr id="3" name="Content Placeholder 2"/>
          <p:cNvSpPr>
            <a:spLocks noGrp="1"/>
          </p:cNvSpPr>
          <p:nvPr>
            <p:ph idx="1"/>
          </p:nvPr>
        </p:nvSpPr>
        <p:spPr>
          <a:xfrm>
            <a:off x="96982" y="1600200"/>
            <a:ext cx="9047018" cy="4911436"/>
          </a:xfrm>
        </p:spPr>
        <p:txBody>
          <a:bodyPr>
            <a:normAutofit fontScale="70000" lnSpcReduction="20000"/>
          </a:bodyPr>
          <a:lstStyle/>
          <a:p>
            <a:pPr algn="just"/>
            <a:r>
              <a:rPr lang="en-US" dirty="0" smtClean="0"/>
              <a:t>LEFT </a:t>
            </a:r>
            <a:r>
              <a:rPr lang="en-US" dirty="0"/>
              <a:t>JOIN returns all the rows of the table on the left side of the join and matches rows for the table on the right side of the join. For the rows for which there is no matching row on the right side, the result-set will contain null. LEFT JOIN is also known as LEFT OUTER JOIN.</a:t>
            </a:r>
          </a:p>
          <a:p>
            <a:pPr marL="0" indent="0">
              <a:buNone/>
            </a:pPr>
            <a:r>
              <a:rPr lang="en-US" dirty="0" smtClean="0"/>
              <a:t>Syntax</a:t>
            </a:r>
            <a:endParaRPr lang="en-US" dirty="0"/>
          </a:p>
          <a:p>
            <a:r>
              <a:rPr lang="en-US" dirty="0" smtClean="0"/>
              <a:t>SELECT </a:t>
            </a:r>
            <a:r>
              <a:rPr lang="en-US" dirty="0"/>
              <a:t>table1.column1,table1.column2,table2.column1,....</a:t>
            </a:r>
          </a:p>
          <a:p>
            <a:r>
              <a:rPr lang="en-US" dirty="0"/>
              <a:t>FROM table1 </a:t>
            </a:r>
          </a:p>
          <a:p>
            <a:r>
              <a:rPr lang="en-US" dirty="0"/>
              <a:t>LEFT JOIN table2</a:t>
            </a:r>
          </a:p>
          <a:p>
            <a:r>
              <a:rPr lang="en-US" dirty="0"/>
              <a:t>ON table1.matching_column = table2.matching_column;</a:t>
            </a:r>
          </a:p>
          <a:p>
            <a:r>
              <a:rPr lang="en-US" dirty="0"/>
              <a:t>Key Terms</a:t>
            </a:r>
          </a:p>
          <a:p>
            <a:endParaRPr lang="en-US" dirty="0"/>
          </a:p>
          <a:p>
            <a:pPr marL="0" indent="0">
              <a:buNone/>
            </a:pPr>
            <a:r>
              <a:rPr lang="en-US" b="1" i="1" dirty="0">
                <a:solidFill>
                  <a:schemeClr val="accent2">
                    <a:lumMod val="50000"/>
                  </a:schemeClr>
                </a:solidFill>
              </a:rPr>
              <a:t>table1: First table.</a:t>
            </a:r>
          </a:p>
          <a:p>
            <a:pPr marL="0" indent="0">
              <a:buNone/>
            </a:pPr>
            <a:r>
              <a:rPr lang="en-US" b="1" i="1" dirty="0">
                <a:solidFill>
                  <a:schemeClr val="accent2">
                    <a:lumMod val="50000"/>
                  </a:schemeClr>
                </a:solidFill>
              </a:rPr>
              <a:t>table2: Second table</a:t>
            </a:r>
          </a:p>
          <a:p>
            <a:pPr marL="0" indent="0">
              <a:buNone/>
            </a:pPr>
            <a:r>
              <a:rPr lang="en-US" b="1" i="1" dirty="0">
                <a:solidFill>
                  <a:schemeClr val="accent2">
                    <a:lumMod val="50000"/>
                  </a:schemeClr>
                </a:solidFill>
              </a:rPr>
              <a:t>matching_column: Column common to both the tables.</a:t>
            </a:r>
            <a:endParaRPr lang="en-IN" b="1" i="1" dirty="0">
              <a:solidFill>
                <a:schemeClr val="accent2">
                  <a:lumMod val="50000"/>
                </a:schemeClr>
              </a:solidFill>
            </a:endParaRPr>
          </a:p>
        </p:txBody>
      </p:sp>
    </p:spTree>
    <p:extLst>
      <p:ext uri="{BB962C8B-B14F-4D97-AF65-F5344CB8AC3E}">
        <p14:creationId xmlns:p14="http://schemas.microsoft.com/office/powerpoint/2010/main" val="20792628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descr="Left_Joi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9090" y="2296319"/>
            <a:ext cx="7038109" cy="3979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2177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US" dirty="0"/>
              <a:t>LEFT JOIN Example</a:t>
            </a:r>
          </a:p>
          <a:p>
            <a:r>
              <a:rPr lang="en-US" dirty="0"/>
              <a:t>In this example, the LEFT JOIN retrieves all rows from the Student table and the matching rows from the </a:t>
            </a:r>
            <a:r>
              <a:rPr lang="en-US" dirty="0" err="1"/>
              <a:t>StudentCourse</a:t>
            </a:r>
            <a:r>
              <a:rPr lang="en-US" dirty="0"/>
              <a:t> table based on the ROLL_NO column.</a:t>
            </a:r>
          </a:p>
          <a:p>
            <a:r>
              <a:rPr lang="en-US" dirty="0" smtClean="0"/>
              <a:t>Query</a:t>
            </a:r>
            <a:r>
              <a:rPr lang="en-US" dirty="0"/>
              <a:t>:</a:t>
            </a:r>
          </a:p>
          <a:p>
            <a:r>
              <a:rPr lang="en-US" dirty="0" smtClean="0"/>
              <a:t>SELECT </a:t>
            </a:r>
            <a:r>
              <a:rPr lang="en-US" dirty="0" err="1"/>
              <a:t>Student.NAME,StudentCourse.COURSE_ID</a:t>
            </a:r>
            <a:r>
              <a:rPr lang="en-US" dirty="0"/>
              <a:t> </a:t>
            </a:r>
          </a:p>
          <a:p>
            <a:r>
              <a:rPr lang="en-US" dirty="0"/>
              <a:t>FROM Student</a:t>
            </a:r>
          </a:p>
          <a:p>
            <a:r>
              <a:rPr lang="en-US" dirty="0"/>
              <a:t>LEFT JOIN </a:t>
            </a:r>
            <a:r>
              <a:rPr lang="en-US" dirty="0" err="1"/>
              <a:t>StudentCourse</a:t>
            </a:r>
            <a:r>
              <a:rPr lang="en-US" dirty="0"/>
              <a:t> </a:t>
            </a:r>
          </a:p>
          <a:p>
            <a:r>
              <a:rPr lang="en-US" dirty="0"/>
              <a:t>ON </a:t>
            </a:r>
            <a:r>
              <a:rPr lang="en-US" dirty="0" err="1"/>
              <a:t>StudentCourse.ROLL_NO</a:t>
            </a:r>
            <a:r>
              <a:rPr lang="en-US" dirty="0"/>
              <a:t> = </a:t>
            </a:r>
            <a:r>
              <a:rPr lang="en-US" dirty="0" err="1"/>
              <a:t>Student.ROLL_NO</a:t>
            </a:r>
            <a:r>
              <a:rPr lang="en-US" dirty="0"/>
              <a:t>;</a:t>
            </a:r>
            <a:endParaRPr lang="en-IN" dirty="0"/>
          </a:p>
        </p:txBody>
      </p:sp>
    </p:spTree>
    <p:extLst>
      <p:ext uri="{BB962C8B-B14F-4D97-AF65-F5344CB8AC3E}">
        <p14:creationId xmlns:p14="http://schemas.microsoft.com/office/powerpoint/2010/main" val="12725835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1266" name="Picture 2" descr="sql left join example outpu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7345" y="2386805"/>
            <a:ext cx="5292437" cy="3944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7989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31944"/>
          </a:xfrm>
        </p:spPr>
        <p:txBody>
          <a:bodyPr>
            <a:normAutofit fontScale="90000"/>
          </a:bodyPr>
          <a:lstStyle/>
          <a:p>
            <a:r>
              <a:rPr lang="en-US" dirty="0" smtClean="0"/>
              <a:t/>
            </a:r>
            <a:br>
              <a:rPr lang="en-US" dirty="0" smtClean="0"/>
            </a:br>
            <a:r>
              <a:rPr lang="en-US" dirty="0" smtClean="0"/>
              <a:t>3</a:t>
            </a:r>
            <a:r>
              <a:rPr lang="en-US" dirty="0"/>
              <a:t>. SQL RIGHT JOIN</a:t>
            </a:r>
            <a:br>
              <a:rPr lang="en-US" dirty="0"/>
            </a:br>
            <a:endParaRPr lang="en-IN" dirty="0"/>
          </a:p>
        </p:txBody>
      </p:sp>
      <p:sp>
        <p:nvSpPr>
          <p:cNvPr id="3" name="Content Placeholder 2"/>
          <p:cNvSpPr>
            <a:spLocks noGrp="1"/>
          </p:cNvSpPr>
          <p:nvPr>
            <p:ph idx="1"/>
          </p:nvPr>
        </p:nvSpPr>
        <p:spPr>
          <a:xfrm>
            <a:off x="457200" y="858982"/>
            <a:ext cx="8229600" cy="5999018"/>
          </a:xfrm>
        </p:spPr>
        <p:txBody>
          <a:bodyPr>
            <a:normAutofit fontScale="70000" lnSpcReduction="20000"/>
          </a:bodyPr>
          <a:lstStyle/>
          <a:p>
            <a:pPr marL="0" indent="0" algn="just">
              <a:buNone/>
            </a:pPr>
            <a:r>
              <a:rPr lang="en-US" dirty="0" smtClean="0"/>
              <a:t>RIGHT </a:t>
            </a:r>
            <a:r>
              <a:rPr lang="en-US" dirty="0"/>
              <a:t>JOIN returns all the rows of the table on the right side of the join and matching rows for the table on the left side of the join. It is very similar to LEFT JOIN for the rows for which there is no matching row on the left side, the result-set will contain null. RIGHT JOIN is also known as RIGHT OUTER JOIN. </a:t>
            </a:r>
          </a:p>
          <a:p>
            <a:endParaRPr lang="en-US" dirty="0"/>
          </a:p>
          <a:p>
            <a:pPr marL="0" indent="0">
              <a:buNone/>
            </a:pPr>
            <a:r>
              <a:rPr lang="en-US" b="1" i="1" dirty="0">
                <a:solidFill>
                  <a:schemeClr val="accent2">
                    <a:lumMod val="50000"/>
                  </a:schemeClr>
                </a:solidFill>
              </a:rPr>
              <a:t>Syntax</a:t>
            </a:r>
          </a:p>
          <a:p>
            <a:r>
              <a:rPr lang="en-US" dirty="0" smtClean="0"/>
              <a:t>SELECT </a:t>
            </a:r>
            <a:r>
              <a:rPr lang="en-US" dirty="0"/>
              <a:t>table1.column1,table1.column2,table2.column1,....</a:t>
            </a:r>
          </a:p>
          <a:p>
            <a:r>
              <a:rPr lang="en-US" dirty="0"/>
              <a:t>FROM table1 </a:t>
            </a:r>
          </a:p>
          <a:p>
            <a:r>
              <a:rPr lang="en-US" dirty="0"/>
              <a:t>RIGHT JOIN table2</a:t>
            </a:r>
          </a:p>
          <a:p>
            <a:r>
              <a:rPr lang="en-US" dirty="0"/>
              <a:t>ON table1.matching_column = table2.matching_column;</a:t>
            </a:r>
          </a:p>
          <a:p>
            <a:r>
              <a:rPr lang="en-US" dirty="0"/>
              <a:t>Key Terms</a:t>
            </a:r>
          </a:p>
          <a:p>
            <a:r>
              <a:rPr lang="en-US" b="1" i="1" dirty="0" smtClean="0">
                <a:solidFill>
                  <a:schemeClr val="accent2">
                    <a:lumMod val="50000"/>
                  </a:schemeClr>
                </a:solidFill>
              </a:rPr>
              <a:t>table1</a:t>
            </a:r>
            <a:r>
              <a:rPr lang="en-US" b="1" i="1" dirty="0">
                <a:solidFill>
                  <a:schemeClr val="accent2">
                    <a:lumMod val="50000"/>
                  </a:schemeClr>
                </a:solidFill>
              </a:rPr>
              <a:t>: First table.</a:t>
            </a:r>
          </a:p>
          <a:p>
            <a:r>
              <a:rPr lang="en-US" b="1" i="1" dirty="0">
                <a:solidFill>
                  <a:schemeClr val="accent2">
                    <a:lumMod val="50000"/>
                  </a:schemeClr>
                </a:solidFill>
              </a:rPr>
              <a:t>table2: Second table</a:t>
            </a:r>
          </a:p>
          <a:p>
            <a:r>
              <a:rPr lang="en-US" dirty="0"/>
              <a:t>matching_column: Column common to both the tables.</a:t>
            </a:r>
          </a:p>
          <a:p>
            <a:r>
              <a:rPr lang="en-US" dirty="0"/>
              <a:t>Note: We can also use RIGHT OUTER JOIN instead of RIGHT JOIN, both are the same. </a:t>
            </a:r>
            <a:endParaRPr lang="en-IN" dirty="0"/>
          </a:p>
        </p:txBody>
      </p:sp>
    </p:spTree>
    <p:extLst>
      <p:ext uri="{BB962C8B-B14F-4D97-AF65-F5344CB8AC3E}">
        <p14:creationId xmlns:p14="http://schemas.microsoft.com/office/powerpoint/2010/main" val="32466570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3314" name="Picture 2" descr="sql right join visual represent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7609" y="1600200"/>
            <a:ext cx="7148782"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7452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US" dirty="0"/>
              <a:t>RIGHT JOIN Example</a:t>
            </a:r>
          </a:p>
          <a:p>
            <a:r>
              <a:rPr lang="en-US" dirty="0"/>
              <a:t>In this example, the RIGHT JOIN retrieves all rows from the </a:t>
            </a:r>
            <a:r>
              <a:rPr lang="en-US" dirty="0" err="1"/>
              <a:t>StudentCourse</a:t>
            </a:r>
            <a:r>
              <a:rPr lang="en-US" dirty="0"/>
              <a:t> table and the matching rows from the Student table based on the ROLL_NO column.</a:t>
            </a:r>
          </a:p>
          <a:p>
            <a:r>
              <a:rPr lang="en-US" dirty="0" smtClean="0"/>
              <a:t>Query</a:t>
            </a:r>
            <a:r>
              <a:rPr lang="en-US" dirty="0"/>
              <a:t>:</a:t>
            </a:r>
          </a:p>
          <a:p>
            <a:r>
              <a:rPr lang="en-US" dirty="0" smtClean="0"/>
              <a:t>SELECT </a:t>
            </a:r>
            <a:r>
              <a:rPr lang="en-US" dirty="0" err="1"/>
              <a:t>Student.NAME,StudentCourse.COURSE_ID</a:t>
            </a:r>
            <a:r>
              <a:rPr lang="en-US" dirty="0"/>
              <a:t> </a:t>
            </a:r>
          </a:p>
          <a:p>
            <a:r>
              <a:rPr lang="en-US" dirty="0"/>
              <a:t>FROM Student</a:t>
            </a:r>
          </a:p>
          <a:p>
            <a:r>
              <a:rPr lang="en-US" dirty="0"/>
              <a:t>RIGHT JOIN </a:t>
            </a:r>
            <a:r>
              <a:rPr lang="en-US" dirty="0" err="1"/>
              <a:t>StudentCourse</a:t>
            </a:r>
            <a:r>
              <a:rPr lang="en-US" dirty="0"/>
              <a:t> </a:t>
            </a:r>
          </a:p>
          <a:p>
            <a:r>
              <a:rPr lang="en-US" dirty="0"/>
              <a:t>ON </a:t>
            </a:r>
            <a:r>
              <a:rPr lang="en-US" dirty="0" err="1"/>
              <a:t>StudentCourse.ROLL_NO</a:t>
            </a:r>
            <a:r>
              <a:rPr lang="en-US" dirty="0"/>
              <a:t> = </a:t>
            </a:r>
            <a:r>
              <a:rPr lang="en-US" dirty="0" err="1"/>
              <a:t>Student.ROLL_NO</a:t>
            </a:r>
            <a:r>
              <a:rPr lang="en-US" dirty="0"/>
              <a:t>;</a:t>
            </a:r>
            <a:endParaRPr lang="en-IN" dirty="0"/>
          </a:p>
        </p:txBody>
      </p:sp>
    </p:spTree>
    <p:extLst>
      <p:ext uri="{BB962C8B-B14F-4D97-AF65-F5344CB8AC3E}">
        <p14:creationId xmlns:p14="http://schemas.microsoft.com/office/powerpoint/2010/main" val="41816985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5362" name="Picture 2" descr="right join example outpu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8583" y="2358231"/>
            <a:ext cx="5915890" cy="3807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9212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Content Placeholder 3"/>
          <p:cNvSpPr>
            <a:spLocks noGrp="1"/>
          </p:cNvSpPr>
          <p:nvPr>
            <p:ph idx="1"/>
          </p:nvPr>
        </p:nvSpPr>
        <p:spPr/>
        <p:txBody>
          <a:bodyPr/>
          <a:lstStyle/>
          <a:p>
            <a:pPr fontAlgn="base"/>
            <a:r>
              <a:rPr lang="en-US" b="1" dirty="0"/>
              <a:t>4. SQL FULL JOIN</a:t>
            </a:r>
          </a:p>
          <a:p>
            <a:pPr fontAlgn="base"/>
            <a:r>
              <a:rPr lang="en-US" b="1" u="sng" dirty="0">
                <a:hlinkClick r:id="rId2"/>
              </a:rPr>
              <a:t>FULL JOIN</a:t>
            </a:r>
            <a:r>
              <a:rPr lang="en-US" dirty="0"/>
              <a:t> creates the result-set by combining results of both </a:t>
            </a:r>
            <a:r>
              <a:rPr lang="en-US" b="1" dirty="0"/>
              <a:t>LEFT JOIN</a:t>
            </a:r>
            <a:r>
              <a:rPr lang="en-US" dirty="0"/>
              <a:t> and </a:t>
            </a:r>
            <a:r>
              <a:rPr lang="en-US" b="1" dirty="0"/>
              <a:t>RIGHT JOIN</a:t>
            </a:r>
            <a:r>
              <a:rPr lang="en-US" dirty="0"/>
              <a:t>. The result-set will contain all the rows from both tables. For the rows for which there is no matching, the result-set will contain </a:t>
            </a:r>
            <a:r>
              <a:rPr lang="en-US" i="1" dirty="0"/>
              <a:t>NULL</a:t>
            </a:r>
            <a:r>
              <a:rPr lang="en-US" dirty="0"/>
              <a:t> values.</a:t>
            </a:r>
          </a:p>
          <a:p>
            <a:endParaRPr lang="en-IN" dirty="0"/>
          </a:p>
        </p:txBody>
      </p:sp>
    </p:spTree>
    <p:extLst>
      <p:ext uri="{BB962C8B-B14F-4D97-AF65-F5344CB8AC3E}">
        <p14:creationId xmlns:p14="http://schemas.microsoft.com/office/powerpoint/2010/main" val="11719192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dirty="0"/>
              <a:t>Syntax</a:t>
            </a:r>
          </a:p>
          <a:p>
            <a:endParaRPr lang="en-US" dirty="0"/>
          </a:p>
          <a:p>
            <a:r>
              <a:rPr lang="en-US" dirty="0"/>
              <a:t>SELECT table1.column1,table1.column2,table2.column1,....</a:t>
            </a:r>
          </a:p>
          <a:p>
            <a:r>
              <a:rPr lang="en-US" dirty="0"/>
              <a:t>FROM table1 </a:t>
            </a:r>
          </a:p>
          <a:p>
            <a:r>
              <a:rPr lang="en-US" dirty="0"/>
              <a:t>FULL JOIN table2</a:t>
            </a:r>
          </a:p>
          <a:p>
            <a:r>
              <a:rPr lang="en-US" dirty="0"/>
              <a:t>ON table1.matching_column = table2.matching_column; </a:t>
            </a:r>
          </a:p>
          <a:p>
            <a:r>
              <a:rPr lang="en-US" dirty="0"/>
              <a:t>Key Terms</a:t>
            </a:r>
          </a:p>
          <a:p>
            <a:endParaRPr lang="en-US" dirty="0"/>
          </a:p>
          <a:p>
            <a:r>
              <a:rPr lang="en-US" dirty="0"/>
              <a:t>table1: First table.</a:t>
            </a:r>
          </a:p>
          <a:p>
            <a:r>
              <a:rPr lang="en-US" dirty="0"/>
              <a:t>table2: Second table</a:t>
            </a:r>
          </a:p>
          <a:p>
            <a:r>
              <a:rPr lang="en-US" dirty="0"/>
              <a:t>matching_column: Column common to both the tables.</a:t>
            </a:r>
            <a:endParaRPr lang="en-IN" dirty="0"/>
          </a:p>
        </p:txBody>
      </p:sp>
    </p:spTree>
    <p:extLst>
      <p:ext uri="{BB962C8B-B14F-4D97-AF65-F5344CB8AC3E}">
        <p14:creationId xmlns:p14="http://schemas.microsoft.com/office/powerpoint/2010/main" val="33126742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8434" name="Picture 2" descr="Full_Joi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1225" y="2296319"/>
            <a:ext cx="4781550" cy="3133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93086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dirty="0"/>
              <a:t>FULL JOIN Example</a:t>
            </a:r>
          </a:p>
          <a:p>
            <a:r>
              <a:rPr lang="en-US" dirty="0"/>
              <a:t>This example demonstrates the use of a FULL JOIN, which combines the results of both LEFT JOIN and RIGHT JOIN. The query retrieves all rows from the Student and </a:t>
            </a:r>
            <a:r>
              <a:rPr lang="en-US" dirty="0" err="1"/>
              <a:t>StudentCourse</a:t>
            </a:r>
            <a:r>
              <a:rPr lang="en-US" dirty="0"/>
              <a:t> tables. If a record in one table does not have a matching record in the other table, the result set will include that record with NULL values for the missing fields</a:t>
            </a:r>
          </a:p>
          <a:p>
            <a:endParaRPr lang="en-US" dirty="0"/>
          </a:p>
          <a:p>
            <a:r>
              <a:rPr lang="en-US" dirty="0"/>
              <a:t>Query:</a:t>
            </a:r>
          </a:p>
          <a:p>
            <a:endParaRPr lang="en-US" dirty="0"/>
          </a:p>
          <a:p>
            <a:r>
              <a:rPr lang="en-US" dirty="0"/>
              <a:t>SELECT </a:t>
            </a:r>
            <a:r>
              <a:rPr lang="en-US" dirty="0" err="1"/>
              <a:t>Student.NAME,StudentCourse.COURSE_ID</a:t>
            </a:r>
            <a:r>
              <a:rPr lang="en-US" dirty="0"/>
              <a:t> </a:t>
            </a:r>
          </a:p>
          <a:p>
            <a:r>
              <a:rPr lang="en-US" dirty="0"/>
              <a:t>FROM Student</a:t>
            </a:r>
          </a:p>
          <a:p>
            <a:r>
              <a:rPr lang="en-US" dirty="0"/>
              <a:t>FULL JOIN </a:t>
            </a:r>
            <a:r>
              <a:rPr lang="en-US" dirty="0" err="1"/>
              <a:t>StudentCourse</a:t>
            </a:r>
            <a:r>
              <a:rPr lang="en-US" dirty="0"/>
              <a:t> </a:t>
            </a:r>
          </a:p>
          <a:p>
            <a:r>
              <a:rPr lang="en-US" dirty="0"/>
              <a:t>ON </a:t>
            </a:r>
            <a:r>
              <a:rPr lang="en-US" dirty="0" err="1"/>
              <a:t>StudentCourse.ROLL_NO</a:t>
            </a:r>
            <a:r>
              <a:rPr lang="en-US" dirty="0"/>
              <a:t> = </a:t>
            </a:r>
            <a:r>
              <a:rPr lang="en-US" dirty="0" err="1"/>
              <a:t>Student.ROLL_NO</a:t>
            </a:r>
            <a:r>
              <a:rPr lang="en-US" dirty="0"/>
              <a:t>;</a:t>
            </a:r>
            <a:endParaRPr lang="en-IN" dirty="0"/>
          </a:p>
        </p:txBody>
      </p:sp>
    </p:spTree>
    <p:extLst>
      <p:ext uri="{BB962C8B-B14F-4D97-AF65-F5344CB8AC3E}">
        <p14:creationId xmlns:p14="http://schemas.microsoft.com/office/powerpoint/2010/main" val="391112555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42217128"/>
              </p:ext>
            </p:extLst>
          </p:nvPr>
        </p:nvGraphicFramePr>
        <p:xfrm>
          <a:off x="831268" y="1417634"/>
          <a:ext cx="7980222" cy="5467595"/>
        </p:xfrm>
        <a:graphic>
          <a:graphicData uri="http://schemas.openxmlformats.org/drawingml/2006/table">
            <a:tbl>
              <a:tblPr/>
              <a:tblGrid>
                <a:gridCol w="3990111">
                  <a:extLst>
                    <a:ext uri="{9D8B030D-6E8A-4147-A177-3AD203B41FA5}">
                      <a16:colId xmlns:a16="http://schemas.microsoft.com/office/drawing/2014/main" val="3770857639"/>
                    </a:ext>
                  </a:extLst>
                </a:gridCol>
                <a:gridCol w="3990111">
                  <a:extLst>
                    <a:ext uri="{9D8B030D-6E8A-4147-A177-3AD203B41FA5}">
                      <a16:colId xmlns:a16="http://schemas.microsoft.com/office/drawing/2014/main" val="1270602665"/>
                    </a:ext>
                  </a:extLst>
                </a:gridCol>
              </a:tblGrid>
              <a:tr h="394010">
                <a:tc>
                  <a:txBody>
                    <a:bodyPr/>
                    <a:lstStyle/>
                    <a:p>
                      <a:pPr algn="ctr" rtl="0" fontAlgn="base"/>
                      <a:r>
                        <a:rPr lang="en-IN" sz="1400" b="1" dirty="0">
                          <a:effectLst/>
                        </a:rPr>
                        <a:t>NAME</a:t>
                      </a:r>
                    </a:p>
                  </a:txBody>
                  <a:tcPr marL="31739" marR="31739" marT="79347" marB="7934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400" b="1">
                          <a:effectLst/>
                        </a:rPr>
                        <a:t>COURSE_ID</a:t>
                      </a:r>
                    </a:p>
                  </a:txBody>
                  <a:tcPr marL="79347" marR="79347" marT="79347" marB="79347"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75252185"/>
                  </a:ext>
                </a:extLst>
              </a:tr>
              <a:tr h="461235">
                <a:tc>
                  <a:txBody>
                    <a:bodyPr/>
                    <a:lstStyle/>
                    <a:p>
                      <a:pPr algn="ctr" rtl="0" fontAlgn="base"/>
                      <a:r>
                        <a:rPr lang="en-IN" sz="1400" b="0" dirty="0">
                          <a:effectLst/>
                        </a:rPr>
                        <a:t>HARSH</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a:effectLst/>
                        </a:rPr>
                        <a:t>1</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64424763"/>
                  </a:ext>
                </a:extLst>
              </a:tr>
              <a:tr h="461235">
                <a:tc>
                  <a:txBody>
                    <a:bodyPr/>
                    <a:lstStyle/>
                    <a:p>
                      <a:pPr algn="ctr" rtl="0" fontAlgn="base"/>
                      <a:r>
                        <a:rPr lang="en-IN" sz="1400" b="0" dirty="0">
                          <a:effectLst/>
                        </a:rPr>
                        <a:t>PRATIK</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a:effectLst/>
                        </a:rPr>
                        <a:t>2</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14368551"/>
                  </a:ext>
                </a:extLst>
              </a:tr>
              <a:tr h="461235">
                <a:tc>
                  <a:txBody>
                    <a:bodyPr/>
                    <a:lstStyle/>
                    <a:p>
                      <a:pPr algn="ctr" rtl="0" fontAlgn="base"/>
                      <a:r>
                        <a:rPr lang="en-IN" sz="1400" b="0" dirty="0">
                          <a:effectLst/>
                        </a:rPr>
                        <a:t>RIYANKA</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dirty="0">
                          <a:effectLst/>
                        </a:rPr>
                        <a:t>2</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98691464"/>
                  </a:ext>
                </a:extLst>
              </a:tr>
              <a:tr h="461235">
                <a:tc>
                  <a:txBody>
                    <a:bodyPr/>
                    <a:lstStyle/>
                    <a:p>
                      <a:pPr algn="ctr" rtl="0" fontAlgn="base"/>
                      <a:r>
                        <a:rPr lang="en-IN" sz="1400" b="0">
                          <a:effectLst/>
                        </a:rPr>
                        <a:t>DEEP</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dirty="0">
                          <a:effectLst/>
                        </a:rPr>
                        <a:t>3</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25571612"/>
                  </a:ext>
                </a:extLst>
              </a:tr>
              <a:tr h="461235">
                <a:tc>
                  <a:txBody>
                    <a:bodyPr/>
                    <a:lstStyle/>
                    <a:p>
                      <a:pPr algn="ctr" rtl="0" fontAlgn="base"/>
                      <a:r>
                        <a:rPr lang="en-IN" sz="1400" b="0">
                          <a:effectLst/>
                        </a:rPr>
                        <a:t>SAPTARHI</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dirty="0">
                          <a:effectLst/>
                        </a:rPr>
                        <a:t>1</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75535185"/>
                  </a:ext>
                </a:extLst>
              </a:tr>
              <a:tr h="461235">
                <a:tc>
                  <a:txBody>
                    <a:bodyPr/>
                    <a:lstStyle/>
                    <a:p>
                      <a:pPr algn="ctr" rtl="0" fontAlgn="base"/>
                      <a:r>
                        <a:rPr lang="en-IN" sz="1400" b="0">
                          <a:effectLst/>
                        </a:rPr>
                        <a:t>DHANRAJ</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400" b="0" dirty="0">
                          <a:effectLst/>
                        </a:rPr>
                        <a:t>NULL</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42152769"/>
                  </a:ext>
                </a:extLst>
              </a:tr>
              <a:tr h="461235">
                <a:tc>
                  <a:txBody>
                    <a:bodyPr/>
                    <a:lstStyle/>
                    <a:p>
                      <a:pPr algn="ctr" rtl="0" fontAlgn="base"/>
                      <a:r>
                        <a:rPr lang="en-IN" sz="1400" b="0">
                          <a:effectLst/>
                        </a:rPr>
                        <a:t>ROHIT</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400" b="0" dirty="0">
                          <a:effectLst/>
                        </a:rPr>
                        <a:t>NULL</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65247326"/>
                  </a:ext>
                </a:extLst>
              </a:tr>
              <a:tr h="461235">
                <a:tc>
                  <a:txBody>
                    <a:bodyPr/>
                    <a:lstStyle/>
                    <a:p>
                      <a:pPr algn="ctr" rtl="0" fontAlgn="base"/>
                      <a:r>
                        <a:rPr lang="en-IN" sz="1400" b="0">
                          <a:effectLst/>
                        </a:rPr>
                        <a:t>NIRAJ</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IN" sz="1400" b="0" dirty="0">
                          <a:effectLst/>
                        </a:rPr>
                        <a:t>NULL</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43255644"/>
                  </a:ext>
                </a:extLst>
              </a:tr>
              <a:tr h="461235">
                <a:tc>
                  <a:txBody>
                    <a:bodyPr/>
                    <a:lstStyle/>
                    <a:p>
                      <a:pPr algn="ctr" rtl="0" fontAlgn="base"/>
                      <a:r>
                        <a:rPr lang="en-IN" sz="1400" b="0">
                          <a:effectLst/>
                        </a:rPr>
                        <a:t>NULL</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dirty="0">
                          <a:effectLst/>
                        </a:rPr>
                        <a:t>4</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31193151"/>
                  </a:ext>
                </a:extLst>
              </a:tr>
              <a:tr h="461235">
                <a:tc>
                  <a:txBody>
                    <a:bodyPr/>
                    <a:lstStyle/>
                    <a:p>
                      <a:pPr algn="ctr" rtl="0" fontAlgn="base"/>
                      <a:r>
                        <a:rPr lang="en-IN" sz="1400" b="0">
                          <a:effectLst/>
                        </a:rPr>
                        <a:t>NULL</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dirty="0">
                          <a:effectLst/>
                        </a:rPr>
                        <a:t>5</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51744734"/>
                  </a:ext>
                </a:extLst>
              </a:tr>
              <a:tr h="461235">
                <a:tc>
                  <a:txBody>
                    <a:bodyPr/>
                    <a:lstStyle/>
                    <a:p>
                      <a:pPr algn="ctr" rtl="0" fontAlgn="base"/>
                      <a:r>
                        <a:rPr lang="en-IN" sz="1400" b="0">
                          <a:effectLst/>
                        </a:rPr>
                        <a:t>NULL</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0" dirty="0">
                          <a:effectLst/>
                        </a:rPr>
                        <a:t>4</a:t>
                      </a:r>
                    </a:p>
                  </a:txBody>
                  <a:tcPr marL="79347" marR="79347" marT="111086" marB="11108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29607638"/>
                  </a:ext>
                </a:extLst>
              </a:tr>
            </a:tbl>
          </a:graphicData>
        </a:graphic>
      </p:graphicFrame>
    </p:spTree>
    <p:extLst>
      <p:ext uri="{BB962C8B-B14F-4D97-AF65-F5344CB8AC3E}">
        <p14:creationId xmlns:p14="http://schemas.microsoft.com/office/powerpoint/2010/main" val="39387429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pPr fontAlgn="base"/>
            <a:r>
              <a:rPr lang="en-US" b="1" dirty="0"/>
              <a:t>5. SQL Natural Join (?)</a:t>
            </a:r>
          </a:p>
          <a:p>
            <a:pPr fontAlgn="base"/>
            <a:r>
              <a:rPr lang="en-US" u="sng" dirty="0">
                <a:hlinkClick r:id="rId2"/>
              </a:rPr>
              <a:t>Natural join</a:t>
            </a:r>
            <a:r>
              <a:rPr lang="en-US" dirty="0"/>
              <a:t> can join tables based on the </a:t>
            </a:r>
            <a:r>
              <a:rPr lang="en-US" b="1" dirty="0"/>
              <a:t>common columns</a:t>
            </a:r>
            <a:r>
              <a:rPr lang="en-US" dirty="0"/>
              <a:t> in the tables being joined. A natural join returns all rows by matching values in common columns having same name and</a:t>
            </a:r>
            <a:r>
              <a:rPr lang="en-US" b="1" dirty="0"/>
              <a:t> data type </a:t>
            </a:r>
            <a:r>
              <a:rPr lang="en-US" dirty="0"/>
              <a:t>of columns and that column should be present in both tables.</a:t>
            </a:r>
          </a:p>
          <a:p>
            <a:pPr fontAlgn="base"/>
            <a:r>
              <a:rPr lang="en-US" dirty="0"/>
              <a:t>Both table must have at least one common column with same column name and same data type.</a:t>
            </a:r>
          </a:p>
          <a:p>
            <a:pPr fontAlgn="base"/>
            <a:r>
              <a:rPr lang="en-US" dirty="0"/>
              <a:t>The two table are joined using </a:t>
            </a:r>
            <a:r>
              <a:rPr lang="en-US" b="1" dirty="0"/>
              <a:t>Cross join</a:t>
            </a:r>
            <a:r>
              <a:rPr lang="en-US" dirty="0"/>
              <a:t>.</a:t>
            </a:r>
          </a:p>
          <a:p>
            <a:pPr fontAlgn="base"/>
            <a:r>
              <a:rPr lang="en-US" dirty="0"/>
              <a:t>DBMS will look for a common column with same name and data type. Tuples having exactly same values in common columns are kept in result.</a:t>
            </a:r>
          </a:p>
          <a:p>
            <a:pPr fontAlgn="base"/>
            <a:r>
              <a:rPr lang="en-US" b="1" dirty="0"/>
              <a:t>Natural join Example</a:t>
            </a:r>
          </a:p>
          <a:p>
            <a:pPr fontAlgn="base"/>
            <a:r>
              <a:rPr lang="en-US" dirty="0"/>
              <a:t>Look at the two tables below- </a:t>
            </a:r>
            <a:r>
              <a:rPr lang="en-US" b="1" dirty="0"/>
              <a:t>Employee </a:t>
            </a:r>
            <a:r>
              <a:rPr lang="en-US" dirty="0"/>
              <a:t>and </a:t>
            </a:r>
            <a:r>
              <a:rPr lang="en-US" b="1" dirty="0"/>
              <a:t>Department</a:t>
            </a:r>
            <a:endParaRPr lang="en-US" dirty="0"/>
          </a:p>
          <a:p>
            <a:endParaRPr lang="en-IN" dirty="0"/>
          </a:p>
        </p:txBody>
      </p:sp>
    </p:spTree>
    <p:extLst>
      <p:ext uri="{BB962C8B-B14F-4D97-AF65-F5344CB8AC3E}">
        <p14:creationId xmlns:p14="http://schemas.microsoft.com/office/powerpoint/2010/main" val="26996885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457200" y="2746851"/>
          <a:ext cx="8229600" cy="2232660"/>
        </p:xfrm>
        <a:graphic>
          <a:graphicData uri="http://schemas.openxmlformats.org/drawingml/2006/table">
            <a:tbl>
              <a:tblPr/>
              <a:tblGrid>
                <a:gridCol w="2743200">
                  <a:extLst>
                    <a:ext uri="{9D8B030D-6E8A-4147-A177-3AD203B41FA5}">
                      <a16:colId xmlns:a16="http://schemas.microsoft.com/office/drawing/2014/main" val="158771386"/>
                    </a:ext>
                  </a:extLst>
                </a:gridCol>
                <a:gridCol w="2743200">
                  <a:extLst>
                    <a:ext uri="{9D8B030D-6E8A-4147-A177-3AD203B41FA5}">
                      <a16:colId xmlns:a16="http://schemas.microsoft.com/office/drawing/2014/main" val="3379334349"/>
                    </a:ext>
                  </a:extLst>
                </a:gridCol>
                <a:gridCol w="2743200">
                  <a:extLst>
                    <a:ext uri="{9D8B030D-6E8A-4147-A177-3AD203B41FA5}">
                      <a16:colId xmlns:a16="http://schemas.microsoft.com/office/drawing/2014/main" val="2148369254"/>
                    </a:ext>
                  </a:extLst>
                </a:gridCol>
              </a:tblGrid>
              <a:tr h="0">
                <a:tc gridSpan="3">
                  <a:txBody>
                    <a:bodyPr/>
                    <a:lstStyle/>
                    <a:p>
                      <a:pPr algn="ctr" rtl="0" fontAlgn="base"/>
                      <a:r>
                        <a:rPr lang="en-IN" sz="1400" b="1">
                          <a:effectLst/>
                        </a:rPr>
                        <a:t>Employee </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33361965"/>
                  </a:ext>
                </a:extLst>
              </a:tr>
              <a:tr h="0">
                <a:tc>
                  <a:txBody>
                    <a:bodyPr/>
                    <a:lstStyle/>
                    <a:p>
                      <a:pPr algn="ctr" fontAlgn="ctr"/>
                      <a:r>
                        <a:rPr lang="en-IN" sz="1250" b="0">
                          <a:effectLst/>
                        </a:rPr>
                        <a:t>Emp_id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Emp_name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Dept_id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85492906"/>
                  </a:ext>
                </a:extLst>
              </a:tr>
              <a:tr h="0">
                <a:tc>
                  <a:txBody>
                    <a:bodyPr/>
                    <a:lstStyle/>
                    <a:p>
                      <a:pPr algn="ctr" fontAlgn="ctr"/>
                      <a:r>
                        <a:rPr lang="en-IN" sz="125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Ram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53780918"/>
                  </a:ext>
                </a:extLst>
              </a:tr>
              <a:tr h="0">
                <a:tc>
                  <a:txBody>
                    <a:bodyPr/>
                    <a:lstStyle/>
                    <a:p>
                      <a:pPr algn="ctr" fontAlgn="ctr"/>
                      <a:r>
                        <a:rPr lang="en-IN" sz="1250" b="0">
                          <a:effectLst/>
                        </a:rPr>
                        <a:t>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Jon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30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68593189"/>
                  </a:ext>
                </a:extLst>
              </a:tr>
              <a:tr h="0">
                <a:tc>
                  <a:txBody>
                    <a:bodyPr/>
                    <a:lstStyle/>
                    <a:p>
                      <a:pPr algn="ctr" fontAlgn="ctr"/>
                      <a:r>
                        <a:rPr lang="en-IN" sz="1250" b="0">
                          <a:effectLst/>
                        </a:rPr>
                        <a:t>3</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Bob</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rPr>
                        <a:t>50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60224422"/>
                  </a:ext>
                </a:extLst>
              </a:tr>
            </a:tbl>
          </a:graphicData>
        </a:graphic>
      </p:graphicFrame>
    </p:spTree>
    <p:extLst>
      <p:ext uri="{BB962C8B-B14F-4D97-AF65-F5344CB8AC3E}">
        <p14:creationId xmlns:p14="http://schemas.microsoft.com/office/powerpoint/2010/main" val="18109769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457200" y="2746851"/>
          <a:ext cx="8229600" cy="2232660"/>
        </p:xfrm>
        <a:graphic>
          <a:graphicData uri="http://schemas.openxmlformats.org/drawingml/2006/table">
            <a:tbl>
              <a:tblPr/>
              <a:tblGrid>
                <a:gridCol w="4114800">
                  <a:extLst>
                    <a:ext uri="{9D8B030D-6E8A-4147-A177-3AD203B41FA5}">
                      <a16:colId xmlns:a16="http://schemas.microsoft.com/office/drawing/2014/main" val="336954287"/>
                    </a:ext>
                  </a:extLst>
                </a:gridCol>
                <a:gridCol w="4114800">
                  <a:extLst>
                    <a:ext uri="{9D8B030D-6E8A-4147-A177-3AD203B41FA5}">
                      <a16:colId xmlns:a16="http://schemas.microsoft.com/office/drawing/2014/main" val="1969912439"/>
                    </a:ext>
                  </a:extLst>
                </a:gridCol>
              </a:tblGrid>
              <a:tr h="0">
                <a:tc gridSpan="2">
                  <a:txBody>
                    <a:bodyPr/>
                    <a:lstStyle/>
                    <a:p>
                      <a:pPr algn="ctr" rtl="0" fontAlgn="base"/>
                      <a:r>
                        <a:rPr lang="en-IN" sz="1400" b="1">
                          <a:effectLst/>
                        </a:rPr>
                        <a:t>Department </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3113586346"/>
                  </a:ext>
                </a:extLst>
              </a:tr>
              <a:tr h="0">
                <a:tc>
                  <a:txBody>
                    <a:bodyPr/>
                    <a:lstStyle/>
                    <a:p>
                      <a:pPr algn="ctr" fontAlgn="ctr"/>
                      <a:r>
                        <a:rPr lang="en-IN" sz="1250" b="1">
                          <a:effectLst/>
                        </a:rPr>
                        <a:t>Dept_id</a:t>
                      </a:r>
                      <a:endParaRPr lang="en-IN" sz="125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1">
                          <a:effectLst/>
                        </a:rPr>
                        <a:t>Dept_name</a:t>
                      </a:r>
                      <a:endParaRPr lang="en-IN" sz="1250" b="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97776280"/>
                  </a:ext>
                </a:extLst>
              </a:tr>
              <a:tr h="0">
                <a:tc>
                  <a:txBody>
                    <a:bodyPr/>
                    <a:lstStyle/>
                    <a:p>
                      <a:pPr algn="ctr" fontAlgn="ctr"/>
                      <a:r>
                        <a:rPr lang="en-IN" sz="1250" b="0">
                          <a:effectLst/>
                        </a:rPr>
                        <a:t>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IT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25205511"/>
                  </a:ext>
                </a:extLst>
              </a:tr>
              <a:tr h="0">
                <a:tc>
                  <a:txBody>
                    <a:bodyPr/>
                    <a:lstStyle/>
                    <a:p>
                      <a:pPr algn="ctr" fontAlgn="ctr"/>
                      <a:r>
                        <a:rPr lang="en-IN" sz="1250" b="0">
                          <a:effectLst/>
                        </a:rPr>
                        <a:t>30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HR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12806993"/>
                  </a:ext>
                </a:extLst>
              </a:tr>
              <a:tr h="0">
                <a:tc>
                  <a:txBody>
                    <a:bodyPr/>
                    <a:lstStyle/>
                    <a:p>
                      <a:pPr algn="ctr" fontAlgn="ctr"/>
                      <a:r>
                        <a:rPr lang="en-IN" sz="1250" b="0">
                          <a:effectLst/>
                        </a:rPr>
                        <a:t>40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rPr>
                        <a:t>TIS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30370410"/>
                  </a:ext>
                </a:extLst>
              </a:tr>
            </a:tbl>
          </a:graphicData>
        </a:graphic>
      </p:graphicFrame>
    </p:spTree>
    <p:extLst>
      <p:ext uri="{BB962C8B-B14F-4D97-AF65-F5344CB8AC3E}">
        <p14:creationId xmlns:p14="http://schemas.microsoft.com/office/powerpoint/2010/main" val="7609379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457200" y="2975451"/>
          <a:ext cx="8229600" cy="1775460"/>
        </p:xfrm>
        <a:graphic>
          <a:graphicData uri="http://schemas.openxmlformats.org/drawingml/2006/table">
            <a:tbl>
              <a:tblPr/>
              <a:tblGrid>
                <a:gridCol w="1645920">
                  <a:extLst>
                    <a:ext uri="{9D8B030D-6E8A-4147-A177-3AD203B41FA5}">
                      <a16:colId xmlns:a16="http://schemas.microsoft.com/office/drawing/2014/main" val="2291320765"/>
                    </a:ext>
                  </a:extLst>
                </a:gridCol>
                <a:gridCol w="1645920">
                  <a:extLst>
                    <a:ext uri="{9D8B030D-6E8A-4147-A177-3AD203B41FA5}">
                      <a16:colId xmlns:a16="http://schemas.microsoft.com/office/drawing/2014/main" val="586943325"/>
                    </a:ext>
                  </a:extLst>
                </a:gridCol>
                <a:gridCol w="1645920">
                  <a:extLst>
                    <a:ext uri="{9D8B030D-6E8A-4147-A177-3AD203B41FA5}">
                      <a16:colId xmlns:a16="http://schemas.microsoft.com/office/drawing/2014/main" val="4286820559"/>
                    </a:ext>
                  </a:extLst>
                </a:gridCol>
                <a:gridCol w="1645920">
                  <a:extLst>
                    <a:ext uri="{9D8B030D-6E8A-4147-A177-3AD203B41FA5}">
                      <a16:colId xmlns:a16="http://schemas.microsoft.com/office/drawing/2014/main" val="105191953"/>
                    </a:ext>
                  </a:extLst>
                </a:gridCol>
                <a:gridCol w="1645920">
                  <a:extLst>
                    <a:ext uri="{9D8B030D-6E8A-4147-A177-3AD203B41FA5}">
                      <a16:colId xmlns:a16="http://schemas.microsoft.com/office/drawing/2014/main" val="2456256629"/>
                    </a:ext>
                  </a:extLst>
                </a:gridCol>
              </a:tblGrid>
              <a:tr h="0">
                <a:tc>
                  <a:txBody>
                    <a:bodyPr/>
                    <a:lstStyle/>
                    <a:p>
                      <a:pPr algn="ctr" fontAlgn="base"/>
                      <a:r>
                        <a:rPr lang="en-IN" sz="1400" b="1">
                          <a:effectLst/>
                        </a:rPr>
                        <a:t>Emp_id</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Emp_name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Dept_id</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Dept_id</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Dept_name</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3897889"/>
                  </a:ext>
                </a:extLst>
              </a:tr>
              <a:tr h="0">
                <a:tc>
                  <a:txBody>
                    <a:bodyPr/>
                    <a:lstStyle/>
                    <a:p>
                      <a:pPr algn="ctr" fontAlgn="ctr"/>
                      <a:r>
                        <a:rPr lang="en-IN" sz="125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Ram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IT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41944366"/>
                  </a:ext>
                </a:extLst>
              </a:tr>
              <a:tr h="0">
                <a:tc>
                  <a:txBody>
                    <a:bodyPr/>
                    <a:lstStyle/>
                    <a:p>
                      <a:pPr algn="ctr" fontAlgn="ctr"/>
                      <a:r>
                        <a:rPr lang="en-IN" sz="1250" b="0">
                          <a:effectLst/>
                        </a:rPr>
                        <a:t>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Jon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30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30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rPr>
                        <a:t>HR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8827945"/>
                  </a:ext>
                </a:extLst>
              </a:tr>
              <a:tr h="0">
                <a:tc gridSpan="3">
                  <a:txBody>
                    <a:bodyPr/>
                    <a:lstStyle/>
                    <a:p>
                      <a:pPr algn="ctr" fontAlgn="ctr"/>
                      <a:r>
                        <a:rPr lang="en-IN" sz="1250" b="0">
                          <a:effectLst/>
                        </a:rPr>
                        <a:t>Employee data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hMerge="1">
                  <a:txBody>
                    <a:bodyPr/>
                    <a:lstStyle/>
                    <a:p>
                      <a:endParaRPr lang="en-IN"/>
                    </a:p>
                  </a:txBody>
                  <a:tcPr/>
                </a:tc>
                <a:tc hMerge="1">
                  <a:txBody>
                    <a:bodyPr/>
                    <a:lstStyle/>
                    <a:p>
                      <a:endParaRPr lang="en-IN"/>
                    </a:p>
                  </a:txBody>
                  <a:tcPr/>
                </a:tc>
                <a:tc gridSpan="2">
                  <a:txBody>
                    <a:bodyPr/>
                    <a:lstStyle/>
                    <a:p>
                      <a:pPr algn="ctr" fontAlgn="ctr"/>
                      <a:r>
                        <a:rPr lang="en-IN" sz="1250" b="0" dirty="0">
                          <a:effectLst/>
                        </a:rPr>
                        <a:t>Department data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1246084439"/>
                  </a:ext>
                </a:extLst>
              </a:tr>
            </a:tbl>
          </a:graphicData>
        </a:graphic>
      </p:graphicFrame>
    </p:spTree>
    <p:extLst>
      <p:ext uri="{BB962C8B-B14F-4D97-AF65-F5344CB8AC3E}">
        <p14:creationId xmlns:p14="http://schemas.microsoft.com/office/powerpoint/2010/main" val="23050843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0000" lnSpcReduction="20000"/>
          </a:bodyPr>
          <a:lstStyle/>
          <a:p>
            <a:r>
              <a:rPr lang="en-US" b="1" dirty="0"/>
              <a:t>Intersection (∩)</a:t>
            </a:r>
          </a:p>
          <a:p>
            <a:r>
              <a:rPr lang="en-US" dirty="0"/>
              <a:t>Intersection operation is done by Intersection Operator which is represented by "intersection"(∩).It is the same as the intersection operator from set theory, i.e., it selects all the tuples which are present in both relations. It is a </a:t>
            </a:r>
            <a:r>
              <a:rPr lang="en-US" b="1" dirty="0"/>
              <a:t>binary operator</a:t>
            </a:r>
            <a:r>
              <a:rPr lang="en-US" dirty="0"/>
              <a:t> as it requires two operands. Also, it </a:t>
            </a:r>
            <a:r>
              <a:rPr lang="en-US" b="1" dirty="0"/>
              <a:t>eliminates duplicates</a:t>
            </a:r>
            <a:r>
              <a:rPr lang="en-US" dirty="0"/>
              <a:t>.</a:t>
            </a:r>
            <a:br>
              <a:rPr lang="en-US" dirty="0"/>
            </a:br>
            <a:r>
              <a:rPr lang="en-US" dirty="0"/>
              <a:t>Notation : R ∩ S</a:t>
            </a:r>
            <a:br>
              <a:rPr lang="en-US" dirty="0"/>
            </a:br>
            <a:r>
              <a:rPr lang="en-US" dirty="0"/>
              <a:t>Where R is the first relation</a:t>
            </a:r>
            <a:br>
              <a:rPr lang="en-US" dirty="0"/>
            </a:br>
            <a:r>
              <a:rPr lang="en-US" dirty="0"/>
              <a:t>S is the second relation</a:t>
            </a:r>
          </a:p>
          <a:p>
            <a:r>
              <a:rPr lang="en-US" dirty="0"/>
              <a:t>Let's have an example to clarify the concept:</a:t>
            </a:r>
            <a:br>
              <a:rPr lang="en-US" dirty="0"/>
            </a:br>
            <a:r>
              <a:rPr lang="en-US" dirty="0"/>
              <a:t>Suppose we want the names which are present in STUDENT as well as in EMPLOYEE relation, Relations we used in Basic Operations</a:t>
            </a:r>
            <a:r>
              <a:rPr lang="en-US" dirty="0" smtClean="0"/>
              <a:t>.</a:t>
            </a:r>
          </a:p>
          <a:p>
            <a:pPr marL="0" indent="0">
              <a:buNone/>
            </a:pPr>
            <a:r>
              <a:rPr lang="en-IN" dirty="0" smtClean="0"/>
              <a:t>Ex-∏ NAME(STUDENT) ∩ ∏ NAME(EMPLOYEE)</a:t>
            </a:r>
          </a:p>
          <a:p>
            <a:endParaRPr lang="en-IN" dirty="0"/>
          </a:p>
        </p:txBody>
      </p:sp>
    </p:spTree>
    <p:extLst>
      <p:ext uri="{BB962C8B-B14F-4D97-AF65-F5344CB8AC3E}">
        <p14:creationId xmlns:p14="http://schemas.microsoft.com/office/powerpoint/2010/main" val="33974651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1524000" y="3314541"/>
          <a:ext cx="6096000" cy="1097280"/>
        </p:xfrm>
        <a:graphic>
          <a:graphicData uri="http://schemas.openxmlformats.org/drawingml/2006/table">
            <a:tbl>
              <a:tblPr/>
              <a:tblGrid>
                <a:gridCol w="6096000">
                  <a:extLst>
                    <a:ext uri="{9D8B030D-6E8A-4147-A177-3AD203B41FA5}">
                      <a16:colId xmlns:a16="http://schemas.microsoft.com/office/drawing/2014/main" val="1069100726"/>
                    </a:ext>
                  </a:extLst>
                </a:gridCol>
              </a:tblGrid>
              <a:tr h="0">
                <a:tc>
                  <a:txBody>
                    <a:bodyPr/>
                    <a:lstStyle/>
                    <a:p>
                      <a:pPr algn="ctr"/>
                      <a:r>
                        <a:rPr lang="en-IN">
                          <a:effectLst/>
                        </a:rPr>
                        <a:t>NAME</a:t>
                      </a:r>
                    </a:p>
                  </a:txBody>
                  <a:tcPr anchor="ctr">
                    <a:lnL>
                      <a:noFill/>
                    </a:lnL>
                    <a:lnR>
                      <a:noFill/>
                    </a:lnR>
                    <a:lnT>
                      <a:noFill/>
                    </a:lnT>
                    <a:lnB>
                      <a:noFill/>
                    </a:lnB>
                    <a:solidFill>
                      <a:srgbClr val="FAFBFC"/>
                    </a:solidFill>
                  </a:tcPr>
                </a:tc>
                <a:extLst>
                  <a:ext uri="{0D108BD9-81ED-4DB2-BD59-A6C34878D82A}">
                    <a16:rowId xmlns:a16="http://schemas.microsoft.com/office/drawing/2014/main" val="1746748018"/>
                  </a:ext>
                </a:extLst>
              </a:tr>
              <a:tr h="0">
                <a:tc>
                  <a:txBody>
                    <a:bodyPr/>
                    <a:lstStyle/>
                    <a:p>
                      <a:pPr algn="ctr"/>
                      <a:r>
                        <a:rPr lang="en-IN">
                          <a:effectLst/>
                        </a:rPr>
                        <a:t>Baljeet</a:t>
                      </a:r>
                    </a:p>
                  </a:txBody>
                  <a:tcPr anchor="ctr">
                    <a:lnL>
                      <a:noFill/>
                    </a:lnL>
                    <a:lnR>
                      <a:noFill/>
                    </a:lnR>
                    <a:lnT>
                      <a:noFill/>
                    </a:lnT>
                    <a:lnB>
                      <a:noFill/>
                    </a:lnB>
                    <a:solidFill>
                      <a:srgbClr val="FAFBFC"/>
                    </a:solidFill>
                  </a:tcPr>
                </a:tc>
                <a:extLst>
                  <a:ext uri="{0D108BD9-81ED-4DB2-BD59-A6C34878D82A}">
                    <a16:rowId xmlns:a16="http://schemas.microsoft.com/office/drawing/2014/main" val="1576029908"/>
                  </a:ext>
                </a:extLst>
              </a:tr>
              <a:tr h="0">
                <a:tc>
                  <a:txBody>
                    <a:bodyPr/>
                    <a:lstStyle/>
                    <a:p>
                      <a:pPr algn="ctr"/>
                      <a:r>
                        <a:rPr lang="en-IN" dirty="0">
                          <a:effectLst/>
                        </a:rPr>
                        <a:t>Harsh</a:t>
                      </a:r>
                    </a:p>
                  </a:txBody>
                  <a:tcPr anchor="ctr">
                    <a:lnL>
                      <a:noFill/>
                    </a:lnL>
                    <a:lnR>
                      <a:noFill/>
                    </a:lnR>
                    <a:lnT>
                      <a:noFill/>
                    </a:lnT>
                    <a:lnB>
                      <a:noFill/>
                    </a:lnB>
                    <a:solidFill>
                      <a:srgbClr val="FAFBFC"/>
                    </a:solidFill>
                  </a:tcPr>
                </a:tc>
                <a:extLst>
                  <a:ext uri="{0D108BD9-81ED-4DB2-BD59-A6C34878D82A}">
                    <a16:rowId xmlns:a16="http://schemas.microsoft.com/office/drawing/2014/main" val="922657594"/>
                  </a:ext>
                </a:extLst>
              </a:tr>
            </a:tbl>
          </a:graphicData>
        </a:graphic>
      </p:graphicFrame>
    </p:spTree>
    <p:extLst>
      <p:ext uri="{BB962C8B-B14F-4D97-AF65-F5344CB8AC3E}">
        <p14:creationId xmlns:p14="http://schemas.microsoft.com/office/powerpoint/2010/main" val="31868887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07253"/>
          </a:xfrm>
        </p:spPr>
        <p:txBody>
          <a:bodyPr>
            <a:normAutofit fontScale="90000"/>
          </a:bodyPr>
          <a:lstStyle/>
          <a:p>
            <a:endParaRPr lang="en-IN" dirty="0"/>
          </a:p>
        </p:txBody>
      </p:sp>
      <p:sp>
        <p:nvSpPr>
          <p:cNvPr id="3" name="Content Placeholder 2"/>
          <p:cNvSpPr>
            <a:spLocks noGrp="1"/>
          </p:cNvSpPr>
          <p:nvPr>
            <p:ph idx="1"/>
          </p:nvPr>
        </p:nvSpPr>
        <p:spPr>
          <a:xfrm>
            <a:off x="457200" y="581892"/>
            <a:ext cx="8229600" cy="5999018"/>
          </a:xfrm>
        </p:spPr>
        <p:txBody>
          <a:bodyPr>
            <a:normAutofit fontScale="70000" lnSpcReduction="20000"/>
          </a:bodyPr>
          <a:lstStyle/>
          <a:p>
            <a:r>
              <a:rPr lang="en-US" b="1" dirty="0"/>
              <a:t>Division (÷)</a:t>
            </a:r>
          </a:p>
          <a:p>
            <a:r>
              <a:rPr lang="en-US" dirty="0"/>
              <a:t>Division Operation is represented by "division"(÷ or /) operator and is used in queries that involve keywords </a:t>
            </a:r>
            <a:r>
              <a:rPr lang="en-US" b="1" dirty="0"/>
              <a:t>"every"</a:t>
            </a:r>
            <a:r>
              <a:rPr lang="en-US" dirty="0"/>
              <a:t>, </a:t>
            </a:r>
            <a:r>
              <a:rPr lang="en-US" b="1" dirty="0"/>
              <a:t>"all"</a:t>
            </a:r>
            <a:r>
              <a:rPr lang="en-US" dirty="0"/>
              <a:t>, etc.</a:t>
            </a:r>
            <a:br>
              <a:rPr lang="en-US" dirty="0"/>
            </a:br>
            <a:r>
              <a:rPr lang="en-US" dirty="0"/>
              <a:t>Notation : R(X,Y)/S(Y)</a:t>
            </a:r>
            <a:br>
              <a:rPr lang="en-US" dirty="0"/>
            </a:br>
            <a:r>
              <a:rPr lang="en-US" dirty="0"/>
              <a:t>Here,</a:t>
            </a:r>
            <a:br>
              <a:rPr lang="en-US" dirty="0"/>
            </a:br>
            <a:r>
              <a:rPr lang="en-US" dirty="0"/>
              <a:t>R is the first relation from which data is retrieved.</a:t>
            </a:r>
            <a:br>
              <a:rPr lang="en-US" dirty="0"/>
            </a:br>
            <a:r>
              <a:rPr lang="en-US" dirty="0"/>
              <a:t>S is the second relation that will help to retrieve the data.</a:t>
            </a:r>
            <a:br>
              <a:rPr lang="en-US" dirty="0"/>
            </a:br>
            <a:r>
              <a:rPr lang="en-US" dirty="0"/>
              <a:t>X and Y are the attributes/columns present in relation. We can have multiple attributes in relation, but keep in mind that attributes of S must be a proper subset of attributes of R.</a:t>
            </a:r>
            <a:br>
              <a:rPr lang="en-US" dirty="0"/>
            </a:br>
            <a:r>
              <a:rPr lang="en-US" dirty="0"/>
              <a:t>For each corresponding value of Y, the above notation will return us the value of X from tuple&lt;X,Y&gt; which exists </a:t>
            </a:r>
            <a:r>
              <a:rPr lang="en-US" b="1" dirty="0"/>
              <a:t>everywhere</a:t>
            </a:r>
            <a:r>
              <a:rPr lang="en-US" dirty="0"/>
              <a:t>.</a:t>
            </a:r>
          </a:p>
          <a:p>
            <a:r>
              <a:rPr lang="en-US" dirty="0"/>
              <a:t>It's a bit difficult to understand this in a theoretical way, but you will understand this with an example.</a:t>
            </a:r>
          </a:p>
          <a:p>
            <a:r>
              <a:rPr lang="en-US" dirty="0"/>
              <a:t>Let's have two relations, ENROLLED and COURSE. ENROLLED consist of two attributes STUDENT_ID and COURSE_ID. It denotes the map of students who are enrolled in given courses.</a:t>
            </a:r>
          </a:p>
          <a:p>
            <a:r>
              <a:rPr lang="en-US" dirty="0"/>
              <a:t>COURSE contains the list of courses available.</a:t>
            </a:r>
            <a:br>
              <a:rPr lang="en-US" dirty="0"/>
            </a:br>
            <a:r>
              <a:rPr lang="en-US" dirty="0"/>
              <a:t>See, here attributes/columns of COURSE relation are a proper subset of attributes/columns of ENROLLED relation. Hence Division operation can be used here.</a:t>
            </a:r>
          </a:p>
          <a:p>
            <a:pPr marL="0" indent="0">
              <a:buNone/>
            </a:pPr>
            <a:endParaRPr lang="en-IN" dirty="0"/>
          </a:p>
        </p:txBody>
      </p:sp>
    </p:spTree>
    <p:extLst>
      <p:ext uri="{BB962C8B-B14F-4D97-AF65-F5344CB8AC3E}">
        <p14:creationId xmlns:p14="http://schemas.microsoft.com/office/powerpoint/2010/main" val="24566438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ENROLLED</a:t>
            </a:r>
            <a:br>
              <a:rPr lang="en-US" dirty="0"/>
            </a:br>
            <a:endParaRPr lang="en-IN" dirty="0"/>
          </a:p>
        </p:txBody>
      </p:sp>
      <p:graphicFrame>
        <p:nvGraphicFramePr>
          <p:cNvPr id="4" name="Content Placeholder 3"/>
          <p:cNvGraphicFramePr>
            <a:graphicFrameLocks noGrp="1"/>
          </p:cNvGraphicFramePr>
          <p:nvPr>
            <p:ph idx="1"/>
          </p:nvPr>
        </p:nvGraphicFramePr>
        <p:xfrm>
          <a:off x="457200" y="2948781"/>
          <a:ext cx="8229600" cy="1828800"/>
        </p:xfrm>
        <a:graphic>
          <a:graphicData uri="http://schemas.openxmlformats.org/drawingml/2006/table">
            <a:tbl>
              <a:tblPr/>
              <a:tblGrid>
                <a:gridCol w="4114800">
                  <a:extLst>
                    <a:ext uri="{9D8B030D-6E8A-4147-A177-3AD203B41FA5}">
                      <a16:colId xmlns:a16="http://schemas.microsoft.com/office/drawing/2014/main" val="1623596662"/>
                    </a:ext>
                  </a:extLst>
                </a:gridCol>
                <a:gridCol w="4114800">
                  <a:extLst>
                    <a:ext uri="{9D8B030D-6E8A-4147-A177-3AD203B41FA5}">
                      <a16:colId xmlns:a16="http://schemas.microsoft.com/office/drawing/2014/main" val="2402898193"/>
                    </a:ext>
                  </a:extLst>
                </a:gridCol>
              </a:tblGrid>
              <a:tr h="0">
                <a:tc>
                  <a:txBody>
                    <a:bodyPr/>
                    <a:lstStyle/>
                    <a:p>
                      <a:pPr algn="ctr"/>
                      <a:r>
                        <a:rPr lang="en-IN">
                          <a:effectLst/>
                        </a:rPr>
                        <a:t>STUDENT_ID</a:t>
                      </a:r>
                    </a:p>
                  </a:txBody>
                  <a:tcPr anchor="ctr">
                    <a:lnL>
                      <a:noFill/>
                    </a:lnL>
                    <a:lnR>
                      <a:noFill/>
                    </a:lnR>
                    <a:lnT>
                      <a:noFill/>
                    </a:lnT>
                    <a:lnB>
                      <a:noFill/>
                    </a:lnB>
                  </a:tcPr>
                </a:tc>
                <a:tc>
                  <a:txBody>
                    <a:bodyPr/>
                    <a:lstStyle/>
                    <a:p>
                      <a:pPr algn="ctr"/>
                      <a:r>
                        <a:rPr lang="en-IN">
                          <a:effectLst/>
                        </a:rPr>
                        <a:t>COURSE_ID</a:t>
                      </a:r>
                    </a:p>
                  </a:txBody>
                  <a:tcPr anchor="ctr">
                    <a:lnL>
                      <a:noFill/>
                    </a:lnL>
                    <a:lnR>
                      <a:noFill/>
                    </a:lnR>
                    <a:lnT>
                      <a:noFill/>
                    </a:lnT>
                    <a:lnB>
                      <a:noFill/>
                    </a:lnB>
                  </a:tcPr>
                </a:tc>
                <a:extLst>
                  <a:ext uri="{0D108BD9-81ED-4DB2-BD59-A6C34878D82A}">
                    <a16:rowId xmlns:a16="http://schemas.microsoft.com/office/drawing/2014/main" val="3758882983"/>
                  </a:ext>
                </a:extLst>
              </a:tr>
              <a:tr h="0">
                <a:tc>
                  <a:txBody>
                    <a:bodyPr/>
                    <a:lstStyle/>
                    <a:p>
                      <a:pPr algn="ctr"/>
                      <a:r>
                        <a:rPr lang="en-IN">
                          <a:effectLst/>
                        </a:rPr>
                        <a:t>Student_1</a:t>
                      </a:r>
                    </a:p>
                  </a:txBody>
                  <a:tcPr anchor="ctr">
                    <a:lnL>
                      <a:noFill/>
                    </a:lnL>
                    <a:lnR>
                      <a:noFill/>
                    </a:lnR>
                    <a:lnT>
                      <a:noFill/>
                    </a:lnT>
                    <a:lnB>
                      <a:noFill/>
                    </a:lnB>
                  </a:tcPr>
                </a:tc>
                <a:tc>
                  <a:txBody>
                    <a:bodyPr/>
                    <a:lstStyle/>
                    <a:p>
                      <a:pPr algn="ctr"/>
                      <a:r>
                        <a:rPr lang="en-IN">
                          <a:effectLst/>
                        </a:rPr>
                        <a:t>DBMS</a:t>
                      </a:r>
                    </a:p>
                  </a:txBody>
                  <a:tcPr anchor="ctr">
                    <a:lnL>
                      <a:noFill/>
                    </a:lnL>
                    <a:lnR>
                      <a:noFill/>
                    </a:lnR>
                    <a:lnT>
                      <a:noFill/>
                    </a:lnT>
                    <a:lnB>
                      <a:noFill/>
                    </a:lnB>
                  </a:tcPr>
                </a:tc>
                <a:extLst>
                  <a:ext uri="{0D108BD9-81ED-4DB2-BD59-A6C34878D82A}">
                    <a16:rowId xmlns:a16="http://schemas.microsoft.com/office/drawing/2014/main" val="913561787"/>
                  </a:ext>
                </a:extLst>
              </a:tr>
              <a:tr h="0">
                <a:tc>
                  <a:txBody>
                    <a:bodyPr/>
                    <a:lstStyle/>
                    <a:p>
                      <a:pPr algn="ctr"/>
                      <a:r>
                        <a:rPr lang="en-IN">
                          <a:effectLst/>
                        </a:rPr>
                        <a:t>Student_2</a:t>
                      </a:r>
                    </a:p>
                  </a:txBody>
                  <a:tcPr anchor="ctr">
                    <a:lnL>
                      <a:noFill/>
                    </a:lnL>
                    <a:lnR>
                      <a:noFill/>
                    </a:lnR>
                    <a:lnT>
                      <a:noFill/>
                    </a:lnT>
                    <a:lnB>
                      <a:noFill/>
                    </a:lnB>
                  </a:tcPr>
                </a:tc>
                <a:tc>
                  <a:txBody>
                    <a:bodyPr/>
                    <a:lstStyle/>
                    <a:p>
                      <a:pPr algn="ctr"/>
                      <a:r>
                        <a:rPr lang="en-IN">
                          <a:effectLst/>
                        </a:rPr>
                        <a:t>DBMS</a:t>
                      </a:r>
                    </a:p>
                  </a:txBody>
                  <a:tcPr anchor="ctr">
                    <a:lnL>
                      <a:noFill/>
                    </a:lnL>
                    <a:lnR>
                      <a:noFill/>
                    </a:lnR>
                    <a:lnT>
                      <a:noFill/>
                    </a:lnT>
                    <a:lnB>
                      <a:noFill/>
                    </a:lnB>
                  </a:tcPr>
                </a:tc>
                <a:extLst>
                  <a:ext uri="{0D108BD9-81ED-4DB2-BD59-A6C34878D82A}">
                    <a16:rowId xmlns:a16="http://schemas.microsoft.com/office/drawing/2014/main" val="860252877"/>
                  </a:ext>
                </a:extLst>
              </a:tr>
              <a:tr h="0">
                <a:tc>
                  <a:txBody>
                    <a:bodyPr/>
                    <a:lstStyle/>
                    <a:p>
                      <a:pPr algn="ctr"/>
                      <a:r>
                        <a:rPr lang="en-IN">
                          <a:effectLst/>
                        </a:rPr>
                        <a:t>Student_1</a:t>
                      </a:r>
                    </a:p>
                  </a:txBody>
                  <a:tcPr anchor="ctr">
                    <a:lnL>
                      <a:noFill/>
                    </a:lnL>
                    <a:lnR>
                      <a:noFill/>
                    </a:lnR>
                    <a:lnT>
                      <a:noFill/>
                    </a:lnT>
                    <a:lnB>
                      <a:noFill/>
                    </a:lnB>
                  </a:tcPr>
                </a:tc>
                <a:tc>
                  <a:txBody>
                    <a:bodyPr/>
                    <a:lstStyle/>
                    <a:p>
                      <a:pPr algn="ctr"/>
                      <a:r>
                        <a:rPr lang="en-IN">
                          <a:effectLst/>
                        </a:rPr>
                        <a:t>OS</a:t>
                      </a:r>
                    </a:p>
                  </a:txBody>
                  <a:tcPr anchor="ctr">
                    <a:lnL>
                      <a:noFill/>
                    </a:lnL>
                    <a:lnR>
                      <a:noFill/>
                    </a:lnR>
                    <a:lnT>
                      <a:noFill/>
                    </a:lnT>
                    <a:lnB>
                      <a:noFill/>
                    </a:lnB>
                  </a:tcPr>
                </a:tc>
                <a:extLst>
                  <a:ext uri="{0D108BD9-81ED-4DB2-BD59-A6C34878D82A}">
                    <a16:rowId xmlns:a16="http://schemas.microsoft.com/office/drawing/2014/main" val="3386496621"/>
                  </a:ext>
                </a:extLst>
              </a:tr>
              <a:tr h="0">
                <a:tc>
                  <a:txBody>
                    <a:bodyPr/>
                    <a:lstStyle/>
                    <a:p>
                      <a:pPr algn="ctr"/>
                      <a:r>
                        <a:rPr lang="en-IN">
                          <a:effectLst/>
                        </a:rPr>
                        <a:t>Student_3</a:t>
                      </a:r>
                    </a:p>
                  </a:txBody>
                  <a:tcPr anchor="ctr">
                    <a:lnL>
                      <a:noFill/>
                    </a:lnL>
                    <a:lnR>
                      <a:noFill/>
                    </a:lnR>
                    <a:lnT>
                      <a:noFill/>
                    </a:lnT>
                    <a:lnB>
                      <a:noFill/>
                    </a:lnB>
                  </a:tcPr>
                </a:tc>
                <a:tc>
                  <a:txBody>
                    <a:bodyPr/>
                    <a:lstStyle/>
                    <a:p>
                      <a:pPr algn="ctr"/>
                      <a:r>
                        <a:rPr lang="en-IN" dirty="0">
                          <a:effectLst/>
                        </a:rPr>
                        <a:t>OS</a:t>
                      </a:r>
                    </a:p>
                  </a:txBody>
                  <a:tcPr anchor="ctr">
                    <a:lnL>
                      <a:noFill/>
                    </a:lnL>
                    <a:lnR>
                      <a:noFill/>
                    </a:lnR>
                    <a:lnT>
                      <a:noFill/>
                    </a:lnT>
                    <a:lnB>
                      <a:noFill/>
                    </a:lnB>
                  </a:tcPr>
                </a:tc>
                <a:extLst>
                  <a:ext uri="{0D108BD9-81ED-4DB2-BD59-A6C34878D82A}">
                    <a16:rowId xmlns:a16="http://schemas.microsoft.com/office/drawing/2014/main" val="1693537625"/>
                  </a:ext>
                </a:extLst>
              </a:tr>
            </a:tbl>
          </a:graphicData>
        </a:graphic>
      </p:graphicFrame>
    </p:spTree>
    <p:extLst>
      <p:ext uri="{BB962C8B-B14F-4D97-AF65-F5344CB8AC3E}">
        <p14:creationId xmlns:p14="http://schemas.microsoft.com/office/powerpoint/2010/main" val="40336324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a:t>
            </a:r>
            <a:endParaRPr lang="en-IN" dirty="0"/>
          </a:p>
        </p:txBody>
      </p:sp>
      <p:graphicFrame>
        <p:nvGraphicFramePr>
          <p:cNvPr id="4" name="Content Placeholder 3"/>
          <p:cNvGraphicFramePr>
            <a:graphicFrameLocks noGrp="1"/>
          </p:cNvGraphicFramePr>
          <p:nvPr>
            <p:ph idx="1"/>
          </p:nvPr>
        </p:nvGraphicFramePr>
        <p:xfrm>
          <a:off x="1524000" y="3314541"/>
          <a:ext cx="6096000" cy="1097280"/>
        </p:xfrm>
        <a:graphic>
          <a:graphicData uri="http://schemas.openxmlformats.org/drawingml/2006/table">
            <a:tbl>
              <a:tblPr/>
              <a:tblGrid>
                <a:gridCol w="6096000">
                  <a:extLst>
                    <a:ext uri="{9D8B030D-6E8A-4147-A177-3AD203B41FA5}">
                      <a16:colId xmlns:a16="http://schemas.microsoft.com/office/drawing/2014/main" val="1192012467"/>
                    </a:ext>
                  </a:extLst>
                </a:gridCol>
              </a:tblGrid>
              <a:tr h="0">
                <a:tc>
                  <a:txBody>
                    <a:bodyPr/>
                    <a:lstStyle/>
                    <a:p>
                      <a:pPr algn="ctr"/>
                      <a:r>
                        <a:rPr lang="en-IN">
                          <a:effectLst/>
                        </a:rPr>
                        <a:t>COURSE_ID</a:t>
                      </a:r>
                    </a:p>
                  </a:txBody>
                  <a:tcPr anchor="ctr">
                    <a:lnL>
                      <a:noFill/>
                    </a:lnL>
                    <a:lnR>
                      <a:noFill/>
                    </a:lnR>
                    <a:lnT>
                      <a:noFill/>
                    </a:lnT>
                    <a:lnB>
                      <a:noFill/>
                    </a:lnB>
                    <a:solidFill>
                      <a:srgbClr val="FAFBFC"/>
                    </a:solidFill>
                  </a:tcPr>
                </a:tc>
                <a:extLst>
                  <a:ext uri="{0D108BD9-81ED-4DB2-BD59-A6C34878D82A}">
                    <a16:rowId xmlns:a16="http://schemas.microsoft.com/office/drawing/2014/main" val="1182966081"/>
                  </a:ext>
                </a:extLst>
              </a:tr>
              <a:tr h="0">
                <a:tc>
                  <a:txBody>
                    <a:bodyPr/>
                    <a:lstStyle/>
                    <a:p>
                      <a:pPr algn="ctr"/>
                      <a:r>
                        <a:rPr lang="en-IN">
                          <a:effectLst/>
                        </a:rPr>
                        <a:t>DBMS</a:t>
                      </a:r>
                    </a:p>
                  </a:txBody>
                  <a:tcPr anchor="ctr">
                    <a:lnL>
                      <a:noFill/>
                    </a:lnL>
                    <a:lnR>
                      <a:noFill/>
                    </a:lnR>
                    <a:lnT>
                      <a:noFill/>
                    </a:lnT>
                    <a:lnB>
                      <a:noFill/>
                    </a:lnB>
                    <a:solidFill>
                      <a:srgbClr val="FAFBFC"/>
                    </a:solidFill>
                  </a:tcPr>
                </a:tc>
                <a:extLst>
                  <a:ext uri="{0D108BD9-81ED-4DB2-BD59-A6C34878D82A}">
                    <a16:rowId xmlns:a16="http://schemas.microsoft.com/office/drawing/2014/main" val="1057269859"/>
                  </a:ext>
                </a:extLst>
              </a:tr>
              <a:tr h="0">
                <a:tc>
                  <a:txBody>
                    <a:bodyPr/>
                    <a:lstStyle/>
                    <a:p>
                      <a:pPr algn="ctr"/>
                      <a:r>
                        <a:rPr lang="en-IN" dirty="0">
                          <a:effectLst/>
                        </a:rPr>
                        <a:t>OS</a:t>
                      </a:r>
                    </a:p>
                  </a:txBody>
                  <a:tcPr anchor="ctr">
                    <a:lnL>
                      <a:noFill/>
                    </a:lnL>
                    <a:lnR>
                      <a:noFill/>
                    </a:lnR>
                    <a:lnT>
                      <a:noFill/>
                    </a:lnT>
                    <a:lnB>
                      <a:noFill/>
                    </a:lnB>
                    <a:solidFill>
                      <a:srgbClr val="FAFBFC"/>
                    </a:solidFill>
                  </a:tcPr>
                </a:tc>
                <a:extLst>
                  <a:ext uri="{0D108BD9-81ED-4DB2-BD59-A6C34878D82A}">
                    <a16:rowId xmlns:a16="http://schemas.microsoft.com/office/drawing/2014/main" val="1759107346"/>
                  </a:ext>
                </a:extLst>
              </a:tr>
            </a:tbl>
          </a:graphicData>
        </a:graphic>
      </p:graphicFrame>
    </p:spTree>
    <p:extLst>
      <p:ext uri="{BB962C8B-B14F-4D97-AF65-F5344CB8AC3E}">
        <p14:creationId xmlns:p14="http://schemas.microsoft.com/office/powerpoint/2010/main" val="36487414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ENROLLED(STUDENT_ID, COURSE_ID)/COURSE(COURSE_ID)</a:t>
            </a:r>
            <a:br>
              <a:rPr lang="en-IN" dirty="0"/>
            </a:br>
            <a:endParaRPr lang="en-IN" dirty="0"/>
          </a:p>
        </p:txBody>
      </p:sp>
      <p:graphicFrame>
        <p:nvGraphicFramePr>
          <p:cNvPr id="4" name="Content Placeholder 3"/>
          <p:cNvGraphicFramePr>
            <a:graphicFrameLocks noGrp="1"/>
          </p:cNvGraphicFramePr>
          <p:nvPr>
            <p:ph idx="1"/>
          </p:nvPr>
        </p:nvGraphicFramePr>
        <p:xfrm>
          <a:off x="1524000" y="3497421"/>
          <a:ext cx="6096000" cy="731520"/>
        </p:xfrm>
        <a:graphic>
          <a:graphicData uri="http://schemas.openxmlformats.org/drawingml/2006/table">
            <a:tbl>
              <a:tblPr/>
              <a:tblGrid>
                <a:gridCol w="6096000">
                  <a:extLst>
                    <a:ext uri="{9D8B030D-6E8A-4147-A177-3AD203B41FA5}">
                      <a16:colId xmlns:a16="http://schemas.microsoft.com/office/drawing/2014/main" val="2424066616"/>
                    </a:ext>
                  </a:extLst>
                </a:gridCol>
              </a:tblGrid>
              <a:tr h="0">
                <a:tc>
                  <a:txBody>
                    <a:bodyPr/>
                    <a:lstStyle/>
                    <a:p>
                      <a:pPr algn="ctr"/>
                      <a:r>
                        <a:rPr lang="en-IN">
                          <a:effectLst/>
                        </a:rPr>
                        <a:t>STUDENT_ID</a:t>
                      </a:r>
                    </a:p>
                  </a:txBody>
                  <a:tcPr anchor="ctr">
                    <a:lnL>
                      <a:noFill/>
                    </a:lnL>
                    <a:lnR>
                      <a:noFill/>
                    </a:lnR>
                    <a:lnT>
                      <a:noFill/>
                    </a:lnT>
                    <a:lnB>
                      <a:noFill/>
                    </a:lnB>
                    <a:solidFill>
                      <a:srgbClr val="FAFBFC"/>
                    </a:solidFill>
                  </a:tcPr>
                </a:tc>
                <a:extLst>
                  <a:ext uri="{0D108BD9-81ED-4DB2-BD59-A6C34878D82A}">
                    <a16:rowId xmlns:a16="http://schemas.microsoft.com/office/drawing/2014/main" val="1670448707"/>
                  </a:ext>
                </a:extLst>
              </a:tr>
              <a:tr h="0">
                <a:tc>
                  <a:txBody>
                    <a:bodyPr/>
                    <a:lstStyle/>
                    <a:p>
                      <a:pPr algn="ctr"/>
                      <a:r>
                        <a:rPr lang="en-IN" dirty="0">
                          <a:effectLst/>
                        </a:rPr>
                        <a:t>Student_1</a:t>
                      </a:r>
                    </a:p>
                  </a:txBody>
                  <a:tcPr anchor="ctr">
                    <a:lnL>
                      <a:noFill/>
                    </a:lnL>
                    <a:lnR>
                      <a:noFill/>
                    </a:lnR>
                    <a:lnT>
                      <a:noFill/>
                    </a:lnT>
                    <a:lnB>
                      <a:noFill/>
                    </a:lnB>
                    <a:solidFill>
                      <a:srgbClr val="FAFBFC"/>
                    </a:solidFill>
                  </a:tcPr>
                </a:tc>
                <a:extLst>
                  <a:ext uri="{0D108BD9-81ED-4DB2-BD59-A6C34878D82A}">
                    <a16:rowId xmlns:a16="http://schemas.microsoft.com/office/drawing/2014/main" val="4060699745"/>
                  </a:ext>
                </a:extLst>
              </a:tr>
            </a:tbl>
          </a:graphicData>
        </a:graphic>
      </p:graphicFrame>
    </p:spTree>
    <p:extLst>
      <p:ext uri="{BB962C8B-B14F-4D97-AF65-F5344CB8AC3E}">
        <p14:creationId xmlns:p14="http://schemas.microsoft.com/office/powerpoint/2010/main" val="17682644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9653"/>
          </a:xfrm>
        </p:spPr>
        <p:txBody>
          <a:bodyPr>
            <a:normAutofit fontScale="90000"/>
          </a:bodyPr>
          <a:lstStyle/>
          <a:p>
            <a:r>
              <a:rPr lang="en-US" b="1" dirty="0" smtClean="0"/>
              <a:t/>
            </a:r>
            <a:br>
              <a:rPr lang="en-US" b="1" dirty="0" smtClean="0"/>
            </a:br>
            <a:r>
              <a:rPr lang="en-US" b="1" dirty="0" smtClean="0"/>
              <a:t>Takeaway</a:t>
            </a:r>
            <a:r>
              <a:rPr lang="en-US" b="1" dirty="0"/>
              <a:t/>
            </a:r>
            <a:br>
              <a:rPr lang="en-US" b="1" dirty="0"/>
            </a:br>
            <a:endParaRPr lang="en-IN" dirty="0"/>
          </a:p>
        </p:txBody>
      </p:sp>
      <p:sp>
        <p:nvSpPr>
          <p:cNvPr id="3" name="Content Placeholder 2"/>
          <p:cNvSpPr>
            <a:spLocks noGrp="1"/>
          </p:cNvSpPr>
          <p:nvPr>
            <p:ph idx="1"/>
          </p:nvPr>
        </p:nvSpPr>
        <p:spPr>
          <a:xfrm>
            <a:off x="457200" y="734291"/>
            <a:ext cx="8229600" cy="5846617"/>
          </a:xfrm>
        </p:spPr>
        <p:txBody>
          <a:bodyPr numCol="2">
            <a:normAutofit fontScale="62500" lnSpcReduction="20000"/>
          </a:bodyPr>
          <a:lstStyle/>
          <a:p>
            <a:pPr algn="just"/>
            <a:r>
              <a:rPr lang="en-US" dirty="0" smtClean="0"/>
              <a:t>Theta </a:t>
            </a:r>
            <a:r>
              <a:rPr lang="en-US" dirty="0"/>
              <a:t>Join (θ) combines two relations based on a condition.</a:t>
            </a:r>
          </a:p>
          <a:p>
            <a:pPr algn="just"/>
            <a:r>
              <a:rPr lang="en-US" dirty="0"/>
              <a:t>Equi Join is a type of Theta Join where only equality condition (=) is used.</a:t>
            </a:r>
          </a:p>
          <a:p>
            <a:pPr algn="just"/>
            <a:r>
              <a:rPr lang="en-US" dirty="0"/>
              <a:t>Natural Join (⋈) combines two relations based on a common attribute (preferably foreign key).</a:t>
            </a:r>
          </a:p>
          <a:p>
            <a:pPr algn="just"/>
            <a:r>
              <a:rPr lang="en-US" dirty="0"/>
              <a:t>Left Outer Join (⟕) returns the matching tuples and tuples which are only present in the left relation.</a:t>
            </a:r>
          </a:p>
          <a:p>
            <a:pPr algn="just"/>
            <a:r>
              <a:rPr lang="en-US" dirty="0"/>
              <a:t>Right Outer Join (⟖) returns the matching tuples and tuples which are only present in the right relation.</a:t>
            </a:r>
          </a:p>
          <a:p>
            <a:pPr algn="just"/>
            <a:r>
              <a:rPr lang="en-US" dirty="0"/>
              <a:t>Full Outer Join (⟗) returns all the tuples present in the left and right relations. :::</a:t>
            </a:r>
          </a:p>
          <a:p>
            <a:pPr algn="just"/>
            <a:r>
              <a:rPr lang="en-US" b="1" dirty="0"/>
              <a:t>Conclusion</a:t>
            </a:r>
          </a:p>
          <a:p>
            <a:pPr algn="just"/>
            <a:r>
              <a:rPr lang="en-US" dirty="0"/>
              <a:t>Relational Algebra in DBMS is a theoretical model which is the fundamental block for SQL. It comprises different mathematics operations.</a:t>
            </a:r>
          </a:p>
          <a:p>
            <a:pPr algn="just"/>
            <a:r>
              <a:rPr lang="en-US" dirty="0"/>
              <a:t>Operations are divided into two main categories: Basic and Derived.</a:t>
            </a:r>
          </a:p>
          <a:p>
            <a:pPr algn="just"/>
            <a:r>
              <a:rPr lang="en-US" b="1" dirty="0"/>
              <a:t>Basic consists of six Operations: SELECT, PROJECT, UNION, SET DIFFERENCE, CARTESIAN PRODUCT, RENAME</a:t>
            </a:r>
            <a:r>
              <a:rPr lang="en-US" dirty="0"/>
              <a:t>.</a:t>
            </a:r>
          </a:p>
          <a:p>
            <a:pPr algn="just"/>
            <a:r>
              <a:rPr lang="en-US" b="1" dirty="0"/>
              <a:t>Derived Consist of three Operations: JOINS, INTERSECTION, DIVISION</a:t>
            </a:r>
            <a:r>
              <a:rPr lang="en-US" dirty="0"/>
              <a:t>.</a:t>
            </a:r>
          </a:p>
          <a:p>
            <a:pPr algn="just"/>
            <a:r>
              <a:rPr lang="en-US" dirty="0"/>
              <a:t>Joins are of two types: </a:t>
            </a:r>
            <a:r>
              <a:rPr lang="en-US" dirty="0">
                <a:hlinkClick r:id="rId2"/>
              </a:rPr>
              <a:t>Inner Join and Outer Join</a:t>
            </a:r>
            <a:r>
              <a:rPr lang="en-US" dirty="0"/>
              <a:t> . Inner Join is further classified into three types: Theta Join, Equi Join, and Natural Join. Outer Join also consists of three types: Left Outer Join, Right Outer Join, and Full Outer Join.</a:t>
            </a:r>
          </a:p>
          <a:p>
            <a:endParaRPr lang="en-IN" dirty="0"/>
          </a:p>
        </p:txBody>
      </p:sp>
    </p:spTree>
    <p:extLst>
      <p:ext uri="{BB962C8B-B14F-4D97-AF65-F5344CB8AC3E}">
        <p14:creationId xmlns:p14="http://schemas.microsoft.com/office/powerpoint/2010/main" val="33191161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Select (σ)</a:t>
            </a:r>
            <a:br>
              <a:rPr lang="en-US" b="1"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Select </a:t>
            </a:r>
            <a:r>
              <a:rPr lang="en-US" dirty="0"/>
              <a:t>operation is done by Selection Operator which is represented by "sigma"(σ). It is used to retrieve tuples(rows) from the table where the given condition is satisfied. It is a </a:t>
            </a:r>
            <a:r>
              <a:rPr lang="en-US" b="1" dirty="0"/>
              <a:t>unary operator</a:t>
            </a:r>
            <a:r>
              <a:rPr lang="en-US" dirty="0"/>
              <a:t> means it requires only one operand.</a:t>
            </a:r>
            <a:br>
              <a:rPr lang="en-US" dirty="0"/>
            </a:br>
            <a:r>
              <a:rPr lang="en-US" dirty="0"/>
              <a:t>Notation : σ p(R)</a:t>
            </a:r>
            <a:br>
              <a:rPr lang="en-US" dirty="0"/>
            </a:br>
            <a:r>
              <a:rPr lang="en-US" dirty="0"/>
              <a:t>Where σ is used to represent SELECTION</a:t>
            </a:r>
            <a:br>
              <a:rPr lang="en-US" dirty="0"/>
            </a:br>
            <a:r>
              <a:rPr lang="en-US" dirty="0"/>
              <a:t>R is used to represent RELATION</a:t>
            </a:r>
            <a:br>
              <a:rPr lang="en-US" dirty="0"/>
            </a:br>
            <a:r>
              <a:rPr lang="en-US" dirty="0"/>
              <a:t>p is the logic formula</a:t>
            </a:r>
            <a:br>
              <a:rPr lang="en-US" dirty="0"/>
            </a:br>
            <a:r>
              <a:rPr lang="en-US" dirty="0"/>
              <a:t>Let's understand this with an example:</a:t>
            </a:r>
            <a:br>
              <a:rPr lang="en-US" dirty="0"/>
            </a:br>
            <a:r>
              <a:rPr lang="en-US" dirty="0"/>
              <a:t>Suppose we want the row(s) from STUDENT Relation where "AGE" is 20</a:t>
            </a:r>
          </a:p>
          <a:p>
            <a:endParaRPr lang="en-IN" dirty="0"/>
          </a:p>
        </p:txBody>
      </p:sp>
    </p:spTree>
    <p:extLst>
      <p:ext uri="{BB962C8B-B14F-4D97-AF65-F5344CB8AC3E}">
        <p14:creationId xmlns:p14="http://schemas.microsoft.com/office/powerpoint/2010/main" val="11012245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Employee Table</a:t>
            </a:r>
          </a:p>
        </p:txBody>
      </p:sp>
      <p:sp>
        <p:nvSpPr>
          <p:cNvPr id="3" name="TextBox 2"/>
          <p:cNvSpPr txBox="1"/>
          <p:nvPr/>
        </p:nvSpPr>
        <p:spPr>
          <a:xfrm>
            <a:off x="914400" y="1371600"/>
            <a:ext cx="7315200" cy="1828800"/>
          </a:xfrm>
          <a:prstGeom prst="rect">
            <a:avLst/>
          </a:prstGeom>
          <a:noFill/>
        </p:spPr>
        <p:txBody>
          <a:bodyPr wrap="none">
            <a:spAutoFit/>
          </a:bodyPr>
          <a:lstStyle/>
          <a:p>
            <a:r>
              <a:t>EmpID | Name   | Age | Department | Salary  </a:t>
            </a:r>
          </a:p>
          <a:p>
            <a:r>
              <a:t>------|--------|-----|------------|---------</a:t>
            </a:r>
          </a:p>
          <a:p>
            <a:r>
              <a:t>101   | Alice  | 25  | HR         | 50000   </a:t>
            </a:r>
          </a:p>
          <a:p>
            <a:r>
              <a:t>102   | Bob    | 28  | IT         | 60000   </a:t>
            </a:r>
          </a:p>
          <a:p>
            <a:r>
              <a:t>103   | Charlie| 30  | IT         | 70000   </a:t>
            </a:r>
          </a:p>
          <a:p>
            <a:r>
              <a:t>104   | David  | 35  | Finance    | 80000   </a:t>
            </a:r>
          </a:p>
          <a:p>
            <a:r>
              <a:t>105   | Eve    | 27  | HR         | 55000   </a:t>
            </a:r>
          </a:p>
          <a:p>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1. Selection (σ) - Find IT Department Employees</a:t>
            </a:r>
          </a:p>
        </p:txBody>
      </p:sp>
      <p:sp>
        <p:nvSpPr>
          <p:cNvPr id="3" name="TextBox 2"/>
          <p:cNvSpPr txBox="1"/>
          <p:nvPr/>
        </p:nvSpPr>
        <p:spPr>
          <a:xfrm>
            <a:off x="914400" y="1371600"/>
            <a:ext cx="7315200" cy="1828800"/>
          </a:xfrm>
          <a:prstGeom prst="rect">
            <a:avLst/>
          </a:prstGeom>
          <a:noFill/>
        </p:spPr>
        <p:txBody>
          <a:bodyPr wrap="none">
            <a:spAutoFit/>
          </a:bodyPr>
          <a:lstStyle/>
          <a:p>
            <a:r>
              <a:t>Query: σ_Department='IT' (Employee)</a:t>
            </a:r>
          </a:p>
          <a:p>
            <a:endParaRPr/>
          </a:p>
          <a:p>
            <a:r>
              <a:t>Result:</a:t>
            </a:r>
          </a:p>
          <a:p>
            <a:r>
              <a:t>EmpID | Name   | Age | Department | Salary  </a:t>
            </a:r>
          </a:p>
          <a:p>
            <a:r>
              <a:t>------|--------|-----|------------|---------</a:t>
            </a:r>
          </a:p>
          <a:p>
            <a:r>
              <a:t>102   | Bob    | 28  | IT         | 60000   </a:t>
            </a:r>
          </a:p>
          <a:p>
            <a:r>
              <a:t>103   | Charlie| 30  | IT         | 70000   </a:t>
            </a:r>
          </a:p>
          <a:p>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 Projection (π) - Names and Salaries</a:t>
            </a:r>
          </a:p>
        </p:txBody>
      </p:sp>
      <p:sp>
        <p:nvSpPr>
          <p:cNvPr id="3" name="TextBox 2"/>
          <p:cNvSpPr txBox="1"/>
          <p:nvPr/>
        </p:nvSpPr>
        <p:spPr>
          <a:xfrm>
            <a:off x="914400" y="1371600"/>
            <a:ext cx="7315200" cy="1828800"/>
          </a:xfrm>
          <a:prstGeom prst="rect">
            <a:avLst/>
          </a:prstGeom>
          <a:noFill/>
        </p:spPr>
        <p:txBody>
          <a:bodyPr wrap="none">
            <a:spAutoFit/>
          </a:bodyPr>
          <a:lstStyle/>
          <a:p>
            <a:r>
              <a:t>Query: π_Name, Salary (Employee)</a:t>
            </a:r>
          </a:p>
          <a:p>
            <a:endParaRPr/>
          </a:p>
          <a:p>
            <a:r>
              <a:t>Result:</a:t>
            </a:r>
          </a:p>
          <a:p>
            <a:r>
              <a:t>Name   | Salary  </a:t>
            </a:r>
          </a:p>
          <a:p>
            <a:r>
              <a:t>--------|---------</a:t>
            </a:r>
          </a:p>
          <a:p>
            <a:r>
              <a:t>Alice  | 50000   </a:t>
            </a:r>
          </a:p>
          <a:p>
            <a:r>
              <a:t>Bob    | 60000   </a:t>
            </a:r>
          </a:p>
          <a:p>
            <a:r>
              <a:t>Charlie| 70000   </a:t>
            </a:r>
          </a:p>
          <a:p>
            <a:r>
              <a:t>David  | 80000   </a:t>
            </a:r>
          </a:p>
          <a:p>
            <a:r>
              <a:t>Eve    | 55000   </a:t>
            </a:r>
          </a:p>
          <a:p>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3. Cartesian Product (×) - Employee and Project</a:t>
            </a:r>
          </a:p>
        </p:txBody>
      </p:sp>
      <p:sp>
        <p:nvSpPr>
          <p:cNvPr id="3" name="TextBox 2"/>
          <p:cNvSpPr txBox="1"/>
          <p:nvPr/>
        </p:nvSpPr>
        <p:spPr>
          <a:xfrm>
            <a:off x="914400" y="1371600"/>
            <a:ext cx="7315200" cy="1828800"/>
          </a:xfrm>
          <a:prstGeom prst="rect">
            <a:avLst/>
          </a:prstGeom>
          <a:noFill/>
        </p:spPr>
        <p:txBody>
          <a:bodyPr wrap="none">
            <a:spAutoFit/>
          </a:bodyPr>
          <a:lstStyle/>
          <a:p>
            <a:r>
              <a:t>Query: Employee × Project</a:t>
            </a:r>
          </a:p>
          <a:p>
            <a:endParaRPr/>
          </a:p>
          <a:p>
            <a:r>
              <a:t>Result: (Partial View)</a:t>
            </a:r>
          </a:p>
          <a:p>
            <a:r>
              <a:t>EmpID | Name   | Age | ProjID | ProjName  </a:t>
            </a:r>
          </a:p>
          <a:p>
            <a:r>
              <a:t>------|--------|-----|--------|----------</a:t>
            </a:r>
          </a:p>
          <a:p>
            <a:r>
              <a:t>101   | Alice  | 25  | P1     | Alpha    </a:t>
            </a:r>
          </a:p>
          <a:p>
            <a:r>
              <a:t>102   | Bob    | 28  | P2     | Beta     </a:t>
            </a:r>
          </a:p>
          <a:p>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4. Natural Join (⨝) - Employees and Projects</a:t>
            </a:r>
          </a:p>
        </p:txBody>
      </p:sp>
      <p:sp>
        <p:nvSpPr>
          <p:cNvPr id="3" name="TextBox 2"/>
          <p:cNvSpPr txBox="1"/>
          <p:nvPr/>
        </p:nvSpPr>
        <p:spPr>
          <a:xfrm>
            <a:off x="914400" y="1371600"/>
            <a:ext cx="7315200" cy="1828800"/>
          </a:xfrm>
          <a:prstGeom prst="rect">
            <a:avLst/>
          </a:prstGeom>
          <a:noFill/>
        </p:spPr>
        <p:txBody>
          <a:bodyPr wrap="none">
            <a:spAutoFit/>
          </a:bodyPr>
          <a:lstStyle/>
          <a:p>
            <a:r>
              <a:t>Query: Employee ⨝ Project</a:t>
            </a:r>
          </a:p>
          <a:p>
            <a:endParaRPr/>
          </a:p>
          <a:p>
            <a:r>
              <a:t>Result:</a:t>
            </a:r>
          </a:p>
          <a:p>
            <a:r>
              <a:t>EmpID | Name   | Age | Department | Salary | ProjID | ProjName  </a:t>
            </a:r>
          </a:p>
          <a:p>
            <a:r>
              <a:t>------|--------|-----|------------|--------|--------|----------</a:t>
            </a:r>
          </a:p>
          <a:p>
            <a:r>
              <a:t>101   | Alice  | 25  | HR         | 50000  | P1     | Alpha    </a:t>
            </a:r>
          </a:p>
          <a:p>
            <a:r>
              <a:t>102   | Bob    | 28  | IT         | 60000  | P2     | Beta     </a:t>
            </a:r>
          </a:p>
          <a:p>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Aggregation - Average Salary</a:t>
            </a:r>
          </a:p>
        </p:txBody>
      </p:sp>
      <p:sp>
        <p:nvSpPr>
          <p:cNvPr id="3" name="TextBox 2"/>
          <p:cNvSpPr txBox="1"/>
          <p:nvPr/>
        </p:nvSpPr>
        <p:spPr>
          <a:xfrm>
            <a:off x="914400" y="1371600"/>
            <a:ext cx="7315200" cy="1828800"/>
          </a:xfrm>
          <a:prstGeom prst="rect">
            <a:avLst/>
          </a:prstGeom>
          <a:noFill/>
        </p:spPr>
        <p:txBody>
          <a:bodyPr wrap="none">
            <a:spAutoFit/>
          </a:bodyPr>
          <a:lstStyle/>
          <a:p>
            <a:r>
              <a:t>Query: G_AVG(Salary) (Employee)</a:t>
            </a:r>
          </a:p>
          <a:p>
            <a:endParaRPr/>
          </a:p>
          <a:p>
            <a:r>
              <a:t>Result:</a:t>
            </a:r>
          </a:p>
          <a:p>
            <a:r>
              <a:t>Average Salary: (50000 + 60000 + 70000 + 80000 + 55000) / 5 = 63000</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6. Outer Join - Employees with Projects</a:t>
            </a:r>
          </a:p>
        </p:txBody>
      </p:sp>
      <p:sp>
        <p:nvSpPr>
          <p:cNvPr id="3" name="TextBox 2"/>
          <p:cNvSpPr txBox="1"/>
          <p:nvPr/>
        </p:nvSpPr>
        <p:spPr>
          <a:xfrm>
            <a:off x="914400" y="1371600"/>
            <a:ext cx="7315200" cy="1828800"/>
          </a:xfrm>
          <a:prstGeom prst="rect">
            <a:avLst/>
          </a:prstGeom>
          <a:noFill/>
        </p:spPr>
        <p:txBody>
          <a:bodyPr wrap="none">
            <a:spAutoFit/>
          </a:bodyPr>
          <a:lstStyle/>
          <a:p>
            <a:r>
              <a:t>Query: Employee ⨝_EmpID^left outer Project</a:t>
            </a:r>
          </a:p>
          <a:p>
            <a:endParaRPr/>
          </a:p>
          <a:p>
            <a:r>
              <a:t>Result: Includes employees with and without projects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7-9. Set Operations - Union, Intersection, Difference</a:t>
            </a:r>
          </a:p>
        </p:txBody>
      </p:sp>
      <p:sp>
        <p:nvSpPr>
          <p:cNvPr id="3" name="TextBox 2"/>
          <p:cNvSpPr txBox="1"/>
          <p:nvPr/>
        </p:nvSpPr>
        <p:spPr>
          <a:xfrm>
            <a:off x="914400" y="1371600"/>
            <a:ext cx="7315200" cy="1828800"/>
          </a:xfrm>
          <a:prstGeom prst="rect">
            <a:avLst/>
          </a:prstGeom>
          <a:noFill/>
        </p:spPr>
        <p:txBody>
          <a:bodyPr wrap="none">
            <a:spAutoFit/>
          </a:bodyPr>
          <a:lstStyle/>
          <a:p>
            <a:r>
              <a:t>- Union (∪): Employee ∪ Manager</a:t>
            </a:r>
          </a:p>
          <a:p>
            <a:r>
              <a:t>- Intersection (∩): Employee ∩ Manager</a:t>
            </a:r>
          </a:p>
          <a:p>
            <a:r>
              <a:t>- Difference (-): Employee - Manager</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TextBox 2"/>
          <p:cNvSpPr txBox="1"/>
          <p:nvPr/>
        </p:nvSpPr>
        <p:spPr>
          <a:xfrm>
            <a:off x="914400" y="1371600"/>
            <a:ext cx="7315200" cy="1828800"/>
          </a:xfrm>
          <a:prstGeom prst="rect">
            <a:avLst/>
          </a:prstGeom>
          <a:noFill/>
        </p:spPr>
        <p:txBody>
          <a:bodyPr wrap="none">
            <a:spAutoFit/>
          </a:bodyPr>
          <a:lstStyle/>
          <a:p>
            <a:r>
              <a:t>- Relational Algebra is the foundation of query processing.</a:t>
            </a:r>
          </a:p>
          <a:p>
            <a:r>
              <a:t>- Helps in SQL optimization and database management.</a:t>
            </a:r>
          </a:p>
          <a:p>
            <a:r>
              <a:t>- Used for filtering, joining, aggregating, and transforming data.</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TextBox 2"/>
          <p:cNvSpPr txBox="1"/>
          <p:nvPr/>
        </p:nvSpPr>
        <p:spPr>
          <a:xfrm>
            <a:off x="914400" y="1371600"/>
            <a:ext cx="7315200" cy="1828800"/>
          </a:xfrm>
          <a:prstGeom prst="rect">
            <a:avLst/>
          </a:prstGeom>
          <a:noFill/>
        </p:spPr>
        <p:txBody>
          <a:bodyPr wrap="none">
            <a:spAutoFit/>
          </a:bodyPr>
          <a:lstStyle/>
          <a:p>
            <a:r>
              <a:t>Any Questions?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Tree>
    <p:extLst>
      <p:ext uri="{BB962C8B-B14F-4D97-AF65-F5344CB8AC3E}">
        <p14:creationId xmlns:p14="http://schemas.microsoft.com/office/powerpoint/2010/main" val="208291593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3376612" y="3010694"/>
            <a:ext cx="2390775" cy="1704975"/>
          </a:xfrm>
          <a:prstGeom prst="rect">
            <a:avLst/>
          </a:prstGeom>
        </p:spPr>
      </p:pic>
    </p:spTree>
    <p:extLst>
      <p:ext uri="{BB962C8B-B14F-4D97-AF65-F5344CB8AC3E}">
        <p14:creationId xmlns:p14="http://schemas.microsoft.com/office/powerpoint/2010/main" val="157377042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68158190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457450" y="2329656"/>
            <a:ext cx="4229100" cy="3067050"/>
          </a:xfrm>
          <a:prstGeom prst="rect">
            <a:avLst/>
          </a:prstGeom>
        </p:spPr>
      </p:pic>
    </p:spTree>
    <p:extLst>
      <p:ext uri="{BB962C8B-B14F-4D97-AF65-F5344CB8AC3E}">
        <p14:creationId xmlns:p14="http://schemas.microsoft.com/office/powerpoint/2010/main" val="22479652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676400"/>
            <a:ext cx="7924799" cy="4641273"/>
          </a:xfrm>
        </p:spPr>
      </p:pic>
    </p:spTree>
    <p:extLst>
      <p:ext uri="{BB962C8B-B14F-4D97-AF65-F5344CB8AC3E}">
        <p14:creationId xmlns:p14="http://schemas.microsoft.com/office/powerpoint/2010/main" val="159872837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24358395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8473" y="1593274"/>
            <a:ext cx="6248400" cy="3617696"/>
          </a:xfrm>
        </p:spPr>
      </p:pic>
    </p:spTree>
    <p:extLst>
      <p:ext uri="{BB962C8B-B14F-4D97-AF65-F5344CB8AC3E}">
        <p14:creationId xmlns:p14="http://schemas.microsoft.com/office/powerpoint/2010/main" val="298199689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Tree>
    <p:extLst>
      <p:ext uri="{BB962C8B-B14F-4D97-AF65-F5344CB8AC3E}">
        <p14:creationId xmlns:p14="http://schemas.microsoft.com/office/powerpoint/2010/main" val="10282568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189</TotalTime>
  <Words>2568</Words>
  <Application>Microsoft Office PowerPoint</Application>
  <PresentationFormat>On-screen Show (4:3)</PresentationFormat>
  <Paragraphs>895</Paragraphs>
  <Slides>100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100</vt:i4>
      </vt:variant>
    </vt:vector>
  </HeadingPairs>
  <TitlesOfParts>
    <vt:vector size="105" baseType="lpstr">
      <vt:lpstr>Arial</vt:lpstr>
      <vt:lpstr>Calibri</vt:lpstr>
      <vt:lpstr>Consolas</vt:lpstr>
      <vt:lpstr>Nunito</vt:lpstr>
      <vt:lpstr>Office Theme</vt:lpstr>
      <vt:lpstr>Relational Algebra in DBMS</vt:lpstr>
      <vt:lpstr> What is Relational Algebra in DBMS? </vt:lpstr>
      <vt:lpstr>Employee</vt:lpstr>
      <vt:lpstr>Student</vt:lpstr>
      <vt:lpstr>σ AGE=20 (STUDENT) </vt:lpstr>
      <vt:lpstr> Project (∏) </vt:lpstr>
      <vt:lpstr>∏ NAME(STUDENT) </vt:lpstr>
      <vt:lpstr> ∏ ROLL,NAME(STUDENT)  </vt:lpstr>
      <vt:lpstr>PowerPoint Presentation</vt:lpstr>
      <vt:lpstr>∏ NAME(STUDENT) ∪ ∏ NAME(EMPLOYEE) </vt:lpstr>
      <vt:lpstr>PowerPoint Presentation</vt:lpstr>
      <vt:lpstr>∏ NAME(STUDENT) - ∏ NAME(EMPLOYEE) </vt:lpstr>
      <vt:lpstr>PowerPoint Presentation</vt:lpstr>
      <vt:lpstr>STUDENT X EMPLOYEE </vt:lpstr>
      <vt:lpstr>Cross Product (X)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Conditional Join </vt:lpstr>
      <vt:lpstr>PowerPoint Presentation</vt:lpstr>
      <vt:lpstr>PowerPoint Presentation</vt:lpstr>
      <vt:lpstr>PowerPoint Presentation</vt:lpstr>
      <vt:lpstr>PowerPoint Presentation</vt:lpstr>
      <vt:lpstr>PowerPoint Presentation</vt:lpstr>
      <vt:lpstr>   ρ(STUDENT_NAME,∏ NAME(STUDENT)) o/p:-STUDENT_NAME   </vt:lpstr>
      <vt:lpstr> Derived Operations </vt:lpstr>
      <vt:lpstr>Employee</vt:lpstr>
      <vt:lpstr>Department</vt:lpstr>
      <vt:lpstr>PowerPoint Presentation</vt:lpstr>
      <vt:lpstr>Contd..</vt:lpstr>
      <vt:lpstr> EMPLOYEE⋈θ EMPLOYEE.EXPERIENCE&gt;=DEPARTMENT.MIN_EXPERIENCE DEPARTMENT </vt:lpstr>
      <vt:lpstr>PowerPoint Presentation</vt:lpstr>
      <vt:lpstr>PowerPoint Presentation</vt:lpstr>
      <vt:lpstr> EMPLOYEE ⋈EMPLOYEE.E_NO = DEPARTMENT.E_NO DEPARTMENT </vt:lpstr>
      <vt:lpstr>Contd..</vt:lpstr>
      <vt:lpstr>EMPLOYEE ⋈ DEPARTMENT </vt:lpstr>
      <vt:lpstr>PowerPoint Presentation</vt:lpstr>
      <vt:lpstr>PowerPoint Presentation</vt:lpstr>
      <vt:lpstr>Here we are combining EMPLOYEE and DEPARTMENT relation with the constraint that EMPLOYEE's E_NO must be equal to DEPARTMENT's E_NO.</vt:lpstr>
      <vt:lpstr>PowerPoint Presentation</vt:lpstr>
      <vt:lpstr> EMPLOYEE ⟖EMPLOYEE.E_NO = DEPARTMENT.E_NO DEPARTMENT </vt:lpstr>
      <vt:lpstr>PowerPoint Presentation</vt:lpstr>
      <vt:lpstr>PowerPoint Presentation</vt:lpstr>
      <vt:lpstr>Example</vt:lpstr>
      <vt:lpstr>Right Join</vt:lpstr>
      <vt:lpstr>Student table</vt:lpstr>
      <vt:lpstr>Course Table</vt:lpstr>
      <vt:lpstr>Query: SELECT s.roll_no, s.name, s.address, s.phone, s.age, sc.course_id FROM Student s JOIN StudentCourse sc ON s.roll_no = sc.roll_no; </vt:lpstr>
      <vt:lpstr> 1. SQL INNER JOIN </vt:lpstr>
      <vt:lpstr>PowerPoint Presentation</vt:lpstr>
      <vt:lpstr>PowerPoint Presentation</vt:lpstr>
      <vt:lpstr>PowerPoint Presentation</vt:lpstr>
      <vt:lpstr>2. SQL LEFT JOIN </vt:lpstr>
      <vt:lpstr>PowerPoint Presentation</vt:lpstr>
      <vt:lpstr>PowerPoint Presentation</vt:lpstr>
      <vt:lpstr>PowerPoint Presentation</vt:lpstr>
      <vt:lpstr> 3. SQL RIGHT JOIN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ENROLLED </vt:lpstr>
      <vt:lpstr>Course</vt:lpstr>
      <vt:lpstr>ENROLLED(STUDENT_ID, COURSE_ID)/COURSE(COURSE_ID) </vt:lpstr>
      <vt:lpstr> Takeaway </vt:lpstr>
      <vt:lpstr>Select (σ) </vt:lpstr>
      <vt:lpstr>Employee Table</vt:lpstr>
      <vt:lpstr>1. Selection (σ) - Find IT Department Employees</vt:lpstr>
      <vt:lpstr>2. Projection (π) - Names and Salaries</vt:lpstr>
      <vt:lpstr>3. Cartesian Product (×) - Employee and Project</vt:lpstr>
      <vt:lpstr>4. Natural Join (⨝) - Employees and Projects</vt:lpstr>
      <vt:lpstr>5. Aggregation - Average Salary</vt:lpstr>
      <vt:lpstr>6. Outer Join - Employees with Projects</vt:lpstr>
      <vt:lpstr>7-9. Set Operations - Union, Intersection, Difference</vt:lpstr>
      <vt:lpstr>Conclusion</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Algebra in DBMS</dc:title>
  <dc:subject/>
  <dc:creator/>
  <cp:keywords/>
  <dc:description>generated using python-pptx</dc:description>
  <cp:lastModifiedBy>Subhasish_Mohapatra</cp:lastModifiedBy>
  <cp:revision>54</cp:revision>
  <dcterms:created xsi:type="dcterms:W3CDTF">2013-01-27T09:14:16Z</dcterms:created>
  <dcterms:modified xsi:type="dcterms:W3CDTF">2025-03-20T09:55:27Z</dcterms:modified>
  <cp:category/>
</cp:coreProperties>
</file>