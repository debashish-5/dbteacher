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Database Constraints</a:t>
            </a:r>
          </a:p>
        </p:txBody>
      </p:sp>
      <p:sp>
        <p:nvSpPr>
          <p:cNvPr id="3" name="Subtitle 2"/>
          <p:cNvSpPr>
            <a:spLocks noGrp="1"/>
          </p:cNvSpPr>
          <p:nvPr>
            <p:ph type="subTitle" idx="1"/>
          </p:nvPr>
        </p:nvSpPr>
        <p:spPr/>
        <p:txBody>
          <a:bodyPr/>
          <a:lstStyle/>
          <a:p>
            <a:r>
              <a:rPr b="1" dirty="0">
                <a:solidFill>
                  <a:srgbClr val="FF0000"/>
                </a:solidFill>
              </a:rPr>
              <a:t>Detailed Explanation with Examples and SQL Code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are Database Constraints?</a:t>
            </a:r>
          </a:p>
        </p:txBody>
      </p:sp>
      <p:sp>
        <p:nvSpPr>
          <p:cNvPr id="3" name="Content Placeholder 2"/>
          <p:cNvSpPr>
            <a:spLocks noGrp="1"/>
          </p:cNvSpPr>
          <p:nvPr>
            <p:ph idx="1"/>
          </p:nvPr>
        </p:nvSpPr>
        <p:spPr/>
        <p:txBody>
          <a:bodyPr>
            <a:normAutofit/>
          </a:bodyPr>
          <a:lstStyle/>
          <a:p>
            <a:r>
              <a:rPr sz="1800" dirty="0"/>
              <a:t>Constraints are rules applied to database tables to ensure data integrity and accuracy.</a:t>
            </a:r>
          </a:p>
          <a:p>
            <a:endParaRPr sz="1800" dirty="0"/>
          </a:p>
          <a:p>
            <a:r>
              <a:rPr sz="1800" dirty="0"/>
              <a:t>They help enforce business rules and prevent invalid data entry.</a:t>
            </a:r>
          </a:p>
          <a:p>
            <a:r>
              <a:rPr sz="1800" b="1" i="1" dirty="0" smtClean="0"/>
              <a:t>Types </a:t>
            </a:r>
            <a:r>
              <a:rPr sz="1800" b="1" i="1" dirty="0"/>
              <a:t>of constraints:</a:t>
            </a:r>
          </a:p>
          <a:p>
            <a:endParaRPr sz="1800" b="1" dirty="0"/>
          </a:p>
          <a:p>
            <a:r>
              <a:rPr sz="1800" b="1" dirty="0"/>
              <a:t>- NOT NULL</a:t>
            </a:r>
          </a:p>
          <a:p>
            <a:r>
              <a:rPr sz="1800" b="1" dirty="0"/>
              <a:t>- UNIQUE</a:t>
            </a:r>
          </a:p>
          <a:p>
            <a:r>
              <a:rPr sz="1800" b="1" dirty="0"/>
              <a:t>- PRIMARY KEY</a:t>
            </a:r>
          </a:p>
          <a:p>
            <a:r>
              <a:rPr sz="1800" b="1" dirty="0"/>
              <a:t>- FOREIGN KEY</a:t>
            </a:r>
          </a:p>
          <a:p>
            <a:r>
              <a:rPr sz="1800" b="1" dirty="0"/>
              <a:t>- CHECK</a:t>
            </a:r>
          </a:p>
          <a:p>
            <a:r>
              <a:rPr sz="1800" b="1" dirty="0"/>
              <a:t>- DEFAULT</a:t>
            </a:r>
          </a:p>
          <a:p>
            <a:r>
              <a:rPr sz="1800" b="1" dirty="0"/>
              <a:t>- AUTO_INCREMENT (MySQL, PostgreSQL)</a:t>
            </a:r>
          </a:p>
          <a:p>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NOT NULL Constraint</a:t>
            </a:r>
          </a:p>
        </p:txBody>
      </p:sp>
      <p:sp>
        <p:nvSpPr>
          <p:cNvPr id="3" name="Content Placeholder 2"/>
          <p:cNvSpPr>
            <a:spLocks noGrp="1"/>
          </p:cNvSpPr>
          <p:nvPr>
            <p:ph idx="1"/>
          </p:nvPr>
        </p:nvSpPr>
        <p:spPr/>
        <p:txBody>
          <a:bodyPr>
            <a:normAutofit fontScale="77500" lnSpcReduction="20000"/>
          </a:bodyPr>
          <a:lstStyle/>
          <a:p>
            <a:r>
              <a:t>Ensures that a column cannot store NULL values.</a:t>
            </a:r>
          </a:p>
          <a:p>
            <a:endParaRPr/>
          </a:p>
          <a:p>
            <a:r>
              <a:t>Example:</a:t>
            </a:r>
          </a:p>
          <a:p>
            <a:endParaRPr/>
          </a:p>
          <a:p>
            <a:r>
              <a:t>```sql</a:t>
            </a:r>
          </a:p>
          <a:p>
            <a:r>
              <a:t>CREATE TABLE Students (</a:t>
            </a:r>
          </a:p>
          <a:p>
            <a:r>
              <a:t>    ID INT NOT NULL,</a:t>
            </a:r>
          </a:p>
          <a:p>
            <a:r>
              <a:t>    Name VARCHAR(50) NOT NULL</a:t>
            </a:r>
          </a:p>
          <a:p>
            <a:r>
              <a:t>);</a:t>
            </a:r>
          </a:p>
          <a:p>
            <a:r>
              <a:t>```</a:t>
            </a:r>
          </a:p>
          <a:p>
            <a:r>
              <a:t>This ensures that both ID and Name must have values.</a:t>
            </a:r>
          </a:p>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UNIQUE Constraint</a:t>
            </a:r>
          </a:p>
        </p:txBody>
      </p:sp>
      <p:sp>
        <p:nvSpPr>
          <p:cNvPr id="3" name="Content Placeholder 2"/>
          <p:cNvSpPr>
            <a:spLocks noGrp="1"/>
          </p:cNvSpPr>
          <p:nvPr>
            <p:ph idx="1"/>
          </p:nvPr>
        </p:nvSpPr>
        <p:spPr/>
        <p:txBody>
          <a:bodyPr>
            <a:normAutofit fontScale="70000" lnSpcReduction="20000"/>
          </a:bodyPr>
          <a:lstStyle/>
          <a:p>
            <a:r>
              <a:t>Ensures that all values in a column are unique (no duplicates).</a:t>
            </a:r>
          </a:p>
          <a:p>
            <a:endParaRPr/>
          </a:p>
          <a:p>
            <a:r>
              <a:t>Example:</a:t>
            </a:r>
          </a:p>
          <a:p>
            <a:endParaRPr/>
          </a:p>
          <a:p>
            <a:r>
              <a:t>```sql</a:t>
            </a:r>
          </a:p>
          <a:p>
            <a:r>
              <a:t>CREATE TABLE Employees (</a:t>
            </a:r>
          </a:p>
          <a:p>
            <a:r>
              <a:t>    EmpID INT UNIQUE,</a:t>
            </a:r>
          </a:p>
          <a:p>
            <a:r>
              <a:t>    Email VARCHAR(100) UNIQUE</a:t>
            </a:r>
          </a:p>
          <a:p>
            <a:r>
              <a:t>);</a:t>
            </a:r>
          </a:p>
          <a:p>
            <a:r>
              <a:t>```</a:t>
            </a:r>
          </a:p>
          <a:p>
            <a:r>
              <a:t>This ensures that no two employees have the same Email or EmpID.</a:t>
            </a:r>
          </a:p>
          <a:p>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PRIMARY KEY Constraint</a:t>
            </a:r>
          </a:p>
        </p:txBody>
      </p:sp>
      <p:sp>
        <p:nvSpPr>
          <p:cNvPr id="3" name="Content Placeholder 2"/>
          <p:cNvSpPr>
            <a:spLocks noGrp="1"/>
          </p:cNvSpPr>
          <p:nvPr>
            <p:ph idx="1"/>
          </p:nvPr>
        </p:nvSpPr>
        <p:spPr/>
        <p:txBody>
          <a:bodyPr>
            <a:normAutofit fontScale="70000" lnSpcReduction="20000"/>
          </a:bodyPr>
          <a:lstStyle/>
          <a:p>
            <a:r>
              <a:t>A combination of NOT NULL and UNIQUE. Uniquely identifies each row.</a:t>
            </a:r>
          </a:p>
          <a:p>
            <a:endParaRPr/>
          </a:p>
          <a:p>
            <a:r>
              <a:t>Example:</a:t>
            </a:r>
          </a:p>
          <a:p>
            <a:endParaRPr/>
          </a:p>
          <a:p>
            <a:r>
              <a:t>```sql</a:t>
            </a:r>
          </a:p>
          <a:p>
            <a:r>
              <a:t>CREATE TABLE Customers (</a:t>
            </a:r>
          </a:p>
          <a:p>
            <a:r>
              <a:t>    CustomerID INT PRIMARY KEY,</a:t>
            </a:r>
          </a:p>
          <a:p>
            <a:r>
              <a:t>    Name VARCHAR(50) NOT NULL</a:t>
            </a:r>
          </a:p>
          <a:p>
            <a:r>
              <a:t>);</a:t>
            </a:r>
          </a:p>
          <a:p>
            <a:r>
              <a:t>```</a:t>
            </a:r>
          </a:p>
          <a:p>
            <a:r>
              <a:t>This ensures that CustomerID is unique and cannot be NULL.</a:t>
            </a:r>
          </a:p>
          <a:p>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FOREIGN KEY Constraint</a:t>
            </a:r>
          </a:p>
        </p:txBody>
      </p:sp>
      <p:sp>
        <p:nvSpPr>
          <p:cNvPr id="3" name="Content Placeholder 2"/>
          <p:cNvSpPr>
            <a:spLocks noGrp="1"/>
          </p:cNvSpPr>
          <p:nvPr>
            <p:ph idx="1"/>
          </p:nvPr>
        </p:nvSpPr>
        <p:spPr/>
        <p:txBody>
          <a:bodyPr>
            <a:normAutofit fontScale="62500" lnSpcReduction="20000"/>
          </a:bodyPr>
          <a:lstStyle/>
          <a:p>
            <a:r>
              <a:t>Establishes a relationship between two tables and ensures referential integrity.</a:t>
            </a:r>
          </a:p>
          <a:p>
            <a:endParaRPr/>
          </a:p>
          <a:p>
            <a:r>
              <a:t>Example:</a:t>
            </a:r>
          </a:p>
          <a:p>
            <a:endParaRPr/>
          </a:p>
          <a:p>
            <a:r>
              <a:t>```sql</a:t>
            </a:r>
          </a:p>
          <a:p>
            <a:r>
              <a:t>CREATE TABLE Orders (</a:t>
            </a:r>
          </a:p>
          <a:p>
            <a:r>
              <a:t>    OrderID INT PRIMARY KEY,</a:t>
            </a:r>
          </a:p>
          <a:p>
            <a:r>
              <a:t>    CustomerID INT,</a:t>
            </a:r>
          </a:p>
          <a:p>
            <a:r>
              <a:t>    FOREIGN KEY (CustomerID) REFERENCES Customers(CustomerID)</a:t>
            </a:r>
          </a:p>
          <a:p>
            <a:r>
              <a:t>);</a:t>
            </a:r>
          </a:p>
          <a:p>
            <a:r>
              <a:t>```</a:t>
            </a:r>
          </a:p>
          <a:p>
            <a:r>
              <a:t>This ensures that CustomerID in Orders must exist in Customers table.</a:t>
            </a:r>
          </a:p>
          <a:p>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CHECK Constraint</a:t>
            </a:r>
          </a:p>
        </p:txBody>
      </p:sp>
      <p:sp>
        <p:nvSpPr>
          <p:cNvPr id="3" name="Content Placeholder 2"/>
          <p:cNvSpPr>
            <a:spLocks noGrp="1"/>
          </p:cNvSpPr>
          <p:nvPr>
            <p:ph idx="1"/>
          </p:nvPr>
        </p:nvSpPr>
        <p:spPr/>
        <p:txBody>
          <a:bodyPr>
            <a:normAutofit fontScale="77500" lnSpcReduction="20000"/>
          </a:bodyPr>
          <a:lstStyle/>
          <a:p>
            <a:r>
              <a:t>Limits values in a column based on a condition.</a:t>
            </a:r>
          </a:p>
          <a:p>
            <a:endParaRPr/>
          </a:p>
          <a:p>
            <a:r>
              <a:t>Example:</a:t>
            </a:r>
          </a:p>
          <a:p>
            <a:endParaRPr/>
          </a:p>
          <a:p>
            <a:r>
              <a:t>```sql</a:t>
            </a:r>
          </a:p>
          <a:p>
            <a:r>
              <a:t>CREATE TABLE Products (</a:t>
            </a:r>
          </a:p>
          <a:p>
            <a:r>
              <a:t>    ProductID INT PRIMARY KEY,</a:t>
            </a:r>
          </a:p>
          <a:p>
            <a:r>
              <a:t>    Price DECIMAL(10,2) CHECK (Price &gt; 0)</a:t>
            </a:r>
          </a:p>
          <a:p>
            <a:r>
              <a:t>);</a:t>
            </a:r>
          </a:p>
          <a:p>
            <a:r>
              <a:t>```</a:t>
            </a:r>
          </a:p>
          <a:p>
            <a:r>
              <a:t>This ensures that Price must always be greater than 0.</a:t>
            </a:r>
          </a:p>
          <a:p>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DEFAULT Constraint</a:t>
            </a:r>
          </a:p>
        </p:txBody>
      </p:sp>
      <p:sp>
        <p:nvSpPr>
          <p:cNvPr id="3" name="Content Placeholder 2"/>
          <p:cNvSpPr>
            <a:spLocks noGrp="1"/>
          </p:cNvSpPr>
          <p:nvPr>
            <p:ph idx="1"/>
          </p:nvPr>
        </p:nvSpPr>
        <p:spPr/>
        <p:txBody>
          <a:bodyPr>
            <a:normAutofit fontScale="77500" lnSpcReduction="20000"/>
          </a:bodyPr>
          <a:lstStyle/>
          <a:p>
            <a:r>
              <a:t>Assigns a default value to a column if no value is provided.</a:t>
            </a:r>
          </a:p>
          <a:p>
            <a:endParaRPr/>
          </a:p>
          <a:p>
            <a:r>
              <a:t>Example:</a:t>
            </a:r>
          </a:p>
          <a:p>
            <a:endParaRPr/>
          </a:p>
          <a:p>
            <a:r>
              <a:t>```sql</a:t>
            </a:r>
          </a:p>
          <a:p>
            <a:r>
              <a:t>CREATE TABLE Employees (</a:t>
            </a:r>
          </a:p>
          <a:p>
            <a:r>
              <a:t>    EmpID INT PRIMARY KEY,</a:t>
            </a:r>
          </a:p>
          <a:p>
            <a:r>
              <a:t>    Salary DECIMAL(10,2) DEFAULT 50000</a:t>
            </a:r>
          </a:p>
          <a:p>
            <a:r>
              <a:t>);</a:t>
            </a:r>
          </a:p>
          <a:p>
            <a:r>
              <a:t>```</a:t>
            </a:r>
          </a:p>
          <a:p>
            <a:r>
              <a:t>This ensures that if Salary is not provided, it defaults to 50000.</a:t>
            </a:r>
          </a:p>
          <a:p>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7. AUTO_INCREMENT Constraint (MySQL, PostgreSQL)</a:t>
            </a:r>
          </a:p>
        </p:txBody>
      </p:sp>
      <p:sp>
        <p:nvSpPr>
          <p:cNvPr id="3" name="Content Placeholder 2"/>
          <p:cNvSpPr>
            <a:spLocks noGrp="1"/>
          </p:cNvSpPr>
          <p:nvPr>
            <p:ph idx="1"/>
          </p:nvPr>
        </p:nvSpPr>
        <p:spPr/>
        <p:txBody>
          <a:bodyPr>
            <a:normAutofit fontScale="70000" lnSpcReduction="20000"/>
          </a:bodyPr>
          <a:lstStyle/>
          <a:p>
            <a:r>
              <a:t>Automatically generates unique incremental values for a column.</a:t>
            </a:r>
          </a:p>
          <a:p>
            <a:endParaRPr/>
          </a:p>
          <a:p>
            <a:r>
              <a:t>Example:</a:t>
            </a:r>
          </a:p>
          <a:p>
            <a:endParaRPr/>
          </a:p>
          <a:p>
            <a:r>
              <a:t>```sql</a:t>
            </a:r>
          </a:p>
          <a:p>
            <a:r>
              <a:t>CREATE TABLE Users (</a:t>
            </a:r>
          </a:p>
          <a:p>
            <a:r>
              <a:t>    UserID INT AUTO_INCREMENT PRIMARY KEY,</a:t>
            </a:r>
          </a:p>
          <a:p>
            <a:r>
              <a:t>    Username VARCHAR(50) NOT NULL</a:t>
            </a:r>
          </a:p>
          <a:p>
            <a:r>
              <a:t>);</a:t>
            </a:r>
          </a:p>
          <a:p>
            <a:r>
              <a:t>```</a:t>
            </a:r>
          </a:p>
          <a:p>
            <a:r>
              <a:t>This ensures that UserID is automatically generated for each new user.</a:t>
            </a:r>
          </a:p>
          <a:p>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Constraints</a:t>
            </a:r>
          </a:p>
        </p:txBody>
      </p:sp>
      <p:sp>
        <p:nvSpPr>
          <p:cNvPr id="3" name="Content Placeholder 2"/>
          <p:cNvSpPr>
            <a:spLocks noGrp="1"/>
          </p:cNvSpPr>
          <p:nvPr>
            <p:ph idx="1"/>
          </p:nvPr>
        </p:nvSpPr>
        <p:spPr/>
        <p:txBody>
          <a:bodyPr>
            <a:normAutofit fontScale="92500" lnSpcReduction="20000"/>
          </a:bodyPr>
          <a:lstStyle/>
          <a:p>
            <a:r>
              <a:t>✅ Ensures data integrity and accuracy.</a:t>
            </a:r>
          </a:p>
          <a:p>
            <a:endParaRPr/>
          </a:p>
          <a:p>
            <a:r>
              <a:t>✅ Prevents invalid or duplicate data entry.</a:t>
            </a:r>
          </a:p>
          <a:p>
            <a:endParaRPr/>
          </a:p>
          <a:p>
            <a:r>
              <a:t>✅ Enforces business rules and relationships.</a:t>
            </a:r>
          </a:p>
          <a:p>
            <a:endParaRPr/>
          </a:p>
          <a:p>
            <a:r>
              <a:t>✅ Enhances database security and consistency.</a:t>
            </a:r>
          </a:p>
          <a:p>
            <a:endParaRPr/>
          </a:p>
          <a:p>
            <a:r>
              <a:t>✅ Reduces data redundancy and errors.</a:t>
            </a:r>
          </a:p>
          <a:p>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Introduction</a:t>
            </a:r>
            <a:br>
              <a:rPr lang="en-US" b="1"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In </a:t>
            </a:r>
            <a:r>
              <a:rPr lang="en-US" dirty="0"/>
              <a:t>the realm of Database Management Systems (DBMS), </a:t>
            </a:r>
            <a:r>
              <a:rPr lang="en-US" b="1" dirty="0"/>
              <a:t>constraints</a:t>
            </a:r>
            <a:r>
              <a:rPr lang="en-US" dirty="0"/>
              <a:t> play a pivotal role in upholding the integrity and dependability of stored data. They establish rules and conditions that govern the data within a database, ensuring precision, consistency, and compliance with business rules. A comprehensive understanding of the various types of constraints in DBMS is crucial for database administrators, developers, and data professionals to craft resilient databases and enforce data integrity.</a:t>
            </a:r>
          </a:p>
          <a:p>
            <a:endParaRPr lang="en-IN" dirty="0"/>
          </a:p>
        </p:txBody>
      </p:sp>
    </p:spTree>
    <p:extLst>
      <p:ext uri="{BB962C8B-B14F-4D97-AF65-F5344CB8AC3E}">
        <p14:creationId xmlns:p14="http://schemas.microsoft.com/office/powerpoint/2010/main" val="1644786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Are Constraints In DBMS?</a:t>
            </a:r>
            <a:br>
              <a:rPr lang="en-US" b="1" dirty="0"/>
            </a:b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smtClean="0"/>
              <a:t>Constraints </a:t>
            </a:r>
            <a:r>
              <a:rPr lang="en-US" dirty="0"/>
              <a:t>in DBMS (Database Management Systems) encompass rules or conditions applied to database data, ensuring data integrity, consistency, and adherence to business rules. They define limitations and requirements that data must meet, preventing the entry of invalid or inconsistent data. Constraints serve as pre-established rules governing the behavior and relationships of data in a database, contributing to the maintenance of accuracy and reliability.</a:t>
            </a:r>
          </a:p>
          <a:p>
            <a:pPr algn="just"/>
            <a:r>
              <a:rPr lang="en-US" dirty="0"/>
              <a:t>The purpose of </a:t>
            </a:r>
            <a:r>
              <a:rPr lang="en-US" b="1" dirty="0"/>
              <a:t>constraints</a:t>
            </a:r>
            <a:r>
              <a:rPr lang="en-US" dirty="0"/>
              <a:t> is to enforce data quality and thwart data inconsistencies, thereby bolstering the overall data integrity and reliability of the database. </a:t>
            </a:r>
          </a:p>
          <a:p>
            <a:endParaRPr lang="en-IN" dirty="0"/>
          </a:p>
        </p:txBody>
      </p:sp>
    </p:spTree>
    <p:extLst>
      <p:ext uri="{BB962C8B-B14F-4D97-AF65-F5344CB8AC3E}">
        <p14:creationId xmlns:p14="http://schemas.microsoft.com/office/powerpoint/2010/main" val="1100200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Constraints In DBMS</a:t>
            </a:r>
            <a:br>
              <a:rPr lang="en-US" b="1" dirty="0"/>
            </a:br>
            <a:endParaRPr lang="en-IN" dirty="0"/>
          </a:p>
        </p:txBody>
      </p:sp>
      <p:sp>
        <p:nvSpPr>
          <p:cNvPr id="3" name="Content Placeholder 2"/>
          <p:cNvSpPr>
            <a:spLocks noGrp="1"/>
          </p:cNvSpPr>
          <p:nvPr>
            <p:ph idx="1"/>
          </p:nvPr>
        </p:nvSpPr>
        <p:spPr/>
        <p:txBody>
          <a:bodyPr>
            <a:normAutofit fontScale="92500"/>
          </a:bodyPr>
          <a:lstStyle/>
          <a:p>
            <a:r>
              <a:rPr lang="en-US" dirty="0" smtClean="0"/>
              <a:t>Within </a:t>
            </a:r>
            <a:r>
              <a:rPr lang="en-US" dirty="0"/>
              <a:t>relational databases, there are primarily five types of constraints, commonly referred to as relational constraints. These include:</a:t>
            </a:r>
          </a:p>
          <a:p>
            <a:r>
              <a:rPr lang="en-US" dirty="0"/>
              <a:t>Domain Constraints</a:t>
            </a:r>
          </a:p>
          <a:p>
            <a:r>
              <a:rPr lang="en-US" dirty="0"/>
              <a:t>Key Constraints</a:t>
            </a:r>
          </a:p>
          <a:p>
            <a:r>
              <a:rPr lang="en-US" dirty="0"/>
              <a:t>Entity Integrity Constraints</a:t>
            </a:r>
          </a:p>
          <a:p>
            <a:r>
              <a:rPr lang="en-US" dirty="0"/>
              <a:t>Referential Integrity Constraints</a:t>
            </a:r>
          </a:p>
          <a:p>
            <a:r>
              <a:rPr lang="en-US" dirty="0"/>
              <a:t>Tuple Uniqueness Constraints</a:t>
            </a:r>
          </a:p>
          <a:p>
            <a:endParaRPr lang="en-IN" dirty="0"/>
          </a:p>
        </p:txBody>
      </p:sp>
    </p:spTree>
    <p:extLst>
      <p:ext uri="{BB962C8B-B14F-4D97-AF65-F5344CB8AC3E}">
        <p14:creationId xmlns:p14="http://schemas.microsoft.com/office/powerpoint/2010/main" val="2958545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67471"/>
          </a:xfrm>
        </p:spPr>
        <p:txBody>
          <a:bodyPr>
            <a:normAutofit fontScale="90000"/>
          </a:bodyPr>
          <a:lstStyle/>
          <a:p>
            <a:r>
              <a:rPr lang="en-US" b="1" dirty="0" smtClean="0"/>
              <a:t/>
            </a:r>
            <a:br>
              <a:rPr lang="en-US" b="1" dirty="0" smtClean="0"/>
            </a:br>
            <a:r>
              <a:rPr lang="en-US" b="1" dirty="0" smtClean="0"/>
              <a:t>Domain </a:t>
            </a:r>
            <a:r>
              <a:rPr lang="en-US" b="1" dirty="0"/>
              <a:t>Constraints</a:t>
            </a:r>
            <a:br>
              <a:rPr lang="en-US" b="1" dirty="0"/>
            </a:br>
            <a:endParaRPr lang="en-IN" dirty="0"/>
          </a:p>
        </p:txBody>
      </p:sp>
      <p:sp>
        <p:nvSpPr>
          <p:cNvPr id="3" name="Content Placeholder 2"/>
          <p:cNvSpPr>
            <a:spLocks noGrp="1"/>
          </p:cNvSpPr>
          <p:nvPr>
            <p:ph idx="1"/>
          </p:nvPr>
        </p:nvSpPr>
        <p:spPr>
          <a:xfrm>
            <a:off x="457200" y="942110"/>
            <a:ext cx="8229600" cy="5184054"/>
          </a:xfrm>
        </p:spPr>
        <p:txBody>
          <a:bodyPr>
            <a:normAutofit fontScale="70000" lnSpcReduction="20000"/>
          </a:bodyPr>
          <a:lstStyle/>
          <a:p>
            <a:r>
              <a:rPr lang="en-US" dirty="0" smtClean="0"/>
              <a:t>Define </a:t>
            </a:r>
            <a:r>
              <a:rPr lang="en-US" dirty="0"/>
              <a:t>the valid values that an attribute (column) can hold.</a:t>
            </a:r>
          </a:p>
          <a:p>
            <a:r>
              <a:rPr lang="en-US" dirty="0"/>
              <a:t>Specify the data type (e.g., integer, string, date) and any additional restrictions (e.g., range of values, allowed patterns).</a:t>
            </a:r>
          </a:p>
          <a:p>
            <a:r>
              <a:rPr lang="en-US" b="1" dirty="0"/>
              <a:t>Types of Domain Constraints</a:t>
            </a:r>
          </a:p>
          <a:p>
            <a:r>
              <a:rPr lang="en-US" b="1" dirty="0"/>
              <a:t>Check Constraint:</a:t>
            </a:r>
            <a:r>
              <a:rPr lang="en-US" dirty="0"/>
              <a:t> A check constraint in a Database Management System (DBMS) is a way to enforce certain conditions on the values that are stored in a database. It is a rule or condition that is specified at the time of table creation or alteration to restrict the values that can be inserted or updated in a column.</a:t>
            </a:r>
          </a:p>
          <a:p>
            <a:r>
              <a:rPr lang="en-US" dirty="0"/>
              <a:t>Here’s a basic syntax for creating a check constraint in a table using </a:t>
            </a:r>
            <a:r>
              <a:rPr lang="en-US" dirty="0" smtClean="0"/>
              <a:t>SQL</a:t>
            </a:r>
          </a:p>
          <a:p>
            <a:pPr marL="0" indent="0">
              <a:buNone/>
            </a:pPr>
            <a:r>
              <a:rPr lang="en-US" dirty="0" err="1" smtClean="0"/>
              <a:t>Ex:CREATE</a:t>
            </a:r>
            <a:r>
              <a:rPr lang="en-US" dirty="0" smtClean="0"/>
              <a:t> </a:t>
            </a:r>
            <a:r>
              <a:rPr lang="en-US" dirty="0"/>
              <a:t>TABLE </a:t>
            </a:r>
            <a:r>
              <a:rPr lang="en-US" dirty="0" err="1"/>
              <a:t>TableName</a:t>
            </a:r>
            <a:r>
              <a:rPr lang="en-US" dirty="0"/>
              <a:t> (</a:t>
            </a:r>
            <a:r>
              <a:rPr lang="en-US" dirty="0"/>
              <a:t/>
            </a:r>
            <a:br>
              <a:rPr lang="en-US" dirty="0"/>
            </a:br>
            <a:r>
              <a:rPr lang="en-US" dirty="0"/>
              <a:t>Column1 </a:t>
            </a:r>
            <a:r>
              <a:rPr lang="en-US" dirty="0" err="1"/>
              <a:t>DataType</a:t>
            </a:r>
            <a:r>
              <a:rPr lang="en-US" dirty="0"/>
              <a:t>,</a:t>
            </a:r>
            <a:r>
              <a:rPr lang="en-US" dirty="0"/>
              <a:t/>
            </a:r>
            <a:br>
              <a:rPr lang="en-US" dirty="0"/>
            </a:br>
            <a:r>
              <a:rPr lang="en-US" dirty="0"/>
              <a:t>Column2 </a:t>
            </a:r>
            <a:r>
              <a:rPr lang="en-US" dirty="0" err="1"/>
              <a:t>DataType</a:t>
            </a:r>
            <a:r>
              <a:rPr lang="en-US" dirty="0"/>
              <a:t>,</a:t>
            </a:r>
            <a:r>
              <a:rPr lang="en-US" dirty="0"/>
              <a:t/>
            </a:r>
            <a:br>
              <a:rPr lang="en-US" dirty="0"/>
            </a:br>
            <a:r>
              <a:rPr lang="en-US" dirty="0"/>
              <a:t>-- Other columns</a:t>
            </a:r>
            <a:r>
              <a:rPr lang="en-US" dirty="0"/>
              <a:t/>
            </a:r>
            <a:br>
              <a:rPr lang="en-US" dirty="0"/>
            </a:br>
            <a:r>
              <a:rPr lang="en-US" dirty="0"/>
              <a:t>CONSTRAINT </a:t>
            </a:r>
            <a:r>
              <a:rPr lang="en-US" dirty="0" err="1"/>
              <a:t>ConstraintName</a:t>
            </a:r>
            <a:r>
              <a:rPr lang="en-US" dirty="0"/>
              <a:t> CHECK (condition)</a:t>
            </a:r>
            <a:r>
              <a:rPr lang="en-US" dirty="0"/>
              <a:t/>
            </a:r>
            <a:br>
              <a:rPr lang="en-US" dirty="0"/>
            </a:br>
            <a:r>
              <a:rPr lang="en-US" dirty="0"/>
              <a:t>);</a:t>
            </a:r>
          </a:p>
          <a:p>
            <a:endParaRPr lang="en-IN" dirty="0"/>
          </a:p>
        </p:txBody>
      </p:sp>
    </p:spTree>
    <p:extLst>
      <p:ext uri="{BB962C8B-B14F-4D97-AF65-F5344CB8AC3E}">
        <p14:creationId xmlns:p14="http://schemas.microsoft.com/office/powerpoint/2010/main" val="369280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b="1" dirty="0"/>
              <a:t>Example: </a:t>
            </a:r>
            <a:r>
              <a:rPr lang="en-US" dirty="0"/>
              <a:t>Here’s an example to illustrate the concept. Let’s say we have a table for storing employee information, and we want to ensure that his </a:t>
            </a:r>
            <a:r>
              <a:rPr lang="en-US" b="1" dirty="0"/>
              <a:t>Salary</a:t>
            </a:r>
            <a:r>
              <a:rPr lang="en-US" dirty="0"/>
              <a:t> is always greater than zero and the </a:t>
            </a:r>
            <a:r>
              <a:rPr lang="en-US" b="1" dirty="0" smtClean="0"/>
              <a:t>Department</a:t>
            </a:r>
            <a:r>
              <a:rPr lang="en-US" dirty="0"/>
              <a:t> is one of the specified values</a:t>
            </a:r>
            <a:r>
              <a:rPr lang="en-US" dirty="0" smtClean="0"/>
              <a:t>.</a:t>
            </a:r>
          </a:p>
          <a:p>
            <a:r>
              <a:rPr lang="en-US" dirty="0">
                <a:solidFill>
                  <a:srgbClr val="FF0000"/>
                </a:solidFill>
              </a:rPr>
              <a:t>CREATE TABLE Employees (</a:t>
            </a:r>
            <a:r>
              <a:rPr lang="en-US" dirty="0">
                <a:solidFill>
                  <a:srgbClr val="FF0000"/>
                </a:solidFill>
              </a:rPr>
              <a:t/>
            </a:r>
            <a:br>
              <a:rPr lang="en-US" dirty="0">
                <a:solidFill>
                  <a:srgbClr val="FF0000"/>
                </a:solidFill>
              </a:rPr>
            </a:br>
            <a:r>
              <a:rPr lang="en-US" dirty="0" err="1">
                <a:solidFill>
                  <a:srgbClr val="FF0000"/>
                </a:solidFill>
              </a:rPr>
              <a:t>EmployeeID</a:t>
            </a:r>
            <a:r>
              <a:rPr lang="en-US" dirty="0">
                <a:solidFill>
                  <a:srgbClr val="FF0000"/>
                </a:solidFill>
              </a:rPr>
              <a:t> INT PRIMARY KEY,</a:t>
            </a:r>
            <a:r>
              <a:rPr lang="en-US" dirty="0">
                <a:solidFill>
                  <a:srgbClr val="FF0000"/>
                </a:solidFill>
              </a:rPr>
              <a:t/>
            </a:r>
            <a:br>
              <a:rPr lang="en-US" dirty="0">
                <a:solidFill>
                  <a:srgbClr val="FF0000"/>
                </a:solidFill>
              </a:rPr>
            </a:br>
            <a:r>
              <a:rPr lang="en-US" dirty="0">
                <a:solidFill>
                  <a:srgbClr val="FF0000"/>
                </a:solidFill>
              </a:rPr>
              <a:t>Salary DECIMAL(10, 2) CHECK (Salary &gt; 0),</a:t>
            </a:r>
            <a:r>
              <a:rPr lang="en-US" dirty="0">
                <a:solidFill>
                  <a:srgbClr val="FF0000"/>
                </a:solidFill>
              </a:rPr>
              <a:t/>
            </a:r>
            <a:br>
              <a:rPr lang="en-US" dirty="0">
                <a:solidFill>
                  <a:srgbClr val="FF0000"/>
                </a:solidFill>
              </a:rPr>
            </a:br>
            <a:r>
              <a:rPr lang="en-US" dirty="0">
                <a:solidFill>
                  <a:srgbClr val="FF0000"/>
                </a:solidFill>
              </a:rPr>
              <a:t>Department VARCHAR(50) CHECK (Department IN ('HR', 'IT', 'Finance'))</a:t>
            </a:r>
            <a:r>
              <a:rPr lang="en-US" dirty="0">
                <a:solidFill>
                  <a:srgbClr val="FF0000"/>
                </a:solidFill>
              </a:rPr>
              <a:t/>
            </a:r>
            <a:br>
              <a:rPr lang="en-US" dirty="0">
                <a:solidFill>
                  <a:srgbClr val="FF0000"/>
                </a:solidFill>
              </a:rPr>
            </a:b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3424437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b="1" dirty="0"/>
              <a:t>2. Not Null Constraint: </a:t>
            </a:r>
            <a:r>
              <a:rPr lang="en-US" dirty="0"/>
              <a:t>The NOT NULL constraint in a Database Management System (DBMS) is used to ensure that a column in a table cannot contain any NULL values. NULL is a special marker used in databases to indicate that a data value does not exist in the database. The NOT NULL constraint ensures that a column always has a value, and it cannot be left empty</a:t>
            </a:r>
            <a:r>
              <a:rPr lang="en-US" dirty="0" smtClean="0"/>
              <a:t>.</a:t>
            </a:r>
          </a:p>
          <a:p>
            <a:r>
              <a:rPr lang="en-US" b="1" dirty="0"/>
              <a:t>Example:</a:t>
            </a:r>
            <a:r>
              <a:rPr lang="en-US" dirty="0"/>
              <a:t> Here’s a simple example using an “Employees” table where the “</a:t>
            </a:r>
            <a:r>
              <a:rPr lang="en-US" dirty="0" err="1"/>
              <a:t>FirstName</a:t>
            </a:r>
            <a:r>
              <a:rPr lang="en-US" dirty="0"/>
              <a:t>” column cannot be NULL</a:t>
            </a:r>
            <a:r>
              <a:rPr lang="en-US" dirty="0" smtClean="0"/>
              <a:t>:</a:t>
            </a:r>
          </a:p>
          <a:p>
            <a:r>
              <a:rPr lang="en-US" dirty="0">
                <a:solidFill>
                  <a:srgbClr val="FF0000"/>
                </a:solidFill>
              </a:rPr>
              <a:t>CREATE TABLE Employees (</a:t>
            </a:r>
            <a:r>
              <a:rPr lang="en-US" dirty="0">
                <a:solidFill>
                  <a:srgbClr val="FF0000"/>
                </a:solidFill>
              </a:rPr>
              <a:t/>
            </a:r>
            <a:br>
              <a:rPr lang="en-US" dirty="0">
                <a:solidFill>
                  <a:srgbClr val="FF0000"/>
                </a:solidFill>
              </a:rPr>
            </a:br>
            <a:r>
              <a:rPr lang="en-US" dirty="0" err="1">
                <a:solidFill>
                  <a:srgbClr val="FF0000"/>
                </a:solidFill>
              </a:rPr>
              <a:t>EmployeeID</a:t>
            </a:r>
            <a:r>
              <a:rPr lang="en-US" dirty="0">
                <a:solidFill>
                  <a:srgbClr val="FF0000"/>
                </a:solidFill>
              </a:rPr>
              <a:t> INT,</a:t>
            </a:r>
            <a:r>
              <a:rPr lang="en-US" dirty="0">
                <a:solidFill>
                  <a:srgbClr val="FF0000"/>
                </a:solidFill>
              </a:rPr>
              <a:t/>
            </a:r>
            <a:br>
              <a:rPr lang="en-US" dirty="0">
                <a:solidFill>
                  <a:srgbClr val="FF0000"/>
                </a:solidFill>
              </a:rPr>
            </a:br>
            <a:r>
              <a:rPr lang="en-US" dirty="0" err="1">
                <a:solidFill>
                  <a:srgbClr val="FF0000"/>
                </a:solidFill>
              </a:rPr>
              <a:t>FirstName</a:t>
            </a:r>
            <a:r>
              <a:rPr lang="en-US" dirty="0">
                <a:solidFill>
                  <a:srgbClr val="FF0000"/>
                </a:solidFill>
              </a:rPr>
              <a:t> VARCHAR(50) NOT NULL,</a:t>
            </a:r>
            <a:r>
              <a:rPr lang="en-US" dirty="0">
                <a:solidFill>
                  <a:srgbClr val="FF0000"/>
                </a:solidFill>
              </a:rPr>
              <a:t/>
            </a:r>
            <a:br>
              <a:rPr lang="en-US" dirty="0">
                <a:solidFill>
                  <a:srgbClr val="FF0000"/>
                </a:solidFill>
              </a:rPr>
            </a:br>
            <a:r>
              <a:rPr lang="en-US" dirty="0" err="1">
                <a:solidFill>
                  <a:srgbClr val="FF0000"/>
                </a:solidFill>
              </a:rPr>
              <a:t>LastName</a:t>
            </a:r>
            <a:r>
              <a:rPr lang="en-US" dirty="0">
                <a:solidFill>
                  <a:srgbClr val="FF0000"/>
                </a:solidFill>
              </a:rPr>
              <a:t> VARCHAR(50),</a:t>
            </a:r>
            <a:r>
              <a:rPr lang="en-US" dirty="0">
                <a:solidFill>
                  <a:srgbClr val="FF0000"/>
                </a:solidFill>
              </a:rPr>
              <a:t/>
            </a:r>
            <a:br>
              <a:rPr lang="en-US" dirty="0">
                <a:solidFill>
                  <a:srgbClr val="FF0000"/>
                </a:solidFill>
              </a:rPr>
            </a:br>
            <a:r>
              <a:rPr lang="en-US" dirty="0">
                <a:solidFill>
                  <a:srgbClr val="FF0000"/>
                </a:solidFill>
              </a:rPr>
              <a:t>-- Other columns</a:t>
            </a:r>
            <a:r>
              <a:rPr lang="en-US" dirty="0">
                <a:solidFill>
                  <a:srgbClr val="FF0000"/>
                </a:solidFill>
              </a:rPr>
              <a:t/>
            </a:r>
            <a:br>
              <a:rPr lang="en-US" dirty="0">
                <a:solidFill>
                  <a:srgbClr val="FF0000"/>
                </a:solidFill>
              </a:rPr>
            </a:b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3733323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With this NOT NULL constraint, every record in the “Employees” table must have a non-null value in the “</a:t>
            </a:r>
            <a:r>
              <a:rPr lang="en-US" dirty="0" err="1"/>
              <a:t>FirstName</a:t>
            </a:r>
            <a:r>
              <a:rPr lang="en-US" dirty="0"/>
              <a:t>” column. If an attempt is made to insert a record without specifying a value for “</a:t>
            </a:r>
            <a:r>
              <a:rPr lang="en-US" dirty="0" err="1"/>
              <a:t>FirstName</a:t>
            </a:r>
            <a:r>
              <a:rPr lang="en-US" dirty="0"/>
              <a:t>” or updating an existing record to set “</a:t>
            </a:r>
            <a:r>
              <a:rPr lang="en-US" dirty="0" err="1"/>
              <a:t>FirstName</a:t>
            </a:r>
            <a:r>
              <a:rPr lang="en-US" dirty="0"/>
              <a:t>” to NULL, it will result in a constraint violation error.</a:t>
            </a:r>
            <a:endParaRPr lang="en-IN" dirty="0"/>
          </a:p>
        </p:txBody>
      </p:sp>
    </p:spTree>
    <p:extLst>
      <p:ext uri="{BB962C8B-B14F-4D97-AF65-F5344CB8AC3E}">
        <p14:creationId xmlns:p14="http://schemas.microsoft.com/office/powerpoint/2010/main" val="169873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1217"/>
          </a:xfrm>
        </p:spPr>
        <p:txBody>
          <a:bodyPr>
            <a:normAutofit fontScale="90000"/>
          </a:bodyPr>
          <a:lstStyle/>
          <a:p>
            <a:r>
              <a:rPr lang="en-US" b="1" dirty="0" smtClean="0"/>
              <a:t/>
            </a:r>
            <a:br>
              <a:rPr lang="en-US" b="1" dirty="0" smtClean="0"/>
            </a:br>
            <a:r>
              <a:rPr lang="en-US" b="1" dirty="0" smtClean="0"/>
              <a:t>Key </a:t>
            </a:r>
            <a:r>
              <a:rPr lang="en-US" b="1" dirty="0"/>
              <a:t>Constraints</a:t>
            </a:r>
            <a:br>
              <a:rPr lang="en-US" b="1" dirty="0"/>
            </a:br>
            <a:endParaRPr lang="en-IN" dirty="0"/>
          </a:p>
        </p:txBody>
      </p:sp>
      <p:sp>
        <p:nvSpPr>
          <p:cNvPr id="3" name="Content Placeholder 2"/>
          <p:cNvSpPr>
            <a:spLocks noGrp="1"/>
          </p:cNvSpPr>
          <p:nvPr>
            <p:ph idx="1"/>
          </p:nvPr>
        </p:nvSpPr>
        <p:spPr>
          <a:xfrm>
            <a:off x="457200" y="775855"/>
            <a:ext cx="8478982" cy="5888181"/>
          </a:xfrm>
        </p:spPr>
        <p:txBody>
          <a:bodyPr numCol="2">
            <a:normAutofit fontScale="62500" lnSpcReduction="20000"/>
          </a:bodyPr>
          <a:lstStyle/>
          <a:p>
            <a:pPr algn="just"/>
            <a:r>
              <a:rPr lang="en-US" dirty="0" smtClean="0"/>
              <a:t>A </a:t>
            </a:r>
            <a:r>
              <a:rPr lang="en-US" dirty="0"/>
              <a:t>key constraint in a Database Management System (DBMS) refers to a set of rules applied to one or more columns in a database table to ensure the uniqueness and integrity of data. Keys are used to uniquely identify rows in a table, and they play a fundamental role in establishing relationships between tables. There are several types of key constraints, each serving a specific purpose:</a:t>
            </a:r>
          </a:p>
          <a:p>
            <a:pPr marL="0" indent="0" algn="just">
              <a:buNone/>
            </a:pPr>
            <a:r>
              <a:rPr lang="en-US" b="1" dirty="0"/>
              <a:t>Primary Key Constraint:</a:t>
            </a:r>
            <a:endParaRPr lang="en-US" dirty="0"/>
          </a:p>
          <a:p>
            <a:pPr algn="just"/>
            <a:r>
              <a:rPr lang="en-US" dirty="0"/>
              <a:t>A primary key is a column or a set of columns that uniquely identifies each row in a table.</a:t>
            </a:r>
          </a:p>
          <a:p>
            <a:pPr algn="just"/>
            <a:r>
              <a:rPr lang="en-US" dirty="0"/>
              <a:t>The primary key constraint ensures that the values in the specified columns are unique and not NULL.</a:t>
            </a:r>
          </a:p>
          <a:p>
            <a:pPr algn="just"/>
            <a:r>
              <a:rPr lang="en-US" dirty="0"/>
              <a:t>There can be only one primary key in a table.</a:t>
            </a:r>
          </a:p>
          <a:p>
            <a:pPr algn="just"/>
            <a:r>
              <a:rPr lang="en-US" b="1" dirty="0"/>
              <a:t>Example: </a:t>
            </a:r>
            <a:r>
              <a:rPr lang="en-US" dirty="0"/>
              <a:t>Let’s consider a simple example of a primary key constraint in a relational database using a </a:t>
            </a:r>
            <a:r>
              <a:rPr lang="en-US" b="1" dirty="0"/>
              <a:t>Students</a:t>
            </a:r>
            <a:r>
              <a:rPr lang="en-US" dirty="0"/>
              <a:t> table</a:t>
            </a:r>
            <a:r>
              <a:rPr lang="en-US" dirty="0" smtClean="0"/>
              <a:t>:</a:t>
            </a:r>
          </a:p>
          <a:p>
            <a:r>
              <a:rPr lang="en-US" dirty="0">
                <a:solidFill>
                  <a:srgbClr val="FF0000"/>
                </a:solidFill>
              </a:rPr>
              <a:t>CREATE TABLE Students (</a:t>
            </a:r>
            <a:r>
              <a:rPr lang="en-US" dirty="0">
                <a:solidFill>
                  <a:srgbClr val="FF0000"/>
                </a:solidFill>
              </a:rPr>
              <a:t/>
            </a:r>
            <a:br>
              <a:rPr lang="en-US" dirty="0">
                <a:solidFill>
                  <a:srgbClr val="FF0000"/>
                </a:solidFill>
              </a:rPr>
            </a:br>
            <a:r>
              <a:rPr lang="en-US" dirty="0" err="1">
                <a:solidFill>
                  <a:srgbClr val="FF0000"/>
                </a:solidFill>
              </a:rPr>
              <a:t>StudentID</a:t>
            </a:r>
            <a:r>
              <a:rPr lang="en-US" dirty="0">
                <a:solidFill>
                  <a:srgbClr val="FF0000"/>
                </a:solidFill>
              </a:rPr>
              <a:t> INT PRIMARY KEY,</a:t>
            </a:r>
            <a:r>
              <a:rPr lang="en-US" dirty="0">
                <a:solidFill>
                  <a:srgbClr val="FF0000"/>
                </a:solidFill>
              </a:rPr>
              <a:t/>
            </a:r>
            <a:br>
              <a:rPr lang="en-US" dirty="0">
                <a:solidFill>
                  <a:srgbClr val="FF0000"/>
                </a:solidFill>
              </a:rPr>
            </a:br>
            <a:r>
              <a:rPr lang="en-US" dirty="0" err="1">
                <a:solidFill>
                  <a:srgbClr val="FF0000"/>
                </a:solidFill>
              </a:rPr>
              <a:t>FirstName</a:t>
            </a:r>
            <a:r>
              <a:rPr lang="en-US" dirty="0">
                <a:solidFill>
                  <a:srgbClr val="FF0000"/>
                </a:solidFill>
              </a:rPr>
              <a:t> VARCHAR(50),</a:t>
            </a:r>
            <a:r>
              <a:rPr lang="en-US" dirty="0">
                <a:solidFill>
                  <a:srgbClr val="FF0000"/>
                </a:solidFill>
              </a:rPr>
              <a:t/>
            </a:r>
            <a:br>
              <a:rPr lang="en-US" dirty="0">
                <a:solidFill>
                  <a:srgbClr val="FF0000"/>
                </a:solidFill>
              </a:rPr>
            </a:br>
            <a:r>
              <a:rPr lang="en-US" dirty="0" err="1">
                <a:solidFill>
                  <a:srgbClr val="FF0000"/>
                </a:solidFill>
              </a:rPr>
              <a:t>LastName</a:t>
            </a:r>
            <a:r>
              <a:rPr lang="en-US" dirty="0">
                <a:solidFill>
                  <a:srgbClr val="FF0000"/>
                </a:solidFill>
              </a:rPr>
              <a:t> VARCHAR(50),</a:t>
            </a:r>
            <a:r>
              <a:rPr lang="en-US" dirty="0">
                <a:solidFill>
                  <a:srgbClr val="FF0000"/>
                </a:solidFill>
              </a:rPr>
              <a:t/>
            </a:r>
            <a:br>
              <a:rPr lang="en-US" dirty="0">
                <a:solidFill>
                  <a:srgbClr val="FF0000"/>
                </a:solidFill>
              </a:rPr>
            </a:br>
            <a:r>
              <a:rPr lang="en-US" dirty="0">
                <a:solidFill>
                  <a:srgbClr val="FF0000"/>
                </a:solidFill>
              </a:rPr>
              <a:t>Age INT,</a:t>
            </a:r>
            <a:r>
              <a:rPr lang="en-US" dirty="0">
                <a:solidFill>
                  <a:srgbClr val="FF0000"/>
                </a:solidFill>
              </a:rPr>
              <a:t/>
            </a:r>
            <a:br>
              <a:rPr lang="en-US" dirty="0">
                <a:solidFill>
                  <a:srgbClr val="FF0000"/>
                </a:solidFill>
              </a:rPr>
            </a:br>
            <a:r>
              <a:rPr lang="en-US" dirty="0">
                <a:solidFill>
                  <a:srgbClr val="FF0000"/>
                </a:solidFill>
              </a:rPr>
              <a:t>-- Other columns</a:t>
            </a:r>
            <a:r>
              <a:rPr lang="en-US" dirty="0">
                <a:solidFill>
                  <a:srgbClr val="FF0000"/>
                </a:solidFill>
              </a:rPr>
              <a:t/>
            </a:r>
            <a:br>
              <a:rPr lang="en-US" dirty="0">
                <a:solidFill>
                  <a:srgbClr val="FF0000"/>
                </a:solidFill>
              </a:rPr>
            </a:br>
            <a:r>
              <a:rPr lang="en-US" dirty="0">
                <a:solidFill>
                  <a:srgbClr val="FF0000"/>
                </a:solidFill>
              </a:rPr>
              <a:t>);</a:t>
            </a:r>
          </a:p>
          <a:p>
            <a:pPr marL="0" indent="0">
              <a:buNone/>
            </a:pPr>
            <a:r>
              <a:rPr lang="en-US" dirty="0"/>
              <a:t>In this example:</a:t>
            </a:r>
          </a:p>
          <a:p>
            <a:r>
              <a:rPr lang="en-US" dirty="0" err="1"/>
              <a:t>StudentID</a:t>
            </a:r>
            <a:r>
              <a:rPr lang="en-US" dirty="0"/>
              <a:t> is the primary key for the Students table.</a:t>
            </a:r>
          </a:p>
          <a:p>
            <a:r>
              <a:rPr lang="en-US" dirty="0" err="1"/>
              <a:t>FirstName</a:t>
            </a:r>
            <a:r>
              <a:rPr lang="en-US" dirty="0"/>
              <a:t>, </a:t>
            </a:r>
            <a:r>
              <a:rPr lang="en-US" dirty="0" err="1"/>
              <a:t>LastName</a:t>
            </a:r>
            <a:r>
              <a:rPr lang="en-US" dirty="0"/>
              <a:t>, Age, and other columns are attributes associated with each student.</a:t>
            </a:r>
          </a:p>
          <a:p>
            <a:r>
              <a:rPr lang="en-US" dirty="0"/>
              <a:t>Here’s how this primary key constraint works:</a:t>
            </a:r>
          </a:p>
          <a:p>
            <a:endParaRPr lang="en-IN" dirty="0"/>
          </a:p>
        </p:txBody>
      </p:sp>
    </p:spTree>
    <p:extLst>
      <p:ext uri="{BB962C8B-B14F-4D97-AF65-F5344CB8AC3E}">
        <p14:creationId xmlns:p14="http://schemas.microsoft.com/office/powerpoint/2010/main" val="557857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b="1" dirty="0"/>
              <a:t>a. Inserting Data</a:t>
            </a:r>
            <a:r>
              <a:rPr lang="en-IN" b="1" dirty="0" smtClean="0"/>
              <a:t>:</a:t>
            </a:r>
          </a:p>
          <a:p>
            <a:pPr marL="0" indent="0">
              <a:buNone/>
            </a:pPr>
            <a:r>
              <a:rPr lang="en-IN" dirty="0"/>
              <a:t>-- Inserting two students with unique </a:t>
            </a:r>
            <a:r>
              <a:rPr lang="en-IN" dirty="0" err="1"/>
              <a:t>StudentID</a:t>
            </a:r>
            <a:r>
              <a:rPr lang="en-IN" dirty="0"/>
              <a:t> values</a:t>
            </a:r>
            <a:r>
              <a:rPr lang="en-IN" dirty="0"/>
              <a:t/>
            </a:r>
            <a:br>
              <a:rPr lang="en-IN" dirty="0"/>
            </a:br>
            <a:r>
              <a:rPr lang="en-IN" dirty="0"/>
              <a:t>INSERT INTO Students (</a:t>
            </a:r>
            <a:r>
              <a:rPr lang="en-IN" dirty="0" err="1"/>
              <a:t>StudentID</a:t>
            </a:r>
            <a:r>
              <a:rPr lang="en-IN" dirty="0"/>
              <a:t>, </a:t>
            </a:r>
            <a:r>
              <a:rPr lang="en-IN" dirty="0" err="1"/>
              <a:t>FirstName</a:t>
            </a:r>
            <a:r>
              <a:rPr lang="en-IN" dirty="0"/>
              <a:t>, </a:t>
            </a:r>
            <a:r>
              <a:rPr lang="en-IN" dirty="0" err="1"/>
              <a:t>LastName</a:t>
            </a:r>
            <a:r>
              <a:rPr lang="en-IN" dirty="0"/>
              <a:t>, Age)</a:t>
            </a:r>
            <a:r>
              <a:rPr lang="en-IN" dirty="0"/>
              <a:t/>
            </a:r>
            <a:br>
              <a:rPr lang="en-IN" dirty="0"/>
            </a:br>
            <a:r>
              <a:rPr lang="en-IN" dirty="0"/>
              <a:t>VALUES (1, 'John', 'Doe', 20);</a:t>
            </a:r>
            <a:r>
              <a:rPr lang="en-IN" dirty="0"/>
              <a:t/>
            </a:r>
            <a:br>
              <a:rPr lang="en-IN" dirty="0"/>
            </a:br>
            <a:r>
              <a:rPr lang="en-IN" dirty="0"/>
              <a:t/>
            </a:r>
            <a:br>
              <a:rPr lang="en-IN" dirty="0"/>
            </a:br>
            <a:r>
              <a:rPr lang="en-IN" dirty="0"/>
              <a:t>INSERT INTO Students (</a:t>
            </a:r>
            <a:r>
              <a:rPr lang="en-IN" dirty="0" err="1"/>
              <a:t>StudentID</a:t>
            </a:r>
            <a:r>
              <a:rPr lang="en-IN" dirty="0"/>
              <a:t>, </a:t>
            </a:r>
            <a:r>
              <a:rPr lang="en-IN" dirty="0" err="1"/>
              <a:t>FirstName</a:t>
            </a:r>
            <a:r>
              <a:rPr lang="en-IN" dirty="0"/>
              <a:t>, </a:t>
            </a:r>
            <a:r>
              <a:rPr lang="en-IN" dirty="0" err="1"/>
              <a:t>LastName</a:t>
            </a:r>
            <a:r>
              <a:rPr lang="en-IN" dirty="0"/>
              <a:t>, Age)</a:t>
            </a:r>
            <a:r>
              <a:rPr lang="en-IN" dirty="0"/>
              <a:t/>
            </a:r>
            <a:br>
              <a:rPr lang="en-IN" dirty="0"/>
            </a:br>
            <a:r>
              <a:rPr lang="en-IN" dirty="0"/>
              <a:t>VALUES (2, 'Jane', 'Smith', 22</a:t>
            </a:r>
            <a:r>
              <a:rPr lang="en-IN" dirty="0" smtClean="0"/>
              <a:t>);</a:t>
            </a:r>
          </a:p>
          <a:p>
            <a:pPr marL="0" indent="0">
              <a:buNone/>
            </a:pPr>
            <a:r>
              <a:rPr lang="en-US" dirty="0"/>
              <a:t>This is valid because each </a:t>
            </a:r>
            <a:r>
              <a:rPr lang="en-US" dirty="0" err="1"/>
              <a:t>StudentID</a:t>
            </a:r>
            <a:r>
              <a:rPr lang="en-US" dirty="0"/>
              <a:t> is unique</a:t>
            </a:r>
            <a:r>
              <a:rPr lang="en-US" dirty="0" smtClean="0"/>
              <a:t>.</a:t>
            </a:r>
          </a:p>
          <a:p>
            <a:pPr marL="0" indent="0">
              <a:buNone/>
            </a:pPr>
            <a:r>
              <a:rPr lang="en-US" dirty="0"/>
              <a:t>-- Trying to insert a student with a duplicate </a:t>
            </a:r>
            <a:r>
              <a:rPr lang="en-US" dirty="0" err="1"/>
              <a:t>StudentID</a:t>
            </a:r>
            <a:r>
              <a:rPr lang="en-US" dirty="0"/>
              <a:t/>
            </a:r>
            <a:br>
              <a:rPr lang="en-US" dirty="0"/>
            </a:br>
            <a:r>
              <a:rPr lang="en-US" dirty="0"/>
              <a:t>INSERT INTO Students (</a:t>
            </a:r>
            <a:r>
              <a:rPr lang="en-US" dirty="0" err="1"/>
              <a:t>StudentID</a:t>
            </a:r>
            <a:r>
              <a:rPr lang="en-US" dirty="0"/>
              <a:t>, </a:t>
            </a:r>
            <a:r>
              <a:rPr lang="en-US" dirty="0" err="1"/>
              <a:t>FirstName</a:t>
            </a:r>
            <a:r>
              <a:rPr lang="en-US" dirty="0"/>
              <a:t>, </a:t>
            </a:r>
            <a:r>
              <a:rPr lang="en-US" dirty="0" err="1"/>
              <a:t>LastName</a:t>
            </a:r>
            <a:r>
              <a:rPr lang="en-US" dirty="0"/>
              <a:t>, Age)</a:t>
            </a:r>
            <a:r>
              <a:rPr lang="en-US" dirty="0"/>
              <a:t/>
            </a:r>
            <a:br>
              <a:rPr lang="en-US" dirty="0"/>
            </a:br>
            <a:r>
              <a:rPr lang="en-US" dirty="0"/>
              <a:t>VALUES (1, 'Bob', 'Johnson', 21);</a:t>
            </a:r>
            <a:endParaRPr lang="en-IN" dirty="0"/>
          </a:p>
        </p:txBody>
      </p:sp>
    </p:spTree>
    <p:extLst>
      <p:ext uri="{BB962C8B-B14F-4D97-AF65-F5344CB8AC3E}">
        <p14:creationId xmlns:p14="http://schemas.microsoft.com/office/powerpoint/2010/main" val="706218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r>
              <a:rPr lang="en-US" dirty="0"/>
              <a:t>This would result in a constraint violation error since the primary key must be unique, and ‘1’ is already used.</a:t>
            </a:r>
          </a:p>
          <a:p>
            <a:r>
              <a:rPr lang="en-US" b="1" dirty="0"/>
              <a:t>2. Unique Constraint:</a:t>
            </a:r>
            <a:endParaRPr lang="en-US" dirty="0"/>
          </a:p>
          <a:p>
            <a:r>
              <a:rPr lang="en-US" dirty="0"/>
              <a:t>A unique constraint ensures that all values in a column or a set of columns are unique.</a:t>
            </a:r>
          </a:p>
          <a:p>
            <a:r>
              <a:rPr lang="en-US" dirty="0"/>
              <a:t>Unlike the primary key, a unique constraint allows NULL values.</a:t>
            </a:r>
          </a:p>
          <a:p>
            <a:r>
              <a:rPr lang="en-US" b="1" dirty="0"/>
              <a:t>Example:</a:t>
            </a:r>
            <a:r>
              <a:rPr lang="en-US" dirty="0"/>
              <a:t> Suppose we have a </a:t>
            </a:r>
            <a:r>
              <a:rPr lang="en-US" b="1" dirty="0"/>
              <a:t>Products</a:t>
            </a:r>
            <a:r>
              <a:rPr lang="en-US" dirty="0"/>
              <a:t> table where we want to ensure that each product has a unique product code:</a:t>
            </a:r>
          </a:p>
          <a:p>
            <a:r>
              <a:rPr lang="en-US" dirty="0"/>
              <a:t>CREATE TABLE Products (</a:t>
            </a:r>
            <a:r>
              <a:rPr lang="en-US" dirty="0"/>
              <a:t/>
            </a:r>
            <a:br>
              <a:rPr lang="en-US" dirty="0"/>
            </a:br>
            <a:r>
              <a:rPr lang="en-US" dirty="0" err="1"/>
              <a:t>ProductID</a:t>
            </a:r>
            <a:r>
              <a:rPr lang="en-US" dirty="0"/>
              <a:t> INT PRIMARY KEY,</a:t>
            </a:r>
            <a:r>
              <a:rPr lang="en-US" dirty="0"/>
              <a:t/>
            </a:r>
            <a:br>
              <a:rPr lang="en-US" dirty="0"/>
            </a:br>
            <a:r>
              <a:rPr lang="en-US" dirty="0" err="1"/>
              <a:t>ProductCode</a:t>
            </a:r>
            <a:r>
              <a:rPr lang="en-US" dirty="0"/>
              <a:t> VARCHAR(20) UNIQUE,</a:t>
            </a:r>
            <a:r>
              <a:rPr lang="en-US" dirty="0"/>
              <a:t/>
            </a:r>
            <a:br>
              <a:rPr lang="en-US" dirty="0"/>
            </a:br>
            <a:r>
              <a:rPr lang="en-US" dirty="0" err="1"/>
              <a:t>ProductName</a:t>
            </a:r>
            <a:r>
              <a:rPr lang="en-US" dirty="0"/>
              <a:t> VARCHAR(100),</a:t>
            </a:r>
            <a:r>
              <a:rPr lang="en-US" dirty="0"/>
              <a:t/>
            </a:r>
            <a:br>
              <a:rPr lang="en-US" dirty="0"/>
            </a:br>
            <a:r>
              <a:rPr lang="en-US" dirty="0"/>
              <a:t>Price DECIMAL(10, 2),</a:t>
            </a:r>
            <a:r>
              <a:rPr lang="en-US" dirty="0"/>
              <a:t/>
            </a:r>
            <a:br>
              <a:rPr lang="en-US" dirty="0"/>
            </a:br>
            <a:r>
              <a:rPr lang="en-US" dirty="0"/>
              <a:t>-- Other columns</a:t>
            </a:r>
            <a:r>
              <a:rPr lang="en-US" dirty="0"/>
              <a:t/>
            </a:r>
            <a:br>
              <a:rPr lang="en-US" dirty="0"/>
            </a:br>
            <a:r>
              <a:rPr lang="en-US" dirty="0" smtClean="0"/>
              <a:t>);</a:t>
            </a:r>
          </a:p>
          <a:p>
            <a:r>
              <a:rPr lang="en-US" dirty="0"/>
              <a:t>In this example:</a:t>
            </a:r>
          </a:p>
          <a:p>
            <a:r>
              <a:rPr lang="en-US" b="1" dirty="0" err="1"/>
              <a:t>ProductID</a:t>
            </a:r>
            <a:r>
              <a:rPr lang="en-US" dirty="0"/>
              <a:t> is the primary key that uniquely identifies each product.</a:t>
            </a:r>
          </a:p>
          <a:p>
            <a:r>
              <a:rPr lang="en-US" b="1" dirty="0" err="1"/>
              <a:t>ProductCode</a:t>
            </a:r>
            <a:r>
              <a:rPr lang="en-US" dirty="0"/>
              <a:t> is a column with a unique key constraint.</a:t>
            </a:r>
          </a:p>
          <a:p>
            <a:r>
              <a:rPr lang="en-US" dirty="0"/>
              <a:t>The </a:t>
            </a:r>
            <a:r>
              <a:rPr lang="en-US" b="1" dirty="0"/>
              <a:t>UNIQUE</a:t>
            </a:r>
            <a:r>
              <a:rPr lang="en-US" dirty="0"/>
              <a:t> constraint on the </a:t>
            </a:r>
            <a:r>
              <a:rPr lang="en-US" b="1" dirty="0" err="1"/>
              <a:t>ProductCode</a:t>
            </a:r>
            <a:r>
              <a:rPr lang="en-US" dirty="0"/>
              <a:t> column ensures that each value in this column must be unique across all rows in the Products table. It means that we cannot have two products with the same product code.</a:t>
            </a:r>
          </a:p>
          <a:p>
            <a:endParaRPr lang="en-IN" dirty="0"/>
          </a:p>
        </p:txBody>
      </p:sp>
    </p:spTree>
    <p:extLst>
      <p:ext uri="{BB962C8B-B14F-4D97-AF65-F5344CB8AC3E}">
        <p14:creationId xmlns:p14="http://schemas.microsoft.com/office/powerpoint/2010/main" val="883617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a:t>Here’s how this unique key constraint works:</a:t>
            </a:r>
          </a:p>
          <a:p>
            <a:r>
              <a:rPr lang="en-US" b="1" dirty="0"/>
              <a:t>a. Inserting Data:</a:t>
            </a:r>
            <a:endParaRPr lang="en-US" dirty="0"/>
          </a:p>
          <a:p>
            <a:r>
              <a:rPr lang="en-IN" dirty="0"/>
              <a:t>-- Inserting two products with different product codes</a:t>
            </a:r>
            <a:r>
              <a:rPr lang="en-IN" dirty="0"/>
              <a:t/>
            </a:r>
            <a:br>
              <a:rPr lang="en-IN" dirty="0"/>
            </a:br>
            <a:r>
              <a:rPr lang="en-IN" dirty="0"/>
              <a:t>INSERT</a:t>
            </a:r>
            <a:r>
              <a:rPr lang="en-IN" dirty="0"/>
              <a:t> </a:t>
            </a:r>
            <a:r>
              <a:rPr lang="en-IN" dirty="0"/>
              <a:t>INTO</a:t>
            </a:r>
            <a:r>
              <a:rPr lang="en-IN" dirty="0"/>
              <a:t> Products (</a:t>
            </a:r>
            <a:r>
              <a:rPr lang="en-IN" dirty="0" err="1"/>
              <a:t>ProductID</a:t>
            </a:r>
            <a:r>
              <a:rPr lang="en-IN" dirty="0"/>
              <a:t>, </a:t>
            </a:r>
            <a:r>
              <a:rPr lang="en-IN" dirty="0" err="1"/>
              <a:t>ProductCode</a:t>
            </a:r>
            <a:r>
              <a:rPr lang="en-IN" dirty="0"/>
              <a:t>, </a:t>
            </a:r>
            <a:r>
              <a:rPr lang="en-IN" dirty="0" err="1"/>
              <a:t>ProductName</a:t>
            </a:r>
            <a:r>
              <a:rPr lang="en-IN" dirty="0"/>
              <a:t>, Price)</a:t>
            </a:r>
            <a:br>
              <a:rPr lang="en-IN" dirty="0"/>
            </a:br>
            <a:r>
              <a:rPr lang="en-IN" dirty="0"/>
              <a:t>VALUES</a:t>
            </a:r>
            <a:r>
              <a:rPr lang="en-IN" dirty="0"/>
              <a:t> (</a:t>
            </a:r>
            <a:r>
              <a:rPr lang="en-IN" dirty="0"/>
              <a:t>1</a:t>
            </a:r>
            <a:r>
              <a:rPr lang="en-IN" dirty="0"/>
              <a:t>, </a:t>
            </a:r>
            <a:r>
              <a:rPr lang="en-IN" dirty="0"/>
              <a:t>'P001'</a:t>
            </a:r>
            <a:r>
              <a:rPr lang="en-IN" dirty="0"/>
              <a:t>, </a:t>
            </a:r>
            <a:r>
              <a:rPr lang="en-IN" dirty="0"/>
              <a:t>'Product A'</a:t>
            </a:r>
            <a:r>
              <a:rPr lang="en-IN" dirty="0"/>
              <a:t>, </a:t>
            </a:r>
            <a:r>
              <a:rPr lang="en-IN" dirty="0"/>
              <a:t>49.99</a:t>
            </a:r>
            <a:r>
              <a:rPr lang="en-IN" dirty="0"/>
              <a:t>);</a:t>
            </a:r>
            <a:br>
              <a:rPr lang="en-IN" dirty="0"/>
            </a:br>
            <a:r>
              <a:rPr lang="en-IN" dirty="0"/>
              <a:t/>
            </a:r>
            <a:br>
              <a:rPr lang="en-IN" dirty="0"/>
            </a:br>
            <a:r>
              <a:rPr lang="en-IN" dirty="0"/>
              <a:t>INSERT</a:t>
            </a:r>
            <a:r>
              <a:rPr lang="en-IN" dirty="0"/>
              <a:t> </a:t>
            </a:r>
            <a:r>
              <a:rPr lang="en-IN" dirty="0"/>
              <a:t>INTO</a:t>
            </a:r>
            <a:r>
              <a:rPr lang="en-IN" dirty="0"/>
              <a:t> Products (</a:t>
            </a:r>
            <a:r>
              <a:rPr lang="en-IN" dirty="0" err="1"/>
              <a:t>ProductID</a:t>
            </a:r>
            <a:r>
              <a:rPr lang="en-IN" dirty="0"/>
              <a:t>, </a:t>
            </a:r>
            <a:r>
              <a:rPr lang="en-IN" dirty="0" err="1"/>
              <a:t>ProductCode</a:t>
            </a:r>
            <a:r>
              <a:rPr lang="en-IN" dirty="0"/>
              <a:t>, </a:t>
            </a:r>
            <a:r>
              <a:rPr lang="en-IN" dirty="0" err="1"/>
              <a:t>ProductName</a:t>
            </a:r>
            <a:r>
              <a:rPr lang="en-IN" dirty="0"/>
              <a:t>, Price)</a:t>
            </a:r>
            <a:br>
              <a:rPr lang="en-IN" dirty="0"/>
            </a:br>
            <a:r>
              <a:rPr lang="en-IN" dirty="0"/>
              <a:t>VALUES</a:t>
            </a:r>
            <a:r>
              <a:rPr lang="en-IN" dirty="0"/>
              <a:t> (</a:t>
            </a:r>
            <a:r>
              <a:rPr lang="en-IN" dirty="0"/>
              <a:t>2</a:t>
            </a:r>
            <a:r>
              <a:rPr lang="en-IN" dirty="0"/>
              <a:t>, </a:t>
            </a:r>
            <a:r>
              <a:rPr lang="en-IN" dirty="0"/>
              <a:t>'P002'</a:t>
            </a:r>
            <a:r>
              <a:rPr lang="en-IN" dirty="0"/>
              <a:t>, </a:t>
            </a:r>
            <a:r>
              <a:rPr lang="en-IN" dirty="0"/>
              <a:t>'Product B'</a:t>
            </a:r>
            <a:r>
              <a:rPr lang="en-IN" dirty="0"/>
              <a:t>, </a:t>
            </a:r>
            <a:r>
              <a:rPr lang="en-IN" dirty="0"/>
              <a:t>29.99</a:t>
            </a:r>
            <a:r>
              <a:rPr lang="en-IN" dirty="0" smtClean="0"/>
              <a:t>);</a:t>
            </a:r>
          </a:p>
          <a:p>
            <a:endParaRPr lang="en-IN" dirty="0"/>
          </a:p>
        </p:txBody>
      </p:sp>
    </p:spTree>
    <p:extLst>
      <p:ext uri="{BB962C8B-B14F-4D97-AF65-F5344CB8AC3E}">
        <p14:creationId xmlns:p14="http://schemas.microsoft.com/office/powerpoint/2010/main" val="27359056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a:t>This is valid because the product codes (‘P001’ and ‘P002’) are unique.</a:t>
            </a:r>
          </a:p>
          <a:p>
            <a:endParaRPr lang="en-US" dirty="0"/>
          </a:p>
          <a:p>
            <a:r>
              <a:rPr lang="en-US" dirty="0"/>
              <a:t>-- Trying to insert a product with a duplicate product code</a:t>
            </a:r>
          </a:p>
          <a:p>
            <a:r>
              <a:rPr lang="en-US" dirty="0"/>
              <a:t>INSERT INTO Products (</a:t>
            </a:r>
            <a:r>
              <a:rPr lang="en-US" dirty="0" err="1"/>
              <a:t>ProductID</a:t>
            </a:r>
            <a:r>
              <a:rPr lang="en-US" dirty="0"/>
              <a:t>, </a:t>
            </a:r>
            <a:r>
              <a:rPr lang="en-US" dirty="0" err="1"/>
              <a:t>ProductCode</a:t>
            </a:r>
            <a:r>
              <a:rPr lang="en-US" dirty="0"/>
              <a:t>, </a:t>
            </a:r>
            <a:r>
              <a:rPr lang="en-US" dirty="0" err="1"/>
              <a:t>ProductName</a:t>
            </a:r>
            <a:r>
              <a:rPr lang="en-US" dirty="0"/>
              <a:t>, Price)</a:t>
            </a:r>
          </a:p>
          <a:p>
            <a:r>
              <a:rPr lang="en-US" dirty="0"/>
              <a:t>VALUES (3, 'P001', 'Product C', 19.99);</a:t>
            </a:r>
          </a:p>
          <a:p>
            <a:r>
              <a:rPr lang="en-US" dirty="0"/>
              <a:t>This would result in a constraint violation error since ‘P001’ is already used as a product code.</a:t>
            </a:r>
            <a:endParaRPr lang="en-IN" dirty="0"/>
          </a:p>
        </p:txBody>
      </p:sp>
    </p:spTree>
    <p:extLst>
      <p:ext uri="{BB962C8B-B14F-4D97-AF65-F5344CB8AC3E}">
        <p14:creationId xmlns:p14="http://schemas.microsoft.com/office/powerpoint/2010/main" val="27237026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3</a:t>
            </a:r>
            <a:r>
              <a:rPr lang="en-US" dirty="0"/>
              <a:t>. </a:t>
            </a:r>
            <a:r>
              <a:rPr lang="en-US" b="1" dirty="0"/>
              <a:t>Foreign Key Constraint:</a:t>
            </a:r>
            <a:r>
              <a:rPr lang="en-US" dirty="0"/>
              <a:t/>
            </a:r>
            <a:br>
              <a:rPr lang="en-US"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A </a:t>
            </a:r>
            <a:r>
              <a:rPr lang="en-US" dirty="0"/>
              <a:t>foreign key is a column or a set of columns in a table that refers to the primary key of another table.</a:t>
            </a:r>
          </a:p>
          <a:p>
            <a:r>
              <a:rPr lang="en-US" dirty="0"/>
              <a:t>It establishes a relationship between the two tables, enforcing referential integrity.</a:t>
            </a:r>
          </a:p>
          <a:p>
            <a:r>
              <a:rPr lang="en-US" dirty="0"/>
              <a:t>The foreign key constraint ensures that values in the foreign key column(s) match values in the referenced primary key column(s).</a:t>
            </a:r>
          </a:p>
          <a:p>
            <a:r>
              <a:rPr lang="en-US" dirty="0"/>
              <a:t>The foreign key constraint </a:t>
            </a:r>
            <a:r>
              <a:rPr lang="en-US" b="1" dirty="0"/>
              <a:t>ensures referential integrity</a:t>
            </a:r>
            <a:r>
              <a:rPr lang="en-US" dirty="0"/>
              <a:t>, meaning that relationships between tables are maintained, and it helps prevent inconsistencies in the data. It’s a powerful tool for enforcing relationships between tables in a relational database.</a:t>
            </a:r>
          </a:p>
          <a:p>
            <a:endParaRPr lang="en-IN" dirty="0"/>
          </a:p>
        </p:txBody>
      </p:sp>
    </p:spTree>
    <p:extLst>
      <p:ext uri="{BB962C8B-B14F-4D97-AF65-F5344CB8AC3E}">
        <p14:creationId xmlns:p14="http://schemas.microsoft.com/office/powerpoint/2010/main" val="3571285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endParaRPr lang="en-IN" dirty="0"/>
          </a:p>
        </p:txBody>
      </p:sp>
      <p:sp>
        <p:nvSpPr>
          <p:cNvPr id="3" name="Content Placeholder 2"/>
          <p:cNvSpPr>
            <a:spLocks noGrp="1"/>
          </p:cNvSpPr>
          <p:nvPr>
            <p:ph idx="1"/>
          </p:nvPr>
        </p:nvSpPr>
        <p:spPr>
          <a:xfrm>
            <a:off x="457200" y="762000"/>
            <a:ext cx="8229600" cy="5791200"/>
          </a:xfrm>
        </p:spPr>
        <p:txBody>
          <a:bodyPr>
            <a:normAutofit fontScale="70000" lnSpcReduction="20000"/>
          </a:bodyPr>
          <a:lstStyle/>
          <a:p>
            <a:pPr marL="0" indent="0">
              <a:buNone/>
            </a:pPr>
            <a:r>
              <a:rPr lang="en-US" b="1" dirty="0" smtClean="0"/>
              <a:t>Example: </a:t>
            </a:r>
            <a:r>
              <a:rPr lang="en-US" dirty="0" smtClean="0"/>
              <a:t>Let’s consider a simple example to illustrate the use of a foreign key constraint in a relational database. Suppose we have two tables: </a:t>
            </a:r>
            <a:r>
              <a:rPr lang="en-US" b="1" dirty="0" smtClean="0"/>
              <a:t>Customers</a:t>
            </a:r>
            <a:r>
              <a:rPr lang="en-US" dirty="0" smtClean="0"/>
              <a:t> and </a:t>
            </a:r>
            <a:r>
              <a:rPr lang="en-US" b="1" dirty="0" smtClean="0"/>
              <a:t>Orders</a:t>
            </a:r>
            <a:r>
              <a:rPr lang="en-US" dirty="0" smtClean="0"/>
              <a:t>.</a:t>
            </a:r>
          </a:p>
          <a:p>
            <a:pPr marL="0" indent="0">
              <a:buNone/>
            </a:pPr>
            <a:r>
              <a:rPr lang="en-US" dirty="0" smtClean="0">
                <a:solidFill>
                  <a:srgbClr val="FF0000"/>
                </a:solidFill>
              </a:rPr>
              <a:t>1. Customers </a:t>
            </a:r>
            <a:r>
              <a:rPr lang="en-US" dirty="0">
                <a:solidFill>
                  <a:srgbClr val="FF0000"/>
                </a:solidFill>
              </a:rPr>
              <a:t>Table:</a:t>
            </a:r>
          </a:p>
          <a:p>
            <a:r>
              <a:rPr lang="en-US" dirty="0"/>
              <a:t>CREATE TABLE Customers (</a:t>
            </a:r>
            <a:r>
              <a:rPr lang="en-US" dirty="0"/>
              <a:t/>
            </a:r>
            <a:br>
              <a:rPr lang="en-US" dirty="0"/>
            </a:br>
            <a:r>
              <a:rPr lang="en-US" dirty="0" err="1"/>
              <a:t>CustomerID</a:t>
            </a:r>
            <a:r>
              <a:rPr lang="en-US" dirty="0"/>
              <a:t> INT PRIMARY KEY,</a:t>
            </a:r>
            <a:r>
              <a:rPr lang="en-US" dirty="0"/>
              <a:t/>
            </a:r>
            <a:br>
              <a:rPr lang="en-US" dirty="0"/>
            </a:br>
            <a:r>
              <a:rPr lang="en-US" dirty="0" err="1"/>
              <a:t>FirstName</a:t>
            </a:r>
            <a:r>
              <a:rPr lang="en-US" dirty="0"/>
              <a:t> VARCHAR(50),</a:t>
            </a:r>
            <a:r>
              <a:rPr lang="en-US" dirty="0"/>
              <a:t/>
            </a:r>
            <a:br>
              <a:rPr lang="en-US" dirty="0"/>
            </a:br>
            <a:r>
              <a:rPr lang="en-US" dirty="0" err="1"/>
              <a:t>LastName</a:t>
            </a:r>
            <a:r>
              <a:rPr lang="en-US" dirty="0"/>
              <a:t> VARCHAR(50),</a:t>
            </a:r>
            <a:r>
              <a:rPr lang="en-US" dirty="0"/>
              <a:t/>
            </a:r>
            <a:br>
              <a:rPr lang="en-US" dirty="0"/>
            </a:br>
            <a:r>
              <a:rPr lang="en-US" dirty="0"/>
              <a:t>Email VARCHAR(100) UNIQUE,</a:t>
            </a:r>
            <a:r>
              <a:rPr lang="en-US" dirty="0"/>
              <a:t/>
            </a:r>
            <a:br>
              <a:rPr lang="en-US" dirty="0"/>
            </a:br>
            <a:r>
              <a:rPr lang="en-US" dirty="0"/>
              <a:t>-- Other columns</a:t>
            </a:r>
            <a:r>
              <a:rPr lang="en-US" dirty="0"/>
              <a:t/>
            </a:r>
            <a:br>
              <a:rPr lang="en-US" dirty="0"/>
            </a:br>
            <a:r>
              <a:rPr lang="en-US" dirty="0" smtClean="0"/>
              <a:t>);</a:t>
            </a:r>
          </a:p>
          <a:p>
            <a:pPr marL="0" indent="0">
              <a:buNone/>
            </a:pPr>
            <a:r>
              <a:rPr lang="en-IN" dirty="0" smtClean="0">
                <a:solidFill>
                  <a:srgbClr val="FF0000"/>
                </a:solidFill>
              </a:rPr>
              <a:t>2</a:t>
            </a:r>
            <a:r>
              <a:rPr lang="en-IN" dirty="0">
                <a:solidFill>
                  <a:srgbClr val="FF0000"/>
                </a:solidFill>
              </a:rPr>
              <a:t>. Orders Table</a:t>
            </a:r>
            <a:r>
              <a:rPr lang="en-IN" dirty="0" smtClean="0">
                <a:solidFill>
                  <a:srgbClr val="FF0000"/>
                </a:solidFill>
              </a:rPr>
              <a:t>:</a:t>
            </a:r>
          </a:p>
          <a:p>
            <a:pPr marL="0" indent="0">
              <a:buNone/>
            </a:pPr>
            <a:r>
              <a:rPr lang="en-US" dirty="0"/>
              <a:t>CREATE TABLE Orders (</a:t>
            </a:r>
            <a:r>
              <a:rPr lang="en-US" dirty="0"/>
              <a:t/>
            </a:r>
            <a:br>
              <a:rPr lang="en-US" dirty="0"/>
            </a:br>
            <a:r>
              <a:rPr lang="en-US" dirty="0" err="1"/>
              <a:t>OrderID</a:t>
            </a:r>
            <a:r>
              <a:rPr lang="en-US" dirty="0"/>
              <a:t> INT PRIMARY KEY,</a:t>
            </a:r>
            <a:r>
              <a:rPr lang="en-US" dirty="0"/>
              <a:t/>
            </a:r>
            <a:br>
              <a:rPr lang="en-US" dirty="0"/>
            </a:br>
            <a:r>
              <a:rPr lang="en-US" dirty="0" err="1"/>
              <a:t>CustomerID</a:t>
            </a:r>
            <a:r>
              <a:rPr lang="en-US" dirty="0"/>
              <a:t> INT,</a:t>
            </a:r>
            <a:r>
              <a:rPr lang="en-US" dirty="0"/>
              <a:t/>
            </a:r>
            <a:br>
              <a:rPr lang="en-US" dirty="0"/>
            </a:br>
            <a:r>
              <a:rPr lang="en-US" dirty="0" err="1"/>
              <a:t>OrderDate</a:t>
            </a:r>
            <a:r>
              <a:rPr lang="en-US" dirty="0"/>
              <a:t> DATE,</a:t>
            </a:r>
            <a:r>
              <a:rPr lang="en-US" dirty="0"/>
              <a:t/>
            </a:r>
            <a:br>
              <a:rPr lang="en-US" dirty="0"/>
            </a:br>
            <a:r>
              <a:rPr lang="en-US" dirty="0" err="1"/>
              <a:t>TotalAmount</a:t>
            </a:r>
            <a:r>
              <a:rPr lang="en-US" dirty="0"/>
              <a:t> DECIMAL(10, 2),</a:t>
            </a:r>
            <a:r>
              <a:rPr lang="en-US" dirty="0"/>
              <a:t/>
            </a:r>
            <a:br>
              <a:rPr lang="en-US" dirty="0"/>
            </a:br>
            <a:r>
              <a:rPr lang="en-US" dirty="0"/>
              <a:t>-- Other columns</a:t>
            </a:r>
            <a:r>
              <a:rPr lang="en-US" dirty="0"/>
              <a:t/>
            </a:r>
            <a:br>
              <a:rPr lang="en-US" dirty="0"/>
            </a:br>
            <a:r>
              <a:rPr lang="en-US" dirty="0"/>
              <a:t>FOREIGN KEY (</a:t>
            </a:r>
            <a:r>
              <a:rPr lang="en-US" dirty="0" err="1"/>
              <a:t>CustomerID</a:t>
            </a:r>
            <a:r>
              <a:rPr lang="en-US" dirty="0"/>
              <a:t>) REFERENCES Customers(</a:t>
            </a:r>
            <a:r>
              <a:rPr lang="en-US" dirty="0" err="1"/>
              <a:t>CustomerID</a:t>
            </a:r>
            <a:r>
              <a:rPr lang="en-US" dirty="0"/>
              <a:t>)</a:t>
            </a:r>
            <a:r>
              <a:rPr lang="en-US" dirty="0"/>
              <a:t/>
            </a:r>
            <a:br>
              <a:rPr lang="en-US" dirty="0"/>
            </a:br>
            <a:r>
              <a:rPr lang="en-US" dirty="0"/>
              <a:t>);</a:t>
            </a:r>
            <a:endParaRPr lang="en-IN" dirty="0"/>
          </a:p>
        </p:txBody>
      </p:sp>
    </p:spTree>
    <p:extLst>
      <p:ext uri="{BB962C8B-B14F-4D97-AF65-F5344CB8AC3E}">
        <p14:creationId xmlns:p14="http://schemas.microsoft.com/office/powerpoint/2010/main" val="345708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4939145"/>
          </a:xfrm>
        </p:spPr>
        <p:txBody>
          <a:bodyPr>
            <a:normAutofit fontScale="77500" lnSpcReduction="20000"/>
          </a:bodyPr>
          <a:lstStyle/>
          <a:p>
            <a:pPr marL="0" indent="0">
              <a:buNone/>
            </a:pPr>
            <a:r>
              <a:rPr lang="en-US" dirty="0"/>
              <a:t>In this example:</a:t>
            </a:r>
          </a:p>
          <a:p>
            <a:r>
              <a:rPr lang="en-US" dirty="0"/>
              <a:t>In the </a:t>
            </a:r>
            <a:r>
              <a:rPr lang="en-US" b="1" dirty="0"/>
              <a:t>Customers table</a:t>
            </a:r>
            <a:r>
              <a:rPr lang="en-US" dirty="0"/>
              <a:t>, </a:t>
            </a:r>
            <a:r>
              <a:rPr lang="en-US" dirty="0" err="1"/>
              <a:t>CustomerID</a:t>
            </a:r>
            <a:r>
              <a:rPr lang="en-US" dirty="0"/>
              <a:t> is the primary key that uniquely identifies each customer. It is also referenced by the foreign key in the Orders table.</a:t>
            </a:r>
          </a:p>
          <a:p>
            <a:r>
              <a:rPr lang="en-US" dirty="0"/>
              <a:t>In the </a:t>
            </a:r>
            <a:r>
              <a:rPr lang="en-US" b="1" dirty="0"/>
              <a:t>Orders table</a:t>
            </a:r>
            <a:r>
              <a:rPr lang="en-US" dirty="0"/>
              <a:t>, </a:t>
            </a:r>
            <a:r>
              <a:rPr lang="en-US" dirty="0" err="1"/>
              <a:t>OrderID</a:t>
            </a:r>
            <a:r>
              <a:rPr lang="en-US" dirty="0"/>
              <a:t> is the primary key that uniquely identifies each order. The </a:t>
            </a:r>
            <a:r>
              <a:rPr lang="en-US" dirty="0" err="1"/>
              <a:t>CustomerID</a:t>
            </a:r>
            <a:r>
              <a:rPr lang="en-US" dirty="0"/>
              <a:t> column is a foreign key that establishes a relationship with the Customers table.</a:t>
            </a:r>
          </a:p>
          <a:p>
            <a:r>
              <a:rPr lang="en-US" dirty="0"/>
              <a:t>The </a:t>
            </a:r>
            <a:r>
              <a:rPr lang="en-US" b="1" dirty="0"/>
              <a:t>FOREIGN KEY</a:t>
            </a:r>
            <a:r>
              <a:rPr lang="en-US" dirty="0"/>
              <a:t> (</a:t>
            </a:r>
            <a:r>
              <a:rPr lang="en-US" dirty="0" err="1"/>
              <a:t>CustomerID</a:t>
            </a:r>
            <a:r>
              <a:rPr lang="en-US" dirty="0"/>
              <a:t>) REFERENCES Customers(</a:t>
            </a:r>
            <a:r>
              <a:rPr lang="en-US" dirty="0" err="1"/>
              <a:t>CustomerID</a:t>
            </a:r>
            <a:r>
              <a:rPr lang="en-US" dirty="0"/>
              <a:t>) statement in the Orders table specifies that the </a:t>
            </a:r>
            <a:r>
              <a:rPr lang="en-US" dirty="0" err="1"/>
              <a:t>CustomerID</a:t>
            </a:r>
            <a:r>
              <a:rPr lang="en-US" dirty="0"/>
              <a:t> column in the Orders table is a foreign key, and it must refer to a valid </a:t>
            </a:r>
            <a:r>
              <a:rPr lang="en-US" dirty="0" err="1"/>
              <a:t>CustomerID</a:t>
            </a:r>
            <a:r>
              <a:rPr lang="en-US" dirty="0"/>
              <a:t> in the Customers table.</a:t>
            </a:r>
          </a:p>
          <a:p>
            <a:r>
              <a:rPr lang="en-US" dirty="0"/>
              <a:t>Here’s how this foreign key constraint works:</a:t>
            </a:r>
          </a:p>
          <a:p>
            <a:endParaRPr lang="en-IN" dirty="0"/>
          </a:p>
        </p:txBody>
      </p:sp>
    </p:spTree>
    <p:extLst>
      <p:ext uri="{BB962C8B-B14F-4D97-AF65-F5344CB8AC3E}">
        <p14:creationId xmlns:p14="http://schemas.microsoft.com/office/powerpoint/2010/main" val="845470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 Inserting Data:</a:t>
            </a:r>
            <a:endParaRPr lang="en-IN" dirty="0"/>
          </a:p>
        </p:txBody>
      </p:sp>
      <p:sp>
        <p:nvSpPr>
          <p:cNvPr id="3" name="Content Placeholder 2"/>
          <p:cNvSpPr>
            <a:spLocks noGrp="1"/>
          </p:cNvSpPr>
          <p:nvPr>
            <p:ph idx="1"/>
          </p:nvPr>
        </p:nvSpPr>
        <p:spPr>
          <a:xfrm>
            <a:off x="457200" y="1191492"/>
            <a:ext cx="8229600" cy="5417126"/>
          </a:xfrm>
        </p:spPr>
        <p:txBody>
          <a:bodyPr>
            <a:normAutofit fontScale="55000" lnSpcReduction="20000"/>
          </a:bodyPr>
          <a:lstStyle/>
          <a:p>
            <a:r>
              <a:rPr lang="en-IN" b="1" dirty="0"/>
              <a:t>- Insert a customer</a:t>
            </a:r>
            <a:r>
              <a:rPr lang="en-IN" dirty="0"/>
              <a:t/>
            </a:r>
            <a:br>
              <a:rPr lang="en-IN" dirty="0"/>
            </a:br>
            <a:r>
              <a:rPr lang="en-IN" dirty="0"/>
              <a:t>INSERT INTO Customers (</a:t>
            </a:r>
            <a:r>
              <a:rPr lang="en-IN" dirty="0" err="1"/>
              <a:t>CustomerID</a:t>
            </a:r>
            <a:r>
              <a:rPr lang="en-IN" dirty="0"/>
              <a:t>, </a:t>
            </a:r>
            <a:r>
              <a:rPr lang="en-IN" dirty="0" err="1"/>
              <a:t>FirstName</a:t>
            </a:r>
            <a:r>
              <a:rPr lang="en-IN" dirty="0"/>
              <a:t>, </a:t>
            </a:r>
            <a:r>
              <a:rPr lang="en-IN" dirty="0" err="1"/>
              <a:t>LastName</a:t>
            </a:r>
            <a:r>
              <a:rPr lang="en-IN" dirty="0"/>
              <a:t>, Email)</a:t>
            </a:r>
            <a:r>
              <a:rPr lang="en-IN" dirty="0"/>
              <a:t/>
            </a:r>
            <a:br>
              <a:rPr lang="en-IN" dirty="0"/>
            </a:br>
            <a:r>
              <a:rPr lang="en-IN" dirty="0"/>
              <a:t>VALUES (1, 'John', 'Doe', 'john.doe@example.com');</a:t>
            </a:r>
            <a:r>
              <a:rPr lang="en-IN" dirty="0"/>
              <a:t/>
            </a:r>
            <a:br>
              <a:rPr lang="en-IN" dirty="0"/>
            </a:br>
            <a:r>
              <a:rPr lang="en-IN" dirty="0"/>
              <a:t/>
            </a:r>
            <a:br>
              <a:rPr lang="en-IN" dirty="0"/>
            </a:br>
            <a:r>
              <a:rPr lang="en-IN" b="1" dirty="0"/>
              <a:t>-- Insert an order referencing the customer</a:t>
            </a:r>
            <a:r>
              <a:rPr lang="en-IN" dirty="0"/>
              <a:t/>
            </a:r>
            <a:br>
              <a:rPr lang="en-IN" dirty="0"/>
            </a:br>
            <a:r>
              <a:rPr lang="en-IN" dirty="0"/>
              <a:t>INSERT INTO Orders (</a:t>
            </a:r>
            <a:r>
              <a:rPr lang="en-IN" dirty="0" err="1"/>
              <a:t>OrderID</a:t>
            </a:r>
            <a:r>
              <a:rPr lang="en-IN" dirty="0"/>
              <a:t>, </a:t>
            </a:r>
            <a:r>
              <a:rPr lang="en-IN" dirty="0" err="1"/>
              <a:t>CustomerID</a:t>
            </a:r>
            <a:r>
              <a:rPr lang="en-IN" dirty="0"/>
              <a:t>, </a:t>
            </a:r>
            <a:r>
              <a:rPr lang="en-IN" dirty="0" err="1"/>
              <a:t>OrderDate</a:t>
            </a:r>
            <a:r>
              <a:rPr lang="en-IN" dirty="0"/>
              <a:t>, </a:t>
            </a:r>
            <a:r>
              <a:rPr lang="en-IN" dirty="0" err="1"/>
              <a:t>TotalAmount</a:t>
            </a:r>
            <a:r>
              <a:rPr lang="en-IN" dirty="0"/>
              <a:t>)</a:t>
            </a:r>
            <a:r>
              <a:rPr lang="en-IN" dirty="0"/>
              <a:t/>
            </a:r>
            <a:br>
              <a:rPr lang="en-IN" dirty="0"/>
            </a:br>
            <a:r>
              <a:rPr lang="en-IN" dirty="0"/>
              <a:t>VALUES (101, 1, '2024-01-06', 150.00</a:t>
            </a:r>
            <a:r>
              <a:rPr lang="en-IN" dirty="0" smtClean="0"/>
              <a:t>);</a:t>
            </a:r>
          </a:p>
          <a:p>
            <a:pPr marL="0" indent="0">
              <a:buNone/>
            </a:pPr>
            <a:r>
              <a:rPr lang="en-US" b="1" dirty="0">
                <a:solidFill>
                  <a:srgbClr val="FF0000"/>
                </a:solidFill>
              </a:rPr>
              <a:t>This ensures that when you insert an order into the Orders table, the </a:t>
            </a:r>
            <a:r>
              <a:rPr lang="en-US" b="1" dirty="0" err="1">
                <a:solidFill>
                  <a:srgbClr val="FF0000"/>
                </a:solidFill>
              </a:rPr>
              <a:t>CustomerID</a:t>
            </a:r>
            <a:r>
              <a:rPr lang="en-US" b="1" dirty="0">
                <a:solidFill>
                  <a:srgbClr val="FF0000"/>
                </a:solidFill>
              </a:rPr>
              <a:t> must exist in the Customers table.</a:t>
            </a:r>
          </a:p>
          <a:p>
            <a:pPr marL="0" indent="0">
              <a:buNone/>
            </a:pPr>
            <a:r>
              <a:rPr lang="en-US" b="1" dirty="0"/>
              <a:t>b. Updating Data:</a:t>
            </a:r>
            <a:endParaRPr lang="en-US" dirty="0"/>
          </a:p>
          <a:p>
            <a:r>
              <a:rPr lang="en-US" dirty="0"/>
              <a:t>-- Update the </a:t>
            </a:r>
            <a:r>
              <a:rPr lang="en-US" dirty="0" err="1"/>
              <a:t>CustomerID</a:t>
            </a:r>
            <a:r>
              <a:rPr lang="en-US" dirty="0"/>
              <a:t> in the Orders table</a:t>
            </a:r>
            <a:r>
              <a:rPr lang="en-US" dirty="0"/>
              <a:t/>
            </a:r>
            <a:br>
              <a:rPr lang="en-US" dirty="0"/>
            </a:br>
            <a:r>
              <a:rPr lang="en-US" dirty="0"/>
              <a:t>UPDATE Orders</a:t>
            </a:r>
            <a:r>
              <a:rPr lang="en-US" dirty="0"/>
              <a:t/>
            </a:r>
            <a:br>
              <a:rPr lang="en-US" dirty="0"/>
            </a:br>
            <a:r>
              <a:rPr lang="en-US" dirty="0"/>
              <a:t>SET </a:t>
            </a:r>
            <a:r>
              <a:rPr lang="en-US" dirty="0" err="1"/>
              <a:t>CustomerID</a:t>
            </a:r>
            <a:r>
              <a:rPr lang="en-US" dirty="0"/>
              <a:t> = 2</a:t>
            </a:r>
            <a:r>
              <a:rPr lang="en-US" dirty="0"/>
              <a:t/>
            </a:r>
            <a:br>
              <a:rPr lang="en-US" dirty="0"/>
            </a:br>
            <a:r>
              <a:rPr lang="en-US" dirty="0"/>
              <a:t>WHERE </a:t>
            </a:r>
            <a:r>
              <a:rPr lang="en-US" dirty="0" err="1"/>
              <a:t>OrderID</a:t>
            </a:r>
            <a:r>
              <a:rPr lang="en-US" dirty="0"/>
              <a:t> = 101</a:t>
            </a:r>
            <a:r>
              <a:rPr lang="en-US" dirty="0" smtClean="0"/>
              <a:t>;</a:t>
            </a:r>
          </a:p>
          <a:p>
            <a:pPr marL="0" indent="0">
              <a:buNone/>
            </a:pPr>
            <a:r>
              <a:rPr lang="en-US" b="1" dirty="0">
                <a:solidFill>
                  <a:srgbClr val="FF0000"/>
                </a:solidFill>
              </a:rPr>
              <a:t>If you try to update the </a:t>
            </a:r>
            <a:r>
              <a:rPr lang="en-US" b="1" dirty="0" err="1">
                <a:solidFill>
                  <a:srgbClr val="FF0000"/>
                </a:solidFill>
              </a:rPr>
              <a:t>CustomerID</a:t>
            </a:r>
            <a:r>
              <a:rPr lang="en-US" b="1" dirty="0">
                <a:solidFill>
                  <a:srgbClr val="FF0000"/>
                </a:solidFill>
              </a:rPr>
              <a:t> in the Orders table to a value that does not exist in the Customers table, it will violate the foreign key constraint.</a:t>
            </a:r>
          </a:p>
          <a:p>
            <a:pPr marL="0" indent="0">
              <a:buNone/>
            </a:pPr>
            <a:r>
              <a:rPr lang="en-US" b="1" dirty="0"/>
              <a:t>c. Deleting Data:</a:t>
            </a:r>
            <a:endParaRPr lang="en-US" dirty="0"/>
          </a:p>
          <a:p>
            <a:r>
              <a:rPr lang="en-US" dirty="0"/>
              <a:t>- Delete a customer</a:t>
            </a:r>
            <a:r>
              <a:rPr lang="en-US" dirty="0"/>
              <a:t/>
            </a:r>
            <a:br>
              <a:rPr lang="en-US" dirty="0"/>
            </a:br>
            <a:r>
              <a:rPr lang="en-US" dirty="0"/>
              <a:t>DELETE FROM Customers WHERE </a:t>
            </a:r>
            <a:r>
              <a:rPr lang="en-US" dirty="0" err="1"/>
              <a:t>CustomerID</a:t>
            </a:r>
            <a:r>
              <a:rPr lang="en-US" dirty="0"/>
              <a:t> = 1</a:t>
            </a:r>
            <a:r>
              <a:rPr lang="en-US" dirty="0" smtClean="0"/>
              <a:t>;</a:t>
            </a:r>
          </a:p>
          <a:p>
            <a:r>
              <a:rPr lang="en-US" dirty="0"/>
              <a:t>If you try to delete a customer who has orders in the Orders table, it will violate the foreign key constraint. Typically, you need to handle such cases by either preventing deletion or cascading the deletion to related records.</a:t>
            </a:r>
            <a:endParaRPr lang="en-IN" dirty="0"/>
          </a:p>
        </p:txBody>
      </p:sp>
    </p:spTree>
    <p:extLst>
      <p:ext uri="{BB962C8B-B14F-4D97-AF65-F5344CB8AC3E}">
        <p14:creationId xmlns:p14="http://schemas.microsoft.com/office/powerpoint/2010/main" val="3219101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Entity Integrity Constraint</a:t>
            </a:r>
            <a:br>
              <a:rPr lang="en-US" b="1" dirty="0"/>
            </a:br>
            <a:endParaRPr lang="en-IN" dirty="0"/>
          </a:p>
        </p:txBody>
      </p:sp>
      <p:sp>
        <p:nvSpPr>
          <p:cNvPr id="3" name="Content Placeholder 2"/>
          <p:cNvSpPr>
            <a:spLocks noGrp="1"/>
          </p:cNvSpPr>
          <p:nvPr>
            <p:ph idx="1"/>
          </p:nvPr>
        </p:nvSpPr>
        <p:spPr/>
        <p:txBody>
          <a:bodyPr>
            <a:normAutofit fontScale="55000" lnSpcReduction="20000"/>
          </a:bodyPr>
          <a:lstStyle/>
          <a:p>
            <a:r>
              <a:rPr lang="en-US" dirty="0" smtClean="0"/>
              <a:t>The </a:t>
            </a:r>
            <a:r>
              <a:rPr lang="en-US" dirty="0"/>
              <a:t>Entity Integrity Constraint is essentially a subset of the </a:t>
            </a:r>
            <a:r>
              <a:rPr lang="en-US" b="1" dirty="0"/>
              <a:t>Key constraint</a:t>
            </a:r>
            <a:r>
              <a:rPr lang="en-US" dirty="0"/>
              <a:t> in a database. While the Key constraint ensures that Primary Key attributes are unique and non-null, the </a:t>
            </a:r>
            <a:r>
              <a:rPr lang="en-US" b="1" dirty="0"/>
              <a:t>Entity Integrity Constraint specifically emphasizes that no attribute of a Primary Key should contain null values</a:t>
            </a:r>
            <a:r>
              <a:rPr lang="en-US" dirty="0"/>
              <a:t>. This constraint highlights the perspective that allowing null values in Primary Key attributes could lead to multiple null entries, violating the uniqueness requirement for each tuple in the Primary Key. Therefore, the Entity Integrity Constraint reinforces the importance of non-null values within the Primary Key to maintain the uniqueness of each record in a relational database.</a:t>
            </a:r>
          </a:p>
          <a:p>
            <a:r>
              <a:rPr lang="en-US" b="1" dirty="0"/>
              <a:t>Example:</a:t>
            </a:r>
            <a:r>
              <a:rPr lang="en-US" dirty="0"/>
              <a:t> Let’s consider an example to illustrate entity constraints in a database. Assume we have a table named Employees with the following structure:</a:t>
            </a:r>
          </a:p>
          <a:p>
            <a:r>
              <a:rPr lang="en-US" dirty="0"/>
              <a:t>CREATE TABLE Employees (</a:t>
            </a:r>
            <a:r>
              <a:rPr lang="en-US" dirty="0"/>
              <a:t/>
            </a:r>
            <a:br>
              <a:rPr lang="en-US" dirty="0"/>
            </a:br>
            <a:r>
              <a:rPr lang="en-US" dirty="0" err="1"/>
              <a:t>EmployeeID</a:t>
            </a:r>
            <a:r>
              <a:rPr lang="en-US" dirty="0"/>
              <a:t> INT PRIMARY KEY,</a:t>
            </a:r>
            <a:r>
              <a:rPr lang="en-US" dirty="0"/>
              <a:t/>
            </a:r>
            <a:br>
              <a:rPr lang="en-US" dirty="0"/>
            </a:br>
            <a:r>
              <a:rPr lang="en-US" dirty="0" err="1"/>
              <a:t>FirstName</a:t>
            </a:r>
            <a:r>
              <a:rPr lang="en-US" dirty="0"/>
              <a:t> VARCHAR(50) NOT NULL,</a:t>
            </a:r>
            <a:r>
              <a:rPr lang="en-US" dirty="0"/>
              <a:t/>
            </a:r>
            <a:br>
              <a:rPr lang="en-US" dirty="0"/>
            </a:br>
            <a:r>
              <a:rPr lang="en-US" dirty="0" err="1"/>
              <a:t>LastName</a:t>
            </a:r>
            <a:r>
              <a:rPr lang="en-US" dirty="0"/>
              <a:t> VARCHAR(50) NOT NULL,</a:t>
            </a:r>
            <a:r>
              <a:rPr lang="en-US" dirty="0"/>
              <a:t/>
            </a:r>
            <a:br>
              <a:rPr lang="en-US" dirty="0"/>
            </a:br>
            <a:r>
              <a:rPr lang="en-US" dirty="0"/>
              <a:t>Email VARCHAR(100) UNIQUE,</a:t>
            </a:r>
            <a:r>
              <a:rPr lang="en-US" dirty="0"/>
              <a:t/>
            </a:r>
            <a:br>
              <a:rPr lang="en-US" dirty="0"/>
            </a:br>
            <a:r>
              <a:rPr lang="en-US" dirty="0"/>
              <a:t>-- Other columns</a:t>
            </a:r>
            <a:r>
              <a:rPr lang="en-US" dirty="0"/>
              <a:t/>
            </a:r>
            <a:br>
              <a:rPr lang="en-US" dirty="0"/>
            </a:br>
            <a:r>
              <a:rPr lang="en-US" dirty="0"/>
              <a:t>);</a:t>
            </a:r>
            <a:endParaRPr lang="en-IN" dirty="0"/>
          </a:p>
        </p:txBody>
      </p:sp>
    </p:spTree>
    <p:extLst>
      <p:ext uri="{BB962C8B-B14F-4D97-AF65-F5344CB8AC3E}">
        <p14:creationId xmlns:p14="http://schemas.microsoft.com/office/powerpoint/2010/main" val="3513978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Tuple Uniqueness Constraint</a:t>
            </a:r>
            <a:br>
              <a:rPr lang="en-US" b="1" dirty="0"/>
            </a:br>
            <a:endParaRPr lang="en-IN" dirty="0"/>
          </a:p>
        </p:txBody>
      </p:sp>
      <p:sp>
        <p:nvSpPr>
          <p:cNvPr id="3" name="Content Placeholder 2"/>
          <p:cNvSpPr>
            <a:spLocks noGrp="1"/>
          </p:cNvSpPr>
          <p:nvPr>
            <p:ph idx="1"/>
          </p:nvPr>
        </p:nvSpPr>
        <p:spPr/>
        <p:txBody>
          <a:bodyPr>
            <a:normAutofit fontScale="62500" lnSpcReduction="20000"/>
          </a:bodyPr>
          <a:lstStyle/>
          <a:p>
            <a:r>
              <a:rPr lang="en-US" dirty="0" smtClean="0"/>
              <a:t>In </a:t>
            </a:r>
            <a:r>
              <a:rPr lang="en-US" dirty="0"/>
              <a:t>a database, a Tuple Uniqueness Constraint, also known as a Unique Constraint, ensures that no two tuples (rows) in a table have the same combination of values in specified columns. This constraint helps maintain the uniqueness of data within a table, similar to the UNIQUE constraint.</a:t>
            </a:r>
          </a:p>
          <a:p>
            <a:r>
              <a:rPr lang="en-US" b="1" dirty="0"/>
              <a:t>Example: </a:t>
            </a:r>
            <a:r>
              <a:rPr lang="en-US" dirty="0"/>
              <a:t>Let’s consider an example using a </a:t>
            </a:r>
            <a:r>
              <a:rPr lang="en-US" b="1" dirty="0"/>
              <a:t>Products</a:t>
            </a:r>
            <a:r>
              <a:rPr lang="en-US" dirty="0"/>
              <a:t> table where we want to enforce a </a:t>
            </a:r>
            <a:r>
              <a:rPr lang="en-US" b="1" dirty="0"/>
              <a:t>Tuple Uniqueness</a:t>
            </a:r>
            <a:r>
              <a:rPr lang="en-US" dirty="0"/>
              <a:t> Constraint on the combination of </a:t>
            </a:r>
            <a:r>
              <a:rPr lang="en-US" b="1" dirty="0" err="1"/>
              <a:t>ProductCode</a:t>
            </a:r>
            <a:r>
              <a:rPr lang="en-US" dirty="0"/>
              <a:t> and </a:t>
            </a:r>
            <a:r>
              <a:rPr lang="en-US" b="1" dirty="0"/>
              <a:t>Category</a:t>
            </a:r>
            <a:r>
              <a:rPr lang="en-US" dirty="0" smtClean="0"/>
              <a:t>:</a:t>
            </a:r>
          </a:p>
          <a:p>
            <a:r>
              <a:rPr lang="en-IN" dirty="0"/>
              <a:t>CREATE TABLE Products (</a:t>
            </a:r>
            <a:r>
              <a:rPr lang="en-IN" dirty="0"/>
              <a:t/>
            </a:r>
            <a:br>
              <a:rPr lang="en-IN" dirty="0"/>
            </a:br>
            <a:r>
              <a:rPr lang="en-IN" dirty="0" err="1"/>
              <a:t>ProductID</a:t>
            </a:r>
            <a:r>
              <a:rPr lang="en-IN" dirty="0"/>
              <a:t> INT PRIMARY KEY,</a:t>
            </a:r>
            <a:r>
              <a:rPr lang="en-IN" dirty="0"/>
              <a:t/>
            </a:r>
            <a:br>
              <a:rPr lang="en-IN" dirty="0"/>
            </a:br>
            <a:r>
              <a:rPr lang="en-IN" dirty="0" err="1"/>
              <a:t>ProductCode</a:t>
            </a:r>
            <a:r>
              <a:rPr lang="en-IN" dirty="0"/>
              <a:t> VARCHAR(20) NOT NULL,</a:t>
            </a:r>
            <a:r>
              <a:rPr lang="en-IN" dirty="0"/>
              <a:t/>
            </a:r>
            <a:br>
              <a:rPr lang="en-IN" dirty="0"/>
            </a:br>
            <a:r>
              <a:rPr lang="en-IN" dirty="0" err="1"/>
              <a:t>ProductName</a:t>
            </a:r>
            <a:r>
              <a:rPr lang="en-IN" dirty="0"/>
              <a:t> VARCHAR(100),</a:t>
            </a:r>
            <a:r>
              <a:rPr lang="en-IN" dirty="0"/>
              <a:t/>
            </a:r>
            <a:br>
              <a:rPr lang="en-IN" dirty="0"/>
            </a:br>
            <a:r>
              <a:rPr lang="en-IN" dirty="0"/>
              <a:t>Category VARCHAR(50),</a:t>
            </a:r>
            <a:r>
              <a:rPr lang="en-IN" dirty="0"/>
              <a:t/>
            </a:r>
            <a:br>
              <a:rPr lang="en-IN" dirty="0"/>
            </a:br>
            <a:r>
              <a:rPr lang="en-IN" dirty="0"/>
              <a:t>Price DECIMAL(10, 2),</a:t>
            </a:r>
            <a:r>
              <a:rPr lang="en-IN" dirty="0"/>
              <a:t/>
            </a:r>
            <a:br>
              <a:rPr lang="en-IN" dirty="0"/>
            </a:br>
            <a:r>
              <a:rPr lang="en-IN" dirty="0"/>
              <a:t>-- Other columns</a:t>
            </a:r>
            <a:r>
              <a:rPr lang="en-IN" dirty="0"/>
              <a:t/>
            </a:r>
            <a:br>
              <a:rPr lang="en-IN" dirty="0"/>
            </a:br>
            <a:r>
              <a:rPr lang="en-IN" dirty="0"/>
              <a:t>UNIQUE (</a:t>
            </a:r>
            <a:r>
              <a:rPr lang="en-IN" dirty="0" err="1"/>
              <a:t>ProductCode</a:t>
            </a:r>
            <a:r>
              <a:rPr lang="en-IN" dirty="0"/>
              <a:t>, Category)</a:t>
            </a:r>
            <a:r>
              <a:rPr lang="en-IN" dirty="0"/>
              <a:t/>
            </a:r>
            <a:br>
              <a:rPr lang="en-IN" dirty="0"/>
            </a:br>
            <a:r>
              <a:rPr lang="en-IN" dirty="0"/>
              <a:t>);</a:t>
            </a:r>
            <a:endParaRPr lang="en-US" dirty="0"/>
          </a:p>
          <a:p>
            <a:endParaRPr lang="en-IN" dirty="0"/>
          </a:p>
        </p:txBody>
      </p:sp>
    </p:spTree>
    <p:extLst>
      <p:ext uri="{BB962C8B-B14F-4D97-AF65-F5344CB8AC3E}">
        <p14:creationId xmlns:p14="http://schemas.microsoft.com/office/powerpoint/2010/main" val="1263288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04235"/>
          </a:xfrm>
        </p:spPr>
        <p:txBody>
          <a:bodyPr>
            <a:normAutofit fontScale="90000"/>
          </a:bodyPr>
          <a:lstStyle/>
          <a:p>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70367384"/>
              </p:ext>
            </p:extLst>
          </p:nvPr>
        </p:nvGraphicFramePr>
        <p:xfrm>
          <a:off x="692728" y="775856"/>
          <a:ext cx="7716982" cy="5955252"/>
        </p:xfrm>
        <a:graphic>
          <a:graphicData uri="http://schemas.openxmlformats.org/drawingml/2006/table">
            <a:tbl>
              <a:tblPr/>
              <a:tblGrid>
                <a:gridCol w="2312353">
                  <a:extLst>
                    <a:ext uri="{9D8B030D-6E8A-4147-A177-3AD203B41FA5}">
                      <a16:colId xmlns:a16="http://schemas.microsoft.com/office/drawing/2014/main" val="1234531688"/>
                    </a:ext>
                  </a:extLst>
                </a:gridCol>
                <a:gridCol w="5404629">
                  <a:extLst>
                    <a:ext uri="{9D8B030D-6E8A-4147-A177-3AD203B41FA5}">
                      <a16:colId xmlns:a16="http://schemas.microsoft.com/office/drawing/2014/main" val="3767673004"/>
                    </a:ext>
                  </a:extLst>
                </a:gridCol>
              </a:tblGrid>
              <a:tr h="351757">
                <a:tc>
                  <a:txBody>
                    <a:bodyPr/>
                    <a:lstStyle/>
                    <a:p>
                      <a:pPr algn="l" fontAlgn="t"/>
                      <a:r>
                        <a:rPr lang="en-IN" sz="1600" b="1" dirty="0">
                          <a:solidFill>
                            <a:srgbClr val="FF0000"/>
                          </a:solidFill>
                          <a:effectLst/>
                        </a:rPr>
                        <a:t>Data type</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600" b="1" dirty="0">
                          <a:solidFill>
                            <a:srgbClr val="FF0000"/>
                          </a:solidFill>
                          <a:effectLst/>
                        </a:rPr>
                        <a:t>Description</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66160488"/>
                  </a:ext>
                </a:extLst>
              </a:tr>
              <a:tr h="1064367">
                <a:tc>
                  <a:txBody>
                    <a:bodyPr/>
                    <a:lstStyle/>
                    <a:p>
                      <a:pPr algn="l" fontAlgn="t"/>
                      <a:r>
                        <a:rPr lang="en-IN" sz="1600" dirty="0">
                          <a:effectLst/>
                        </a:rPr>
                        <a:t>CHAR(size)</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a:effectLst/>
                        </a:rPr>
                        <a:t>A FIXED length string (can contain letters, numbers, and special characters). The </a:t>
                      </a:r>
                      <a:r>
                        <a:rPr lang="en-US" sz="1600" i="1">
                          <a:effectLst/>
                        </a:rPr>
                        <a:t>size</a:t>
                      </a:r>
                      <a:r>
                        <a:rPr lang="en-US" sz="1600">
                          <a:effectLst/>
                        </a:rPr>
                        <a:t> parameter specifies the column length in characters - can be from 0 to 255. Default is 1</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693771592"/>
                  </a:ext>
                </a:extLst>
              </a:tr>
              <a:tr h="1064367">
                <a:tc>
                  <a:txBody>
                    <a:bodyPr/>
                    <a:lstStyle/>
                    <a:p>
                      <a:pPr algn="l" fontAlgn="t"/>
                      <a:r>
                        <a:rPr lang="en-IN" sz="1600" dirty="0">
                          <a:effectLst/>
                        </a:rPr>
                        <a:t>VARCHAR(size)</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A VARIABLE length string (can contain letters, numbers, and special characters). The </a:t>
                      </a:r>
                      <a:r>
                        <a:rPr lang="en-US" sz="1600" i="1" dirty="0">
                          <a:effectLst/>
                        </a:rPr>
                        <a:t>size</a:t>
                      </a:r>
                      <a:r>
                        <a:rPr lang="en-US" sz="1600" dirty="0">
                          <a:effectLst/>
                        </a:rPr>
                        <a:t> parameter specifies the maximum string length in characters - can be from 0 to 65535</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8242769"/>
                  </a:ext>
                </a:extLst>
              </a:tr>
              <a:tr h="826831">
                <a:tc>
                  <a:txBody>
                    <a:bodyPr/>
                    <a:lstStyle/>
                    <a:p>
                      <a:pPr algn="l" fontAlgn="t"/>
                      <a:r>
                        <a:rPr lang="en-IN" sz="1600">
                          <a:effectLst/>
                        </a:rPr>
                        <a:t>BINARY(size)</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Equal to CHAR(), but stores binary byte strings. The </a:t>
                      </a:r>
                      <a:r>
                        <a:rPr lang="en-US" sz="1600" i="1" dirty="0">
                          <a:effectLst/>
                        </a:rPr>
                        <a:t>size</a:t>
                      </a:r>
                      <a:r>
                        <a:rPr lang="en-US" sz="1600" dirty="0">
                          <a:effectLst/>
                        </a:rPr>
                        <a:t> parameter specifies the column length in bytes. Default is 1</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579159940"/>
                  </a:ext>
                </a:extLst>
              </a:tr>
              <a:tr h="826831">
                <a:tc>
                  <a:txBody>
                    <a:bodyPr/>
                    <a:lstStyle/>
                    <a:p>
                      <a:pPr algn="l" fontAlgn="t"/>
                      <a:r>
                        <a:rPr lang="en-IN" sz="1600">
                          <a:effectLst/>
                        </a:rPr>
                        <a:t>VARBINARY(size)</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Equal to VARCHAR(), but stores binary byte strings. The </a:t>
                      </a:r>
                      <a:r>
                        <a:rPr lang="en-US" sz="1600" i="1" dirty="0">
                          <a:effectLst/>
                        </a:rPr>
                        <a:t>size</a:t>
                      </a:r>
                      <a:r>
                        <a:rPr lang="en-US" sz="1600" dirty="0">
                          <a:effectLst/>
                        </a:rPr>
                        <a:t> parameter specifies the maximum column length in bytes.</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37059591"/>
                  </a:ext>
                </a:extLst>
              </a:tr>
              <a:tr h="589294">
                <a:tc>
                  <a:txBody>
                    <a:bodyPr/>
                    <a:lstStyle/>
                    <a:p>
                      <a:pPr algn="l" fontAlgn="t"/>
                      <a:r>
                        <a:rPr lang="en-IN" sz="1600">
                          <a:effectLst/>
                        </a:rPr>
                        <a:t>TINYBLOB</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For BLOBs (Binary Large Objects). Max length: 255 bytes</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840349423"/>
                  </a:ext>
                </a:extLst>
              </a:tr>
              <a:tr h="589294">
                <a:tc>
                  <a:txBody>
                    <a:bodyPr/>
                    <a:lstStyle/>
                    <a:p>
                      <a:pPr algn="l" fontAlgn="t"/>
                      <a:r>
                        <a:rPr lang="en-IN" sz="1600">
                          <a:effectLst/>
                        </a:rPr>
                        <a:t>TINYTEXT</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Holds a string with a maximum length of 255 characters</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16538842"/>
                  </a:ext>
                </a:extLst>
              </a:tr>
              <a:tr h="589294">
                <a:tc>
                  <a:txBody>
                    <a:bodyPr/>
                    <a:lstStyle/>
                    <a:p>
                      <a:pPr algn="l" fontAlgn="t"/>
                      <a:r>
                        <a:rPr lang="en-IN" sz="1600">
                          <a:effectLst/>
                        </a:rPr>
                        <a:t>TEXT(size)</a:t>
                      </a:r>
                    </a:p>
                  </a:txBody>
                  <a:tcPr marL="117253"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600" dirty="0">
                          <a:effectLst/>
                        </a:rPr>
                        <a:t>Holds a string with a maximum length of 65,535 bytes</a:t>
                      </a:r>
                    </a:p>
                  </a:txBody>
                  <a:tcPr marL="58626" marR="58626" marT="58626" marB="58626">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144350461"/>
                  </a:ext>
                </a:extLst>
              </a:tr>
            </a:tbl>
          </a:graphicData>
        </a:graphic>
      </p:graphicFrame>
    </p:spTree>
    <p:extLst>
      <p:ext uri="{BB962C8B-B14F-4D97-AF65-F5344CB8AC3E}">
        <p14:creationId xmlns:p14="http://schemas.microsoft.com/office/powerpoint/2010/main" val="3206596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07253"/>
          </a:xfrm>
        </p:spPr>
        <p:txBody>
          <a:bodyPr>
            <a:normAutofit fontScale="90000"/>
          </a:bodyPr>
          <a:lstStyle/>
          <a:p>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7720129"/>
              </p:ext>
            </p:extLst>
          </p:nvPr>
        </p:nvGraphicFramePr>
        <p:xfrm>
          <a:off x="207819" y="651165"/>
          <a:ext cx="8243454" cy="6091167"/>
        </p:xfrm>
        <a:graphic>
          <a:graphicData uri="http://schemas.openxmlformats.org/drawingml/2006/table">
            <a:tbl>
              <a:tblPr/>
              <a:tblGrid>
                <a:gridCol w="2470105">
                  <a:extLst>
                    <a:ext uri="{9D8B030D-6E8A-4147-A177-3AD203B41FA5}">
                      <a16:colId xmlns:a16="http://schemas.microsoft.com/office/drawing/2014/main" val="1839819577"/>
                    </a:ext>
                  </a:extLst>
                </a:gridCol>
                <a:gridCol w="5773349">
                  <a:extLst>
                    <a:ext uri="{9D8B030D-6E8A-4147-A177-3AD203B41FA5}">
                      <a16:colId xmlns:a16="http://schemas.microsoft.com/office/drawing/2014/main" val="1887842430"/>
                    </a:ext>
                  </a:extLst>
                </a:gridCol>
              </a:tblGrid>
              <a:tr h="556425">
                <a:tc>
                  <a:txBody>
                    <a:bodyPr/>
                    <a:lstStyle/>
                    <a:p>
                      <a:pPr algn="l" fontAlgn="t"/>
                      <a:r>
                        <a:rPr lang="en-IN" sz="2400" dirty="0">
                          <a:effectLst/>
                        </a:rPr>
                        <a:t>Data type</a:t>
                      </a:r>
                    </a:p>
                  </a:txBody>
                  <a:tcPr marL="441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a:effectLst/>
                        </a:rPr>
                        <a:t>Description</a:t>
                      </a:r>
                    </a:p>
                  </a:txBody>
                  <a:tcPr marL="220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97653331"/>
                  </a:ext>
                </a:extLst>
              </a:tr>
              <a:tr h="1620890">
                <a:tc>
                  <a:txBody>
                    <a:bodyPr/>
                    <a:lstStyle/>
                    <a:p>
                      <a:pPr algn="l" fontAlgn="t"/>
                      <a:r>
                        <a:rPr lang="en-IN" sz="2400" dirty="0">
                          <a:effectLst/>
                        </a:rPr>
                        <a:t>BIT(</a:t>
                      </a:r>
                      <a:r>
                        <a:rPr lang="en-IN" sz="2400" i="1" dirty="0">
                          <a:effectLst/>
                        </a:rPr>
                        <a:t>size</a:t>
                      </a:r>
                      <a:r>
                        <a:rPr lang="en-IN" sz="2400" dirty="0">
                          <a:effectLst/>
                        </a:rPr>
                        <a:t>)</a:t>
                      </a:r>
                    </a:p>
                  </a:txBody>
                  <a:tcPr marL="441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400">
                          <a:effectLst/>
                        </a:rPr>
                        <a:t>A bit-value type. The number of bits per value is specified in </a:t>
                      </a:r>
                      <a:r>
                        <a:rPr lang="en-US" sz="2400" i="1">
                          <a:effectLst/>
                        </a:rPr>
                        <a:t>size</a:t>
                      </a:r>
                      <a:r>
                        <a:rPr lang="en-US" sz="2400">
                          <a:effectLst/>
                        </a:rPr>
                        <a:t>. The </a:t>
                      </a:r>
                      <a:r>
                        <a:rPr lang="en-US" sz="2400" i="1">
                          <a:effectLst/>
                        </a:rPr>
                        <a:t>size</a:t>
                      </a:r>
                      <a:r>
                        <a:rPr lang="en-US" sz="2400">
                          <a:effectLst/>
                        </a:rPr>
                        <a:t> parameter can hold a value from 1 to 64. The default value for </a:t>
                      </a:r>
                      <a:r>
                        <a:rPr lang="en-US" sz="2400" i="1">
                          <a:effectLst/>
                        </a:rPr>
                        <a:t>size</a:t>
                      </a:r>
                      <a:r>
                        <a:rPr lang="en-US" sz="2400">
                          <a:effectLst/>
                        </a:rPr>
                        <a:t> is 1.</a:t>
                      </a:r>
                    </a:p>
                  </a:txBody>
                  <a:tcPr marL="220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4186954167"/>
                  </a:ext>
                </a:extLst>
              </a:tr>
              <a:tr h="445220">
                <a:tc>
                  <a:txBody>
                    <a:bodyPr/>
                    <a:lstStyle/>
                    <a:p>
                      <a:pPr algn="l" fontAlgn="t"/>
                      <a:endParaRPr lang="en-IN" sz="2400" dirty="0">
                        <a:effectLst/>
                      </a:endParaRPr>
                    </a:p>
                  </a:txBody>
                  <a:tcPr marL="441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endParaRPr lang="en-US" sz="2400" dirty="0">
                        <a:effectLst/>
                      </a:endParaRPr>
                    </a:p>
                  </a:txBody>
                  <a:tcPr marL="220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789168940"/>
                  </a:ext>
                </a:extLst>
              </a:tr>
              <a:tr h="742716">
                <a:tc>
                  <a:txBody>
                    <a:bodyPr/>
                    <a:lstStyle/>
                    <a:p>
                      <a:pPr algn="l" fontAlgn="t"/>
                      <a:r>
                        <a:rPr lang="en-IN" sz="2400">
                          <a:effectLst/>
                        </a:rPr>
                        <a:t>BOOL</a:t>
                      </a:r>
                    </a:p>
                  </a:txBody>
                  <a:tcPr marL="441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400" dirty="0">
                          <a:effectLst/>
                        </a:rPr>
                        <a:t>Zero is considered as false, nonzero values are considered as true.</a:t>
                      </a:r>
                    </a:p>
                  </a:txBody>
                  <a:tcPr marL="220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792838478"/>
                  </a:ext>
                </a:extLst>
              </a:tr>
              <a:tr h="392517">
                <a:tc>
                  <a:txBody>
                    <a:bodyPr/>
                    <a:lstStyle/>
                    <a:p>
                      <a:pPr algn="l" fontAlgn="t"/>
                      <a:r>
                        <a:rPr lang="en-IN" sz="2400">
                          <a:effectLst/>
                        </a:rPr>
                        <a:t>BOOLEAN</a:t>
                      </a:r>
                    </a:p>
                  </a:txBody>
                  <a:tcPr marL="441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dirty="0">
                          <a:effectLst/>
                        </a:rPr>
                        <a:t>Equal to BOOL</a:t>
                      </a:r>
                    </a:p>
                  </a:txBody>
                  <a:tcPr marL="220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62131677"/>
                  </a:ext>
                </a:extLst>
              </a:tr>
              <a:tr h="1793314">
                <a:tc>
                  <a:txBody>
                    <a:bodyPr/>
                    <a:lstStyle/>
                    <a:p>
                      <a:pPr algn="l" fontAlgn="t"/>
                      <a:r>
                        <a:rPr lang="en-IN" sz="2400" dirty="0">
                          <a:effectLst/>
                        </a:rPr>
                        <a:t>INT(</a:t>
                      </a:r>
                      <a:r>
                        <a:rPr lang="en-IN" sz="2400" i="1" dirty="0">
                          <a:effectLst/>
                        </a:rPr>
                        <a:t>size</a:t>
                      </a:r>
                      <a:r>
                        <a:rPr lang="en-IN" sz="2400" dirty="0">
                          <a:effectLst/>
                        </a:rPr>
                        <a:t>)</a:t>
                      </a:r>
                    </a:p>
                  </a:txBody>
                  <a:tcPr marL="441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400" dirty="0">
                          <a:effectLst/>
                        </a:rPr>
                        <a:t>A medium integer. Signed range is from -2147483648 to 2147483647. Unsigned range is from 0 to 4294967295. The </a:t>
                      </a:r>
                      <a:r>
                        <a:rPr lang="en-US" sz="2400" i="1" dirty="0">
                          <a:effectLst/>
                        </a:rPr>
                        <a:t>size</a:t>
                      </a:r>
                      <a:r>
                        <a:rPr lang="en-US" sz="2400" dirty="0">
                          <a:effectLst/>
                        </a:rPr>
                        <a:t> parameter specifies the maximum display width (which is 255)</a:t>
                      </a:r>
                    </a:p>
                  </a:txBody>
                  <a:tcPr marL="220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684739333"/>
                  </a:ext>
                </a:extLst>
              </a:tr>
              <a:tr h="392517">
                <a:tc>
                  <a:txBody>
                    <a:bodyPr/>
                    <a:lstStyle/>
                    <a:p>
                      <a:pPr algn="l" fontAlgn="t"/>
                      <a:r>
                        <a:rPr lang="en-IN" sz="2400">
                          <a:effectLst/>
                        </a:rPr>
                        <a:t>INTEGER(</a:t>
                      </a:r>
                      <a:r>
                        <a:rPr lang="en-IN" sz="2400" i="1">
                          <a:effectLst/>
                        </a:rPr>
                        <a:t>size</a:t>
                      </a:r>
                      <a:r>
                        <a:rPr lang="en-IN" sz="2400">
                          <a:effectLst/>
                        </a:rPr>
                        <a:t>)</a:t>
                      </a:r>
                    </a:p>
                  </a:txBody>
                  <a:tcPr marL="441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400" dirty="0">
                          <a:effectLst/>
                        </a:rPr>
                        <a:t>Equal to INT(size)</a:t>
                      </a:r>
                    </a:p>
                  </a:txBody>
                  <a:tcPr marL="22099" marR="22099" marT="22099" marB="220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253632449"/>
                  </a:ext>
                </a:extLst>
              </a:tr>
            </a:tbl>
          </a:graphicData>
        </a:graphic>
      </p:graphicFrame>
    </p:spTree>
    <p:extLst>
      <p:ext uri="{BB962C8B-B14F-4D97-AF65-F5344CB8AC3E}">
        <p14:creationId xmlns:p14="http://schemas.microsoft.com/office/powerpoint/2010/main" val="3192782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457200" y="2538657"/>
          <a:ext cx="8229600" cy="2649048"/>
        </p:xfrm>
        <a:graphic>
          <a:graphicData uri="http://schemas.openxmlformats.org/drawingml/2006/table">
            <a:tbl>
              <a:tblPr/>
              <a:tblGrid>
                <a:gridCol w="2465956">
                  <a:extLst>
                    <a:ext uri="{9D8B030D-6E8A-4147-A177-3AD203B41FA5}">
                      <a16:colId xmlns:a16="http://schemas.microsoft.com/office/drawing/2014/main" val="1979081540"/>
                    </a:ext>
                  </a:extLst>
                </a:gridCol>
                <a:gridCol w="5763644">
                  <a:extLst>
                    <a:ext uri="{9D8B030D-6E8A-4147-A177-3AD203B41FA5}">
                      <a16:colId xmlns:a16="http://schemas.microsoft.com/office/drawing/2014/main" val="2393168770"/>
                    </a:ext>
                  </a:extLst>
                </a:gridCol>
              </a:tblGrid>
              <a:tr h="424189">
                <a:tc>
                  <a:txBody>
                    <a:bodyPr/>
                    <a:lstStyle/>
                    <a:p>
                      <a:pPr algn="l" fontAlgn="t"/>
                      <a:r>
                        <a:rPr lang="en-IN" sz="1800">
                          <a:effectLst/>
                        </a:rPr>
                        <a:t>Data type</a:t>
                      </a:r>
                    </a:p>
                  </a:txBody>
                  <a:tcPr marL="151496" marR="75748" marT="75748" marB="7574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effectLst/>
                        </a:rPr>
                        <a:t>Description</a:t>
                      </a:r>
                    </a:p>
                  </a:txBody>
                  <a:tcPr marL="75748" marR="75748" marT="75748" marB="7574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634467370"/>
                  </a:ext>
                </a:extLst>
              </a:tr>
              <a:tr h="696881">
                <a:tc>
                  <a:txBody>
                    <a:bodyPr/>
                    <a:lstStyle/>
                    <a:p>
                      <a:pPr algn="l" fontAlgn="t"/>
                      <a:r>
                        <a:rPr lang="en-IN" sz="1800">
                          <a:effectLst/>
                        </a:rPr>
                        <a:t>DATE</a:t>
                      </a:r>
                    </a:p>
                  </a:txBody>
                  <a:tcPr marL="151496" marR="75748" marT="75748" marB="7574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A date. Format: YYYY-MM-DD. The supported range is from '1000-01-01' to '9999-12-31'</a:t>
                      </a:r>
                    </a:p>
                  </a:txBody>
                  <a:tcPr marL="75748" marR="75748" marT="75748" marB="7574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026031482"/>
                  </a:ext>
                </a:extLst>
              </a:tr>
              <a:tr h="1514959">
                <a:tc>
                  <a:txBody>
                    <a:bodyPr/>
                    <a:lstStyle/>
                    <a:p>
                      <a:pPr algn="l" fontAlgn="t"/>
                      <a:r>
                        <a:rPr lang="en-IN" sz="1800">
                          <a:effectLst/>
                        </a:rPr>
                        <a:t>DATETIME(</a:t>
                      </a:r>
                      <a:r>
                        <a:rPr lang="en-IN" sz="1800" i="1">
                          <a:effectLst/>
                        </a:rPr>
                        <a:t>fsp</a:t>
                      </a:r>
                      <a:r>
                        <a:rPr lang="en-IN" sz="1800">
                          <a:effectLst/>
                        </a:rPr>
                        <a:t>)</a:t>
                      </a:r>
                    </a:p>
                  </a:txBody>
                  <a:tcPr marL="151496" marR="75748" marT="75748" marB="7574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dirty="0">
                          <a:effectLst/>
                        </a:rPr>
                        <a:t>A date and time combination. Format: YYYY-MM-DD </a:t>
                      </a:r>
                      <a:r>
                        <a:rPr lang="en-US" sz="1800" dirty="0" err="1">
                          <a:effectLst/>
                        </a:rPr>
                        <a:t>hh:mm:ss</a:t>
                      </a:r>
                      <a:r>
                        <a:rPr lang="en-US" sz="1800" dirty="0">
                          <a:effectLst/>
                        </a:rPr>
                        <a:t>. The supported range is from '1000-01-01 00:00:00' to '9999-12-31 23:59:59'. Adding DEFAULT and ON UPDATE in the column definition to get automatic initialization and updating to the current date and time</a:t>
                      </a:r>
                    </a:p>
                  </a:txBody>
                  <a:tcPr marL="75748" marR="75748" marT="75748" marB="7574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641935901"/>
                  </a:ext>
                </a:extLst>
              </a:tr>
            </a:tbl>
          </a:graphicData>
        </a:graphic>
      </p:graphicFrame>
    </p:spTree>
    <p:extLst>
      <p:ext uri="{BB962C8B-B14F-4D97-AF65-F5344CB8AC3E}">
        <p14:creationId xmlns:p14="http://schemas.microsoft.com/office/powerpoint/2010/main" val="1419054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1944"/>
          </a:xfrm>
        </p:spPr>
        <p:txBody>
          <a:bodyPr>
            <a:normAutofit fontScale="90000"/>
          </a:bodyPr>
          <a:lstStyle/>
          <a:p>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62278822"/>
              </p:ext>
            </p:extLst>
          </p:nvPr>
        </p:nvGraphicFramePr>
        <p:xfrm>
          <a:off x="471056" y="288493"/>
          <a:ext cx="8215745" cy="6145872"/>
        </p:xfrm>
        <a:graphic>
          <a:graphicData uri="http://schemas.openxmlformats.org/drawingml/2006/table">
            <a:tbl>
              <a:tblPr/>
              <a:tblGrid>
                <a:gridCol w="1641200">
                  <a:extLst>
                    <a:ext uri="{9D8B030D-6E8A-4147-A177-3AD203B41FA5}">
                      <a16:colId xmlns:a16="http://schemas.microsoft.com/office/drawing/2014/main" val="2552175797"/>
                    </a:ext>
                  </a:extLst>
                </a:gridCol>
                <a:gridCol w="2191515">
                  <a:extLst>
                    <a:ext uri="{9D8B030D-6E8A-4147-A177-3AD203B41FA5}">
                      <a16:colId xmlns:a16="http://schemas.microsoft.com/office/drawing/2014/main" val="400069282"/>
                    </a:ext>
                  </a:extLst>
                </a:gridCol>
                <a:gridCol w="2191515">
                  <a:extLst>
                    <a:ext uri="{9D8B030D-6E8A-4147-A177-3AD203B41FA5}">
                      <a16:colId xmlns:a16="http://schemas.microsoft.com/office/drawing/2014/main" val="1978122029"/>
                    </a:ext>
                  </a:extLst>
                </a:gridCol>
                <a:gridCol w="2191515">
                  <a:extLst>
                    <a:ext uri="{9D8B030D-6E8A-4147-A177-3AD203B41FA5}">
                      <a16:colId xmlns:a16="http://schemas.microsoft.com/office/drawing/2014/main" val="2965998053"/>
                    </a:ext>
                  </a:extLst>
                </a:gridCol>
              </a:tblGrid>
              <a:tr h="345404">
                <a:tc>
                  <a:txBody>
                    <a:bodyPr/>
                    <a:lstStyle/>
                    <a:p>
                      <a:pPr algn="l" fontAlgn="t"/>
                      <a:r>
                        <a:rPr lang="en-IN" sz="1800" b="1" dirty="0">
                          <a:solidFill>
                            <a:srgbClr val="FF0000"/>
                          </a:solidFill>
                          <a:effectLst/>
                        </a:rPr>
                        <a:t>Data type</a:t>
                      </a:r>
                    </a:p>
                  </a:txBody>
                  <a:tcPr marL="10776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b="1" dirty="0">
                          <a:solidFill>
                            <a:srgbClr val="FF0000"/>
                          </a:solidFill>
                          <a:effectLst/>
                        </a:rPr>
                        <a:t>Description</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b="1" dirty="0">
                          <a:solidFill>
                            <a:srgbClr val="FF0000"/>
                          </a:solidFill>
                          <a:effectLst/>
                        </a:rPr>
                        <a:t>Max char length</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b="1" dirty="0">
                          <a:solidFill>
                            <a:srgbClr val="FF0000"/>
                          </a:solidFill>
                          <a:effectLst/>
                        </a:rPr>
                        <a:t>Storage</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704452056"/>
                  </a:ext>
                </a:extLst>
              </a:tr>
              <a:tr h="1208267">
                <a:tc>
                  <a:txBody>
                    <a:bodyPr/>
                    <a:lstStyle/>
                    <a:p>
                      <a:pPr algn="l" fontAlgn="t"/>
                      <a:r>
                        <a:rPr lang="en-IN" sz="1800" dirty="0">
                          <a:effectLst/>
                        </a:rPr>
                        <a:t>char(n)</a:t>
                      </a:r>
                    </a:p>
                  </a:txBody>
                  <a:tcPr marL="10776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dirty="0">
                          <a:effectLst/>
                        </a:rPr>
                        <a:t>Fixed-length non-Unicode character data (n must be between 1 and 8000)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dirty="0">
                          <a:effectLst/>
                        </a:rPr>
                        <a:t>8,000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n bytes (uses one byte for each character)</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535724856"/>
                  </a:ext>
                </a:extLst>
              </a:tr>
              <a:tr h="1208267">
                <a:tc>
                  <a:txBody>
                    <a:bodyPr/>
                    <a:lstStyle/>
                    <a:p>
                      <a:pPr algn="l" fontAlgn="t"/>
                      <a:r>
                        <a:rPr lang="en-IN" sz="1800">
                          <a:effectLst/>
                        </a:rPr>
                        <a:t>varchar(n)</a:t>
                      </a:r>
                    </a:p>
                  </a:txBody>
                  <a:tcPr marL="10776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effectLst/>
                        </a:rPr>
                        <a:t>Variable-length non-Unicode character data (n must be between 1 and 8000)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dirty="0">
                          <a:effectLst/>
                        </a:rPr>
                        <a:t>8,000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effectLst/>
                        </a:rPr>
                        <a:t>n bytes + 2 bytes</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040388621"/>
                  </a:ext>
                </a:extLst>
              </a:tr>
              <a:tr h="792841">
                <a:tc>
                  <a:txBody>
                    <a:bodyPr/>
                    <a:lstStyle/>
                    <a:p>
                      <a:pPr algn="l" fontAlgn="t"/>
                      <a:r>
                        <a:rPr lang="en-IN" sz="1800">
                          <a:effectLst/>
                        </a:rPr>
                        <a:t>varchar(max)</a:t>
                      </a:r>
                    </a:p>
                  </a:txBody>
                  <a:tcPr marL="10776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dirty="0">
                          <a:effectLst/>
                        </a:rPr>
                        <a:t>Variable-length non-Unicode character data</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dirty="0">
                          <a:effectLst/>
                        </a:rPr>
                        <a:t> </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effectLst/>
                        </a:rPr>
                        <a:t>up to 2 GB</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545000578"/>
                  </a:ext>
                </a:extLst>
              </a:tr>
              <a:tr h="1208267">
                <a:tc>
                  <a:txBody>
                    <a:bodyPr/>
                    <a:lstStyle/>
                    <a:p>
                      <a:pPr algn="l" fontAlgn="t"/>
                      <a:r>
                        <a:rPr lang="en-IN" sz="1800">
                          <a:effectLst/>
                        </a:rPr>
                        <a:t>nchar(n)</a:t>
                      </a:r>
                    </a:p>
                  </a:txBody>
                  <a:tcPr marL="10776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Fixed-length Unicode character data (n must be between 1 and 4000)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dirty="0">
                          <a:effectLst/>
                        </a:rPr>
                        <a:t>4,000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effectLst/>
                        </a:rPr>
                        <a:t> 2 * n bytes (uses two bytes for each character)</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580143129"/>
                  </a:ext>
                </a:extLst>
              </a:tr>
              <a:tr h="1208267">
                <a:tc>
                  <a:txBody>
                    <a:bodyPr/>
                    <a:lstStyle/>
                    <a:p>
                      <a:pPr algn="l" fontAlgn="t"/>
                      <a:r>
                        <a:rPr lang="en-IN" sz="1800">
                          <a:effectLst/>
                        </a:rPr>
                        <a:t>nvarchar(n)</a:t>
                      </a:r>
                    </a:p>
                  </a:txBody>
                  <a:tcPr marL="10776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800">
                          <a:effectLst/>
                        </a:rPr>
                        <a:t>Variable-length Unicode character data (n must be between 1 and 4000)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sz="1800" dirty="0">
                          <a:effectLst/>
                        </a:rPr>
                        <a:t>4,000</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800" dirty="0">
                          <a:effectLst/>
                        </a:rPr>
                        <a:t>2 * n bytes + 2 bytes (uses two bytes for each character)</a:t>
                      </a:r>
                    </a:p>
                  </a:txBody>
                  <a:tcPr marL="53881" marR="53881" marT="53881" marB="5388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3729937400"/>
                  </a:ext>
                </a:extLst>
              </a:tr>
            </a:tbl>
          </a:graphicData>
        </a:graphic>
      </p:graphicFrame>
    </p:spTree>
    <p:extLst>
      <p:ext uri="{BB962C8B-B14F-4D97-AF65-F5344CB8AC3E}">
        <p14:creationId xmlns:p14="http://schemas.microsoft.com/office/powerpoint/2010/main" val="1290639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135</TotalTime>
  <Words>1511</Words>
  <Application>Microsoft Office PowerPoint</Application>
  <PresentationFormat>On-screen Show (4:3)</PresentationFormat>
  <Paragraphs>260</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Database Constraints</vt:lpstr>
      <vt:lpstr>What are Database Constraints?</vt:lpstr>
      <vt:lpstr>1. NOT NULL Constraint</vt:lpstr>
      <vt:lpstr>2. UNIQUE Constraint</vt:lpstr>
      <vt:lpstr>3. PRIMARY KEY Constraint</vt:lpstr>
      <vt:lpstr>4. FOREIGN KEY Constraint</vt:lpstr>
      <vt:lpstr>5. CHECK Constraint</vt:lpstr>
      <vt:lpstr>6. DEFAULT Constraint</vt:lpstr>
      <vt:lpstr>7. AUTO_INCREMENT Constraint (MySQL, PostgreSQL)</vt:lpstr>
      <vt:lpstr>Importance of Constraints</vt:lpstr>
      <vt:lpstr>Introduction </vt:lpstr>
      <vt:lpstr>What Are Constraints In DBMS? </vt:lpstr>
      <vt:lpstr>Types Of Constraints In DBMS </vt:lpstr>
      <vt:lpstr> Domain Constraints </vt:lpstr>
      <vt:lpstr>PowerPoint Presentation</vt:lpstr>
      <vt:lpstr>PowerPoint Presentation</vt:lpstr>
      <vt:lpstr>PowerPoint Presentation</vt:lpstr>
      <vt:lpstr> Key Constraints </vt:lpstr>
      <vt:lpstr>PowerPoint Presentation</vt:lpstr>
      <vt:lpstr>PowerPoint Presentation</vt:lpstr>
      <vt:lpstr>PowerPoint Presentation</vt:lpstr>
      <vt:lpstr>PowerPoint Presentation</vt:lpstr>
      <vt:lpstr> 3. Foreign Key Constraint: </vt:lpstr>
      <vt:lpstr>PowerPoint Presentation</vt:lpstr>
      <vt:lpstr>PowerPoint Presentation</vt:lpstr>
      <vt:lpstr>a. Inserting Data:</vt:lpstr>
      <vt:lpstr>Entity Integrity Constraint </vt:lpstr>
      <vt:lpstr>Tuple Uniqueness Constraint </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Constraints</dc:title>
  <dc:subject/>
  <dc:creator/>
  <cp:keywords/>
  <dc:description>generated using python-pptx</dc:description>
  <cp:lastModifiedBy>Subhasish_Mohapatra</cp:lastModifiedBy>
  <cp:revision>20</cp:revision>
  <dcterms:created xsi:type="dcterms:W3CDTF">2013-01-27T09:14:16Z</dcterms:created>
  <dcterms:modified xsi:type="dcterms:W3CDTF">2026-01-16T05:57:42Z</dcterms:modified>
  <cp:category/>
</cp:coreProperties>
</file>