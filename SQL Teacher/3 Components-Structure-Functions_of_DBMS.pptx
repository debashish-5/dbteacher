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77" r:id="rId2"/>
    <p:sldId id="290" r:id="rId3"/>
    <p:sldId id="285" r:id="rId4"/>
    <p:sldId id="284" r:id="rId5"/>
    <p:sldId id="286" r:id="rId6"/>
    <p:sldId id="281" r:id="rId7"/>
    <p:sldId id="287" r:id="rId8"/>
    <p:sldId id="288" r:id="rId9"/>
    <p:sldId id="283" r:id="rId10"/>
    <p:sldId id="282" r:id="rId11"/>
    <p:sldId id="289" r:id="rId12"/>
    <p:sldId id="291" r:id="rId13"/>
    <p:sldId id="292" r:id="rId14"/>
    <p:sldId id="293" r:id="rId15"/>
    <p:sldId id="294" r:id="rId16"/>
    <p:sldId id="295" r:id="rId17"/>
    <p:sldId id="296" r:id="rId18"/>
    <p:sldId id="297" r:id="rId19"/>
    <p:sldId id="298" r:id="rId20"/>
    <p:sldId id="299" r:id="rId21"/>
    <p:sldId id="311" r:id="rId22"/>
    <p:sldId id="300" r:id="rId23"/>
    <p:sldId id="301" r:id="rId24"/>
    <p:sldId id="302" r:id="rId25"/>
    <p:sldId id="303" r:id="rId26"/>
    <p:sldId id="304" r:id="rId27"/>
    <p:sldId id="305" r:id="rId28"/>
    <p:sldId id="306" r:id="rId29"/>
    <p:sldId id="308" r:id="rId30"/>
    <p:sldId id="309" r:id="rId31"/>
    <p:sldId id="310" r:id="rId32"/>
    <p:sldId id="307"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9" d="100"/>
          <a:sy n="69" d="100"/>
        </p:scale>
        <p:origin x="141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ED1807-8D50-452F-8E0B-535F0A5C1B45}" type="datetimeFigureOut">
              <a:rPr lang="en-IN" smtClean="0"/>
              <a:t>15-01-2026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D9D59A-DDF8-4A03-8EC0-E967AE844F11}" type="slidenum">
              <a:rPr lang="en-IN" smtClean="0"/>
              <a:t>‹#›</a:t>
            </a:fld>
            <a:endParaRPr lang="en-IN"/>
          </a:p>
        </p:txBody>
      </p:sp>
    </p:spTree>
    <p:extLst>
      <p:ext uri="{BB962C8B-B14F-4D97-AF65-F5344CB8AC3E}">
        <p14:creationId xmlns:p14="http://schemas.microsoft.com/office/powerpoint/2010/main" val="39161652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analyticsvidhya.com/blog/2023/06/what-are-functions-of-dbms/" TargetMode="External"/><Relationship Id="rId2" Type="http://schemas.openxmlformats.org/officeDocument/2006/relationships/hyperlink" Target="https://www.educba.com/dbms-functions/"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google.com/search?q=Online+Analytical+Processing&amp;sca_esv=9a386e021f569ed2&amp;sxsrf=ANbL-n7FxUrLQtIEebWpw1POaRBFtkhMDA%3A1768453872482&amp;ei=8HZoaeaRHf2LseMPqO20uAg&amp;ved=2ahUKEwjZhbG3mY2SAxUVwjgGHaRbBNIQgK4QegYIAQgAEAU&amp;uact=5&amp;oq=OLAP&amp;gs_lp=Egxnd3Mtd2l6LXNlcnAiBE9MQVAyExAuGIAEGIoFGEMYsQMYxwEY0QMyDRAAGIAEGIoFGEMYsQMyChAAGIAEGIoFGEMyChAAGIAEGIoFGEMyDRAAGIAEGIoFGEMYsQMyChAAGIAEGIoFGEMyChAAGIAEGIoFGEMyEBAuGIAEGIoFGEMYsQMY5QQyDRAAGIAEGIoFGEMYsQMyChAAGIAEGIoFGEMyIhAuGIAEGIoFGEMYsQMYxwEY0QMYlwUY3AQY3gQY4ATYAQFI1SdQxwlYvh5wAXgCkAEBmAGUAqABnQuqAQUwLjQuM7gBA8gBAPgBAZgCB6AC7QioAhDCAgQQABhHwgIEECMYJ8ICCxAAGIAEGIoFGJECwgIHECMY6gIYJ8ICFxAAGIAEGIoFGJECGOcGGOoCGLQC2AEBwgIOEAAYgAQYigUYkQIYsQPCAgsQABiABBixAxiDAcICERAuGIAEGLEDGIMBGMcBGK8BwgIOEAAYgAQYigUYsQMYgwHCAg4QLhiABBixAxjHARjRA8ICChAuGIAEGIoFGEPCAggQABiABBixA8ICGRAuGIAEGIoFGEMYlwUY3AQY3gQY3wTYAQGYAw3xBQBYkQy4uuphiAYBkAYIugYGCAEQARgBkgcHMi4xLjMuMaAH9UuyBwcwLjEuMy4xuAfYCMIHBTItMi41yAdEgAgB&amp;sclient=gws-wiz-serp"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657EB-BD05-13C5-0038-570A9E4DFF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D13F04-46E0-7AE2-330E-5A2C9F02F81E}"/>
              </a:ext>
            </a:extLst>
          </p:cNvPr>
          <p:cNvSpPr>
            <a:spLocks noGrp="1"/>
          </p:cNvSpPr>
          <p:nvPr>
            <p:ph type="title"/>
          </p:nvPr>
        </p:nvSpPr>
        <p:spPr>
          <a:xfrm>
            <a:off x="345440" y="1148834"/>
            <a:ext cx="8453120" cy="3381602"/>
          </a:xfrm>
        </p:spPr>
        <p:txBody>
          <a:bodyPr>
            <a:noAutofit/>
          </a:bodyPr>
          <a:lstStyle/>
          <a:p>
            <a:r>
              <a:rPr lang="en-US" sz="5000" dirty="0"/>
              <a:t>Structure, Components &amp; functions of </a:t>
            </a:r>
            <a:r>
              <a:rPr lang="en-US" sz="5000" dirty="0" smtClean="0"/>
              <a:t>DBMS</a:t>
            </a:r>
            <a:br>
              <a:rPr lang="en-US" sz="5000" dirty="0" smtClean="0"/>
            </a:br>
            <a:r>
              <a:rPr lang="en-US" sz="5000" dirty="0" smtClean="0">
                <a:solidFill>
                  <a:srgbClr val="FF0000"/>
                </a:solidFill>
              </a:rPr>
              <a:t>By: Dr. Subhasish Mohapatra</a:t>
            </a:r>
            <a:endParaRPr lang="en-IN" sz="5000" dirty="0">
              <a:solidFill>
                <a:srgbClr val="FF0000"/>
              </a:solidFill>
            </a:endParaRPr>
          </a:p>
        </p:txBody>
      </p:sp>
    </p:spTree>
    <p:extLst>
      <p:ext uri="{BB962C8B-B14F-4D97-AF65-F5344CB8AC3E}">
        <p14:creationId xmlns:p14="http://schemas.microsoft.com/office/powerpoint/2010/main" val="858810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CCF48-0317-C1BD-4761-04A4C3EAB3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38A3B6-849E-A43F-F596-A920819C70CF}"/>
              </a:ext>
            </a:extLst>
          </p:cNvPr>
          <p:cNvSpPr>
            <a:spLocks noGrp="1"/>
          </p:cNvSpPr>
          <p:nvPr>
            <p:ph type="title"/>
          </p:nvPr>
        </p:nvSpPr>
        <p:spPr>
          <a:xfrm>
            <a:off x="233680" y="356355"/>
            <a:ext cx="8453120" cy="575230"/>
          </a:xfrm>
        </p:spPr>
        <p:txBody>
          <a:bodyPr>
            <a:normAutofit fontScale="90000"/>
          </a:bodyPr>
          <a:lstStyle/>
          <a:p>
            <a:r>
              <a:rPr lang="en-US" sz="3500" dirty="0"/>
              <a:t>Components of DBS</a:t>
            </a:r>
            <a:endParaRPr lang="en-IN" sz="3500" dirty="0"/>
          </a:p>
        </p:txBody>
      </p:sp>
      <p:pic>
        <p:nvPicPr>
          <p:cNvPr id="34" name="Picture 33">
            <a:extLst>
              <a:ext uri="{FF2B5EF4-FFF2-40B4-BE49-F238E27FC236}">
                <a16:creationId xmlns:a16="http://schemas.microsoft.com/office/drawing/2014/main" id="{0399C32B-A24B-3F2C-8776-CF15A2D54C26}"/>
              </a:ext>
            </a:extLst>
          </p:cNvPr>
          <p:cNvPicPr>
            <a:picLocks noChangeAspect="1"/>
          </p:cNvPicPr>
          <p:nvPr/>
        </p:nvPicPr>
        <p:blipFill>
          <a:blip r:embed="rId2"/>
          <a:stretch>
            <a:fillRect/>
          </a:stretch>
        </p:blipFill>
        <p:spPr>
          <a:xfrm>
            <a:off x="1073665" y="1303616"/>
            <a:ext cx="7283208" cy="3278544"/>
          </a:xfrm>
          <a:prstGeom prst="rect">
            <a:avLst/>
          </a:prstGeom>
        </p:spPr>
      </p:pic>
      <p:sp>
        <p:nvSpPr>
          <p:cNvPr id="3" name="Arrow: Curved Right 2">
            <a:extLst>
              <a:ext uri="{FF2B5EF4-FFF2-40B4-BE49-F238E27FC236}">
                <a16:creationId xmlns:a16="http://schemas.microsoft.com/office/drawing/2014/main" id="{6271294F-AD9F-3784-2823-4B6A46FF29AE}"/>
              </a:ext>
            </a:extLst>
          </p:cNvPr>
          <p:cNvSpPr/>
          <p:nvPr/>
        </p:nvSpPr>
        <p:spPr>
          <a:xfrm>
            <a:off x="1524000" y="3149600"/>
            <a:ext cx="386080" cy="782320"/>
          </a:xfrm>
          <a:prstGeom prst="curved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solidFill>
                <a:schemeClr val="tx1"/>
              </a:solidFill>
            </a:endParaRPr>
          </a:p>
        </p:txBody>
      </p:sp>
      <p:sp>
        <p:nvSpPr>
          <p:cNvPr id="4" name="Arrow: Curved Left 3">
            <a:extLst>
              <a:ext uri="{FF2B5EF4-FFF2-40B4-BE49-F238E27FC236}">
                <a16:creationId xmlns:a16="http://schemas.microsoft.com/office/drawing/2014/main" id="{555A9565-DD81-9589-578A-C6157082DBC0}"/>
              </a:ext>
            </a:extLst>
          </p:cNvPr>
          <p:cNvSpPr/>
          <p:nvPr/>
        </p:nvSpPr>
        <p:spPr>
          <a:xfrm>
            <a:off x="7264400" y="3312160"/>
            <a:ext cx="284480" cy="782320"/>
          </a:xfrm>
          <a:prstGeom prst="curvedLef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276020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731327"/>
          </a:xfrm>
        </p:spPr>
        <p:txBody>
          <a:bodyPr>
            <a:normAutofit/>
          </a:bodyPr>
          <a:lstStyle/>
          <a:p>
            <a:pPr marL="0" indent="0">
              <a:buNone/>
            </a:pPr>
            <a:r>
              <a:rPr lang="en-US" sz="5000" b="1" dirty="0"/>
              <a:t>PEOPLE/User:</a:t>
            </a:r>
          </a:p>
          <a:p>
            <a:r>
              <a:rPr dirty="0"/>
              <a:t>What is a Database User?</a:t>
            </a:r>
          </a:p>
          <a:p>
            <a:r>
              <a:rPr dirty="0"/>
              <a:t>- A database user interacts with the database system to retrieve, update, or manage data.</a:t>
            </a:r>
          </a:p>
          <a:p>
            <a:r>
              <a:rPr dirty="0"/>
              <a:t>- Users can have different roles depending on their responsibilities.</a:t>
            </a:r>
          </a:p>
        </p:txBody>
      </p:sp>
      <p:sp>
        <p:nvSpPr>
          <p:cNvPr id="5" name="Title 4">
            <a:extLst>
              <a:ext uri="{FF2B5EF4-FFF2-40B4-BE49-F238E27FC236}">
                <a16:creationId xmlns:a16="http://schemas.microsoft.com/office/drawing/2014/main" id="{08B80B20-2E01-C9B9-2147-A760B667A41F}"/>
              </a:ext>
            </a:extLst>
          </p:cNvPr>
          <p:cNvSpPr>
            <a:spLocks noGrp="1"/>
          </p:cNvSpPr>
          <p:nvPr>
            <p:ph type="title"/>
          </p:nvPr>
        </p:nvSpPr>
        <p:spPr>
          <a:xfrm>
            <a:off x="457200" y="254636"/>
            <a:ext cx="8229600" cy="1143000"/>
          </a:xfrm>
        </p:spPr>
        <p:txBody>
          <a:bodyPr/>
          <a:lstStyle/>
          <a:p>
            <a:r>
              <a:rPr lang="en-US" sz="4400" dirty="0"/>
              <a:t>Components of DBS …</a:t>
            </a:r>
            <a:endParaRPr lang="en-IN"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5521"/>
            <a:ext cx="8229600" cy="599440"/>
          </a:xfrm>
        </p:spPr>
        <p:txBody>
          <a:bodyPr>
            <a:normAutofit fontScale="90000"/>
          </a:bodyPr>
          <a:lstStyle/>
          <a:p>
            <a:r>
              <a:rPr lang="en-US" sz="4400" dirty="0"/>
              <a:t>Components of DBS …</a:t>
            </a:r>
            <a:endParaRPr dirty="0"/>
          </a:p>
        </p:txBody>
      </p:sp>
      <p:sp>
        <p:nvSpPr>
          <p:cNvPr id="3" name="Content Placeholder 2"/>
          <p:cNvSpPr>
            <a:spLocks noGrp="1"/>
          </p:cNvSpPr>
          <p:nvPr>
            <p:ph idx="1"/>
          </p:nvPr>
        </p:nvSpPr>
        <p:spPr>
          <a:xfrm>
            <a:off x="457200" y="1261687"/>
            <a:ext cx="8229600" cy="5472545"/>
          </a:xfrm>
        </p:spPr>
        <p:txBody>
          <a:bodyPr>
            <a:normAutofit fontScale="55000" lnSpcReduction="20000"/>
          </a:bodyPr>
          <a:lstStyle/>
          <a:p>
            <a:r>
              <a:rPr b="1" i="1" dirty="0">
                <a:solidFill>
                  <a:srgbClr val="00B050"/>
                </a:solidFill>
              </a:rPr>
              <a:t>1. Database Administrator (DBA)</a:t>
            </a:r>
          </a:p>
          <a:p>
            <a:r>
              <a:rPr dirty="0"/>
              <a:t>- Manages the overall database system.</a:t>
            </a:r>
          </a:p>
          <a:p>
            <a:r>
              <a:rPr dirty="0"/>
              <a:t>- Responsible for installation, configuration, security, backups, and troubleshooting.</a:t>
            </a:r>
          </a:p>
          <a:p>
            <a:endParaRPr dirty="0"/>
          </a:p>
          <a:p>
            <a:r>
              <a:rPr b="1" dirty="0">
                <a:solidFill>
                  <a:srgbClr val="00B050"/>
                </a:solidFill>
              </a:rPr>
              <a:t>2. Application Programmers</a:t>
            </a:r>
          </a:p>
          <a:p>
            <a:r>
              <a:rPr dirty="0"/>
              <a:t>- Develop applications that interact with the database.</a:t>
            </a:r>
          </a:p>
          <a:p>
            <a:r>
              <a:rPr dirty="0"/>
              <a:t>- Use high-level programming languages with embedded database commands.</a:t>
            </a:r>
          </a:p>
          <a:p>
            <a:endParaRPr dirty="0"/>
          </a:p>
          <a:p>
            <a:r>
              <a:rPr b="1" dirty="0">
                <a:solidFill>
                  <a:srgbClr val="00B050"/>
                </a:solidFill>
              </a:rPr>
              <a:t>3. End Users</a:t>
            </a:r>
          </a:p>
          <a:p>
            <a:r>
              <a:rPr dirty="0"/>
              <a:t>- Interact with the database indirectly through applications or query tools.</a:t>
            </a:r>
          </a:p>
          <a:p>
            <a:r>
              <a:rPr dirty="0"/>
              <a:t>- Types: Casual Users, Naive Users.</a:t>
            </a:r>
          </a:p>
          <a:p>
            <a:endParaRPr dirty="0"/>
          </a:p>
          <a:p>
            <a:r>
              <a:rPr b="1" i="1" dirty="0">
                <a:solidFill>
                  <a:srgbClr val="00B050"/>
                </a:solidFill>
              </a:rPr>
              <a:t>4. System Analysts and Designers</a:t>
            </a:r>
          </a:p>
          <a:p>
            <a:r>
              <a:rPr dirty="0"/>
              <a:t>- Plan, design, and structure the database.</a:t>
            </a:r>
          </a:p>
          <a:p>
            <a:r>
              <a:rPr dirty="0"/>
              <a:t>- Ensure it meets business requirements.</a:t>
            </a:r>
          </a:p>
          <a:p>
            <a:endParaRPr dirty="0"/>
          </a:p>
          <a:p>
            <a:r>
              <a:rPr b="1" i="1" dirty="0">
                <a:solidFill>
                  <a:srgbClr val="00B050"/>
                </a:solidFill>
              </a:rPr>
              <a:t>5. Database Designers</a:t>
            </a:r>
          </a:p>
          <a:p>
            <a:r>
              <a:rPr dirty="0"/>
              <a:t>- Define the schema or structure of the database.</a:t>
            </a:r>
          </a:p>
        </p:txBody>
      </p:sp>
      <p:sp>
        <p:nvSpPr>
          <p:cNvPr id="4" name="TextBox 3">
            <a:extLst>
              <a:ext uri="{FF2B5EF4-FFF2-40B4-BE49-F238E27FC236}">
                <a16:creationId xmlns:a16="http://schemas.microsoft.com/office/drawing/2014/main" id="{990D5A4B-6BEE-8FDB-5AF1-DCA924C774EC}"/>
              </a:ext>
            </a:extLst>
          </p:cNvPr>
          <p:cNvSpPr txBox="1"/>
          <p:nvPr/>
        </p:nvSpPr>
        <p:spPr>
          <a:xfrm>
            <a:off x="660400" y="715120"/>
            <a:ext cx="7101840" cy="430887"/>
          </a:xfrm>
          <a:prstGeom prst="rect">
            <a:avLst/>
          </a:prstGeom>
          <a:noFill/>
        </p:spPr>
        <p:txBody>
          <a:bodyPr wrap="square" rtlCol="0">
            <a:spAutoFit/>
          </a:bodyPr>
          <a:lstStyle/>
          <a:p>
            <a:r>
              <a:rPr lang="en-IN" sz="2200" b="1" dirty="0"/>
              <a:t>Types of Database Users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3D949-4D91-63DC-5B38-DB678F87AE0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8007AA-33D9-421A-3BE0-2AF8CF62C6A7}"/>
              </a:ext>
            </a:extLst>
          </p:cNvPr>
          <p:cNvSpPr>
            <a:spLocks noGrp="1"/>
          </p:cNvSpPr>
          <p:nvPr>
            <p:ph idx="1"/>
          </p:nvPr>
        </p:nvSpPr>
        <p:spPr>
          <a:xfrm>
            <a:off x="457200" y="1600200"/>
            <a:ext cx="8229600" cy="4731327"/>
          </a:xfrm>
        </p:spPr>
        <p:txBody>
          <a:bodyPr>
            <a:normAutofit/>
          </a:bodyPr>
          <a:lstStyle/>
          <a:p>
            <a:pPr marL="0" indent="0">
              <a:buNone/>
            </a:pPr>
            <a:r>
              <a:rPr lang="en-IN" sz="5000" b="1" dirty="0"/>
              <a:t>Data Access Language:</a:t>
            </a:r>
          </a:p>
          <a:p>
            <a:endParaRPr lang="en-IN" dirty="0"/>
          </a:p>
          <a:p>
            <a:r>
              <a:rPr dirty="0"/>
              <a:t>What are Database Languages?</a:t>
            </a:r>
          </a:p>
          <a:p>
            <a:r>
              <a:rPr dirty="0"/>
              <a:t>- Set of commands used to define, manipulate, and control data in a database.</a:t>
            </a:r>
          </a:p>
          <a:p>
            <a:r>
              <a:rPr dirty="0"/>
              <a:t>- Facilitates communication between users and the DBMS.</a:t>
            </a:r>
          </a:p>
        </p:txBody>
      </p:sp>
      <p:sp>
        <p:nvSpPr>
          <p:cNvPr id="4" name="Title 1">
            <a:extLst>
              <a:ext uri="{FF2B5EF4-FFF2-40B4-BE49-F238E27FC236}">
                <a16:creationId xmlns:a16="http://schemas.microsoft.com/office/drawing/2014/main" id="{2C87CCFA-A09D-FB6F-DAA6-0C1BB8A47FE6}"/>
              </a:ext>
            </a:extLst>
          </p:cNvPr>
          <p:cNvSpPr txBox="1">
            <a:spLocks/>
          </p:cNvSpPr>
          <p:nvPr/>
        </p:nvSpPr>
        <p:spPr>
          <a:xfrm>
            <a:off x="457200" y="226753"/>
            <a:ext cx="8229600" cy="599440"/>
          </a:xfrm>
          <a:prstGeom prst="rect">
            <a:avLst/>
          </a:prstGeom>
        </p:spPr>
        <p:txBody>
          <a:bodyPr vert="horz" lIns="91440" tIns="45720" rIns="91440" bIns="45720"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t>Components of DBS …</a:t>
            </a:r>
          </a:p>
        </p:txBody>
      </p:sp>
    </p:spTree>
    <p:extLst>
      <p:ext uri="{BB962C8B-B14F-4D97-AF65-F5344CB8AC3E}">
        <p14:creationId xmlns:p14="http://schemas.microsoft.com/office/powerpoint/2010/main" val="15317192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840" y="565582"/>
            <a:ext cx="8229600" cy="709035"/>
          </a:xfrm>
        </p:spPr>
        <p:txBody>
          <a:bodyPr>
            <a:normAutofit fontScale="90000"/>
          </a:bodyPr>
          <a:lstStyle/>
          <a:p>
            <a:pPr algn="l"/>
            <a:r>
              <a:rPr dirty="0"/>
              <a:t>Types of Database Languages</a:t>
            </a:r>
          </a:p>
        </p:txBody>
      </p:sp>
      <p:sp>
        <p:nvSpPr>
          <p:cNvPr id="3" name="Content Placeholder 2"/>
          <p:cNvSpPr>
            <a:spLocks noGrp="1"/>
          </p:cNvSpPr>
          <p:nvPr>
            <p:ph idx="1"/>
          </p:nvPr>
        </p:nvSpPr>
        <p:spPr>
          <a:xfrm>
            <a:off x="457200" y="1274617"/>
            <a:ext cx="8229600" cy="5264727"/>
          </a:xfrm>
        </p:spPr>
        <p:txBody>
          <a:bodyPr>
            <a:normAutofit fontScale="70000" lnSpcReduction="20000"/>
          </a:bodyPr>
          <a:lstStyle/>
          <a:p>
            <a:r>
              <a:rPr dirty="0">
                <a:solidFill>
                  <a:srgbClr val="FF0000"/>
                </a:solidFill>
              </a:rPr>
              <a:t>1. Data Definition Language (DDL)</a:t>
            </a:r>
          </a:p>
          <a:p>
            <a:r>
              <a:rPr dirty="0"/>
              <a:t>- Used to define database schema and structure.</a:t>
            </a:r>
          </a:p>
          <a:p>
            <a:r>
              <a:rPr dirty="0"/>
              <a:t>- Commands: CREATE, ALTER, DROP.</a:t>
            </a:r>
          </a:p>
          <a:p>
            <a:endParaRPr dirty="0"/>
          </a:p>
          <a:p>
            <a:r>
              <a:rPr dirty="0">
                <a:solidFill>
                  <a:srgbClr val="FF0000"/>
                </a:solidFill>
              </a:rPr>
              <a:t>2. Data Manipulation Language (DML)</a:t>
            </a:r>
          </a:p>
          <a:p>
            <a:r>
              <a:rPr dirty="0"/>
              <a:t>- For data retrieval, insertion, updating, and deletion.</a:t>
            </a:r>
          </a:p>
          <a:p>
            <a:r>
              <a:rPr dirty="0"/>
              <a:t>- Commands: SELECT, INSERT, UPDATE, DELETE.</a:t>
            </a:r>
          </a:p>
          <a:p>
            <a:endParaRPr dirty="0"/>
          </a:p>
          <a:p>
            <a:r>
              <a:rPr dirty="0">
                <a:solidFill>
                  <a:srgbClr val="FF0000"/>
                </a:solidFill>
              </a:rPr>
              <a:t>3. Data Control Language (DCL)</a:t>
            </a:r>
          </a:p>
          <a:p>
            <a:r>
              <a:rPr dirty="0"/>
              <a:t>- Controls access to data and database objects.</a:t>
            </a:r>
          </a:p>
          <a:p>
            <a:r>
              <a:rPr dirty="0"/>
              <a:t>- Commands: GRANT, REVOKE.</a:t>
            </a:r>
          </a:p>
          <a:p>
            <a:endParaRPr dirty="0"/>
          </a:p>
          <a:p>
            <a:r>
              <a:rPr dirty="0">
                <a:solidFill>
                  <a:srgbClr val="FF0000"/>
                </a:solidFill>
              </a:rPr>
              <a:t>4. Transaction Control Language (TCL)</a:t>
            </a:r>
          </a:p>
          <a:p>
            <a:r>
              <a:rPr dirty="0"/>
              <a:t>- Manages database transactions.</a:t>
            </a:r>
          </a:p>
          <a:p>
            <a:r>
              <a:rPr dirty="0"/>
              <a:t>- Commands: COMMIT, ROLLBACK, SAVEPOINT.</a:t>
            </a:r>
          </a:p>
        </p:txBody>
      </p:sp>
      <p:sp>
        <p:nvSpPr>
          <p:cNvPr id="4" name="Title 1">
            <a:extLst>
              <a:ext uri="{FF2B5EF4-FFF2-40B4-BE49-F238E27FC236}">
                <a16:creationId xmlns:a16="http://schemas.microsoft.com/office/drawing/2014/main" id="{D56D19F6-89F6-6C2A-C286-891084DBD5E2}"/>
              </a:ext>
            </a:extLst>
          </p:cNvPr>
          <p:cNvSpPr txBox="1">
            <a:spLocks/>
          </p:cNvSpPr>
          <p:nvPr/>
        </p:nvSpPr>
        <p:spPr>
          <a:xfrm>
            <a:off x="670560" y="50353"/>
            <a:ext cx="8229600" cy="599440"/>
          </a:xfrm>
          <a:prstGeom prst="rect">
            <a:avLst/>
          </a:prstGeom>
        </p:spPr>
        <p:txBody>
          <a:bodyPr vert="horz" lIns="91440" tIns="45720" rIns="91440" bIns="45720"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t>Components of DBS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04335"/>
            <a:ext cx="8229600" cy="1143000"/>
          </a:xfrm>
        </p:spPr>
        <p:txBody>
          <a:bodyPr/>
          <a:lstStyle/>
          <a:p>
            <a:pPr algn="l"/>
            <a:r>
              <a:rPr dirty="0"/>
              <a:t>SQL (Structured Query Language)</a:t>
            </a:r>
          </a:p>
        </p:txBody>
      </p:sp>
      <p:sp>
        <p:nvSpPr>
          <p:cNvPr id="3" name="Content Placeholder 2"/>
          <p:cNvSpPr>
            <a:spLocks noGrp="1"/>
          </p:cNvSpPr>
          <p:nvPr>
            <p:ph idx="1"/>
          </p:nvPr>
        </p:nvSpPr>
        <p:spPr>
          <a:xfrm>
            <a:off x="457200" y="2219961"/>
            <a:ext cx="8229600" cy="3784600"/>
          </a:xfrm>
        </p:spPr>
        <p:txBody>
          <a:bodyPr/>
          <a:lstStyle/>
          <a:p>
            <a:r>
              <a:rPr dirty="0"/>
              <a:t>- SQL is the primary language used in relational databases.</a:t>
            </a:r>
          </a:p>
          <a:p>
            <a:r>
              <a:rPr dirty="0"/>
              <a:t>- Combines DDL, DML, DCL, and TCL commands into one unified language.</a:t>
            </a:r>
          </a:p>
          <a:p>
            <a:r>
              <a:rPr dirty="0"/>
              <a:t>- Used in popular RDBMS like MySQL, </a:t>
            </a:r>
            <a:r>
              <a:rPr dirty="0" err="1"/>
              <a:t>PostgreS</a:t>
            </a:r>
            <a:r>
              <a:rPr lang="en-IN" dirty="0"/>
              <a:t>QL</a:t>
            </a:r>
            <a:r>
              <a:rPr dirty="0"/>
              <a:t>, Oracle, and SQL Server.</a:t>
            </a:r>
          </a:p>
        </p:txBody>
      </p:sp>
      <p:sp>
        <p:nvSpPr>
          <p:cNvPr id="4" name="Title 1">
            <a:extLst>
              <a:ext uri="{FF2B5EF4-FFF2-40B4-BE49-F238E27FC236}">
                <a16:creationId xmlns:a16="http://schemas.microsoft.com/office/drawing/2014/main" id="{F653530B-6720-5540-4288-1128E9E03168}"/>
              </a:ext>
            </a:extLst>
          </p:cNvPr>
          <p:cNvSpPr txBox="1">
            <a:spLocks/>
          </p:cNvSpPr>
          <p:nvPr/>
        </p:nvSpPr>
        <p:spPr>
          <a:xfrm>
            <a:off x="670560" y="111502"/>
            <a:ext cx="8229600" cy="599440"/>
          </a:xfrm>
          <a:prstGeom prst="rect">
            <a:avLst/>
          </a:prstGeom>
        </p:spPr>
        <p:txBody>
          <a:bodyPr vert="horz" lIns="91440" tIns="45720" rIns="91440" bIns="45720"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t>Components of DBS …</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46138"/>
            <a:ext cx="8229600" cy="1143000"/>
          </a:xfrm>
        </p:spPr>
        <p:txBody>
          <a:bodyPr>
            <a:normAutofit fontScale="90000"/>
          </a:bodyPr>
          <a:lstStyle/>
          <a:p>
            <a:pPr algn="l"/>
            <a:r>
              <a:rPr dirty="0"/>
              <a:t>Visual Comparison of Database Languages</a:t>
            </a:r>
          </a:p>
        </p:txBody>
      </p:sp>
      <p:sp>
        <p:nvSpPr>
          <p:cNvPr id="3" name="Content Placeholder 2"/>
          <p:cNvSpPr>
            <a:spLocks noGrp="1"/>
          </p:cNvSpPr>
          <p:nvPr>
            <p:ph idx="1"/>
          </p:nvPr>
        </p:nvSpPr>
        <p:spPr>
          <a:xfrm>
            <a:off x="457200" y="2057399"/>
            <a:ext cx="8229600" cy="4525963"/>
          </a:xfrm>
        </p:spPr>
        <p:txBody>
          <a:bodyPr>
            <a:normAutofit fontScale="92500" lnSpcReduction="10000"/>
          </a:bodyPr>
          <a:lstStyle/>
          <a:p>
            <a:r>
              <a:rPr dirty="0"/>
              <a:t>| Language Type   | Common Commands                      |</a:t>
            </a:r>
          </a:p>
          <a:p>
            <a:r>
              <a:rPr dirty="0"/>
              <a:t>|-----------------|---------------------------------------|</a:t>
            </a:r>
          </a:p>
          <a:p>
            <a:r>
              <a:rPr dirty="0"/>
              <a:t>| DDL             | CREATE, ALTER, DROP                  |</a:t>
            </a:r>
          </a:p>
          <a:p>
            <a:r>
              <a:rPr dirty="0"/>
              <a:t>| DML             | SELECT, INSERT, UPDATE, DELETE       |</a:t>
            </a:r>
          </a:p>
          <a:p>
            <a:r>
              <a:rPr dirty="0"/>
              <a:t>| DCL             | GRANT, REVOKE                        |</a:t>
            </a:r>
          </a:p>
          <a:p>
            <a:r>
              <a:rPr dirty="0"/>
              <a:t>| TCL             | COMMIT, ROLLBACK, SAVEPOINT          |</a:t>
            </a:r>
          </a:p>
        </p:txBody>
      </p:sp>
      <p:sp>
        <p:nvSpPr>
          <p:cNvPr id="4" name="Title 1">
            <a:extLst>
              <a:ext uri="{FF2B5EF4-FFF2-40B4-BE49-F238E27FC236}">
                <a16:creationId xmlns:a16="http://schemas.microsoft.com/office/drawing/2014/main" id="{0F53AA73-6659-5637-4E26-D4CC8FC0F997}"/>
              </a:ext>
            </a:extLst>
          </p:cNvPr>
          <p:cNvSpPr txBox="1">
            <a:spLocks/>
          </p:cNvSpPr>
          <p:nvPr/>
        </p:nvSpPr>
        <p:spPr>
          <a:xfrm>
            <a:off x="670560" y="111502"/>
            <a:ext cx="8229600" cy="599440"/>
          </a:xfrm>
          <a:prstGeom prst="rect">
            <a:avLst/>
          </a:prstGeom>
        </p:spPr>
        <p:txBody>
          <a:bodyPr vert="horz" lIns="91440" tIns="45720" rIns="91440" bIns="45720"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t>Components of DBS …</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CCB22-1A3A-B052-8018-E823D53B8B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38D42F-842A-C554-AAAC-44A41628405A}"/>
              </a:ext>
            </a:extLst>
          </p:cNvPr>
          <p:cNvSpPr>
            <a:spLocks noGrp="1"/>
          </p:cNvSpPr>
          <p:nvPr>
            <p:ph type="title"/>
          </p:nvPr>
        </p:nvSpPr>
        <p:spPr>
          <a:xfrm>
            <a:off x="233680" y="68740"/>
            <a:ext cx="8453120" cy="575230"/>
          </a:xfrm>
        </p:spPr>
        <p:txBody>
          <a:bodyPr>
            <a:normAutofit fontScale="90000"/>
          </a:bodyPr>
          <a:lstStyle/>
          <a:p>
            <a:r>
              <a:rPr lang="en-US" sz="3500" dirty="0"/>
              <a:t>Structure of DBMS</a:t>
            </a:r>
            <a:endParaRPr lang="en-IN" sz="3500" dirty="0"/>
          </a:p>
        </p:txBody>
      </p:sp>
      <p:sp>
        <p:nvSpPr>
          <p:cNvPr id="3" name="TextBox 2">
            <a:extLst>
              <a:ext uri="{FF2B5EF4-FFF2-40B4-BE49-F238E27FC236}">
                <a16:creationId xmlns:a16="http://schemas.microsoft.com/office/drawing/2014/main" id="{A94B0362-86E3-F834-1BFE-4EC8A1C457DF}"/>
              </a:ext>
            </a:extLst>
          </p:cNvPr>
          <p:cNvSpPr txBox="1"/>
          <p:nvPr/>
        </p:nvSpPr>
        <p:spPr>
          <a:xfrm>
            <a:off x="741680" y="2011730"/>
            <a:ext cx="1584960" cy="646331"/>
          </a:xfrm>
          <a:prstGeom prst="rect">
            <a:avLst/>
          </a:prstGeom>
          <a:noFill/>
          <a:ln>
            <a:solidFill>
              <a:schemeClr val="tx1"/>
            </a:solidFill>
          </a:ln>
        </p:spPr>
        <p:txBody>
          <a:bodyPr wrap="square" rtlCol="0">
            <a:spAutoFit/>
          </a:bodyPr>
          <a:lstStyle/>
          <a:p>
            <a:r>
              <a:rPr lang="en-US" b="1" dirty="0"/>
              <a:t>Compiled User Interface</a:t>
            </a:r>
            <a:endParaRPr lang="en-IN" b="1" dirty="0"/>
          </a:p>
        </p:txBody>
      </p:sp>
      <p:sp>
        <p:nvSpPr>
          <p:cNvPr id="4" name="TextBox 3">
            <a:extLst>
              <a:ext uri="{FF2B5EF4-FFF2-40B4-BE49-F238E27FC236}">
                <a16:creationId xmlns:a16="http://schemas.microsoft.com/office/drawing/2014/main" id="{7735EB49-FDD4-6F22-1698-B9F32A6422E7}"/>
              </a:ext>
            </a:extLst>
          </p:cNvPr>
          <p:cNvSpPr txBox="1"/>
          <p:nvPr/>
        </p:nvSpPr>
        <p:spPr>
          <a:xfrm>
            <a:off x="741680" y="1327850"/>
            <a:ext cx="1717040" cy="369332"/>
          </a:xfrm>
          <a:prstGeom prst="rect">
            <a:avLst/>
          </a:prstGeom>
          <a:noFill/>
          <a:ln>
            <a:solidFill>
              <a:schemeClr val="tx1"/>
            </a:solidFill>
          </a:ln>
        </p:spPr>
        <p:txBody>
          <a:bodyPr wrap="square" rtlCol="0">
            <a:spAutoFit/>
          </a:bodyPr>
          <a:lstStyle/>
          <a:p>
            <a:r>
              <a:rPr lang="en-US" b="1" dirty="0"/>
              <a:t>Telecom System</a:t>
            </a:r>
            <a:endParaRPr lang="en-IN" b="1" dirty="0"/>
          </a:p>
        </p:txBody>
      </p:sp>
      <p:sp>
        <p:nvSpPr>
          <p:cNvPr id="5" name="TextBox 4">
            <a:extLst>
              <a:ext uri="{FF2B5EF4-FFF2-40B4-BE49-F238E27FC236}">
                <a16:creationId xmlns:a16="http://schemas.microsoft.com/office/drawing/2014/main" id="{B56F140E-D077-88E3-87FF-200C919BF615}"/>
              </a:ext>
            </a:extLst>
          </p:cNvPr>
          <p:cNvSpPr txBox="1"/>
          <p:nvPr/>
        </p:nvSpPr>
        <p:spPr>
          <a:xfrm>
            <a:off x="-50800" y="3088934"/>
            <a:ext cx="1249680" cy="369332"/>
          </a:xfrm>
          <a:prstGeom prst="rect">
            <a:avLst/>
          </a:prstGeom>
          <a:noFill/>
          <a:ln>
            <a:solidFill>
              <a:schemeClr val="tx1"/>
            </a:solidFill>
          </a:ln>
        </p:spPr>
        <p:txBody>
          <a:bodyPr wrap="square" rtlCol="0">
            <a:spAutoFit/>
          </a:bodyPr>
          <a:lstStyle/>
          <a:p>
            <a:r>
              <a:rPr lang="en-US" b="1" dirty="0"/>
              <a:t>Batch User</a:t>
            </a:r>
            <a:endParaRPr lang="en-IN" b="1" dirty="0"/>
          </a:p>
        </p:txBody>
      </p:sp>
      <p:sp>
        <p:nvSpPr>
          <p:cNvPr id="7" name="TextBox 6">
            <a:extLst>
              <a:ext uri="{FF2B5EF4-FFF2-40B4-BE49-F238E27FC236}">
                <a16:creationId xmlns:a16="http://schemas.microsoft.com/office/drawing/2014/main" id="{B7D374EA-A358-56EF-3C77-68A1A5EF246F}"/>
              </a:ext>
            </a:extLst>
          </p:cNvPr>
          <p:cNvSpPr txBox="1"/>
          <p:nvPr/>
        </p:nvSpPr>
        <p:spPr>
          <a:xfrm>
            <a:off x="2872878" y="858101"/>
            <a:ext cx="1584960" cy="369332"/>
          </a:xfrm>
          <a:prstGeom prst="rect">
            <a:avLst/>
          </a:prstGeom>
          <a:noFill/>
          <a:ln>
            <a:solidFill>
              <a:schemeClr val="tx1"/>
            </a:solidFill>
          </a:ln>
        </p:spPr>
        <p:txBody>
          <a:bodyPr wrap="square" rtlCol="0">
            <a:spAutoFit/>
          </a:bodyPr>
          <a:lstStyle/>
          <a:p>
            <a:r>
              <a:rPr lang="en-US" b="1" dirty="0"/>
              <a:t>Casual User</a:t>
            </a:r>
            <a:endParaRPr lang="en-IN" b="1" dirty="0"/>
          </a:p>
        </p:txBody>
      </p:sp>
      <p:sp>
        <p:nvSpPr>
          <p:cNvPr id="8" name="TextBox 7">
            <a:extLst>
              <a:ext uri="{FF2B5EF4-FFF2-40B4-BE49-F238E27FC236}">
                <a16:creationId xmlns:a16="http://schemas.microsoft.com/office/drawing/2014/main" id="{E0220FCD-83B2-B51F-4C20-6C7E1DF9CA41}"/>
              </a:ext>
            </a:extLst>
          </p:cNvPr>
          <p:cNvSpPr txBox="1"/>
          <p:nvPr/>
        </p:nvSpPr>
        <p:spPr>
          <a:xfrm>
            <a:off x="5474454" y="800417"/>
            <a:ext cx="1584960" cy="369332"/>
          </a:xfrm>
          <a:prstGeom prst="rect">
            <a:avLst/>
          </a:prstGeom>
          <a:noFill/>
          <a:ln>
            <a:solidFill>
              <a:schemeClr val="tx1"/>
            </a:solidFill>
          </a:ln>
        </p:spPr>
        <p:txBody>
          <a:bodyPr wrap="square" rtlCol="0">
            <a:spAutoFit/>
          </a:bodyPr>
          <a:lstStyle/>
          <a:p>
            <a:r>
              <a:rPr lang="en-US" b="1" dirty="0"/>
              <a:t>DBA</a:t>
            </a:r>
            <a:endParaRPr lang="en-IN" b="1" dirty="0"/>
          </a:p>
        </p:txBody>
      </p:sp>
      <p:sp>
        <p:nvSpPr>
          <p:cNvPr id="9" name="TextBox 8">
            <a:extLst>
              <a:ext uri="{FF2B5EF4-FFF2-40B4-BE49-F238E27FC236}">
                <a16:creationId xmlns:a16="http://schemas.microsoft.com/office/drawing/2014/main" id="{9B68B15F-EEE1-0385-DBD5-21ADC7497623}"/>
              </a:ext>
            </a:extLst>
          </p:cNvPr>
          <p:cNvSpPr txBox="1"/>
          <p:nvPr/>
        </p:nvSpPr>
        <p:spPr>
          <a:xfrm>
            <a:off x="2678946" y="1327700"/>
            <a:ext cx="1717040" cy="369332"/>
          </a:xfrm>
          <a:prstGeom prst="rect">
            <a:avLst/>
          </a:prstGeom>
          <a:noFill/>
          <a:ln>
            <a:solidFill>
              <a:schemeClr val="tx1"/>
            </a:solidFill>
          </a:ln>
        </p:spPr>
        <p:txBody>
          <a:bodyPr wrap="square" rtlCol="0">
            <a:spAutoFit/>
          </a:bodyPr>
          <a:lstStyle/>
          <a:p>
            <a:r>
              <a:rPr lang="en-US" b="1" dirty="0"/>
              <a:t>Telecom System</a:t>
            </a:r>
            <a:endParaRPr lang="en-IN" b="1" dirty="0"/>
          </a:p>
        </p:txBody>
      </p:sp>
      <p:sp>
        <p:nvSpPr>
          <p:cNvPr id="10" name="TextBox 9">
            <a:extLst>
              <a:ext uri="{FF2B5EF4-FFF2-40B4-BE49-F238E27FC236}">
                <a16:creationId xmlns:a16="http://schemas.microsoft.com/office/drawing/2014/main" id="{84B3A23B-9C53-8381-77BB-2E8D6B9E9B2E}"/>
              </a:ext>
            </a:extLst>
          </p:cNvPr>
          <p:cNvSpPr txBox="1"/>
          <p:nvPr/>
        </p:nvSpPr>
        <p:spPr>
          <a:xfrm>
            <a:off x="5435600" y="1284050"/>
            <a:ext cx="1717040" cy="369332"/>
          </a:xfrm>
          <a:prstGeom prst="rect">
            <a:avLst/>
          </a:prstGeom>
          <a:noFill/>
          <a:ln>
            <a:solidFill>
              <a:schemeClr val="tx1"/>
            </a:solidFill>
          </a:ln>
        </p:spPr>
        <p:txBody>
          <a:bodyPr wrap="square" rtlCol="0">
            <a:spAutoFit/>
          </a:bodyPr>
          <a:lstStyle/>
          <a:p>
            <a:r>
              <a:rPr lang="en-US" b="1" dirty="0"/>
              <a:t>Telecom System</a:t>
            </a:r>
            <a:endParaRPr lang="en-IN" b="1" dirty="0"/>
          </a:p>
        </p:txBody>
      </p:sp>
      <p:sp>
        <p:nvSpPr>
          <p:cNvPr id="11" name="TextBox 10">
            <a:extLst>
              <a:ext uri="{FF2B5EF4-FFF2-40B4-BE49-F238E27FC236}">
                <a16:creationId xmlns:a16="http://schemas.microsoft.com/office/drawing/2014/main" id="{97B2B892-0066-FE3F-5CDB-91848FDE149C}"/>
              </a:ext>
            </a:extLst>
          </p:cNvPr>
          <p:cNvSpPr txBox="1"/>
          <p:nvPr/>
        </p:nvSpPr>
        <p:spPr>
          <a:xfrm>
            <a:off x="2875280" y="1949715"/>
            <a:ext cx="1584960" cy="646331"/>
          </a:xfrm>
          <a:prstGeom prst="rect">
            <a:avLst/>
          </a:prstGeom>
          <a:noFill/>
          <a:ln>
            <a:solidFill>
              <a:schemeClr val="tx1"/>
            </a:solidFill>
          </a:ln>
        </p:spPr>
        <p:txBody>
          <a:bodyPr wrap="square" rtlCol="0">
            <a:spAutoFit/>
          </a:bodyPr>
          <a:lstStyle/>
          <a:p>
            <a:r>
              <a:rPr lang="en-US" b="1" dirty="0"/>
              <a:t>Query Processor</a:t>
            </a:r>
            <a:endParaRPr lang="en-IN" b="1" dirty="0"/>
          </a:p>
        </p:txBody>
      </p:sp>
      <p:sp>
        <p:nvSpPr>
          <p:cNvPr id="12" name="TextBox 11">
            <a:extLst>
              <a:ext uri="{FF2B5EF4-FFF2-40B4-BE49-F238E27FC236}">
                <a16:creationId xmlns:a16="http://schemas.microsoft.com/office/drawing/2014/main" id="{B0BD174D-0A7C-1CE5-100E-6C4FA77CD522}"/>
              </a:ext>
            </a:extLst>
          </p:cNvPr>
          <p:cNvSpPr txBox="1"/>
          <p:nvPr/>
        </p:nvSpPr>
        <p:spPr>
          <a:xfrm>
            <a:off x="5435600" y="1911272"/>
            <a:ext cx="1584960" cy="369332"/>
          </a:xfrm>
          <a:prstGeom prst="rect">
            <a:avLst/>
          </a:prstGeom>
          <a:noFill/>
          <a:ln>
            <a:solidFill>
              <a:schemeClr val="tx1"/>
            </a:solidFill>
          </a:ln>
        </p:spPr>
        <p:txBody>
          <a:bodyPr wrap="square" rtlCol="0">
            <a:spAutoFit/>
          </a:bodyPr>
          <a:lstStyle/>
          <a:p>
            <a:r>
              <a:rPr lang="en-US" b="1" dirty="0"/>
              <a:t>DDL Compiler</a:t>
            </a:r>
            <a:endParaRPr lang="en-IN" b="1" dirty="0"/>
          </a:p>
        </p:txBody>
      </p:sp>
      <p:sp>
        <p:nvSpPr>
          <p:cNvPr id="13" name="TextBox 12">
            <a:extLst>
              <a:ext uri="{FF2B5EF4-FFF2-40B4-BE49-F238E27FC236}">
                <a16:creationId xmlns:a16="http://schemas.microsoft.com/office/drawing/2014/main" id="{EDD2ED01-9366-5104-CF85-2511A880088E}"/>
              </a:ext>
            </a:extLst>
          </p:cNvPr>
          <p:cNvSpPr txBox="1"/>
          <p:nvPr/>
        </p:nvSpPr>
        <p:spPr>
          <a:xfrm>
            <a:off x="1266428" y="2918881"/>
            <a:ext cx="1263412" cy="923330"/>
          </a:xfrm>
          <a:prstGeom prst="rect">
            <a:avLst/>
          </a:prstGeom>
          <a:noFill/>
          <a:ln>
            <a:solidFill>
              <a:schemeClr val="tx1"/>
            </a:solidFill>
          </a:ln>
        </p:spPr>
        <p:txBody>
          <a:bodyPr wrap="square" rtlCol="0">
            <a:spAutoFit/>
          </a:bodyPr>
          <a:lstStyle/>
          <a:p>
            <a:r>
              <a:rPr lang="en-US" b="1" dirty="0"/>
              <a:t>Compiled Application Program</a:t>
            </a:r>
            <a:endParaRPr lang="en-IN" b="1" dirty="0"/>
          </a:p>
        </p:txBody>
      </p:sp>
      <p:sp>
        <p:nvSpPr>
          <p:cNvPr id="14" name="TextBox 13">
            <a:extLst>
              <a:ext uri="{FF2B5EF4-FFF2-40B4-BE49-F238E27FC236}">
                <a16:creationId xmlns:a16="http://schemas.microsoft.com/office/drawing/2014/main" id="{68FCFDA0-6B9B-1C7B-8DD1-C3038E464C03}"/>
              </a:ext>
            </a:extLst>
          </p:cNvPr>
          <p:cNvSpPr txBox="1"/>
          <p:nvPr/>
        </p:nvSpPr>
        <p:spPr>
          <a:xfrm>
            <a:off x="894080" y="860443"/>
            <a:ext cx="1584960" cy="369332"/>
          </a:xfrm>
          <a:prstGeom prst="rect">
            <a:avLst/>
          </a:prstGeom>
          <a:noFill/>
          <a:ln>
            <a:solidFill>
              <a:schemeClr val="tx1"/>
            </a:solidFill>
          </a:ln>
        </p:spPr>
        <p:txBody>
          <a:bodyPr wrap="square" rtlCol="0">
            <a:spAutoFit/>
          </a:bodyPr>
          <a:lstStyle/>
          <a:p>
            <a:r>
              <a:rPr lang="en-US" b="1" dirty="0"/>
              <a:t>Naïve User</a:t>
            </a:r>
            <a:endParaRPr lang="en-IN" b="1" dirty="0"/>
          </a:p>
        </p:txBody>
      </p:sp>
      <p:sp>
        <p:nvSpPr>
          <p:cNvPr id="15" name="TextBox 14">
            <a:extLst>
              <a:ext uri="{FF2B5EF4-FFF2-40B4-BE49-F238E27FC236}">
                <a16:creationId xmlns:a16="http://schemas.microsoft.com/office/drawing/2014/main" id="{857B51DC-91E9-42A5-2567-02CCFCD918B7}"/>
              </a:ext>
            </a:extLst>
          </p:cNvPr>
          <p:cNvSpPr txBox="1"/>
          <p:nvPr/>
        </p:nvSpPr>
        <p:spPr>
          <a:xfrm>
            <a:off x="2722880" y="2872715"/>
            <a:ext cx="1584960" cy="646331"/>
          </a:xfrm>
          <a:prstGeom prst="rect">
            <a:avLst/>
          </a:prstGeom>
          <a:noFill/>
          <a:ln>
            <a:solidFill>
              <a:schemeClr val="tx1"/>
            </a:solidFill>
          </a:ln>
        </p:spPr>
        <p:txBody>
          <a:bodyPr wrap="square" rtlCol="0">
            <a:spAutoFit/>
          </a:bodyPr>
          <a:lstStyle/>
          <a:p>
            <a:r>
              <a:rPr lang="en-US" b="1" dirty="0"/>
              <a:t>DBMS and its Data Manager</a:t>
            </a:r>
            <a:endParaRPr lang="en-IN" b="1" dirty="0"/>
          </a:p>
        </p:txBody>
      </p:sp>
      <p:sp>
        <p:nvSpPr>
          <p:cNvPr id="16" name="TextBox 15">
            <a:extLst>
              <a:ext uri="{FF2B5EF4-FFF2-40B4-BE49-F238E27FC236}">
                <a16:creationId xmlns:a16="http://schemas.microsoft.com/office/drawing/2014/main" id="{797E5D8B-C718-BB1C-9427-C96072A5BEFA}"/>
              </a:ext>
            </a:extLst>
          </p:cNvPr>
          <p:cNvSpPr txBox="1"/>
          <p:nvPr/>
        </p:nvSpPr>
        <p:spPr>
          <a:xfrm>
            <a:off x="2702560" y="3795715"/>
            <a:ext cx="1584960" cy="646331"/>
          </a:xfrm>
          <a:prstGeom prst="rect">
            <a:avLst/>
          </a:prstGeom>
          <a:noFill/>
          <a:ln>
            <a:solidFill>
              <a:schemeClr val="tx1"/>
            </a:solidFill>
          </a:ln>
        </p:spPr>
        <p:txBody>
          <a:bodyPr wrap="square" rtlCol="0">
            <a:spAutoFit/>
          </a:bodyPr>
          <a:lstStyle/>
          <a:p>
            <a:r>
              <a:rPr lang="en-US" b="1" dirty="0"/>
              <a:t>OS or own File Manager</a:t>
            </a:r>
            <a:endParaRPr lang="en-IN" b="1" dirty="0"/>
          </a:p>
        </p:txBody>
      </p:sp>
      <p:sp>
        <p:nvSpPr>
          <p:cNvPr id="17" name="TextBox 16">
            <a:extLst>
              <a:ext uri="{FF2B5EF4-FFF2-40B4-BE49-F238E27FC236}">
                <a16:creationId xmlns:a16="http://schemas.microsoft.com/office/drawing/2014/main" id="{3A60BC78-902F-7F4D-6D9E-4D9E1A135C76}"/>
              </a:ext>
            </a:extLst>
          </p:cNvPr>
          <p:cNvSpPr txBox="1"/>
          <p:nvPr/>
        </p:nvSpPr>
        <p:spPr>
          <a:xfrm>
            <a:off x="2763520" y="4535690"/>
            <a:ext cx="1584960" cy="646331"/>
          </a:xfrm>
          <a:prstGeom prst="rect">
            <a:avLst/>
          </a:prstGeom>
          <a:noFill/>
          <a:ln>
            <a:solidFill>
              <a:schemeClr val="tx1"/>
            </a:solidFill>
          </a:ln>
        </p:spPr>
        <p:txBody>
          <a:bodyPr wrap="square" rtlCol="0">
            <a:spAutoFit/>
          </a:bodyPr>
          <a:lstStyle/>
          <a:p>
            <a:r>
              <a:rPr lang="en-US" b="1" dirty="0"/>
              <a:t>OS Disk Manager</a:t>
            </a:r>
            <a:endParaRPr lang="en-IN" b="1" dirty="0"/>
          </a:p>
        </p:txBody>
      </p:sp>
      <p:sp>
        <p:nvSpPr>
          <p:cNvPr id="18" name="Flowchart: Magnetic Disk 17">
            <a:extLst>
              <a:ext uri="{FF2B5EF4-FFF2-40B4-BE49-F238E27FC236}">
                <a16:creationId xmlns:a16="http://schemas.microsoft.com/office/drawing/2014/main" id="{BF9E9C37-50A2-52B9-23E2-AD26714CB0C3}"/>
              </a:ext>
            </a:extLst>
          </p:cNvPr>
          <p:cNvSpPr/>
          <p:nvPr/>
        </p:nvSpPr>
        <p:spPr>
          <a:xfrm>
            <a:off x="2455425" y="5376780"/>
            <a:ext cx="1940560" cy="1133591"/>
          </a:xfrm>
          <a:prstGeom prst="flowChartMagneticDisk">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tx1"/>
                </a:solidFill>
              </a:rPr>
              <a:t>Data Files and Data Dictionary</a:t>
            </a:r>
            <a:endParaRPr lang="en-IN" b="1" dirty="0">
              <a:solidFill>
                <a:schemeClr val="tx1"/>
              </a:solidFill>
            </a:endParaRPr>
          </a:p>
        </p:txBody>
      </p:sp>
      <p:sp>
        <p:nvSpPr>
          <p:cNvPr id="19" name="Arrow: Right 18">
            <a:extLst>
              <a:ext uri="{FF2B5EF4-FFF2-40B4-BE49-F238E27FC236}">
                <a16:creationId xmlns:a16="http://schemas.microsoft.com/office/drawing/2014/main" id="{111D8ECD-5CC0-80C4-D8EA-B823DC3730EA}"/>
              </a:ext>
            </a:extLst>
          </p:cNvPr>
          <p:cNvSpPr/>
          <p:nvPr/>
        </p:nvSpPr>
        <p:spPr>
          <a:xfrm rot="5400000">
            <a:off x="1432560" y="1707111"/>
            <a:ext cx="193040" cy="36933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0" name="Arrow: Right 19">
            <a:extLst>
              <a:ext uri="{FF2B5EF4-FFF2-40B4-BE49-F238E27FC236}">
                <a16:creationId xmlns:a16="http://schemas.microsoft.com/office/drawing/2014/main" id="{0B12A2B0-C44F-0686-011A-94F4B55A055C}"/>
              </a:ext>
            </a:extLst>
          </p:cNvPr>
          <p:cNvSpPr/>
          <p:nvPr/>
        </p:nvSpPr>
        <p:spPr>
          <a:xfrm rot="5400000">
            <a:off x="3258067" y="1613621"/>
            <a:ext cx="193040" cy="36933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1" name="Arrow: Right 20">
            <a:extLst>
              <a:ext uri="{FF2B5EF4-FFF2-40B4-BE49-F238E27FC236}">
                <a16:creationId xmlns:a16="http://schemas.microsoft.com/office/drawing/2014/main" id="{998C33BA-7CAB-4818-418D-61B509FFCE22}"/>
              </a:ext>
            </a:extLst>
          </p:cNvPr>
          <p:cNvSpPr/>
          <p:nvPr/>
        </p:nvSpPr>
        <p:spPr>
          <a:xfrm rot="5400000">
            <a:off x="6170414" y="1565236"/>
            <a:ext cx="193040" cy="36933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2" name="Arrow: Right 21">
            <a:extLst>
              <a:ext uri="{FF2B5EF4-FFF2-40B4-BE49-F238E27FC236}">
                <a16:creationId xmlns:a16="http://schemas.microsoft.com/office/drawing/2014/main" id="{0BD51775-17A9-EF97-6233-DC5B2747EF00}"/>
              </a:ext>
            </a:extLst>
          </p:cNvPr>
          <p:cNvSpPr/>
          <p:nvPr/>
        </p:nvSpPr>
        <p:spPr>
          <a:xfrm rot="5400000">
            <a:off x="1400294" y="2662224"/>
            <a:ext cx="193040" cy="36933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3" name="Arrow: Right 22">
            <a:extLst>
              <a:ext uri="{FF2B5EF4-FFF2-40B4-BE49-F238E27FC236}">
                <a16:creationId xmlns:a16="http://schemas.microsoft.com/office/drawing/2014/main" id="{89383616-0D9B-4026-1BE0-4B6D2789B82E}"/>
              </a:ext>
            </a:extLst>
          </p:cNvPr>
          <p:cNvSpPr/>
          <p:nvPr/>
        </p:nvSpPr>
        <p:spPr>
          <a:xfrm rot="5400000">
            <a:off x="3268226" y="2530493"/>
            <a:ext cx="193040" cy="36933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4" name="Arrow: Right 23">
            <a:extLst>
              <a:ext uri="{FF2B5EF4-FFF2-40B4-BE49-F238E27FC236}">
                <a16:creationId xmlns:a16="http://schemas.microsoft.com/office/drawing/2014/main" id="{A2297FB9-7D71-1461-B02A-2AD2A8674198}"/>
              </a:ext>
            </a:extLst>
          </p:cNvPr>
          <p:cNvSpPr/>
          <p:nvPr/>
        </p:nvSpPr>
        <p:spPr>
          <a:xfrm rot="5400000">
            <a:off x="3290054" y="3438900"/>
            <a:ext cx="193040" cy="36933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5" name="Arrow: Right 24">
            <a:extLst>
              <a:ext uri="{FF2B5EF4-FFF2-40B4-BE49-F238E27FC236}">
                <a16:creationId xmlns:a16="http://schemas.microsoft.com/office/drawing/2014/main" id="{E2A35E23-EFBB-CC99-8359-99A2ABC5A9FE}"/>
              </a:ext>
            </a:extLst>
          </p:cNvPr>
          <p:cNvSpPr/>
          <p:nvPr/>
        </p:nvSpPr>
        <p:spPr>
          <a:xfrm rot="5400000">
            <a:off x="3234174" y="4333008"/>
            <a:ext cx="193040" cy="36933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6" name="Arrow: Right 25">
            <a:extLst>
              <a:ext uri="{FF2B5EF4-FFF2-40B4-BE49-F238E27FC236}">
                <a16:creationId xmlns:a16="http://schemas.microsoft.com/office/drawing/2014/main" id="{CEE4E2F2-B592-D502-7764-17D54962EB72}"/>
              </a:ext>
            </a:extLst>
          </p:cNvPr>
          <p:cNvSpPr/>
          <p:nvPr/>
        </p:nvSpPr>
        <p:spPr>
          <a:xfrm rot="5400000">
            <a:off x="1397000" y="1116915"/>
            <a:ext cx="193040" cy="36933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7" name="Arrow: Right 26">
            <a:extLst>
              <a:ext uri="{FF2B5EF4-FFF2-40B4-BE49-F238E27FC236}">
                <a16:creationId xmlns:a16="http://schemas.microsoft.com/office/drawing/2014/main" id="{C2D51B0A-8811-50C5-95B0-D9A43F1E6D39}"/>
              </a:ext>
            </a:extLst>
          </p:cNvPr>
          <p:cNvSpPr/>
          <p:nvPr/>
        </p:nvSpPr>
        <p:spPr>
          <a:xfrm rot="5400000">
            <a:off x="3275988" y="1066027"/>
            <a:ext cx="193040" cy="36933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8" name="Arrow: Right 27">
            <a:extLst>
              <a:ext uri="{FF2B5EF4-FFF2-40B4-BE49-F238E27FC236}">
                <a16:creationId xmlns:a16="http://schemas.microsoft.com/office/drawing/2014/main" id="{F837656F-B48F-5105-EE3F-FEEF2164D140}"/>
              </a:ext>
            </a:extLst>
          </p:cNvPr>
          <p:cNvSpPr/>
          <p:nvPr/>
        </p:nvSpPr>
        <p:spPr>
          <a:xfrm rot="5400000">
            <a:off x="6106160" y="996435"/>
            <a:ext cx="193040" cy="36933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9" name="Arrow: Right 28">
            <a:extLst>
              <a:ext uri="{FF2B5EF4-FFF2-40B4-BE49-F238E27FC236}">
                <a16:creationId xmlns:a16="http://schemas.microsoft.com/office/drawing/2014/main" id="{35E4CE3A-43FE-55F7-B3CB-B51CFCC9D774}"/>
              </a:ext>
            </a:extLst>
          </p:cNvPr>
          <p:cNvSpPr/>
          <p:nvPr/>
        </p:nvSpPr>
        <p:spPr>
          <a:xfrm rot="5400000">
            <a:off x="3263146" y="5054967"/>
            <a:ext cx="193040" cy="36933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0" name="Arrow: Right 29">
            <a:extLst>
              <a:ext uri="{FF2B5EF4-FFF2-40B4-BE49-F238E27FC236}">
                <a16:creationId xmlns:a16="http://schemas.microsoft.com/office/drawing/2014/main" id="{3E47D380-9E75-2898-4D92-304F9BD56FBD}"/>
              </a:ext>
            </a:extLst>
          </p:cNvPr>
          <p:cNvSpPr/>
          <p:nvPr/>
        </p:nvSpPr>
        <p:spPr>
          <a:xfrm>
            <a:off x="1073388" y="3011214"/>
            <a:ext cx="193040" cy="36933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1" name="Arrow: Right 30">
            <a:extLst>
              <a:ext uri="{FF2B5EF4-FFF2-40B4-BE49-F238E27FC236}">
                <a16:creationId xmlns:a16="http://schemas.microsoft.com/office/drawing/2014/main" id="{C0FF3629-0346-B7D0-CF7A-1258AEB56DFA}"/>
              </a:ext>
            </a:extLst>
          </p:cNvPr>
          <p:cNvSpPr/>
          <p:nvPr/>
        </p:nvSpPr>
        <p:spPr>
          <a:xfrm>
            <a:off x="2529840" y="3059668"/>
            <a:ext cx="193040" cy="36933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2" name="Arrow: Right 31">
            <a:extLst>
              <a:ext uri="{FF2B5EF4-FFF2-40B4-BE49-F238E27FC236}">
                <a16:creationId xmlns:a16="http://schemas.microsoft.com/office/drawing/2014/main" id="{4043E10D-7F2D-CC5A-91CC-01DE76491B84}"/>
              </a:ext>
            </a:extLst>
          </p:cNvPr>
          <p:cNvSpPr/>
          <p:nvPr/>
        </p:nvSpPr>
        <p:spPr>
          <a:xfrm rot="5400000">
            <a:off x="5660014" y="2703454"/>
            <a:ext cx="915906" cy="19990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3" name="Arrow: Right 32">
            <a:extLst>
              <a:ext uri="{FF2B5EF4-FFF2-40B4-BE49-F238E27FC236}">
                <a16:creationId xmlns:a16="http://schemas.microsoft.com/office/drawing/2014/main" id="{7BEBBE3C-42F5-B48C-75A7-C2145BE171BA}"/>
              </a:ext>
            </a:extLst>
          </p:cNvPr>
          <p:cNvSpPr/>
          <p:nvPr/>
        </p:nvSpPr>
        <p:spPr>
          <a:xfrm rot="10800000">
            <a:off x="4395985" y="2999225"/>
            <a:ext cx="1717038" cy="319103"/>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2524883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CECD4-89CC-C1A9-5E30-06E8CA9A13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495597-7B9D-2D61-E2B2-2CE03B7F8198}"/>
              </a:ext>
            </a:extLst>
          </p:cNvPr>
          <p:cNvSpPr>
            <a:spLocks noGrp="1"/>
          </p:cNvSpPr>
          <p:nvPr>
            <p:ph type="title"/>
          </p:nvPr>
        </p:nvSpPr>
        <p:spPr>
          <a:xfrm>
            <a:off x="457200" y="274638"/>
            <a:ext cx="8229600" cy="567843"/>
          </a:xfrm>
        </p:spPr>
        <p:txBody>
          <a:bodyPr>
            <a:normAutofit fontScale="90000"/>
          </a:bodyPr>
          <a:lstStyle/>
          <a:p>
            <a:pPr algn="l"/>
            <a:r>
              <a:rPr lang="en-US" dirty="0"/>
              <a:t>Functions / Features of DBMS</a:t>
            </a:r>
            <a:endParaRPr dirty="0"/>
          </a:p>
        </p:txBody>
      </p:sp>
      <p:sp>
        <p:nvSpPr>
          <p:cNvPr id="3" name="Content Placeholder 2">
            <a:extLst>
              <a:ext uri="{FF2B5EF4-FFF2-40B4-BE49-F238E27FC236}">
                <a16:creationId xmlns:a16="http://schemas.microsoft.com/office/drawing/2014/main" id="{6F756FDF-03AB-8D95-0A0E-889F7DF3F0F8}"/>
              </a:ext>
            </a:extLst>
          </p:cNvPr>
          <p:cNvSpPr>
            <a:spLocks noGrp="1"/>
          </p:cNvSpPr>
          <p:nvPr>
            <p:ph idx="1"/>
          </p:nvPr>
        </p:nvSpPr>
        <p:spPr>
          <a:xfrm>
            <a:off x="457200" y="1166018"/>
            <a:ext cx="8229600" cy="4659429"/>
          </a:xfrm>
        </p:spPr>
        <p:txBody>
          <a:bodyPr>
            <a:normAutofit fontScale="85000" lnSpcReduction="20000"/>
          </a:bodyPr>
          <a:lstStyle/>
          <a:p>
            <a:pPr marL="514350" indent="-514350">
              <a:buFont typeface="+mj-lt"/>
              <a:buAutoNum type="arabicParenR"/>
            </a:pPr>
            <a:r>
              <a:rPr lang="en-US" dirty="0"/>
              <a:t>Data Storage and Retrieval</a:t>
            </a:r>
          </a:p>
          <a:p>
            <a:pPr marL="514350" indent="-514350">
              <a:buFont typeface="+mj-lt"/>
              <a:buAutoNum type="arabicParenR"/>
            </a:pPr>
            <a:r>
              <a:rPr lang="en-US" dirty="0"/>
              <a:t>Conflict Resolution</a:t>
            </a:r>
          </a:p>
          <a:p>
            <a:pPr marL="514350" indent="-514350">
              <a:buFont typeface="+mj-lt"/>
              <a:buAutoNum type="arabicParenR"/>
            </a:pPr>
            <a:r>
              <a:rPr lang="en-US" dirty="0"/>
              <a:t>Data Integrity</a:t>
            </a:r>
          </a:p>
          <a:p>
            <a:pPr marL="514350" indent="-514350">
              <a:buFont typeface="+mj-lt"/>
              <a:buAutoNum type="arabicParenR"/>
            </a:pPr>
            <a:r>
              <a:rPr lang="en-US" dirty="0"/>
              <a:t>Backup and Recovery</a:t>
            </a:r>
          </a:p>
          <a:p>
            <a:pPr marL="514350" indent="-514350">
              <a:buFont typeface="+mj-lt"/>
              <a:buAutoNum type="arabicParenR"/>
            </a:pPr>
            <a:r>
              <a:rPr lang="en-US" dirty="0"/>
              <a:t>Concurrency Control / Multi User Access Control</a:t>
            </a:r>
          </a:p>
          <a:p>
            <a:pPr marL="514350" indent="-514350">
              <a:buFont typeface="+mj-lt"/>
              <a:buAutoNum type="arabicParenR"/>
            </a:pPr>
            <a:r>
              <a:rPr lang="en-US" dirty="0"/>
              <a:t>Security Services, Mechanisms and Techniques</a:t>
            </a:r>
          </a:p>
          <a:p>
            <a:pPr marL="514350" indent="-514350">
              <a:buFont typeface="+mj-lt"/>
              <a:buAutoNum type="arabicParenR"/>
            </a:pPr>
            <a:r>
              <a:rPr lang="en-US" dirty="0"/>
              <a:t>Data Independence</a:t>
            </a:r>
          </a:p>
          <a:p>
            <a:pPr marL="514350" indent="-514350">
              <a:buFont typeface="+mj-lt"/>
              <a:buAutoNum type="arabicParenR"/>
            </a:pPr>
            <a:r>
              <a:rPr lang="en-US" dirty="0"/>
              <a:t>Database Access Language </a:t>
            </a:r>
          </a:p>
          <a:p>
            <a:pPr marL="514350" indent="-514350">
              <a:buFont typeface="+mj-lt"/>
              <a:buAutoNum type="arabicParenR"/>
            </a:pPr>
            <a:r>
              <a:rPr lang="en-US" dirty="0"/>
              <a:t>Data Mapping / Data Transformation and Presentation</a:t>
            </a:r>
          </a:p>
          <a:p>
            <a:pPr marL="514350" indent="-514350">
              <a:buFont typeface="+mj-lt"/>
              <a:buAutoNum type="arabicParenR"/>
            </a:pPr>
            <a:r>
              <a:rPr lang="en-US" dirty="0"/>
              <a:t>Database Communication Interfaces</a:t>
            </a:r>
          </a:p>
          <a:p>
            <a:pPr marL="514350" indent="-514350">
              <a:buFont typeface="+mj-lt"/>
              <a:buAutoNum type="arabicParenR"/>
            </a:pPr>
            <a:r>
              <a:rPr lang="en-US" dirty="0"/>
              <a:t>Data Modeling</a:t>
            </a:r>
          </a:p>
          <a:p>
            <a:pPr marL="514350" indent="-514350">
              <a:buFont typeface="+mj-lt"/>
              <a:buAutoNum type="arabicParenR"/>
            </a:pPr>
            <a:endParaRPr dirty="0"/>
          </a:p>
        </p:txBody>
      </p:sp>
      <p:sp>
        <p:nvSpPr>
          <p:cNvPr id="4" name="TextBox 3">
            <a:extLst>
              <a:ext uri="{FF2B5EF4-FFF2-40B4-BE49-F238E27FC236}">
                <a16:creationId xmlns:a16="http://schemas.microsoft.com/office/drawing/2014/main" id="{51BE1495-FF6D-A17A-3867-B20B87659CED}"/>
              </a:ext>
            </a:extLst>
          </p:cNvPr>
          <p:cNvSpPr txBox="1"/>
          <p:nvPr/>
        </p:nvSpPr>
        <p:spPr>
          <a:xfrm>
            <a:off x="369871" y="5989834"/>
            <a:ext cx="8620018" cy="646331"/>
          </a:xfrm>
          <a:prstGeom prst="rect">
            <a:avLst/>
          </a:prstGeom>
          <a:noFill/>
        </p:spPr>
        <p:txBody>
          <a:bodyPr wrap="square" rtlCol="0">
            <a:spAutoFit/>
          </a:bodyPr>
          <a:lstStyle/>
          <a:p>
            <a:r>
              <a:rPr lang="en-IN" dirty="0">
                <a:hlinkClick r:id="rId2"/>
              </a:rPr>
              <a:t>https://www.educba.com/dbms-functions/</a:t>
            </a:r>
            <a:r>
              <a:rPr lang="en-IN" dirty="0"/>
              <a:t> </a:t>
            </a:r>
          </a:p>
          <a:p>
            <a:r>
              <a:rPr lang="en-IN" dirty="0">
                <a:hlinkClick r:id="rId3"/>
              </a:rPr>
              <a:t>https://www.analyticsvidhya.com/blog/2023/06/what-are-functions-of-dbms/</a:t>
            </a:r>
            <a:r>
              <a:rPr lang="en-IN" dirty="0"/>
              <a:t> </a:t>
            </a:r>
          </a:p>
        </p:txBody>
      </p:sp>
    </p:spTree>
    <p:extLst>
      <p:ext uri="{BB962C8B-B14F-4D97-AF65-F5344CB8AC3E}">
        <p14:creationId xmlns:p14="http://schemas.microsoft.com/office/powerpoint/2010/main" val="5857900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r>
              <a:rPr dirty="0"/>
              <a:t>Database Users: Different roles like DBAs, developers, and end users interact with the database in various ways.</a:t>
            </a:r>
          </a:p>
          <a:p>
            <a:r>
              <a:rPr dirty="0"/>
              <a:t>Database Languages: DDL, DML, DCL, and TCL are used to define, manipulate, control, and manage data in databases.</a:t>
            </a:r>
            <a:endParaRPr lang="en-US" dirty="0"/>
          </a:p>
          <a:p>
            <a:r>
              <a:rPr lang="en-IN" dirty="0"/>
              <a:t>Structure of DBMS</a:t>
            </a:r>
          </a:p>
          <a:p>
            <a:r>
              <a:rPr lang="en-IN" dirty="0"/>
              <a:t>Functions of DBMS</a:t>
            </a:r>
            <a:endParaRPr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Data Abstraction</a:t>
            </a:r>
            <a:br>
              <a:rPr lang="en-US" b="1" dirty="0"/>
            </a:br>
            <a:endParaRPr lang="en-IN" dirty="0"/>
          </a:p>
        </p:txBody>
      </p:sp>
      <p:sp>
        <p:nvSpPr>
          <p:cNvPr id="3" name="Content Placeholder 2"/>
          <p:cNvSpPr>
            <a:spLocks noGrp="1"/>
          </p:cNvSpPr>
          <p:nvPr>
            <p:ph idx="1"/>
          </p:nvPr>
        </p:nvSpPr>
        <p:spPr>
          <a:xfrm>
            <a:off x="457200" y="1108364"/>
            <a:ext cx="8229600" cy="5444836"/>
          </a:xfrm>
        </p:spPr>
        <p:txBody>
          <a:bodyPr>
            <a:normAutofit fontScale="70000" lnSpcReduction="20000"/>
          </a:bodyPr>
          <a:lstStyle/>
          <a:p>
            <a:pPr marL="0" indent="0" algn="just">
              <a:buNone/>
            </a:pPr>
            <a:r>
              <a:rPr lang="en-US" b="1" dirty="0" smtClean="0"/>
              <a:t>Data </a:t>
            </a:r>
            <a:r>
              <a:rPr lang="en-US" b="1" dirty="0"/>
              <a:t>abstraction</a:t>
            </a:r>
            <a:r>
              <a:rPr lang="en-US" dirty="0"/>
              <a:t> is the process of hiding internal implementation details of data and exposing only the essential features to the user. It simplifies database design and usage by allowing users to interact with data without knowing how it is stored or maintained.</a:t>
            </a:r>
            <a:endParaRPr lang="en-US" dirty="0">
              <a:solidFill>
                <a:srgbClr val="FF0000"/>
              </a:solidFill>
            </a:endParaRPr>
          </a:p>
          <a:p>
            <a:pPr marL="0" indent="0">
              <a:buNone/>
            </a:pPr>
            <a:r>
              <a:rPr lang="en-US" b="1" dirty="0">
                <a:solidFill>
                  <a:srgbClr val="FF0000"/>
                </a:solidFill>
              </a:rPr>
              <a:t>Levels of Data Abstraction (Three-Level Architecture):</a:t>
            </a:r>
            <a:endParaRPr lang="en-US" dirty="0">
              <a:solidFill>
                <a:srgbClr val="FF0000"/>
              </a:solidFill>
            </a:endParaRPr>
          </a:p>
          <a:p>
            <a:r>
              <a:rPr lang="en-US" b="1" dirty="0"/>
              <a:t>Physical Level</a:t>
            </a:r>
            <a:endParaRPr lang="en-US" dirty="0"/>
          </a:p>
          <a:p>
            <a:pPr lvl="1"/>
            <a:r>
              <a:rPr lang="en-US" dirty="0"/>
              <a:t>Describes </a:t>
            </a:r>
            <a:r>
              <a:rPr lang="en-US" i="1" dirty="0"/>
              <a:t>how</a:t>
            </a:r>
            <a:r>
              <a:rPr lang="en-US" dirty="0"/>
              <a:t> data is actually stored in memory or disk (files, indexes, data structures).</a:t>
            </a:r>
          </a:p>
          <a:p>
            <a:r>
              <a:rPr lang="en-US" b="1" dirty="0"/>
              <a:t>Logical (Conceptual) Level</a:t>
            </a:r>
            <a:endParaRPr lang="en-US" dirty="0"/>
          </a:p>
          <a:p>
            <a:pPr lvl="1"/>
            <a:r>
              <a:rPr lang="en-US" dirty="0"/>
              <a:t>Describes </a:t>
            </a:r>
            <a:r>
              <a:rPr lang="en-US" i="1" dirty="0"/>
              <a:t>what</a:t>
            </a:r>
            <a:r>
              <a:rPr lang="en-US" dirty="0"/>
              <a:t> data is stored and the relationships among data (tables, attributes, constraints).</a:t>
            </a:r>
          </a:p>
          <a:p>
            <a:r>
              <a:rPr lang="en-US" b="1" dirty="0"/>
              <a:t>View Level</a:t>
            </a:r>
            <a:endParaRPr lang="en-US" dirty="0"/>
          </a:p>
          <a:p>
            <a:pPr lvl="1"/>
            <a:r>
              <a:rPr lang="en-US" dirty="0"/>
              <a:t>Describes </a:t>
            </a:r>
            <a:r>
              <a:rPr lang="en-US" i="1" dirty="0"/>
              <a:t>how</a:t>
            </a:r>
            <a:r>
              <a:rPr lang="en-US" dirty="0"/>
              <a:t> users see the data (customized views for different users).</a:t>
            </a:r>
          </a:p>
          <a:p>
            <a:pPr marL="0" indent="0">
              <a:buNone/>
            </a:pPr>
            <a:r>
              <a:rPr lang="en-US" dirty="0">
                <a:solidFill>
                  <a:srgbClr val="FF0000"/>
                </a:solidFill>
              </a:rPr>
              <a:t>👉 </a:t>
            </a:r>
            <a:r>
              <a:rPr lang="en-US" b="1" dirty="0">
                <a:solidFill>
                  <a:srgbClr val="FF0000"/>
                </a:solidFill>
              </a:rPr>
              <a:t>Example:</a:t>
            </a:r>
            <a:r>
              <a:rPr lang="en-US" dirty="0">
                <a:solidFill>
                  <a:srgbClr val="FF0000"/>
                </a:solidFill>
              </a:rPr>
              <a:t/>
            </a:r>
            <a:br>
              <a:rPr lang="en-US" dirty="0">
                <a:solidFill>
                  <a:srgbClr val="FF0000"/>
                </a:solidFill>
              </a:rPr>
            </a:br>
            <a:r>
              <a:rPr lang="en-US" dirty="0"/>
              <a:t>A student sees only their marks (view level), the database stores student–course relationships (logical level), and the data is physically stored using files and indexes (physical level).</a:t>
            </a:r>
          </a:p>
          <a:p>
            <a:endParaRPr lang="en-IN" dirty="0"/>
          </a:p>
        </p:txBody>
      </p:sp>
    </p:spTree>
    <p:extLst>
      <p:ext uri="{BB962C8B-B14F-4D97-AF65-F5344CB8AC3E}">
        <p14:creationId xmlns:p14="http://schemas.microsoft.com/office/powerpoint/2010/main" val="113682384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70489"/>
          </a:xfrm>
        </p:spPr>
        <p:txBody>
          <a:bodyPr>
            <a:normAutofit fontScale="90000"/>
          </a:bodyPr>
          <a:lstStyle/>
          <a:p>
            <a:r>
              <a:rPr lang="en-US" b="1" dirty="0" smtClean="0"/>
              <a:t/>
            </a:r>
            <a:br>
              <a:rPr lang="en-US" b="1" dirty="0" smtClean="0"/>
            </a:br>
            <a:r>
              <a:rPr lang="en-US" b="1" dirty="0" smtClean="0"/>
              <a:t>Data </a:t>
            </a:r>
            <a:r>
              <a:rPr lang="en-US" b="1" dirty="0"/>
              <a:t>Independence</a:t>
            </a:r>
            <a:br>
              <a:rPr lang="en-US" b="1" dirty="0"/>
            </a:br>
            <a:endParaRPr lang="en-IN" dirty="0"/>
          </a:p>
        </p:txBody>
      </p:sp>
      <p:sp>
        <p:nvSpPr>
          <p:cNvPr id="3" name="Content Placeholder 2"/>
          <p:cNvSpPr>
            <a:spLocks noGrp="1"/>
          </p:cNvSpPr>
          <p:nvPr>
            <p:ph idx="1"/>
          </p:nvPr>
        </p:nvSpPr>
        <p:spPr>
          <a:xfrm>
            <a:off x="457200" y="845127"/>
            <a:ext cx="8229600" cy="5638799"/>
          </a:xfrm>
        </p:spPr>
        <p:txBody>
          <a:bodyPr>
            <a:normAutofit fontScale="85000" lnSpcReduction="10000"/>
          </a:bodyPr>
          <a:lstStyle/>
          <a:p>
            <a:pPr algn="just"/>
            <a:r>
              <a:rPr lang="en-US" b="1" dirty="0" smtClean="0"/>
              <a:t>Data </a:t>
            </a:r>
            <a:r>
              <a:rPr lang="en-US" b="1" dirty="0"/>
              <a:t>independence</a:t>
            </a:r>
            <a:r>
              <a:rPr lang="en-US" dirty="0"/>
              <a:t> is the ability to change the database schema at one level without affecting the schema at the next higher level. It ensures flexibility and reduces maintenance effort.</a:t>
            </a:r>
          </a:p>
          <a:p>
            <a:pPr marL="0" indent="0">
              <a:buNone/>
            </a:pPr>
            <a:r>
              <a:rPr lang="en-US" b="1" dirty="0">
                <a:solidFill>
                  <a:srgbClr val="FF0000"/>
                </a:solidFill>
              </a:rPr>
              <a:t>Types of Data Independence:</a:t>
            </a:r>
          </a:p>
          <a:p>
            <a:r>
              <a:rPr lang="en-US" b="1" dirty="0"/>
              <a:t>Physical Data Independence</a:t>
            </a:r>
            <a:endParaRPr lang="en-US" dirty="0"/>
          </a:p>
          <a:p>
            <a:pPr lvl="1"/>
            <a:r>
              <a:rPr lang="en-US" dirty="0"/>
              <a:t>Changes at the physical level (e.g., storage structure, indexing) do </a:t>
            </a:r>
            <a:r>
              <a:rPr lang="en-US" b="1" dirty="0"/>
              <a:t>not</a:t>
            </a:r>
            <a:r>
              <a:rPr lang="en-US" dirty="0"/>
              <a:t> affect the logical level.</a:t>
            </a:r>
          </a:p>
          <a:p>
            <a:pPr lvl="1"/>
            <a:r>
              <a:rPr lang="en-US" i="1" dirty="0"/>
              <a:t>Example:</a:t>
            </a:r>
            <a:r>
              <a:rPr lang="en-US" dirty="0"/>
              <a:t> Changing from </a:t>
            </a:r>
            <a:r>
              <a:rPr lang="en-US" dirty="0" smtClean="0"/>
              <a:t>B+ tree </a:t>
            </a:r>
            <a:r>
              <a:rPr lang="en-US" dirty="0"/>
              <a:t>to hash indexing.</a:t>
            </a:r>
          </a:p>
          <a:p>
            <a:r>
              <a:rPr lang="en-US" b="1" dirty="0"/>
              <a:t>Logical Data Independence</a:t>
            </a:r>
            <a:endParaRPr lang="en-US" dirty="0"/>
          </a:p>
          <a:p>
            <a:pPr lvl="1"/>
            <a:r>
              <a:rPr lang="en-US" dirty="0"/>
              <a:t>Changes at the logical level (e.g., adding a new attribute or table) do </a:t>
            </a:r>
            <a:r>
              <a:rPr lang="en-US" b="1" dirty="0"/>
              <a:t>not</a:t>
            </a:r>
            <a:r>
              <a:rPr lang="en-US" dirty="0"/>
              <a:t> affect user views or application programs.</a:t>
            </a:r>
          </a:p>
          <a:p>
            <a:pPr lvl="1"/>
            <a:r>
              <a:rPr lang="en-US" i="1" dirty="0"/>
              <a:t>Example:</a:t>
            </a:r>
            <a:r>
              <a:rPr lang="en-US" dirty="0"/>
              <a:t> Adding a “Phone Number” field to a student table.</a:t>
            </a:r>
          </a:p>
          <a:p>
            <a:endParaRPr lang="en-IN" dirty="0"/>
          </a:p>
        </p:txBody>
      </p:sp>
    </p:spTree>
    <p:extLst>
      <p:ext uri="{BB962C8B-B14F-4D97-AF65-F5344CB8AC3E}">
        <p14:creationId xmlns:p14="http://schemas.microsoft.com/office/powerpoint/2010/main" val="283924206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Difference </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856149220"/>
              </p:ext>
            </p:extLst>
          </p:nvPr>
        </p:nvGraphicFramePr>
        <p:xfrm>
          <a:off x="457200" y="1260767"/>
          <a:ext cx="8229600" cy="5061004"/>
        </p:xfrm>
        <a:graphic>
          <a:graphicData uri="http://schemas.openxmlformats.org/drawingml/2006/table">
            <a:tbl>
              <a:tblPr/>
              <a:tblGrid>
                <a:gridCol w="2743200">
                  <a:extLst>
                    <a:ext uri="{9D8B030D-6E8A-4147-A177-3AD203B41FA5}">
                      <a16:colId xmlns:a16="http://schemas.microsoft.com/office/drawing/2014/main" val="3476936194"/>
                    </a:ext>
                  </a:extLst>
                </a:gridCol>
                <a:gridCol w="2743200">
                  <a:extLst>
                    <a:ext uri="{9D8B030D-6E8A-4147-A177-3AD203B41FA5}">
                      <a16:colId xmlns:a16="http://schemas.microsoft.com/office/drawing/2014/main" val="57885333"/>
                    </a:ext>
                  </a:extLst>
                </a:gridCol>
                <a:gridCol w="2743200">
                  <a:extLst>
                    <a:ext uri="{9D8B030D-6E8A-4147-A177-3AD203B41FA5}">
                      <a16:colId xmlns:a16="http://schemas.microsoft.com/office/drawing/2014/main" val="3534255227"/>
                    </a:ext>
                  </a:extLst>
                </a:gridCol>
              </a:tblGrid>
              <a:tr h="809587">
                <a:tc>
                  <a:txBody>
                    <a:bodyPr/>
                    <a:lstStyle/>
                    <a:p>
                      <a:r>
                        <a:rPr lang="en-IN" sz="2800" b="1" dirty="0">
                          <a:solidFill>
                            <a:srgbClr val="FF0000"/>
                          </a:solidFill>
                        </a:rPr>
                        <a:t>Aspect</a:t>
                      </a:r>
                    </a:p>
                  </a:txBody>
                  <a:tcPr anchor="ctr">
                    <a:lnL>
                      <a:noFill/>
                    </a:lnL>
                    <a:lnR>
                      <a:noFill/>
                    </a:lnR>
                    <a:lnT>
                      <a:noFill/>
                    </a:lnT>
                    <a:lnB>
                      <a:noFill/>
                    </a:lnB>
                  </a:tcPr>
                </a:tc>
                <a:tc>
                  <a:txBody>
                    <a:bodyPr/>
                    <a:lstStyle/>
                    <a:p>
                      <a:r>
                        <a:rPr lang="en-IN" sz="2800" b="1" dirty="0">
                          <a:solidFill>
                            <a:srgbClr val="FF0000"/>
                          </a:solidFill>
                        </a:rPr>
                        <a:t>Data Abstraction</a:t>
                      </a:r>
                    </a:p>
                  </a:txBody>
                  <a:tcPr anchor="ctr">
                    <a:lnL>
                      <a:noFill/>
                    </a:lnL>
                    <a:lnR>
                      <a:noFill/>
                    </a:lnR>
                    <a:lnT>
                      <a:noFill/>
                    </a:lnT>
                    <a:lnB>
                      <a:noFill/>
                    </a:lnB>
                  </a:tcPr>
                </a:tc>
                <a:tc>
                  <a:txBody>
                    <a:bodyPr/>
                    <a:lstStyle/>
                    <a:p>
                      <a:r>
                        <a:rPr lang="en-IN" sz="2800" b="1" dirty="0">
                          <a:solidFill>
                            <a:srgbClr val="FF0000"/>
                          </a:solidFill>
                        </a:rPr>
                        <a:t>Data Independence</a:t>
                      </a:r>
                    </a:p>
                  </a:txBody>
                  <a:tcPr anchor="ctr">
                    <a:lnL>
                      <a:noFill/>
                    </a:lnL>
                    <a:lnR>
                      <a:noFill/>
                    </a:lnR>
                    <a:lnT>
                      <a:noFill/>
                    </a:lnT>
                    <a:lnB>
                      <a:noFill/>
                    </a:lnB>
                  </a:tcPr>
                </a:tc>
                <a:extLst>
                  <a:ext uri="{0D108BD9-81ED-4DB2-BD59-A6C34878D82A}">
                    <a16:rowId xmlns:a16="http://schemas.microsoft.com/office/drawing/2014/main" val="1468069076"/>
                  </a:ext>
                </a:extLst>
              </a:tr>
              <a:tr h="809587">
                <a:tc>
                  <a:txBody>
                    <a:bodyPr/>
                    <a:lstStyle/>
                    <a:p>
                      <a:r>
                        <a:rPr lang="en-IN" sz="2800" dirty="0"/>
                        <a:t>Purpose</a:t>
                      </a:r>
                    </a:p>
                  </a:txBody>
                  <a:tcPr anchor="ctr">
                    <a:lnL>
                      <a:noFill/>
                    </a:lnL>
                    <a:lnR>
                      <a:noFill/>
                    </a:lnR>
                    <a:lnT>
                      <a:noFill/>
                    </a:lnT>
                    <a:lnB>
                      <a:noFill/>
                    </a:lnB>
                  </a:tcPr>
                </a:tc>
                <a:tc>
                  <a:txBody>
                    <a:bodyPr/>
                    <a:lstStyle/>
                    <a:p>
                      <a:r>
                        <a:rPr lang="en-IN" sz="2800" dirty="0"/>
                        <a:t>Hides complexity</a:t>
                      </a:r>
                    </a:p>
                  </a:txBody>
                  <a:tcPr anchor="ctr">
                    <a:lnL>
                      <a:noFill/>
                    </a:lnL>
                    <a:lnR>
                      <a:noFill/>
                    </a:lnR>
                    <a:lnT>
                      <a:noFill/>
                    </a:lnT>
                    <a:lnB>
                      <a:noFill/>
                    </a:lnB>
                  </a:tcPr>
                </a:tc>
                <a:tc>
                  <a:txBody>
                    <a:bodyPr/>
                    <a:lstStyle/>
                    <a:p>
                      <a:r>
                        <a:rPr lang="en-IN" sz="2800"/>
                        <a:t>Allows schema changes</a:t>
                      </a:r>
                    </a:p>
                  </a:txBody>
                  <a:tcPr anchor="ctr">
                    <a:lnL>
                      <a:noFill/>
                    </a:lnL>
                    <a:lnR>
                      <a:noFill/>
                    </a:lnR>
                    <a:lnT>
                      <a:noFill/>
                    </a:lnT>
                    <a:lnB>
                      <a:noFill/>
                    </a:lnB>
                  </a:tcPr>
                </a:tc>
                <a:extLst>
                  <a:ext uri="{0D108BD9-81ED-4DB2-BD59-A6C34878D82A}">
                    <a16:rowId xmlns:a16="http://schemas.microsoft.com/office/drawing/2014/main" val="2576560034"/>
                  </a:ext>
                </a:extLst>
              </a:tr>
              <a:tr h="809587">
                <a:tc>
                  <a:txBody>
                    <a:bodyPr/>
                    <a:lstStyle/>
                    <a:p>
                      <a:r>
                        <a:rPr lang="en-IN" sz="2800"/>
                        <a:t>Focus</a:t>
                      </a:r>
                    </a:p>
                  </a:txBody>
                  <a:tcPr anchor="ctr">
                    <a:lnL>
                      <a:noFill/>
                    </a:lnL>
                    <a:lnR>
                      <a:noFill/>
                    </a:lnR>
                    <a:lnT>
                      <a:noFill/>
                    </a:lnT>
                    <a:lnB>
                      <a:noFill/>
                    </a:lnB>
                  </a:tcPr>
                </a:tc>
                <a:tc>
                  <a:txBody>
                    <a:bodyPr/>
                    <a:lstStyle/>
                    <a:p>
                      <a:r>
                        <a:rPr lang="en-IN" sz="2800" dirty="0"/>
                        <a:t>User interaction with data</a:t>
                      </a:r>
                    </a:p>
                  </a:txBody>
                  <a:tcPr anchor="ctr">
                    <a:lnL>
                      <a:noFill/>
                    </a:lnL>
                    <a:lnR>
                      <a:noFill/>
                    </a:lnR>
                    <a:lnT>
                      <a:noFill/>
                    </a:lnT>
                    <a:lnB>
                      <a:noFill/>
                    </a:lnB>
                  </a:tcPr>
                </a:tc>
                <a:tc>
                  <a:txBody>
                    <a:bodyPr/>
                    <a:lstStyle/>
                    <a:p>
                      <a:r>
                        <a:rPr lang="en-IN" sz="2800"/>
                        <a:t>Database flexibility</a:t>
                      </a:r>
                    </a:p>
                  </a:txBody>
                  <a:tcPr anchor="ctr">
                    <a:lnL>
                      <a:noFill/>
                    </a:lnL>
                    <a:lnR>
                      <a:noFill/>
                    </a:lnR>
                    <a:lnT>
                      <a:noFill/>
                    </a:lnT>
                    <a:lnB>
                      <a:noFill/>
                    </a:lnB>
                  </a:tcPr>
                </a:tc>
                <a:extLst>
                  <a:ext uri="{0D108BD9-81ED-4DB2-BD59-A6C34878D82A}">
                    <a16:rowId xmlns:a16="http://schemas.microsoft.com/office/drawing/2014/main" val="2234305110"/>
                  </a:ext>
                </a:extLst>
              </a:tr>
              <a:tr h="1416777">
                <a:tc>
                  <a:txBody>
                    <a:bodyPr/>
                    <a:lstStyle/>
                    <a:p>
                      <a:r>
                        <a:rPr lang="en-IN" sz="2800"/>
                        <a:t>Concerned With</a:t>
                      </a:r>
                    </a:p>
                  </a:txBody>
                  <a:tcPr anchor="ctr">
                    <a:lnL>
                      <a:noFill/>
                    </a:lnL>
                    <a:lnR>
                      <a:noFill/>
                    </a:lnR>
                    <a:lnT>
                      <a:noFill/>
                    </a:lnT>
                    <a:lnB>
                      <a:noFill/>
                    </a:lnB>
                  </a:tcPr>
                </a:tc>
                <a:tc>
                  <a:txBody>
                    <a:bodyPr/>
                    <a:lstStyle/>
                    <a:p>
                      <a:r>
                        <a:rPr lang="en-IN" sz="2800" dirty="0"/>
                        <a:t>Levels of data representation</a:t>
                      </a:r>
                    </a:p>
                  </a:txBody>
                  <a:tcPr anchor="ctr">
                    <a:lnL>
                      <a:noFill/>
                    </a:lnL>
                    <a:lnR>
                      <a:noFill/>
                    </a:lnR>
                    <a:lnT>
                      <a:noFill/>
                    </a:lnT>
                    <a:lnB>
                      <a:noFill/>
                    </a:lnB>
                  </a:tcPr>
                </a:tc>
                <a:tc>
                  <a:txBody>
                    <a:bodyPr/>
                    <a:lstStyle/>
                    <a:p>
                      <a:r>
                        <a:rPr lang="en-IN" sz="2800" dirty="0"/>
                        <a:t>Changes between levels</a:t>
                      </a:r>
                    </a:p>
                  </a:txBody>
                  <a:tcPr anchor="ctr">
                    <a:lnL>
                      <a:noFill/>
                    </a:lnL>
                    <a:lnR>
                      <a:noFill/>
                    </a:lnR>
                    <a:lnT>
                      <a:noFill/>
                    </a:lnT>
                    <a:lnB>
                      <a:noFill/>
                    </a:lnB>
                  </a:tcPr>
                </a:tc>
                <a:extLst>
                  <a:ext uri="{0D108BD9-81ED-4DB2-BD59-A6C34878D82A}">
                    <a16:rowId xmlns:a16="http://schemas.microsoft.com/office/drawing/2014/main" val="946377237"/>
                  </a:ext>
                </a:extLst>
              </a:tr>
              <a:tr h="809587">
                <a:tc>
                  <a:txBody>
                    <a:bodyPr/>
                    <a:lstStyle/>
                    <a:p>
                      <a:r>
                        <a:rPr lang="en-IN" sz="2800"/>
                        <a:t>Benefit</a:t>
                      </a:r>
                    </a:p>
                  </a:txBody>
                  <a:tcPr anchor="ctr">
                    <a:lnL>
                      <a:noFill/>
                    </a:lnL>
                    <a:lnR>
                      <a:noFill/>
                    </a:lnR>
                    <a:lnT>
                      <a:noFill/>
                    </a:lnT>
                    <a:lnB>
                      <a:noFill/>
                    </a:lnB>
                  </a:tcPr>
                </a:tc>
                <a:tc>
                  <a:txBody>
                    <a:bodyPr/>
                    <a:lstStyle/>
                    <a:p>
                      <a:r>
                        <a:rPr lang="en-IN" sz="2800"/>
                        <a:t>Simplicity</a:t>
                      </a:r>
                    </a:p>
                  </a:txBody>
                  <a:tcPr anchor="ctr">
                    <a:lnL>
                      <a:noFill/>
                    </a:lnL>
                    <a:lnR>
                      <a:noFill/>
                    </a:lnR>
                    <a:lnT>
                      <a:noFill/>
                    </a:lnT>
                    <a:lnB>
                      <a:noFill/>
                    </a:lnB>
                  </a:tcPr>
                </a:tc>
                <a:tc>
                  <a:txBody>
                    <a:bodyPr/>
                    <a:lstStyle/>
                    <a:p>
                      <a:r>
                        <a:rPr lang="en-IN" sz="2800" dirty="0"/>
                        <a:t>Maintainability</a:t>
                      </a:r>
                    </a:p>
                  </a:txBody>
                  <a:tcPr anchor="ctr">
                    <a:lnL>
                      <a:noFill/>
                    </a:lnL>
                    <a:lnR>
                      <a:noFill/>
                    </a:lnR>
                    <a:lnT>
                      <a:noFill/>
                    </a:lnT>
                    <a:lnB>
                      <a:noFill/>
                    </a:lnB>
                  </a:tcPr>
                </a:tc>
                <a:extLst>
                  <a:ext uri="{0D108BD9-81ED-4DB2-BD59-A6C34878D82A}">
                    <a16:rowId xmlns:a16="http://schemas.microsoft.com/office/drawing/2014/main" val="1690477825"/>
                  </a:ext>
                </a:extLst>
              </a:tr>
            </a:tbl>
          </a:graphicData>
        </a:graphic>
      </p:graphicFrame>
    </p:spTree>
    <p:extLst>
      <p:ext uri="{BB962C8B-B14F-4D97-AF65-F5344CB8AC3E}">
        <p14:creationId xmlns:p14="http://schemas.microsoft.com/office/powerpoint/2010/main" val="96860628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33726"/>
          </a:xfrm>
        </p:spPr>
        <p:txBody>
          <a:bodyPr>
            <a:normAutofit fontScale="90000"/>
          </a:bodyPr>
          <a:lstStyle/>
          <a:p>
            <a:r>
              <a:rPr lang="en-US" b="1" dirty="0" smtClean="0"/>
              <a:t/>
            </a:r>
            <a:br>
              <a:rPr lang="en-US" b="1" dirty="0" smtClean="0"/>
            </a:br>
            <a:r>
              <a:rPr lang="en-US" b="1" dirty="0" smtClean="0"/>
              <a:t>Data </a:t>
            </a:r>
            <a:r>
              <a:rPr lang="en-US" b="1" dirty="0"/>
              <a:t>Models (DBMS)</a:t>
            </a:r>
            <a:br>
              <a:rPr lang="en-US" b="1" dirty="0"/>
            </a:br>
            <a:endParaRPr lang="en-IN" dirty="0"/>
          </a:p>
        </p:txBody>
      </p:sp>
      <p:sp>
        <p:nvSpPr>
          <p:cNvPr id="3" name="Content Placeholder 2"/>
          <p:cNvSpPr>
            <a:spLocks noGrp="1"/>
          </p:cNvSpPr>
          <p:nvPr>
            <p:ph idx="1"/>
          </p:nvPr>
        </p:nvSpPr>
        <p:spPr/>
        <p:txBody>
          <a:bodyPr/>
          <a:lstStyle/>
          <a:p>
            <a:pPr marL="0" indent="0">
              <a:buNone/>
            </a:pPr>
            <a:r>
              <a:rPr lang="en-US" dirty="0" smtClean="0"/>
              <a:t>A </a:t>
            </a:r>
            <a:r>
              <a:rPr lang="en-US" b="1" dirty="0"/>
              <a:t>data model</a:t>
            </a:r>
            <a:r>
              <a:rPr lang="en-US" dirty="0"/>
              <a:t> defines the way data is stored, organized, and manipulated in a database. It provides a conceptual framework to describe </a:t>
            </a:r>
            <a:r>
              <a:rPr lang="en-US" b="1" dirty="0"/>
              <a:t>data structure, relationships, constraints, and operations</a:t>
            </a:r>
            <a:r>
              <a:rPr lang="en-US" dirty="0"/>
              <a:t>.</a:t>
            </a:r>
          </a:p>
          <a:p>
            <a:endParaRPr lang="en-IN" dirty="0"/>
          </a:p>
        </p:txBody>
      </p:sp>
    </p:spTree>
    <p:extLst>
      <p:ext uri="{BB962C8B-B14F-4D97-AF65-F5344CB8AC3E}">
        <p14:creationId xmlns:p14="http://schemas.microsoft.com/office/powerpoint/2010/main" val="250230899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76526"/>
          </a:xfrm>
        </p:spPr>
        <p:txBody>
          <a:bodyPr>
            <a:normAutofit fontScale="90000"/>
          </a:bodyPr>
          <a:lstStyle/>
          <a:p>
            <a:r>
              <a:rPr lang="en-US" sz="2800" b="1" dirty="0" smtClean="0">
                <a:solidFill>
                  <a:srgbClr val="FF0000"/>
                </a:solidFill>
              </a:rPr>
              <a:t/>
            </a:r>
            <a:br>
              <a:rPr lang="en-US" sz="2800" b="1" dirty="0" smtClean="0">
                <a:solidFill>
                  <a:srgbClr val="FF0000"/>
                </a:solidFill>
              </a:rPr>
            </a:br>
            <a:r>
              <a:rPr lang="en-US" sz="2800" b="1" dirty="0" smtClean="0">
                <a:solidFill>
                  <a:srgbClr val="FF0000"/>
                </a:solidFill>
              </a:rPr>
              <a:t>Types </a:t>
            </a:r>
            <a:r>
              <a:rPr lang="en-US" sz="2800" b="1" dirty="0">
                <a:solidFill>
                  <a:srgbClr val="FF0000"/>
                </a:solidFill>
              </a:rPr>
              <a:t>of Data Models</a:t>
            </a:r>
            <a:br>
              <a:rPr lang="en-US" sz="2800" b="1" dirty="0">
                <a:solidFill>
                  <a:srgbClr val="FF0000"/>
                </a:solidFill>
              </a:rPr>
            </a:br>
            <a:endParaRPr lang="en-IN" sz="2800" dirty="0">
              <a:solidFill>
                <a:srgbClr val="FF0000"/>
              </a:solidFill>
            </a:endParaRPr>
          </a:p>
        </p:txBody>
      </p:sp>
      <p:sp>
        <p:nvSpPr>
          <p:cNvPr id="3" name="Content Placeholder 2"/>
          <p:cNvSpPr>
            <a:spLocks noGrp="1"/>
          </p:cNvSpPr>
          <p:nvPr>
            <p:ph idx="1"/>
          </p:nvPr>
        </p:nvSpPr>
        <p:spPr>
          <a:xfrm>
            <a:off x="180109" y="651164"/>
            <a:ext cx="8783781" cy="6123708"/>
          </a:xfrm>
        </p:spPr>
        <p:txBody>
          <a:bodyPr numCol="3">
            <a:normAutofit fontScale="25000" lnSpcReduction="20000"/>
          </a:bodyPr>
          <a:lstStyle/>
          <a:p>
            <a:pPr marL="0" indent="0" algn="just">
              <a:buNone/>
            </a:pPr>
            <a:r>
              <a:rPr lang="en-US" sz="7400" b="1" dirty="0" smtClean="0"/>
              <a:t>1</a:t>
            </a:r>
            <a:r>
              <a:rPr lang="en-US" sz="7400" b="1" dirty="0"/>
              <a:t>. Hierarchical Data Model</a:t>
            </a:r>
          </a:p>
          <a:p>
            <a:pPr algn="just"/>
            <a:r>
              <a:rPr lang="en-US" sz="7400" dirty="0"/>
              <a:t>Data is organized in a </a:t>
            </a:r>
            <a:r>
              <a:rPr lang="en-US" sz="7400" b="1" dirty="0"/>
              <a:t>tree structure</a:t>
            </a:r>
            <a:r>
              <a:rPr lang="en-US" sz="7400" dirty="0"/>
              <a:t> (parent–child relationship).</a:t>
            </a:r>
          </a:p>
          <a:p>
            <a:pPr algn="just"/>
            <a:r>
              <a:rPr lang="en-US" sz="7400" dirty="0"/>
              <a:t>Each child has </a:t>
            </a:r>
            <a:r>
              <a:rPr lang="en-US" sz="7400" b="1" dirty="0"/>
              <a:t>only one parent</a:t>
            </a:r>
            <a:r>
              <a:rPr lang="en-US" sz="7400" dirty="0"/>
              <a:t>.</a:t>
            </a:r>
          </a:p>
          <a:p>
            <a:pPr algn="just"/>
            <a:r>
              <a:rPr lang="en-US" sz="7400" b="1" dirty="0"/>
              <a:t>Example:</a:t>
            </a:r>
            <a:r>
              <a:rPr lang="en-US" sz="7400" dirty="0"/>
              <a:t> File system, XML structure.</a:t>
            </a:r>
          </a:p>
          <a:p>
            <a:pPr algn="just"/>
            <a:r>
              <a:rPr lang="en-US" sz="7400" b="1" dirty="0"/>
              <a:t>Advantages:</a:t>
            </a:r>
            <a:endParaRPr lang="en-US" sz="7400" dirty="0"/>
          </a:p>
          <a:p>
            <a:pPr algn="just"/>
            <a:r>
              <a:rPr lang="en-US" sz="7400" dirty="0"/>
              <a:t>Simple and fast access</a:t>
            </a:r>
          </a:p>
          <a:p>
            <a:pPr algn="just"/>
            <a:r>
              <a:rPr lang="en-US" sz="7400" dirty="0"/>
              <a:t>Easy to understand</a:t>
            </a:r>
          </a:p>
          <a:p>
            <a:pPr algn="just"/>
            <a:r>
              <a:rPr lang="en-US" sz="7400" b="1" dirty="0"/>
              <a:t>Disadvantages:</a:t>
            </a:r>
            <a:endParaRPr lang="en-US" sz="7400" dirty="0"/>
          </a:p>
          <a:p>
            <a:pPr algn="just"/>
            <a:r>
              <a:rPr lang="en-US" sz="7400" dirty="0"/>
              <a:t>No many-to-many relationships</a:t>
            </a:r>
          </a:p>
          <a:p>
            <a:pPr algn="just"/>
            <a:r>
              <a:rPr lang="en-US" sz="7400" dirty="0"/>
              <a:t>Difficult to modify </a:t>
            </a:r>
            <a:r>
              <a:rPr lang="en-US" sz="7400" dirty="0" smtClean="0"/>
              <a:t>structure</a:t>
            </a:r>
          </a:p>
          <a:p>
            <a:pPr marL="0" indent="0" algn="just">
              <a:buNone/>
            </a:pPr>
            <a:r>
              <a:rPr lang="en-US" sz="7400" b="1" dirty="0"/>
              <a:t>2. Network Data Model</a:t>
            </a:r>
          </a:p>
          <a:p>
            <a:pPr algn="just"/>
            <a:r>
              <a:rPr lang="en-US" sz="7400" dirty="0"/>
              <a:t>Data is organized as a </a:t>
            </a:r>
            <a:r>
              <a:rPr lang="en-US" sz="7400" b="1" dirty="0"/>
              <a:t>graph</a:t>
            </a:r>
            <a:r>
              <a:rPr lang="en-US" sz="7400" dirty="0"/>
              <a:t>.</a:t>
            </a:r>
          </a:p>
          <a:p>
            <a:pPr algn="just"/>
            <a:r>
              <a:rPr lang="en-US" sz="7400" dirty="0"/>
              <a:t>A child can have </a:t>
            </a:r>
            <a:r>
              <a:rPr lang="en-US" sz="7400" b="1" dirty="0"/>
              <a:t>multiple parents</a:t>
            </a:r>
            <a:r>
              <a:rPr lang="en-US" sz="7400" dirty="0"/>
              <a:t>.</a:t>
            </a:r>
          </a:p>
          <a:p>
            <a:pPr algn="just"/>
            <a:r>
              <a:rPr lang="en-US" sz="7400" dirty="0"/>
              <a:t>Supports </a:t>
            </a:r>
            <a:r>
              <a:rPr lang="en-US" sz="7400" b="1" dirty="0"/>
              <a:t>many-to-many relationships</a:t>
            </a:r>
            <a:r>
              <a:rPr lang="en-US" sz="7400" dirty="0"/>
              <a:t>.</a:t>
            </a:r>
          </a:p>
          <a:p>
            <a:pPr algn="just"/>
            <a:r>
              <a:rPr lang="en-US" sz="7400" b="1" dirty="0"/>
              <a:t>Advantages:</a:t>
            </a:r>
            <a:endParaRPr lang="en-US" sz="7400" dirty="0"/>
          </a:p>
          <a:p>
            <a:pPr algn="just"/>
            <a:r>
              <a:rPr lang="en-US" sz="7400" dirty="0"/>
              <a:t>More flexible than hierarchical</a:t>
            </a:r>
          </a:p>
          <a:p>
            <a:pPr algn="just"/>
            <a:r>
              <a:rPr lang="en-US" sz="7400" dirty="0"/>
              <a:t>Efficient for complex relationships</a:t>
            </a:r>
          </a:p>
          <a:p>
            <a:pPr algn="just"/>
            <a:r>
              <a:rPr lang="en-US" sz="7400" b="1" dirty="0"/>
              <a:t>Disadvantages:</a:t>
            </a:r>
            <a:endParaRPr lang="en-US" sz="7400" dirty="0"/>
          </a:p>
          <a:p>
            <a:pPr algn="just"/>
            <a:r>
              <a:rPr lang="en-US" sz="7400" dirty="0"/>
              <a:t>Complex structure</a:t>
            </a:r>
          </a:p>
          <a:p>
            <a:pPr algn="just"/>
            <a:r>
              <a:rPr lang="en-US" sz="7400" dirty="0"/>
              <a:t>Difficult to design and maintain</a:t>
            </a:r>
          </a:p>
          <a:p>
            <a:pPr algn="just"/>
            <a:endParaRPr lang="en-US" sz="7400" dirty="0"/>
          </a:p>
          <a:p>
            <a:pPr marL="0" indent="0" algn="just">
              <a:buNone/>
            </a:pPr>
            <a:r>
              <a:rPr lang="en-US" sz="7400" b="1" dirty="0"/>
              <a:t>3. Relational Data Model</a:t>
            </a:r>
          </a:p>
          <a:p>
            <a:pPr algn="just"/>
            <a:r>
              <a:rPr lang="en-US" sz="7400" dirty="0"/>
              <a:t>Data is stored in </a:t>
            </a:r>
            <a:r>
              <a:rPr lang="en-US" sz="7400" b="1" dirty="0"/>
              <a:t>tables (relations)</a:t>
            </a:r>
            <a:r>
              <a:rPr lang="en-US" sz="7400" dirty="0"/>
              <a:t> consisting of rows and columns.</a:t>
            </a:r>
          </a:p>
          <a:p>
            <a:pPr algn="just"/>
            <a:r>
              <a:rPr lang="en-US" sz="7400" dirty="0"/>
              <a:t>Uses </a:t>
            </a:r>
            <a:r>
              <a:rPr lang="en-US" sz="7400" b="1" dirty="0"/>
              <a:t>primary keys and foreign keys</a:t>
            </a:r>
            <a:r>
              <a:rPr lang="en-US" sz="7400" dirty="0"/>
              <a:t>.</a:t>
            </a:r>
          </a:p>
          <a:p>
            <a:pPr algn="just"/>
            <a:r>
              <a:rPr lang="en-US" sz="7400" b="1" dirty="0" smtClean="0"/>
              <a:t>Example</a:t>
            </a:r>
            <a:r>
              <a:rPr lang="en-US" sz="7400" b="1" dirty="0"/>
              <a:t>:</a:t>
            </a:r>
            <a:r>
              <a:rPr lang="en-US" sz="7400" dirty="0"/>
              <a:t/>
            </a:r>
            <a:br>
              <a:rPr lang="en-US" sz="7400" dirty="0"/>
            </a:br>
            <a:r>
              <a:rPr lang="en-US" sz="7400" dirty="0"/>
              <a:t>STUDENT(</a:t>
            </a:r>
            <a:r>
              <a:rPr lang="en-US" sz="7400" dirty="0" err="1"/>
              <a:t>Student_ID</a:t>
            </a:r>
            <a:r>
              <a:rPr lang="en-US" sz="7400" dirty="0"/>
              <a:t>, Name, </a:t>
            </a:r>
            <a:r>
              <a:rPr lang="en-US" sz="7400" dirty="0" err="1"/>
              <a:t>Dept</a:t>
            </a:r>
            <a:r>
              <a:rPr lang="en-US" sz="7400" dirty="0"/>
              <a:t>)</a:t>
            </a:r>
          </a:p>
          <a:p>
            <a:pPr algn="just"/>
            <a:r>
              <a:rPr lang="en-US" sz="7400" b="1" dirty="0"/>
              <a:t>Advantages:</a:t>
            </a:r>
            <a:endParaRPr lang="en-US" sz="7400" dirty="0"/>
          </a:p>
          <a:p>
            <a:pPr algn="just"/>
            <a:r>
              <a:rPr lang="en-US" sz="7400" dirty="0"/>
              <a:t>Simple and flexible</a:t>
            </a:r>
          </a:p>
          <a:p>
            <a:pPr algn="just"/>
            <a:r>
              <a:rPr lang="en-US" sz="7400" dirty="0"/>
              <a:t>Strong data integrity</a:t>
            </a:r>
          </a:p>
          <a:p>
            <a:pPr algn="just"/>
            <a:r>
              <a:rPr lang="en-US" sz="7400" dirty="0"/>
              <a:t>Widely used (MySQL, Oracle, PostgreSQL)</a:t>
            </a:r>
          </a:p>
          <a:p>
            <a:pPr algn="just"/>
            <a:r>
              <a:rPr lang="en-US" sz="7400" b="1" dirty="0"/>
              <a:t>Disadvantages:</a:t>
            </a:r>
            <a:endParaRPr lang="en-US" sz="7400" dirty="0"/>
          </a:p>
          <a:p>
            <a:pPr algn="just"/>
            <a:r>
              <a:rPr lang="en-US" sz="7400" dirty="0"/>
              <a:t>Slower for very large, complex queries</a:t>
            </a:r>
          </a:p>
          <a:p>
            <a:pPr marL="0" indent="0" algn="just">
              <a:buNone/>
            </a:pPr>
            <a:r>
              <a:rPr lang="en-IN" sz="7400" b="1" dirty="0"/>
              <a:t>4. Entity–Relationship (ER) Data Model</a:t>
            </a:r>
          </a:p>
          <a:p>
            <a:pPr algn="just"/>
            <a:r>
              <a:rPr lang="en-IN" sz="7400" dirty="0"/>
              <a:t>Represents data using </a:t>
            </a:r>
            <a:r>
              <a:rPr lang="en-IN" sz="7400" b="1" dirty="0"/>
              <a:t>entities, attributes, and relationships</a:t>
            </a:r>
            <a:r>
              <a:rPr lang="en-IN" sz="7400" dirty="0"/>
              <a:t>.</a:t>
            </a:r>
          </a:p>
          <a:p>
            <a:pPr algn="just"/>
            <a:r>
              <a:rPr lang="en-IN" sz="7400" dirty="0"/>
              <a:t>Used mainly for </a:t>
            </a:r>
            <a:r>
              <a:rPr lang="en-IN" sz="7400" b="1" dirty="0"/>
              <a:t>database design</a:t>
            </a:r>
            <a:r>
              <a:rPr lang="en-IN" sz="7400" dirty="0"/>
              <a:t>.</a:t>
            </a:r>
          </a:p>
          <a:p>
            <a:pPr algn="just"/>
            <a:r>
              <a:rPr lang="en-IN" sz="7400" b="1" dirty="0"/>
              <a:t>Symbols:</a:t>
            </a:r>
            <a:endParaRPr lang="en-IN" sz="7400" dirty="0"/>
          </a:p>
          <a:p>
            <a:pPr algn="just"/>
            <a:r>
              <a:rPr lang="en-IN" sz="7400" dirty="0"/>
              <a:t>Rectangle → Entity</a:t>
            </a:r>
          </a:p>
          <a:p>
            <a:pPr algn="just"/>
            <a:r>
              <a:rPr lang="en-IN" sz="7400" dirty="0"/>
              <a:t>Oval → Attribute</a:t>
            </a:r>
          </a:p>
          <a:p>
            <a:pPr algn="just"/>
            <a:r>
              <a:rPr lang="en-IN" sz="7400" dirty="0"/>
              <a:t>Diamond → Relationship</a:t>
            </a:r>
          </a:p>
          <a:p>
            <a:pPr algn="just"/>
            <a:r>
              <a:rPr lang="en-IN" sz="7400" b="1" dirty="0"/>
              <a:t>Advantages:</a:t>
            </a:r>
            <a:endParaRPr lang="en-IN" sz="7400" dirty="0"/>
          </a:p>
          <a:p>
            <a:pPr algn="just"/>
            <a:r>
              <a:rPr lang="en-IN" sz="7400" dirty="0"/>
              <a:t>Easy to understand</a:t>
            </a:r>
          </a:p>
          <a:p>
            <a:pPr algn="just"/>
            <a:r>
              <a:rPr lang="en-IN" sz="7400" dirty="0"/>
              <a:t>Good for conceptual design</a:t>
            </a:r>
          </a:p>
          <a:p>
            <a:pPr algn="just"/>
            <a:r>
              <a:rPr lang="en-IN" sz="7400" b="1" dirty="0"/>
              <a:t>Disadvantages:</a:t>
            </a:r>
            <a:endParaRPr lang="en-IN" sz="7400" dirty="0"/>
          </a:p>
          <a:p>
            <a:pPr algn="just"/>
            <a:r>
              <a:rPr lang="en-IN" sz="7400" dirty="0"/>
              <a:t>Cannot be directly implemented</a:t>
            </a:r>
          </a:p>
          <a:p>
            <a:pPr algn="just"/>
            <a:endParaRPr lang="en-IN" dirty="0"/>
          </a:p>
        </p:txBody>
      </p:sp>
    </p:spTree>
    <p:extLst>
      <p:ext uri="{BB962C8B-B14F-4D97-AF65-F5344CB8AC3E}">
        <p14:creationId xmlns:p14="http://schemas.microsoft.com/office/powerpoint/2010/main" val="403127566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70489"/>
          </a:xfrm>
        </p:spPr>
        <p:txBody>
          <a:bodyPr>
            <a:normAutofit fontScale="90000"/>
          </a:bodyPr>
          <a:lstStyle/>
          <a:p>
            <a:r>
              <a:rPr lang="en-US" dirty="0" smtClean="0"/>
              <a:t>Contd..</a:t>
            </a:r>
            <a:endParaRPr lang="en-IN" dirty="0"/>
          </a:p>
        </p:txBody>
      </p:sp>
      <p:sp>
        <p:nvSpPr>
          <p:cNvPr id="3" name="Content Placeholder 2"/>
          <p:cNvSpPr>
            <a:spLocks noGrp="1"/>
          </p:cNvSpPr>
          <p:nvPr>
            <p:ph idx="1"/>
          </p:nvPr>
        </p:nvSpPr>
        <p:spPr>
          <a:xfrm>
            <a:off x="457200" y="1149927"/>
            <a:ext cx="8229600" cy="5611091"/>
          </a:xfrm>
        </p:spPr>
        <p:txBody>
          <a:bodyPr>
            <a:normAutofit fontScale="77500" lnSpcReduction="20000"/>
          </a:bodyPr>
          <a:lstStyle/>
          <a:p>
            <a:pPr marL="0" indent="0">
              <a:buNone/>
            </a:pPr>
            <a:r>
              <a:rPr lang="en-IN" b="1" dirty="0">
                <a:solidFill>
                  <a:srgbClr val="FF0000"/>
                </a:solidFill>
              </a:rPr>
              <a:t>5. Object-Oriented Data Model</a:t>
            </a:r>
          </a:p>
          <a:p>
            <a:r>
              <a:rPr lang="en-IN" dirty="0"/>
              <a:t>Data is stored as </a:t>
            </a:r>
            <a:r>
              <a:rPr lang="en-IN" b="1" dirty="0"/>
              <a:t>objects</a:t>
            </a:r>
            <a:r>
              <a:rPr lang="en-IN" dirty="0"/>
              <a:t> (like OOP concepts).</a:t>
            </a:r>
          </a:p>
          <a:p>
            <a:r>
              <a:rPr lang="en-IN" dirty="0"/>
              <a:t>Supports </a:t>
            </a:r>
            <a:r>
              <a:rPr lang="en-IN" b="1" dirty="0"/>
              <a:t>inheritance, encapsulation, and polymorphism</a:t>
            </a:r>
            <a:r>
              <a:rPr lang="en-IN" dirty="0"/>
              <a:t>.</a:t>
            </a:r>
          </a:p>
          <a:p>
            <a:r>
              <a:rPr lang="en-IN" b="1" dirty="0"/>
              <a:t>Advantages:</a:t>
            </a:r>
            <a:endParaRPr lang="en-IN" dirty="0"/>
          </a:p>
          <a:p>
            <a:r>
              <a:rPr lang="en-IN" dirty="0"/>
              <a:t>Handles complex data (multimedia, CAD)</a:t>
            </a:r>
          </a:p>
          <a:p>
            <a:r>
              <a:rPr lang="en-IN" dirty="0"/>
              <a:t>Reusability</a:t>
            </a:r>
          </a:p>
          <a:p>
            <a:r>
              <a:rPr lang="en-IN" b="1" dirty="0"/>
              <a:t>Disadvantages:</a:t>
            </a:r>
            <a:endParaRPr lang="en-IN" dirty="0"/>
          </a:p>
          <a:p>
            <a:r>
              <a:rPr lang="en-IN" dirty="0"/>
              <a:t>Complex</a:t>
            </a:r>
          </a:p>
          <a:p>
            <a:r>
              <a:rPr lang="en-IN" dirty="0"/>
              <a:t>Limited commercial </a:t>
            </a:r>
            <a:r>
              <a:rPr lang="en-IN" dirty="0" smtClean="0"/>
              <a:t>use</a:t>
            </a:r>
          </a:p>
          <a:p>
            <a:pPr marL="0" indent="0">
              <a:buNone/>
            </a:pPr>
            <a:r>
              <a:rPr lang="en-US" b="1" dirty="0">
                <a:solidFill>
                  <a:srgbClr val="FF0000"/>
                </a:solidFill>
              </a:rPr>
              <a:t>6. Object-Relational Data Model</a:t>
            </a:r>
          </a:p>
          <a:p>
            <a:r>
              <a:rPr lang="en-US" dirty="0"/>
              <a:t>Combination of </a:t>
            </a:r>
            <a:r>
              <a:rPr lang="en-US" b="1" dirty="0"/>
              <a:t>relational + object-oriented</a:t>
            </a:r>
            <a:r>
              <a:rPr lang="en-US" dirty="0"/>
              <a:t> concepts.</a:t>
            </a:r>
          </a:p>
          <a:p>
            <a:r>
              <a:rPr lang="en-US" dirty="0"/>
              <a:t>Supports complex data types.</a:t>
            </a:r>
          </a:p>
          <a:p>
            <a:r>
              <a:rPr lang="en-US" b="1" dirty="0"/>
              <a:t>Example:</a:t>
            </a:r>
            <a:r>
              <a:rPr lang="en-US" dirty="0"/>
              <a:t> PostgreSQL</a:t>
            </a:r>
          </a:p>
          <a:p>
            <a:endParaRPr lang="en-IN" dirty="0"/>
          </a:p>
          <a:p>
            <a:endParaRPr lang="en-IN" dirty="0"/>
          </a:p>
        </p:txBody>
      </p:sp>
    </p:spTree>
    <p:extLst>
      <p:ext uri="{BB962C8B-B14F-4D97-AF65-F5344CB8AC3E}">
        <p14:creationId xmlns:p14="http://schemas.microsoft.com/office/powerpoint/2010/main" val="118340999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8229600" cy="584344"/>
          </a:xfrm>
        </p:spPr>
        <p:txBody>
          <a:bodyPr>
            <a:normAutofit fontScale="90000"/>
          </a:bodyPr>
          <a:lstStyle/>
          <a:p>
            <a:r>
              <a:rPr lang="en-US" i="1" dirty="0" smtClean="0">
                <a:solidFill>
                  <a:srgbClr val="C00000"/>
                </a:solidFill>
              </a:rPr>
              <a:t>Difference</a:t>
            </a:r>
            <a:endParaRPr lang="en-IN" i="1" dirty="0">
              <a:solidFill>
                <a:srgbClr val="C00000"/>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972443564"/>
              </p:ext>
            </p:extLst>
          </p:nvPr>
        </p:nvGraphicFramePr>
        <p:xfrm>
          <a:off x="665019" y="738762"/>
          <a:ext cx="8229600" cy="5468076"/>
        </p:xfrm>
        <a:graphic>
          <a:graphicData uri="http://schemas.openxmlformats.org/drawingml/2006/table">
            <a:tbl>
              <a:tblPr/>
              <a:tblGrid>
                <a:gridCol w="2057400">
                  <a:extLst>
                    <a:ext uri="{9D8B030D-6E8A-4147-A177-3AD203B41FA5}">
                      <a16:colId xmlns:a16="http://schemas.microsoft.com/office/drawing/2014/main" val="2008725355"/>
                    </a:ext>
                  </a:extLst>
                </a:gridCol>
                <a:gridCol w="2057400">
                  <a:extLst>
                    <a:ext uri="{9D8B030D-6E8A-4147-A177-3AD203B41FA5}">
                      <a16:colId xmlns:a16="http://schemas.microsoft.com/office/drawing/2014/main" val="606137417"/>
                    </a:ext>
                  </a:extLst>
                </a:gridCol>
                <a:gridCol w="2057400">
                  <a:extLst>
                    <a:ext uri="{9D8B030D-6E8A-4147-A177-3AD203B41FA5}">
                      <a16:colId xmlns:a16="http://schemas.microsoft.com/office/drawing/2014/main" val="649123344"/>
                    </a:ext>
                  </a:extLst>
                </a:gridCol>
                <a:gridCol w="2057400">
                  <a:extLst>
                    <a:ext uri="{9D8B030D-6E8A-4147-A177-3AD203B41FA5}">
                      <a16:colId xmlns:a16="http://schemas.microsoft.com/office/drawing/2014/main" val="2388404698"/>
                    </a:ext>
                  </a:extLst>
                </a:gridCol>
              </a:tblGrid>
              <a:tr h="1234728">
                <a:tc>
                  <a:txBody>
                    <a:bodyPr/>
                    <a:lstStyle/>
                    <a:p>
                      <a:r>
                        <a:rPr lang="en-IN" sz="2000" b="1" u="sng" dirty="0">
                          <a:solidFill>
                            <a:srgbClr val="FF0000"/>
                          </a:solidFill>
                        </a:rPr>
                        <a:t>Data Model</a:t>
                      </a:r>
                    </a:p>
                  </a:txBody>
                  <a:tcPr anchor="ctr">
                    <a:lnL>
                      <a:noFill/>
                    </a:lnL>
                    <a:lnR>
                      <a:noFill/>
                    </a:lnR>
                    <a:lnT>
                      <a:noFill/>
                    </a:lnT>
                    <a:lnB>
                      <a:noFill/>
                    </a:lnB>
                  </a:tcPr>
                </a:tc>
                <a:tc>
                  <a:txBody>
                    <a:bodyPr/>
                    <a:lstStyle/>
                    <a:p>
                      <a:r>
                        <a:rPr lang="en-IN" sz="2000" b="1" u="sng" dirty="0">
                          <a:solidFill>
                            <a:srgbClr val="FF0000"/>
                          </a:solidFill>
                        </a:rPr>
                        <a:t>Structure</a:t>
                      </a:r>
                    </a:p>
                  </a:txBody>
                  <a:tcPr anchor="ctr">
                    <a:lnL>
                      <a:noFill/>
                    </a:lnL>
                    <a:lnR>
                      <a:noFill/>
                    </a:lnR>
                    <a:lnT>
                      <a:noFill/>
                    </a:lnT>
                    <a:lnB>
                      <a:noFill/>
                    </a:lnB>
                  </a:tcPr>
                </a:tc>
                <a:tc>
                  <a:txBody>
                    <a:bodyPr/>
                    <a:lstStyle/>
                    <a:p>
                      <a:r>
                        <a:rPr lang="en-IN" sz="2000" b="1" u="sng" dirty="0">
                          <a:solidFill>
                            <a:srgbClr val="FF0000"/>
                          </a:solidFill>
                        </a:rPr>
                        <a:t>Relationship Support</a:t>
                      </a:r>
                    </a:p>
                  </a:txBody>
                  <a:tcPr anchor="ctr">
                    <a:lnL>
                      <a:noFill/>
                    </a:lnL>
                    <a:lnR>
                      <a:noFill/>
                    </a:lnR>
                    <a:lnT>
                      <a:noFill/>
                    </a:lnT>
                    <a:lnB>
                      <a:noFill/>
                    </a:lnB>
                  </a:tcPr>
                </a:tc>
                <a:tc>
                  <a:txBody>
                    <a:bodyPr/>
                    <a:lstStyle/>
                    <a:p>
                      <a:r>
                        <a:rPr lang="en-IN" sz="2000" b="1" u="sng" dirty="0">
                          <a:solidFill>
                            <a:srgbClr val="FF0000"/>
                          </a:solidFill>
                        </a:rPr>
                        <a:t>Usage</a:t>
                      </a:r>
                    </a:p>
                  </a:txBody>
                  <a:tcPr anchor="ctr">
                    <a:lnL>
                      <a:noFill/>
                    </a:lnL>
                    <a:lnR>
                      <a:noFill/>
                    </a:lnR>
                    <a:lnT>
                      <a:noFill/>
                    </a:lnT>
                    <a:lnB>
                      <a:noFill/>
                    </a:lnB>
                  </a:tcPr>
                </a:tc>
                <a:extLst>
                  <a:ext uri="{0D108BD9-81ED-4DB2-BD59-A6C34878D82A}">
                    <a16:rowId xmlns:a16="http://schemas.microsoft.com/office/drawing/2014/main" val="1088117905"/>
                  </a:ext>
                </a:extLst>
              </a:tr>
              <a:tr h="705558">
                <a:tc>
                  <a:txBody>
                    <a:bodyPr/>
                    <a:lstStyle/>
                    <a:p>
                      <a:r>
                        <a:rPr lang="en-IN" sz="2000" b="1" dirty="0">
                          <a:solidFill>
                            <a:srgbClr val="00B050"/>
                          </a:solidFill>
                        </a:rPr>
                        <a:t>Hierarchical</a:t>
                      </a:r>
                    </a:p>
                  </a:txBody>
                  <a:tcPr anchor="ctr">
                    <a:lnL>
                      <a:noFill/>
                    </a:lnL>
                    <a:lnR>
                      <a:noFill/>
                    </a:lnR>
                    <a:lnT>
                      <a:noFill/>
                    </a:lnT>
                    <a:lnB>
                      <a:noFill/>
                    </a:lnB>
                  </a:tcPr>
                </a:tc>
                <a:tc>
                  <a:txBody>
                    <a:bodyPr/>
                    <a:lstStyle/>
                    <a:p>
                      <a:r>
                        <a:rPr lang="en-IN" sz="2000" b="1" dirty="0">
                          <a:solidFill>
                            <a:srgbClr val="00B050"/>
                          </a:solidFill>
                        </a:rPr>
                        <a:t>Tree</a:t>
                      </a:r>
                    </a:p>
                  </a:txBody>
                  <a:tcPr anchor="ctr">
                    <a:lnL>
                      <a:noFill/>
                    </a:lnL>
                    <a:lnR>
                      <a:noFill/>
                    </a:lnR>
                    <a:lnT>
                      <a:noFill/>
                    </a:lnT>
                    <a:lnB>
                      <a:noFill/>
                    </a:lnB>
                  </a:tcPr>
                </a:tc>
                <a:tc>
                  <a:txBody>
                    <a:bodyPr/>
                    <a:lstStyle/>
                    <a:p>
                      <a:r>
                        <a:rPr lang="en-IN" sz="2000" b="1" dirty="0">
                          <a:solidFill>
                            <a:srgbClr val="00B050"/>
                          </a:solidFill>
                        </a:rPr>
                        <a:t>One-to-many</a:t>
                      </a:r>
                    </a:p>
                  </a:txBody>
                  <a:tcPr anchor="ctr">
                    <a:lnL>
                      <a:noFill/>
                    </a:lnL>
                    <a:lnR>
                      <a:noFill/>
                    </a:lnR>
                    <a:lnT>
                      <a:noFill/>
                    </a:lnT>
                    <a:lnB>
                      <a:noFill/>
                    </a:lnB>
                  </a:tcPr>
                </a:tc>
                <a:tc>
                  <a:txBody>
                    <a:bodyPr/>
                    <a:lstStyle/>
                    <a:p>
                      <a:r>
                        <a:rPr lang="en-IN" sz="2000" b="1" dirty="0">
                          <a:solidFill>
                            <a:srgbClr val="00B050"/>
                          </a:solidFill>
                        </a:rPr>
                        <a:t>Legacy systems</a:t>
                      </a:r>
                    </a:p>
                  </a:txBody>
                  <a:tcPr anchor="ctr">
                    <a:lnL>
                      <a:noFill/>
                    </a:lnL>
                    <a:lnR>
                      <a:noFill/>
                    </a:lnR>
                    <a:lnT>
                      <a:noFill/>
                    </a:lnT>
                    <a:lnB>
                      <a:noFill/>
                    </a:lnB>
                  </a:tcPr>
                </a:tc>
                <a:extLst>
                  <a:ext uri="{0D108BD9-81ED-4DB2-BD59-A6C34878D82A}">
                    <a16:rowId xmlns:a16="http://schemas.microsoft.com/office/drawing/2014/main" val="828244719"/>
                  </a:ext>
                </a:extLst>
              </a:tr>
              <a:tr h="705558">
                <a:tc>
                  <a:txBody>
                    <a:bodyPr/>
                    <a:lstStyle/>
                    <a:p>
                      <a:r>
                        <a:rPr lang="en-IN" sz="2000" b="1" dirty="0"/>
                        <a:t>Network</a:t>
                      </a:r>
                    </a:p>
                  </a:txBody>
                  <a:tcPr anchor="ctr">
                    <a:lnL>
                      <a:noFill/>
                    </a:lnL>
                    <a:lnR>
                      <a:noFill/>
                    </a:lnR>
                    <a:lnT>
                      <a:noFill/>
                    </a:lnT>
                    <a:lnB>
                      <a:noFill/>
                    </a:lnB>
                  </a:tcPr>
                </a:tc>
                <a:tc>
                  <a:txBody>
                    <a:bodyPr/>
                    <a:lstStyle/>
                    <a:p>
                      <a:r>
                        <a:rPr lang="en-IN" sz="2000"/>
                        <a:t>Graph</a:t>
                      </a:r>
                    </a:p>
                  </a:txBody>
                  <a:tcPr anchor="ctr">
                    <a:lnL>
                      <a:noFill/>
                    </a:lnL>
                    <a:lnR>
                      <a:noFill/>
                    </a:lnR>
                    <a:lnT>
                      <a:noFill/>
                    </a:lnT>
                    <a:lnB>
                      <a:noFill/>
                    </a:lnB>
                  </a:tcPr>
                </a:tc>
                <a:tc>
                  <a:txBody>
                    <a:bodyPr/>
                    <a:lstStyle/>
                    <a:p>
                      <a:r>
                        <a:rPr lang="en-IN" sz="2000" dirty="0"/>
                        <a:t>Many-to-many</a:t>
                      </a:r>
                    </a:p>
                  </a:txBody>
                  <a:tcPr anchor="ctr">
                    <a:lnL>
                      <a:noFill/>
                    </a:lnL>
                    <a:lnR>
                      <a:noFill/>
                    </a:lnR>
                    <a:lnT>
                      <a:noFill/>
                    </a:lnT>
                    <a:lnB>
                      <a:noFill/>
                    </a:lnB>
                  </a:tcPr>
                </a:tc>
                <a:tc>
                  <a:txBody>
                    <a:bodyPr/>
                    <a:lstStyle/>
                    <a:p>
                      <a:r>
                        <a:rPr lang="en-IN" sz="2000"/>
                        <a:t>Telecom systems</a:t>
                      </a:r>
                    </a:p>
                  </a:txBody>
                  <a:tcPr anchor="ctr">
                    <a:lnL>
                      <a:noFill/>
                    </a:lnL>
                    <a:lnR>
                      <a:noFill/>
                    </a:lnR>
                    <a:lnT>
                      <a:noFill/>
                    </a:lnT>
                    <a:lnB>
                      <a:noFill/>
                    </a:lnB>
                  </a:tcPr>
                </a:tc>
                <a:extLst>
                  <a:ext uri="{0D108BD9-81ED-4DB2-BD59-A6C34878D82A}">
                    <a16:rowId xmlns:a16="http://schemas.microsoft.com/office/drawing/2014/main" val="2236584244"/>
                  </a:ext>
                </a:extLst>
              </a:tr>
              <a:tr h="705558">
                <a:tc>
                  <a:txBody>
                    <a:bodyPr/>
                    <a:lstStyle/>
                    <a:p>
                      <a:r>
                        <a:rPr lang="en-IN" sz="2000" b="1" dirty="0">
                          <a:solidFill>
                            <a:srgbClr val="00B050"/>
                          </a:solidFill>
                        </a:rPr>
                        <a:t>Relational</a:t>
                      </a:r>
                    </a:p>
                  </a:txBody>
                  <a:tcPr anchor="ctr">
                    <a:lnL>
                      <a:noFill/>
                    </a:lnL>
                    <a:lnR>
                      <a:noFill/>
                    </a:lnR>
                    <a:lnT>
                      <a:noFill/>
                    </a:lnT>
                    <a:lnB>
                      <a:noFill/>
                    </a:lnB>
                  </a:tcPr>
                </a:tc>
                <a:tc>
                  <a:txBody>
                    <a:bodyPr/>
                    <a:lstStyle/>
                    <a:p>
                      <a:r>
                        <a:rPr lang="en-IN" sz="2000" b="1" dirty="0">
                          <a:solidFill>
                            <a:srgbClr val="00B050"/>
                          </a:solidFill>
                        </a:rPr>
                        <a:t>Tables</a:t>
                      </a:r>
                    </a:p>
                  </a:txBody>
                  <a:tcPr anchor="ctr">
                    <a:lnL>
                      <a:noFill/>
                    </a:lnL>
                    <a:lnR>
                      <a:noFill/>
                    </a:lnR>
                    <a:lnT>
                      <a:noFill/>
                    </a:lnT>
                    <a:lnB>
                      <a:noFill/>
                    </a:lnB>
                  </a:tcPr>
                </a:tc>
                <a:tc>
                  <a:txBody>
                    <a:bodyPr/>
                    <a:lstStyle/>
                    <a:p>
                      <a:r>
                        <a:rPr lang="en-IN" sz="2000" b="1" dirty="0">
                          <a:solidFill>
                            <a:srgbClr val="00B050"/>
                          </a:solidFill>
                        </a:rPr>
                        <a:t>All types</a:t>
                      </a:r>
                    </a:p>
                  </a:txBody>
                  <a:tcPr anchor="ctr">
                    <a:lnL>
                      <a:noFill/>
                    </a:lnL>
                    <a:lnR>
                      <a:noFill/>
                    </a:lnR>
                    <a:lnT>
                      <a:noFill/>
                    </a:lnT>
                    <a:lnB>
                      <a:noFill/>
                    </a:lnB>
                  </a:tcPr>
                </a:tc>
                <a:tc>
                  <a:txBody>
                    <a:bodyPr/>
                    <a:lstStyle/>
                    <a:p>
                      <a:r>
                        <a:rPr lang="en-IN" sz="2000" b="1" dirty="0">
                          <a:solidFill>
                            <a:srgbClr val="00B050"/>
                          </a:solidFill>
                        </a:rPr>
                        <a:t>Most databases</a:t>
                      </a:r>
                    </a:p>
                  </a:txBody>
                  <a:tcPr anchor="ctr">
                    <a:lnL>
                      <a:noFill/>
                    </a:lnL>
                    <a:lnR>
                      <a:noFill/>
                    </a:lnR>
                    <a:lnT>
                      <a:noFill/>
                    </a:lnT>
                    <a:lnB>
                      <a:noFill/>
                    </a:lnB>
                  </a:tcPr>
                </a:tc>
                <a:extLst>
                  <a:ext uri="{0D108BD9-81ED-4DB2-BD59-A6C34878D82A}">
                    <a16:rowId xmlns:a16="http://schemas.microsoft.com/office/drawing/2014/main" val="1226446132"/>
                  </a:ext>
                </a:extLst>
              </a:tr>
              <a:tr h="705558">
                <a:tc>
                  <a:txBody>
                    <a:bodyPr/>
                    <a:lstStyle/>
                    <a:p>
                      <a:r>
                        <a:rPr lang="en-IN" sz="2000" b="1" i="1" dirty="0"/>
                        <a:t>ER Model</a:t>
                      </a:r>
                    </a:p>
                  </a:txBody>
                  <a:tcPr anchor="ctr">
                    <a:lnL>
                      <a:noFill/>
                    </a:lnL>
                    <a:lnR>
                      <a:noFill/>
                    </a:lnR>
                    <a:lnT>
                      <a:noFill/>
                    </a:lnT>
                    <a:lnB>
                      <a:noFill/>
                    </a:lnB>
                  </a:tcPr>
                </a:tc>
                <a:tc>
                  <a:txBody>
                    <a:bodyPr/>
                    <a:lstStyle/>
                    <a:p>
                      <a:r>
                        <a:rPr lang="en-IN" sz="2000" dirty="0"/>
                        <a:t>Diagrammatic</a:t>
                      </a:r>
                    </a:p>
                  </a:txBody>
                  <a:tcPr anchor="ctr">
                    <a:lnL>
                      <a:noFill/>
                    </a:lnL>
                    <a:lnR>
                      <a:noFill/>
                    </a:lnR>
                    <a:lnT>
                      <a:noFill/>
                    </a:lnT>
                    <a:lnB>
                      <a:noFill/>
                    </a:lnB>
                  </a:tcPr>
                </a:tc>
                <a:tc>
                  <a:txBody>
                    <a:bodyPr/>
                    <a:lstStyle/>
                    <a:p>
                      <a:r>
                        <a:rPr lang="en-IN" sz="2000"/>
                        <a:t>All types</a:t>
                      </a:r>
                    </a:p>
                  </a:txBody>
                  <a:tcPr anchor="ctr">
                    <a:lnL>
                      <a:noFill/>
                    </a:lnL>
                    <a:lnR>
                      <a:noFill/>
                    </a:lnR>
                    <a:lnT>
                      <a:noFill/>
                    </a:lnT>
                    <a:lnB>
                      <a:noFill/>
                    </a:lnB>
                  </a:tcPr>
                </a:tc>
                <a:tc>
                  <a:txBody>
                    <a:bodyPr/>
                    <a:lstStyle/>
                    <a:p>
                      <a:r>
                        <a:rPr lang="en-IN" sz="2000" dirty="0"/>
                        <a:t>Design phase</a:t>
                      </a:r>
                    </a:p>
                  </a:txBody>
                  <a:tcPr anchor="ctr">
                    <a:lnL>
                      <a:noFill/>
                    </a:lnL>
                    <a:lnR>
                      <a:noFill/>
                    </a:lnR>
                    <a:lnT>
                      <a:noFill/>
                    </a:lnT>
                    <a:lnB>
                      <a:noFill/>
                    </a:lnB>
                  </a:tcPr>
                </a:tc>
                <a:extLst>
                  <a:ext uri="{0D108BD9-81ED-4DB2-BD59-A6C34878D82A}">
                    <a16:rowId xmlns:a16="http://schemas.microsoft.com/office/drawing/2014/main" val="2583493200"/>
                  </a:ext>
                </a:extLst>
              </a:tr>
              <a:tr h="705558">
                <a:tc>
                  <a:txBody>
                    <a:bodyPr/>
                    <a:lstStyle/>
                    <a:p>
                      <a:r>
                        <a:rPr lang="en-IN" sz="2000" b="1" dirty="0">
                          <a:solidFill>
                            <a:srgbClr val="7030A0"/>
                          </a:solidFill>
                        </a:rPr>
                        <a:t>Object-Oriented</a:t>
                      </a:r>
                    </a:p>
                  </a:txBody>
                  <a:tcPr anchor="ctr">
                    <a:lnL>
                      <a:noFill/>
                    </a:lnL>
                    <a:lnR>
                      <a:noFill/>
                    </a:lnR>
                    <a:lnT>
                      <a:noFill/>
                    </a:lnT>
                    <a:lnB>
                      <a:noFill/>
                    </a:lnB>
                  </a:tcPr>
                </a:tc>
                <a:tc>
                  <a:txBody>
                    <a:bodyPr/>
                    <a:lstStyle/>
                    <a:p>
                      <a:r>
                        <a:rPr lang="en-IN" sz="2000" b="1" dirty="0">
                          <a:solidFill>
                            <a:srgbClr val="7030A0"/>
                          </a:solidFill>
                        </a:rPr>
                        <a:t>Objects</a:t>
                      </a:r>
                    </a:p>
                  </a:txBody>
                  <a:tcPr anchor="ctr">
                    <a:lnL>
                      <a:noFill/>
                    </a:lnL>
                    <a:lnR>
                      <a:noFill/>
                    </a:lnR>
                    <a:lnT>
                      <a:noFill/>
                    </a:lnT>
                    <a:lnB>
                      <a:noFill/>
                    </a:lnB>
                  </a:tcPr>
                </a:tc>
                <a:tc>
                  <a:txBody>
                    <a:bodyPr/>
                    <a:lstStyle/>
                    <a:p>
                      <a:r>
                        <a:rPr lang="en-IN" sz="2000" b="1" dirty="0">
                          <a:solidFill>
                            <a:srgbClr val="7030A0"/>
                          </a:solidFill>
                        </a:rPr>
                        <a:t>Complex</a:t>
                      </a:r>
                    </a:p>
                  </a:txBody>
                  <a:tcPr anchor="ctr">
                    <a:lnL>
                      <a:noFill/>
                    </a:lnL>
                    <a:lnR>
                      <a:noFill/>
                    </a:lnR>
                    <a:lnT>
                      <a:noFill/>
                    </a:lnT>
                    <a:lnB>
                      <a:noFill/>
                    </a:lnB>
                  </a:tcPr>
                </a:tc>
                <a:tc>
                  <a:txBody>
                    <a:bodyPr/>
                    <a:lstStyle/>
                    <a:p>
                      <a:r>
                        <a:rPr lang="en-IN" sz="2000" b="1" dirty="0">
                          <a:solidFill>
                            <a:srgbClr val="7030A0"/>
                          </a:solidFill>
                        </a:rPr>
                        <a:t>Multimedia</a:t>
                      </a:r>
                    </a:p>
                  </a:txBody>
                  <a:tcPr anchor="ctr">
                    <a:lnL>
                      <a:noFill/>
                    </a:lnL>
                    <a:lnR>
                      <a:noFill/>
                    </a:lnR>
                    <a:lnT>
                      <a:noFill/>
                    </a:lnT>
                    <a:lnB>
                      <a:noFill/>
                    </a:lnB>
                  </a:tcPr>
                </a:tc>
                <a:extLst>
                  <a:ext uri="{0D108BD9-81ED-4DB2-BD59-A6C34878D82A}">
                    <a16:rowId xmlns:a16="http://schemas.microsoft.com/office/drawing/2014/main" val="2299580712"/>
                  </a:ext>
                </a:extLst>
              </a:tr>
              <a:tr h="705558">
                <a:tc>
                  <a:txBody>
                    <a:bodyPr/>
                    <a:lstStyle/>
                    <a:p>
                      <a:r>
                        <a:rPr lang="en-IN" sz="2000" b="1" dirty="0">
                          <a:solidFill>
                            <a:schemeClr val="accent2"/>
                          </a:solidFill>
                        </a:rPr>
                        <a:t>Object-Relational</a:t>
                      </a:r>
                    </a:p>
                  </a:txBody>
                  <a:tcPr anchor="ctr">
                    <a:lnL>
                      <a:noFill/>
                    </a:lnL>
                    <a:lnR>
                      <a:noFill/>
                    </a:lnR>
                    <a:lnT>
                      <a:noFill/>
                    </a:lnT>
                    <a:lnB>
                      <a:noFill/>
                    </a:lnB>
                  </a:tcPr>
                </a:tc>
                <a:tc>
                  <a:txBody>
                    <a:bodyPr/>
                    <a:lstStyle/>
                    <a:p>
                      <a:r>
                        <a:rPr lang="en-IN" sz="2000" dirty="0"/>
                        <a:t>Tables + Objects</a:t>
                      </a:r>
                    </a:p>
                  </a:txBody>
                  <a:tcPr anchor="ctr">
                    <a:lnL>
                      <a:noFill/>
                    </a:lnL>
                    <a:lnR>
                      <a:noFill/>
                    </a:lnR>
                    <a:lnT>
                      <a:noFill/>
                    </a:lnT>
                    <a:lnB>
                      <a:noFill/>
                    </a:lnB>
                  </a:tcPr>
                </a:tc>
                <a:tc>
                  <a:txBody>
                    <a:bodyPr/>
                    <a:lstStyle/>
                    <a:p>
                      <a:r>
                        <a:rPr lang="en-IN" sz="2000" dirty="0"/>
                        <a:t>Complex</a:t>
                      </a:r>
                    </a:p>
                  </a:txBody>
                  <a:tcPr anchor="ctr">
                    <a:lnL>
                      <a:noFill/>
                    </a:lnL>
                    <a:lnR>
                      <a:noFill/>
                    </a:lnR>
                    <a:lnT>
                      <a:noFill/>
                    </a:lnT>
                    <a:lnB>
                      <a:noFill/>
                    </a:lnB>
                  </a:tcPr>
                </a:tc>
                <a:tc>
                  <a:txBody>
                    <a:bodyPr/>
                    <a:lstStyle/>
                    <a:p>
                      <a:r>
                        <a:rPr lang="en-IN" sz="2000" dirty="0"/>
                        <a:t>Advanced DBMS</a:t>
                      </a:r>
                    </a:p>
                  </a:txBody>
                  <a:tcPr anchor="ctr">
                    <a:lnL>
                      <a:noFill/>
                    </a:lnL>
                    <a:lnR>
                      <a:noFill/>
                    </a:lnR>
                    <a:lnT>
                      <a:noFill/>
                    </a:lnT>
                    <a:lnB>
                      <a:noFill/>
                    </a:lnB>
                  </a:tcPr>
                </a:tc>
                <a:extLst>
                  <a:ext uri="{0D108BD9-81ED-4DB2-BD59-A6C34878D82A}">
                    <a16:rowId xmlns:a16="http://schemas.microsoft.com/office/drawing/2014/main" val="2185286184"/>
                  </a:ext>
                </a:extLst>
              </a:tr>
            </a:tbl>
          </a:graphicData>
        </a:graphic>
      </p:graphicFrame>
    </p:spTree>
    <p:extLst>
      <p:ext uri="{BB962C8B-B14F-4D97-AF65-F5344CB8AC3E}">
        <p14:creationId xmlns:p14="http://schemas.microsoft.com/office/powerpoint/2010/main" val="40175903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42780"/>
          </a:xfrm>
        </p:spPr>
        <p:txBody>
          <a:bodyPr>
            <a:normAutofit fontScale="90000"/>
          </a:bodyPr>
          <a:lstStyle/>
          <a:p>
            <a:r>
              <a:rPr lang="en-US" b="1" dirty="0" smtClean="0"/>
              <a:t/>
            </a:r>
            <a:br>
              <a:rPr lang="en-US" b="1" dirty="0" smtClean="0"/>
            </a:br>
            <a:r>
              <a:rPr lang="en-US" b="1" i="1" dirty="0" smtClean="0">
                <a:solidFill>
                  <a:schemeClr val="accent2"/>
                </a:solidFill>
              </a:rPr>
              <a:t>Parallel </a:t>
            </a:r>
            <a:r>
              <a:rPr lang="en-US" b="1" i="1" dirty="0">
                <a:solidFill>
                  <a:schemeClr val="accent2"/>
                </a:solidFill>
              </a:rPr>
              <a:t>Database</a:t>
            </a:r>
            <a:r>
              <a:rPr lang="en-US" b="1" dirty="0"/>
              <a:t/>
            </a:r>
            <a:br>
              <a:rPr lang="en-US" b="1" dirty="0"/>
            </a:br>
            <a:endParaRPr lang="en-IN" dirty="0"/>
          </a:p>
        </p:txBody>
      </p:sp>
      <p:sp>
        <p:nvSpPr>
          <p:cNvPr id="3" name="Content Placeholder 2"/>
          <p:cNvSpPr>
            <a:spLocks noGrp="1"/>
          </p:cNvSpPr>
          <p:nvPr>
            <p:ph idx="1"/>
          </p:nvPr>
        </p:nvSpPr>
        <p:spPr>
          <a:xfrm>
            <a:off x="457200" y="817419"/>
            <a:ext cx="8229600" cy="5652654"/>
          </a:xfrm>
        </p:spPr>
        <p:txBody>
          <a:bodyPr>
            <a:normAutofit fontScale="92500" lnSpcReduction="20000"/>
          </a:bodyPr>
          <a:lstStyle/>
          <a:p>
            <a:pPr marL="0" indent="0" algn="just">
              <a:buNone/>
            </a:pPr>
            <a:r>
              <a:rPr lang="en-US" dirty="0" smtClean="0"/>
              <a:t>A </a:t>
            </a:r>
            <a:r>
              <a:rPr lang="en-US" b="1" dirty="0"/>
              <a:t>parallel database</a:t>
            </a:r>
            <a:r>
              <a:rPr lang="en-US" dirty="0"/>
              <a:t> is a database system that uses </a:t>
            </a:r>
            <a:r>
              <a:rPr lang="en-US" b="1" dirty="0"/>
              <a:t>multiple processors and disks</a:t>
            </a:r>
            <a:r>
              <a:rPr lang="en-US" dirty="0"/>
              <a:t> to perform database operations </a:t>
            </a:r>
            <a:r>
              <a:rPr lang="en-US" b="1" dirty="0"/>
              <a:t>simultaneously</a:t>
            </a:r>
            <a:r>
              <a:rPr lang="en-US" dirty="0"/>
              <a:t>, thereby improving </a:t>
            </a:r>
            <a:r>
              <a:rPr lang="en-US" b="1" dirty="0"/>
              <a:t>performance, scalability, and throughput</a:t>
            </a:r>
            <a:r>
              <a:rPr lang="en-US" dirty="0"/>
              <a:t>. Large database tasks such as queries, indexing, and data loading are divided into smaller subtasks and executed in parallel</a:t>
            </a:r>
            <a:r>
              <a:rPr lang="en-US" dirty="0" smtClean="0"/>
              <a:t>.</a:t>
            </a:r>
          </a:p>
          <a:p>
            <a:pPr algn="just"/>
            <a:endParaRPr lang="en-US" b="1" dirty="0" smtClean="0"/>
          </a:p>
          <a:p>
            <a:pPr marL="0" indent="0" algn="just">
              <a:buNone/>
            </a:pPr>
            <a:r>
              <a:rPr lang="en-US" b="1" dirty="0" smtClean="0">
                <a:solidFill>
                  <a:srgbClr val="FF0000"/>
                </a:solidFill>
              </a:rPr>
              <a:t>Why </a:t>
            </a:r>
            <a:r>
              <a:rPr lang="en-US" b="1" dirty="0">
                <a:solidFill>
                  <a:srgbClr val="FF0000"/>
                </a:solidFill>
              </a:rPr>
              <a:t>Parallel Databases Are Needed</a:t>
            </a:r>
          </a:p>
          <a:p>
            <a:pPr algn="just"/>
            <a:r>
              <a:rPr lang="en-US" dirty="0"/>
              <a:t>Huge volume of data (Big Data)</a:t>
            </a:r>
          </a:p>
          <a:p>
            <a:pPr algn="just"/>
            <a:r>
              <a:rPr lang="en-US" dirty="0"/>
              <a:t>Faster query processing</a:t>
            </a:r>
          </a:p>
          <a:p>
            <a:pPr algn="just"/>
            <a:r>
              <a:rPr lang="en-US" dirty="0"/>
              <a:t>High transaction throughput</a:t>
            </a:r>
          </a:p>
          <a:p>
            <a:pPr algn="just"/>
            <a:r>
              <a:rPr lang="en-US" dirty="0"/>
              <a:t>Support for decision support systems (DSS)</a:t>
            </a:r>
          </a:p>
          <a:p>
            <a:endParaRPr lang="en-US" dirty="0"/>
          </a:p>
          <a:p>
            <a:endParaRPr lang="en-IN" dirty="0"/>
          </a:p>
        </p:txBody>
      </p:sp>
    </p:spTree>
    <p:extLst>
      <p:ext uri="{BB962C8B-B14F-4D97-AF65-F5344CB8AC3E}">
        <p14:creationId xmlns:p14="http://schemas.microsoft.com/office/powerpoint/2010/main" val="128500494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28926"/>
          </a:xfrm>
        </p:spPr>
        <p:txBody>
          <a:bodyPr>
            <a:normAutofit fontScale="90000"/>
          </a:bodyPr>
          <a:lstStyle/>
          <a:p>
            <a:r>
              <a:rPr lang="en-US" dirty="0" smtClean="0"/>
              <a:t>Contd.</a:t>
            </a:r>
            <a:endParaRPr lang="en-IN" dirty="0"/>
          </a:p>
        </p:txBody>
      </p:sp>
      <p:sp>
        <p:nvSpPr>
          <p:cNvPr id="3" name="Content Placeholder 2"/>
          <p:cNvSpPr>
            <a:spLocks noGrp="1"/>
          </p:cNvSpPr>
          <p:nvPr>
            <p:ph idx="1"/>
          </p:nvPr>
        </p:nvSpPr>
        <p:spPr>
          <a:xfrm>
            <a:off x="457200" y="803564"/>
            <a:ext cx="8229600" cy="5874327"/>
          </a:xfrm>
        </p:spPr>
        <p:txBody>
          <a:bodyPr numCol="2">
            <a:normAutofit fontScale="62500" lnSpcReduction="20000"/>
          </a:bodyPr>
          <a:lstStyle/>
          <a:p>
            <a:pPr marL="0" indent="0">
              <a:buNone/>
            </a:pPr>
            <a:r>
              <a:rPr lang="en-US" b="1" dirty="0">
                <a:solidFill>
                  <a:srgbClr val="FF0000"/>
                </a:solidFill>
              </a:rPr>
              <a:t>Architecture of Parallel </a:t>
            </a:r>
            <a:r>
              <a:rPr lang="en-US" b="1" dirty="0" smtClean="0">
                <a:solidFill>
                  <a:srgbClr val="FF0000"/>
                </a:solidFill>
              </a:rPr>
              <a:t>Databases?</a:t>
            </a:r>
            <a:endParaRPr lang="en-US" b="1" dirty="0">
              <a:solidFill>
                <a:srgbClr val="FF0000"/>
              </a:solidFill>
            </a:endParaRPr>
          </a:p>
          <a:p>
            <a:pPr marL="0" indent="0">
              <a:buNone/>
            </a:pPr>
            <a:r>
              <a:rPr lang="en-US" b="1" dirty="0"/>
              <a:t>1. Shared Memory Architecture</a:t>
            </a:r>
          </a:p>
          <a:p>
            <a:r>
              <a:rPr lang="en-US" dirty="0"/>
              <a:t>All processors share a </a:t>
            </a:r>
            <a:r>
              <a:rPr lang="en-US" b="1" dirty="0"/>
              <a:t>common main memory and disk</a:t>
            </a:r>
            <a:r>
              <a:rPr lang="en-US" dirty="0"/>
              <a:t>.</a:t>
            </a:r>
          </a:p>
          <a:p>
            <a:r>
              <a:rPr lang="en-US" dirty="0"/>
              <a:t>Communication is fast.</a:t>
            </a:r>
          </a:p>
          <a:p>
            <a:r>
              <a:rPr lang="en-US" b="1" dirty="0">
                <a:solidFill>
                  <a:schemeClr val="accent2"/>
                </a:solidFill>
              </a:rPr>
              <a:t>Advantages:</a:t>
            </a:r>
            <a:endParaRPr lang="en-US" dirty="0">
              <a:solidFill>
                <a:schemeClr val="accent2"/>
              </a:solidFill>
            </a:endParaRPr>
          </a:p>
          <a:p>
            <a:r>
              <a:rPr lang="en-US" dirty="0"/>
              <a:t>Simple design</a:t>
            </a:r>
          </a:p>
          <a:p>
            <a:r>
              <a:rPr lang="en-US" dirty="0"/>
              <a:t>Low communication overhead</a:t>
            </a:r>
          </a:p>
          <a:p>
            <a:r>
              <a:rPr lang="en-US" b="1" dirty="0">
                <a:solidFill>
                  <a:schemeClr val="accent2"/>
                </a:solidFill>
              </a:rPr>
              <a:t>Disadvantages:</a:t>
            </a:r>
            <a:endParaRPr lang="en-US" dirty="0">
              <a:solidFill>
                <a:schemeClr val="accent2"/>
              </a:solidFill>
            </a:endParaRPr>
          </a:p>
          <a:p>
            <a:r>
              <a:rPr lang="en-US" dirty="0"/>
              <a:t>Scalability is limited</a:t>
            </a:r>
          </a:p>
          <a:p>
            <a:r>
              <a:rPr lang="en-US" b="1" dirty="0"/>
              <a:t>Example:</a:t>
            </a:r>
            <a:r>
              <a:rPr lang="en-US" dirty="0"/>
              <a:t> SMP </a:t>
            </a:r>
            <a:r>
              <a:rPr lang="en-US" dirty="0" smtClean="0"/>
              <a:t>systems</a:t>
            </a:r>
          </a:p>
          <a:p>
            <a:pPr marL="0" indent="0">
              <a:buNone/>
            </a:pPr>
            <a:r>
              <a:rPr lang="en-US" b="1" dirty="0"/>
              <a:t>2. Shared Disk Architecture</a:t>
            </a:r>
          </a:p>
          <a:p>
            <a:r>
              <a:rPr lang="en-US" dirty="0"/>
              <a:t>Each processor has its </a:t>
            </a:r>
            <a:r>
              <a:rPr lang="en-US" b="1" dirty="0"/>
              <a:t>own memory</a:t>
            </a:r>
            <a:r>
              <a:rPr lang="en-US" dirty="0"/>
              <a:t>, but disks are shared.</a:t>
            </a:r>
          </a:p>
          <a:p>
            <a:r>
              <a:rPr lang="en-US" dirty="0"/>
              <a:t>Processors communicate through interconnection networks.</a:t>
            </a:r>
          </a:p>
          <a:p>
            <a:r>
              <a:rPr lang="en-US" b="1" dirty="0"/>
              <a:t>Advantages:</a:t>
            </a:r>
            <a:endParaRPr lang="en-US" dirty="0"/>
          </a:p>
          <a:p>
            <a:r>
              <a:rPr lang="en-US" dirty="0"/>
              <a:t>High availability</a:t>
            </a:r>
          </a:p>
          <a:p>
            <a:r>
              <a:rPr lang="en-US" dirty="0"/>
              <a:t>Easy load balancing</a:t>
            </a:r>
          </a:p>
          <a:p>
            <a:r>
              <a:rPr lang="en-US" b="1" dirty="0"/>
              <a:t>Disadvantages:</a:t>
            </a:r>
            <a:endParaRPr lang="en-US" dirty="0"/>
          </a:p>
          <a:p>
            <a:r>
              <a:rPr lang="en-US" dirty="0"/>
              <a:t>Disk </a:t>
            </a:r>
            <a:r>
              <a:rPr lang="en-US" dirty="0" smtClean="0"/>
              <a:t>contention</a:t>
            </a:r>
          </a:p>
          <a:p>
            <a:pPr marL="0" indent="0">
              <a:buNone/>
            </a:pPr>
            <a:r>
              <a:rPr lang="en-US" b="1" dirty="0"/>
              <a:t>Applications</a:t>
            </a:r>
          </a:p>
          <a:p>
            <a:r>
              <a:rPr lang="en-US" dirty="0"/>
              <a:t>Data warehouses</a:t>
            </a:r>
          </a:p>
          <a:p>
            <a:r>
              <a:rPr lang="en-US" dirty="0"/>
              <a:t>OLAP </a:t>
            </a:r>
            <a:r>
              <a:rPr lang="en-US" dirty="0" smtClean="0">
                <a:solidFill>
                  <a:srgbClr val="FF0000"/>
                </a:solidFill>
              </a:rPr>
              <a:t>systems(</a:t>
            </a:r>
            <a:r>
              <a:rPr lang="en-US" dirty="0">
                <a:solidFill>
                  <a:srgbClr val="FF0000"/>
                </a:solidFill>
              </a:rPr>
              <a:t>OLAP (</a:t>
            </a:r>
            <a:r>
              <a:rPr lang="en-US" dirty="0">
                <a:solidFill>
                  <a:srgbClr val="FF0000"/>
                </a:solidFill>
                <a:hlinkClick r:id="rId2"/>
              </a:rPr>
              <a:t>Online Analytical Processing</a:t>
            </a:r>
            <a:r>
              <a:rPr lang="en-US" dirty="0">
                <a:solidFill>
                  <a:srgbClr val="FF0000"/>
                </a:solidFill>
              </a:rPr>
              <a:t>) is </a:t>
            </a:r>
            <a:r>
              <a:rPr lang="en-US" dirty="0">
                <a:solidFill>
                  <a:srgbClr val="FF0000"/>
                </a:solidFill>
              </a:rPr>
              <a:t>a technology for fast, multidimensional analysis of large datasets</a:t>
            </a:r>
            <a:r>
              <a:rPr lang="en-US" dirty="0">
                <a:solidFill>
                  <a:srgbClr val="FF0000"/>
                </a:solidFill>
              </a:rPr>
              <a:t>, enabling business users to quickly query, report, and visualize complex business data</a:t>
            </a:r>
            <a:r>
              <a:rPr lang="en-US" dirty="0" smtClean="0">
                <a:solidFill>
                  <a:srgbClr val="FF0000"/>
                </a:solidFill>
              </a:rPr>
              <a:t>)</a:t>
            </a:r>
            <a:endParaRPr lang="en-US" dirty="0">
              <a:solidFill>
                <a:srgbClr val="FF0000"/>
              </a:solidFill>
            </a:endParaRPr>
          </a:p>
          <a:p>
            <a:r>
              <a:rPr lang="en-US" dirty="0"/>
              <a:t>Scientific databases</a:t>
            </a:r>
          </a:p>
          <a:p>
            <a:r>
              <a:rPr lang="en-US" dirty="0"/>
              <a:t>Real-time analytics</a:t>
            </a:r>
          </a:p>
          <a:p>
            <a:pPr marL="0" indent="0">
              <a:buNone/>
            </a:pPr>
            <a:r>
              <a:rPr lang="en-US" b="1" dirty="0"/>
              <a:t>Disadvantages</a:t>
            </a:r>
          </a:p>
          <a:p>
            <a:r>
              <a:rPr lang="en-US" dirty="0"/>
              <a:t>High cost</a:t>
            </a:r>
          </a:p>
          <a:p>
            <a:r>
              <a:rPr lang="en-US" dirty="0"/>
              <a:t>Complex design and maintenance</a:t>
            </a:r>
          </a:p>
          <a:p>
            <a:r>
              <a:rPr lang="en-US" dirty="0"/>
              <a:t>Synchronization overhead</a:t>
            </a:r>
          </a:p>
          <a:p>
            <a:endParaRPr lang="en-US" dirty="0"/>
          </a:p>
          <a:p>
            <a:endParaRPr lang="en-US" dirty="0"/>
          </a:p>
          <a:p>
            <a:endParaRPr lang="en-IN" dirty="0"/>
          </a:p>
        </p:txBody>
      </p:sp>
    </p:spTree>
    <p:extLst>
      <p:ext uri="{BB962C8B-B14F-4D97-AF65-F5344CB8AC3E}">
        <p14:creationId xmlns:p14="http://schemas.microsoft.com/office/powerpoint/2010/main" val="8418288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48145" y="1787237"/>
            <a:ext cx="7550728" cy="4738254"/>
          </a:xfrm>
        </p:spPr>
      </p:pic>
    </p:spTree>
    <p:extLst>
      <p:ext uri="{BB962C8B-B14F-4D97-AF65-F5344CB8AC3E}">
        <p14:creationId xmlns:p14="http://schemas.microsoft.com/office/powerpoint/2010/main" val="382227363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Data Warehousing</a:t>
            </a:r>
            <a:br>
              <a:rPr lang="en-US" b="1" dirty="0"/>
            </a:br>
            <a:endParaRPr lang="en-IN" dirty="0"/>
          </a:p>
        </p:txBody>
      </p:sp>
      <p:sp>
        <p:nvSpPr>
          <p:cNvPr id="3" name="Content Placeholder 2"/>
          <p:cNvSpPr>
            <a:spLocks noGrp="1"/>
          </p:cNvSpPr>
          <p:nvPr>
            <p:ph idx="1"/>
          </p:nvPr>
        </p:nvSpPr>
        <p:spPr>
          <a:xfrm>
            <a:off x="457200" y="846138"/>
            <a:ext cx="8229600" cy="5777345"/>
          </a:xfrm>
        </p:spPr>
        <p:txBody>
          <a:bodyPr numCol="2">
            <a:normAutofit fontScale="70000" lnSpcReduction="20000"/>
          </a:bodyPr>
          <a:lstStyle/>
          <a:p>
            <a:pPr marL="0" indent="0">
              <a:buNone/>
            </a:pPr>
            <a:r>
              <a:rPr lang="en-US" b="1" dirty="0" smtClean="0">
                <a:solidFill>
                  <a:srgbClr val="FF0000"/>
                </a:solidFill>
              </a:rPr>
              <a:t>Definition</a:t>
            </a:r>
            <a:endParaRPr lang="en-US" b="1" dirty="0">
              <a:solidFill>
                <a:srgbClr val="FF0000"/>
              </a:solidFill>
            </a:endParaRPr>
          </a:p>
          <a:p>
            <a:r>
              <a:rPr lang="en-US" dirty="0"/>
              <a:t>A </a:t>
            </a:r>
            <a:r>
              <a:rPr lang="en-US" b="1" dirty="0"/>
              <a:t>data warehouse</a:t>
            </a:r>
            <a:r>
              <a:rPr lang="en-US" dirty="0"/>
              <a:t> is a </a:t>
            </a:r>
            <a:r>
              <a:rPr lang="en-US" b="1" dirty="0"/>
              <a:t>centralized repository</a:t>
            </a:r>
            <a:r>
              <a:rPr lang="en-US" dirty="0"/>
              <a:t> that stores large volumes of </a:t>
            </a:r>
            <a:r>
              <a:rPr lang="en-US" b="1" dirty="0"/>
              <a:t>historical, integrated, and summarized data</a:t>
            </a:r>
            <a:r>
              <a:rPr lang="en-US" dirty="0"/>
              <a:t> from multiple sources to support </a:t>
            </a:r>
            <a:r>
              <a:rPr lang="en-US" b="1" dirty="0"/>
              <a:t>decision-making and analysis</a:t>
            </a:r>
            <a:r>
              <a:rPr lang="en-US" dirty="0"/>
              <a:t>.</a:t>
            </a:r>
          </a:p>
          <a:p>
            <a:pPr marL="0" indent="0">
              <a:buNone/>
            </a:pPr>
            <a:r>
              <a:rPr lang="en-US" b="1" dirty="0">
                <a:solidFill>
                  <a:srgbClr val="FF0000"/>
                </a:solidFill>
              </a:rPr>
              <a:t>Characteristics of a Data Warehouse</a:t>
            </a:r>
          </a:p>
          <a:p>
            <a:r>
              <a:rPr lang="en-US" b="1" dirty="0"/>
              <a:t>Subject-Oriented</a:t>
            </a:r>
            <a:r>
              <a:rPr lang="en-US" dirty="0"/>
              <a:t> – Organized around key subjects (sales, customers, products)</a:t>
            </a:r>
          </a:p>
          <a:p>
            <a:r>
              <a:rPr lang="en-US" b="1" dirty="0"/>
              <a:t>Integrated</a:t>
            </a:r>
            <a:r>
              <a:rPr lang="en-US" dirty="0"/>
              <a:t> – Data from multiple sources is cleaned and unified</a:t>
            </a:r>
          </a:p>
          <a:p>
            <a:r>
              <a:rPr lang="en-US" b="1" dirty="0"/>
              <a:t>Time-Variant</a:t>
            </a:r>
            <a:r>
              <a:rPr lang="en-US" dirty="0"/>
              <a:t> – Stores historical data over time</a:t>
            </a:r>
          </a:p>
          <a:p>
            <a:r>
              <a:rPr lang="en-US" b="1" dirty="0"/>
              <a:t>Non-Volatile</a:t>
            </a:r>
            <a:r>
              <a:rPr lang="en-US" dirty="0"/>
              <a:t> – Data is stable and not frequently updated</a:t>
            </a:r>
          </a:p>
          <a:p>
            <a:pPr marL="0" indent="0">
              <a:buNone/>
            </a:pPr>
            <a:r>
              <a:rPr lang="en-IN" b="1" dirty="0">
                <a:solidFill>
                  <a:srgbClr val="FF0000"/>
                </a:solidFill>
              </a:rPr>
              <a:t>Components of Data Warehousing</a:t>
            </a:r>
          </a:p>
          <a:p>
            <a:r>
              <a:rPr lang="en-IN" b="1" dirty="0"/>
              <a:t>Data Sources</a:t>
            </a:r>
            <a:r>
              <a:rPr lang="en-IN" dirty="0"/>
              <a:t> (OLTP databases, files, sensors)</a:t>
            </a:r>
          </a:p>
          <a:p>
            <a:r>
              <a:rPr lang="en-IN" b="1" dirty="0"/>
              <a:t>ETL Process</a:t>
            </a:r>
            <a:r>
              <a:rPr lang="en-IN" dirty="0"/>
              <a:t> (Extract, Transform, Load)</a:t>
            </a:r>
          </a:p>
          <a:p>
            <a:r>
              <a:rPr lang="en-IN" b="1" dirty="0"/>
              <a:t>Data Warehouse Database</a:t>
            </a:r>
            <a:endParaRPr lang="en-IN" dirty="0"/>
          </a:p>
          <a:p>
            <a:r>
              <a:rPr lang="en-IN" b="1" dirty="0"/>
              <a:t>Metadata Repository</a:t>
            </a:r>
            <a:endParaRPr lang="en-IN" dirty="0"/>
          </a:p>
          <a:p>
            <a:r>
              <a:rPr lang="en-IN" b="1" dirty="0"/>
              <a:t>OLAP Tools</a:t>
            </a:r>
            <a:endParaRPr lang="en-IN" dirty="0"/>
          </a:p>
          <a:p>
            <a:r>
              <a:rPr lang="en-IN" b="1" dirty="0"/>
              <a:t>Front-End Tools</a:t>
            </a:r>
            <a:r>
              <a:rPr lang="en-IN" dirty="0"/>
              <a:t> (Reporting, dashboards)</a:t>
            </a:r>
          </a:p>
          <a:p>
            <a:endParaRPr lang="en-IN" dirty="0"/>
          </a:p>
        </p:txBody>
      </p:sp>
    </p:spTree>
    <p:extLst>
      <p:ext uri="{BB962C8B-B14F-4D97-AF65-F5344CB8AC3E}">
        <p14:creationId xmlns:p14="http://schemas.microsoft.com/office/powerpoint/2010/main" val="310664404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pPr marL="0" indent="0">
              <a:buNone/>
            </a:pPr>
            <a:r>
              <a:rPr lang="en-US" b="1" dirty="0">
                <a:solidFill>
                  <a:srgbClr val="FF0000"/>
                </a:solidFill>
              </a:rPr>
              <a:t>Schemas in Data Warehouse</a:t>
            </a:r>
          </a:p>
          <a:p>
            <a:r>
              <a:rPr lang="en-US" b="1" dirty="0"/>
              <a:t>Star Schema</a:t>
            </a:r>
            <a:r>
              <a:rPr lang="en-US" dirty="0"/>
              <a:t> – One fact table connected to dimension tables</a:t>
            </a:r>
          </a:p>
          <a:p>
            <a:r>
              <a:rPr lang="en-US" b="1" dirty="0"/>
              <a:t>Snowflake Schema</a:t>
            </a:r>
            <a:r>
              <a:rPr lang="en-US" dirty="0"/>
              <a:t> – Normalized dimension tables</a:t>
            </a:r>
          </a:p>
          <a:p>
            <a:r>
              <a:rPr lang="en-US" b="1" dirty="0"/>
              <a:t>Fact Constellation</a:t>
            </a:r>
            <a:r>
              <a:rPr lang="en-US" dirty="0"/>
              <a:t> – Multiple fact tables</a:t>
            </a:r>
          </a:p>
          <a:p>
            <a:pPr marL="0" indent="0">
              <a:buNone/>
            </a:pPr>
            <a:r>
              <a:rPr lang="en-US" b="1" dirty="0">
                <a:solidFill>
                  <a:srgbClr val="FF0000"/>
                </a:solidFill>
              </a:rPr>
              <a:t>Advantages</a:t>
            </a:r>
          </a:p>
          <a:p>
            <a:r>
              <a:rPr lang="en-US" dirty="0"/>
              <a:t>Improved decision-making</a:t>
            </a:r>
          </a:p>
          <a:p>
            <a:r>
              <a:rPr lang="en-US" dirty="0"/>
              <a:t>Faster query performance</a:t>
            </a:r>
          </a:p>
          <a:p>
            <a:r>
              <a:rPr lang="en-US" dirty="0"/>
              <a:t>Historical trend analysis</a:t>
            </a:r>
          </a:p>
          <a:p>
            <a:endParaRPr lang="en-IN" dirty="0"/>
          </a:p>
        </p:txBody>
      </p:sp>
    </p:spTree>
    <p:extLst>
      <p:ext uri="{BB962C8B-B14F-4D97-AF65-F5344CB8AC3E}">
        <p14:creationId xmlns:p14="http://schemas.microsoft.com/office/powerpoint/2010/main" val="207198863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Data Mining</a:t>
            </a:r>
            <a:br>
              <a:rPr lang="en-US" b="1" dirty="0"/>
            </a:br>
            <a:endParaRPr lang="en-IN" dirty="0"/>
          </a:p>
        </p:txBody>
      </p:sp>
      <p:sp>
        <p:nvSpPr>
          <p:cNvPr id="3" name="Content Placeholder 2"/>
          <p:cNvSpPr>
            <a:spLocks noGrp="1"/>
          </p:cNvSpPr>
          <p:nvPr>
            <p:ph idx="1"/>
          </p:nvPr>
        </p:nvSpPr>
        <p:spPr>
          <a:xfrm>
            <a:off x="457200" y="817419"/>
            <a:ext cx="8229600" cy="6040582"/>
          </a:xfrm>
        </p:spPr>
        <p:txBody>
          <a:bodyPr numCol="2">
            <a:normAutofit fontScale="70000" lnSpcReduction="20000"/>
          </a:bodyPr>
          <a:lstStyle/>
          <a:p>
            <a:pPr marL="0" indent="0">
              <a:buNone/>
            </a:pPr>
            <a:r>
              <a:rPr lang="en-US" b="1" dirty="0" smtClean="0"/>
              <a:t>Definition:</a:t>
            </a:r>
            <a:endParaRPr lang="en-US" b="1" dirty="0"/>
          </a:p>
          <a:p>
            <a:r>
              <a:rPr lang="en-US" b="1" dirty="0"/>
              <a:t>Data mining</a:t>
            </a:r>
            <a:r>
              <a:rPr lang="en-US" dirty="0"/>
              <a:t> is the process of discovering </a:t>
            </a:r>
            <a:r>
              <a:rPr lang="en-US" b="1" dirty="0"/>
              <a:t>hidden patterns, relationships, and knowledge</a:t>
            </a:r>
            <a:r>
              <a:rPr lang="en-US" dirty="0"/>
              <a:t> from large datasets using </a:t>
            </a:r>
            <a:r>
              <a:rPr lang="en-US" b="1" dirty="0"/>
              <a:t>statistical, machine learning, and AI techniques</a:t>
            </a:r>
            <a:r>
              <a:rPr lang="en-US" dirty="0" smtClean="0"/>
              <a:t>.</a:t>
            </a:r>
          </a:p>
          <a:p>
            <a:pPr marL="0" indent="0">
              <a:buNone/>
            </a:pPr>
            <a:r>
              <a:rPr lang="en-IN" b="1" dirty="0"/>
              <a:t>Data Mining Tasks</a:t>
            </a:r>
          </a:p>
          <a:p>
            <a:r>
              <a:rPr lang="en-IN" b="1" dirty="0"/>
              <a:t>Classification</a:t>
            </a:r>
            <a:r>
              <a:rPr lang="en-IN" dirty="0"/>
              <a:t> – Assigning data to predefined classes</a:t>
            </a:r>
          </a:p>
          <a:p>
            <a:r>
              <a:rPr lang="en-IN" b="1" dirty="0"/>
              <a:t>Clustering</a:t>
            </a:r>
            <a:r>
              <a:rPr lang="en-IN" dirty="0"/>
              <a:t> – Grouping similar data</a:t>
            </a:r>
          </a:p>
          <a:p>
            <a:r>
              <a:rPr lang="en-IN" b="1" dirty="0"/>
              <a:t>Association Rule Mining</a:t>
            </a:r>
            <a:r>
              <a:rPr lang="en-IN" dirty="0"/>
              <a:t> – Finding relationships (e.g., market basket analysis)</a:t>
            </a:r>
          </a:p>
          <a:p>
            <a:r>
              <a:rPr lang="en-IN" b="1" dirty="0"/>
              <a:t>Regression</a:t>
            </a:r>
            <a:r>
              <a:rPr lang="en-IN" dirty="0"/>
              <a:t> – Predicting numeric values</a:t>
            </a:r>
          </a:p>
          <a:p>
            <a:r>
              <a:rPr lang="en-IN" b="1" dirty="0"/>
              <a:t>Anomaly Detection</a:t>
            </a:r>
            <a:r>
              <a:rPr lang="en-IN" dirty="0"/>
              <a:t> – Identifying unusual patterns</a:t>
            </a:r>
          </a:p>
          <a:p>
            <a:endParaRPr lang="en-US" dirty="0"/>
          </a:p>
          <a:p>
            <a:pPr marL="0" indent="0">
              <a:buNone/>
            </a:pPr>
            <a:r>
              <a:rPr lang="en-US" b="1" dirty="0"/>
              <a:t>Steps in Data Mining Process</a:t>
            </a:r>
          </a:p>
          <a:p>
            <a:r>
              <a:rPr lang="en-US" dirty="0"/>
              <a:t>Data cleaning</a:t>
            </a:r>
          </a:p>
          <a:p>
            <a:r>
              <a:rPr lang="en-US" dirty="0"/>
              <a:t>Data integration</a:t>
            </a:r>
          </a:p>
          <a:p>
            <a:r>
              <a:rPr lang="en-US" dirty="0"/>
              <a:t>Data selection</a:t>
            </a:r>
          </a:p>
          <a:p>
            <a:r>
              <a:rPr lang="en-US" dirty="0"/>
              <a:t>Data transformation</a:t>
            </a:r>
          </a:p>
          <a:p>
            <a:r>
              <a:rPr lang="en-US" dirty="0"/>
              <a:t>Data mining</a:t>
            </a:r>
          </a:p>
          <a:p>
            <a:r>
              <a:rPr lang="en-US" dirty="0"/>
              <a:t>Pattern evaluation</a:t>
            </a:r>
          </a:p>
          <a:p>
            <a:r>
              <a:rPr lang="en-US" dirty="0"/>
              <a:t>Knowledge presentation</a:t>
            </a:r>
          </a:p>
          <a:p>
            <a:pPr marL="0" indent="0">
              <a:buNone/>
            </a:pPr>
            <a:r>
              <a:rPr lang="en-US" b="1" dirty="0">
                <a:solidFill>
                  <a:srgbClr val="FF0000"/>
                </a:solidFill>
              </a:rPr>
              <a:t>Applications of Data Mining</a:t>
            </a:r>
          </a:p>
          <a:p>
            <a:r>
              <a:rPr lang="en-US" dirty="0"/>
              <a:t>Healthcare (disease prediction)</a:t>
            </a:r>
          </a:p>
          <a:p>
            <a:r>
              <a:rPr lang="en-US" dirty="0"/>
              <a:t>Banking (fraud detection)</a:t>
            </a:r>
          </a:p>
          <a:p>
            <a:r>
              <a:rPr lang="en-US" dirty="0"/>
              <a:t>Retail (customer behavior analysis)</a:t>
            </a:r>
          </a:p>
          <a:p>
            <a:r>
              <a:rPr lang="en-US" dirty="0"/>
              <a:t>Education (student performance prediction)</a:t>
            </a:r>
          </a:p>
          <a:p>
            <a:endParaRPr lang="en-IN" dirty="0"/>
          </a:p>
        </p:txBody>
      </p:sp>
    </p:spTree>
    <p:extLst>
      <p:ext uri="{BB962C8B-B14F-4D97-AF65-F5344CB8AC3E}">
        <p14:creationId xmlns:p14="http://schemas.microsoft.com/office/powerpoint/2010/main" val="422516217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Difference</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4898869"/>
              </p:ext>
            </p:extLst>
          </p:nvPr>
        </p:nvGraphicFramePr>
        <p:xfrm>
          <a:off x="457200" y="1537857"/>
          <a:ext cx="8229600" cy="4488870"/>
        </p:xfrm>
        <a:graphic>
          <a:graphicData uri="http://schemas.openxmlformats.org/drawingml/2006/table">
            <a:tbl>
              <a:tblPr/>
              <a:tblGrid>
                <a:gridCol w="2743200">
                  <a:extLst>
                    <a:ext uri="{9D8B030D-6E8A-4147-A177-3AD203B41FA5}">
                      <a16:colId xmlns:a16="http://schemas.microsoft.com/office/drawing/2014/main" val="3250594643"/>
                    </a:ext>
                  </a:extLst>
                </a:gridCol>
                <a:gridCol w="2743200">
                  <a:extLst>
                    <a:ext uri="{9D8B030D-6E8A-4147-A177-3AD203B41FA5}">
                      <a16:colId xmlns:a16="http://schemas.microsoft.com/office/drawing/2014/main" val="1185367218"/>
                    </a:ext>
                  </a:extLst>
                </a:gridCol>
                <a:gridCol w="2743200">
                  <a:extLst>
                    <a:ext uri="{9D8B030D-6E8A-4147-A177-3AD203B41FA5}">
                      <a16:colId xmlns:a16="http://schemas.microsoft.com/office/drawing/2014/main" val="762607805"/>
                    </a:ext>
                  </a:extLst>
                </a:gridCol>
              </a:tblGrid>
              <a:tr h="897774">
                <a:tc>
                  <a:txBody>
                    <a:bodyPr/>
                    <a:lstStyle/>
                    <a:p>
                      <a:r>
                        <a:rPr lang="en-IN" b="1" dirty="0">
                          <a:solidFill>
                            <a:srgbClr val="FF0000"/>
                          </a:solidFill>
                        </a:rPr>
                        <a:t>Aspect</a:t>
                      </a:r>
                    </a:p>
                  </a:txBody>
                  <a:tcPr anchor="ctr">
                    <a:lnL>
                      <a:noFill/>
                    </a:lnL>
                    <a:lnR>
                      <a:noFill/>
                    </a:lnR>
                    <a:lnT>
                      <a:noFill/>
                    </a:lnT>
                    <a:lnB>
                      <a:noFill/>
                    </a:lnB>
                  </a:tcPr>
                </a:tc>
                <a:tc>
                  <a:txBody>
                    <a:bodyPr/>
                    <a:lstStyle/>
                    <a:p>
                      <a:r>
                        <a:rPr lang="en-IN" b="1" dirty="0">
                          <a:solidFill>
                            <a:srgbClr val="FF0000"/>
                          </a:solidFill>
                        </a:rPr>
                        <a:t>Data Warehousing</a:t>
                      </a:r>
                    </a:p>
                  </a:txBody>
                  <a:tcPr anchor="ctr">
                    <a:lnL>
                      <a:noFill/>
                    </a:lnL>
                    <a:lnR>
                      <a:noFill/>
                    </a:lnR>
                    <a:lnT>
                      <a:noFill/>
                    </a:lnT>
                    <a:lnB>
                      <a:noFill/>
                    </a:lnB>
                  </a:tcPr>
                </a:tc>
                <a:tc>
                  <a:txBody>
                    <a:bodyPr/>
                    <a:lstStyle/>
                    <a:p>
                      <a:r>
                        <a:rPr lang="en-IN" b="1" dirty="0">
                          <a:solidFill>
                            <a:srgbClr val="FF0000"/>
                          </a:solidFill>
                        </a:rPr>
                        <a:t>Data Mining</a:t>
                      </a:r>
                    </a:p>
                  </a:txBody>
                  <a:tcPr anchor="ctr">
                    <a:lnL>
                      <a:noFill/>
                    </a:lnL>
                    <a:lnR>
                      <a:noFill/>
                    </a:lnR>
                    <a:lnT>
                      <a:noFill/>
                    </a:lnT>
                    <a:lnB>
                      <a:noFill/>
                    </a:lnB>
                  </a:tcPr>
                </a:tc>
                <a:extLst>
                  <a:ext uri="{0D108BD9-81ED-4DB2-BD59-A6C34878D82A}">
                    <a16:rowId xmlns:a16="http://schemas.microsoft.com/office/drawing/2014/main" val="2420055437"/>
                  </a:ext>
                </a:extLst>
              </a:tr>
              <a:tr h="897774">
                <a:tc>
                  <a:txBody>
                    <a:bodyPr/>
                    <a:lstStyle/>
                    <a:p>
                      <a:r>
                        <a:rPr lang="en-IN"/>
                        <a:t>Purpose</a:t>
                      </a:r>
                    </a:p>
                  </a:txBody>
                  <a:tcPr anchor="ctr">
                    <a:lnL>
                      <a:noFill/>
                    </a:lnL>
                    <a:lnR>
                      <a:noFill/>
                    </a:lnR>
                    <a:lnT>
                      <a:noFill/>
                    </a:lnT>
                    <a:lnB>
                      <a:noFill/>
                    </a:lnB>
                  </a:tcPr>
                </a:tc>
                <a:tc>
                  <a:txBody>
                    <a:bodyPr/>
                    <a:lstStyle/>
                    <a:p>
                      <a:r>
                        <a:rPr lang="en-IN" dirty="0"/>
                        <a:t>Store and manage data</a:t>
                      </a:r>
                    </a:p>
                  </a:txBody>
                  <a:tcPr anchor="ctr">
                    <a:lnL>
                      <a:noFill/>
                    </a:lnL>
                    <a:lnR>
                      <a:noFill/>
                    </a:lnR>
                    <a:lnT>
                      <a:noFill/>
                    </a:lnT>
                    <a:lnB>
                      <a:noFill/>
                    </a:lnB>
                  </a:tcPr>
                </a:tc>
                <a:tc>
                  <a:txBody>
                    <a:bodyPr/>
                    <a:lstStyle/>
                    <a:p>
                      <a:r>
                        <a:rPr lang="en-IN"/>
                        <a:t>Discover patterns</a:t>
                      </a:r>
                    </a:p>
                  </a:txBody>
                  <a:tcPr anchor="ctr">
                    <a:lnL>
                      <a:noFill/>
                    </a:lnL>
                    <a:lnR>
                      <a:noFill/>
                    </a:lnR>
                    <a:lnT>
                      <a:noFill/>
                    </a:lnT>
                    <a:lnB>
                      <a:noFill/>
                    </a:lnB>
                  </a:tcPr>
                </a:tc>
                <a:extLst>
                  <a:ext uri="{0D108BD9-81ED-4DB2-BD59-A6C34878D82A}">
                    <a16:rowId xmlns:a16="http://schemas.microsoft.com/office/drawing/2014/main" val="2792776049"/>
                  </a:ext>
                </a:extLst>
              </a:tr>
              <a:tr h="897774">
                <a:tc>
                  <a:txBody>
                    <a:bodyPr/>
                    <a:lstStyle/>
                    <a:p>
                      <a:r>
                        <a:rPr lang="en-IN"/>
                        <a:t>Data Type</a:t>
                      </a:r>
                    </a:p>
                  </a:txBody>
                  <a:tcPr anchor="ctr">
                    <a:lnL>
                      <a:noFill/>
                    </a:lnL>
                    <a:lnR>
                      <a:noFill/>
                    </a:lnR>
                    <a:lnT>
                      <a:noFill/>
                    </a:lnT>
                    <a:lnB>
                      <a:noFill/>
                    </a:lnB>
                  </a:tcPr>
                </a:tc>
                <a:tc>
                  <a:txBody>
                    <a:bodyPr/>
                    <a:lstStyle/>
                    <a:p>
                      <a:r>
                        <a:rPr lang="en-IN"/>
                        <a:t>Historical, structured</a:t>
                      </a:r>
                    </a:p>
                  </a:txBody>
                  <a:tcPr anchor="ctr">
                    <a:lnL>
                      <a:noFill/>
                    </a:lnL>
                    <a:lnR>
                      <a:noFill/>
                    </a:lnR>
                    <a:lnT>
                      <a:noFill/>
                    </a:lnT>
                    <a:lnB>
                      <a:noFill/>
                    </a:lnB>
                  </a:tcPr>
                </a:tc>
                <a:tc>
                  <a:txBody>
                    <a:bodyPr/>
                    <a:lstStyle/>
                    <a:p>
                      <a:r>
                        <a:rPr lang="en-IN"/>
                        <a:t>Large, complex datasets</a:t>
                      </a:r>
                    </a:p>
                  </a:txBody>
                  <a:tcPr anchor="ctr">
                    <a:lnL>
                      <a:noFill/>
                    </a:lnL>
                    <a:lnR>
                      <a:noFill/>
                    </a:lnR>
                    <a:lnT>
                      <a:noFill/>
                    </a:lnT>
                    <a:lnB>
                      <a:noFill/>
                    </a:lnB>
                  </a:tcPr>
                </a:tc>
                <a:extLst>
                  <a:ext uri="{0D108BD9-81ED-4DB2-BD59-A6C34878D82A}">
                    <a16:rowId xmlns:a16="http://schemas.microsoft.com/office/drawing/2014/main" val="2975453682"/>
                  </a:ext>
                </a:extLst>
              </a:tr>
              <a:tr h="897774">
                <a:tc>
                  <a:txBody>
                    <a:bodyPr/>
                    <a:lstStyle/>
                    <a:p>
                      <a:r>
                        <a:rPr lang="en-IN"/>
                        <a:t>Techniques</a:t>
                      </a:r>
                    </a:p>
                  </a:txBody>
                  <a:tcPr anchor="ctr">
                    <a:lnL>
                      <a:noFill/>
                    </a:lnL>
                    <a:lnR>
                      <a:noFill/>
                    </a:lnR>
                    <a:lnT>
                      <a:noFill/>
                    </a:lnT>
                    <a:lnB>
                      <a:noFill/>
                    </a:lnB>
                  </a:tcPr>
                </a:tc>
                <a:tc>
                  <a:txBody>
                    <a:bodyPr/>
                    <a:lstStyle/>
                    <a:p>
                      <a:r>
                        <a:rPr lang="en-IN"/>
                        <a:t>ETL, OLAP</a:t>
                      </a:r>
                    </a:p>
                  </a:txBody>
                  <a:tcPr anchor="ctr">
                    <a:lnL>
                      <a:noFill/>
                    </a:lnL>
                    <a:lnR>
                      <a:noFill/>
                    </a:lnR>
                    <a:lnT>
                      <a:noFill/>
                    </a:lnT>
                    <a:lnB>
                      <a:noFill/>
                    </a:lnB>
                  </a:tcPr>
                </a:tc>
                <a:tc>
                  <a:txBody>
                    <a:bodyPr/>
                    <a:lstStyle/>
                    <a:p>
                      <a:r>
                        <a:rPr lang="en-IN"/>
                        <a:t>ML, AI, statistics</a:t>
                      </a:r>
                    </a:p>
                  </a:txBody>
                  <a:tcPr anchor="ctr">
                    <a:lnL>
                      <a:noFill/>
                    </a:lnL>
                    <a:lnR>
                      <a:noFill/>
                    </a:lnR>
                    <a:lnT>
                      <a:noFill/>
                    </a:lnT>
                    <a:lnB>
                      <a:noFill/>
                    </a:lnB>
                  </a:tcPr>
                </a:tc>
                <a:extLst>
                  <a:ext uri="{0D108BD9-81ED-4DB2-BD59-A6C34878D82A}">
                    <a16:rowId xmlns:a16="http://schemas.microsoft.com/office/drawing/2014/main" val="2273550405"/>
                  </a:ext>
                </a:extLst>
              </a:tr>
              <a:tr h="897774">
                <a:tc>
                  <a:txBody>
                    <a:bodyPr/>
                    <a:lstStyle/>
                    <a:p>
                      <a:r>
                        <a:rPr lang="en-IN"/>
                        <a:t>Output</a:t>
                      </a:r>
                    </a:p>
                  </a:txBody>
                  <a:tcPr anchor="ctr">
                    <a:lnL>
                      <a:noFill/>
                    </a:lnL>
                    <a:lnR>
                      <a:noFill/>
                    </a:lnR>
                    <a:lnT>
                      <a:noFill/>
                    </a:lnT>
                    <a:lnB>
                      <a:noFill/>
                    </a:lnB>
                  </a:tcPr>
                </a:tc>
                <a:tc>
                  <a:txBody>
                    <a:bodyPr/>
                    <a:lstStyle/>
                    <a:p>
                      <a:r>
                        <a:rPr lang="en-IN"/>
                        <a:t>Reports, summaries</a:t>
                      </a:r>
                    </a:p>
                  </a:txBody>
                  <a:tcPr anchor="ctr">
                    <a:lnL>
                      <a:noFill/>
                    </a:lnL>
                    <a:lnR>
                      <a:noFill/>
                    </a:lnR>
                    <a:lnT>
                      <a:noFill/>
                    </a:lnT>
                    <a:lnB>
                      <a:noFill/>
                    </a:lnB>
                  </a:tcPr>
                </a:tc>
                <a:tc>
                  <a:txBody>
                    <a:bodyPr/>
                    <a:lstStyle/>
                    <a:p>
                      <a:r>
                        <a:rPr lang="en-IN" dirty="0"/>
                        <a:t>Rules, models, predictions</a:t>
                      </a:r>
                    </a:p>
                  </a:txBody>
                  <a:tcPr anchor="ctr">
                    <a:lnL>
                      <a:noFill/>
                    </a:lnL>
                    <a:lnR>
                      <a:noFill/>
                    </a:lnR>
                    <a:lnT>
                      <a:noFill/>
                    </a:lnT>
                    <a:lnB>
                      <a:noFill/>
                    </a:lnB>
                  </a:tcPr>
                </a:tc>
                <a:extLst>
                  <a:ext uri="{0D108BD9-81ED-4DB2-BD59-A6C34878D82A}">
                    <a16:rowId xmlns:a16="http://schemas.microsoft.com/office/drawing/2014/main" val="1504818490"/>
                  </a:ext>
                </a:extLst>
              </a:tr>
            </a:tbl>
          </a:graphicData>
        </a:graphic>
      </p:graphicFrame>
    </p:spTree>
    <p:extLst>
      <p:ext uri="{BB962C8B-B14F-4D97-AF65-F5344CB8AC3E}">
        <p14:creationId xmlns:p14="http://schemas.microsoft.com/office/powerpoint/2010/main" val="207759106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42779"/>
          </a:xfrm>
        </p:spPr>
        <p:txBody>
          <a:bodyPr>
            <a:normAutofit fontScale="90000"/>
          </a:bodyPr>
          <a:lstStyle/>
          <a:p>
            <a:r>
              <a:rPr lang="en-US" b="1" dirty="0" smtClean="0"/>
              <a:t/>
            </a:r>
            <a:br>
              <a:rPr lang="en-US" b="1" dirty="0" smtClean="0"/>
            </a:br>
            <a:r>
              <a:rPr lang="en-US" sz="3600" b="1" dirty="0" smtClean="0">
                <a:solidFill>
                  <a:srgbClr val="00B050"/>
                </a:solidFill>
              </a:rPr>
              <a:t>Big Data &amp; NO SQL</a:t>
            </a:r>
            <a:r>
              <a:rPr lang="en-US" sz="3600" b="1" dirty="0">
                <a:solidFill>
                  <a:srgbClr val="00B050"/>
                </a:solidFill>
              </a:rPr>
              <a:t/>
            </a:r>
            <a:br>
              <a:rPr lang="en-US" sz="3600" b="1" dirty="0">
                <a:solidFill>
                  <a:srgbClr val="00B050"/>
                </a:solidFill>
              </a:rPr>
            </a:br>
            <a:endParaRPr lang="en-IN" sz="3600" dirty="0">
              <a:solidFill>
                <a:srgbClr val="00B050"/>
              </a:solidFill>
            </a:endParaRPr>
          </a:p>
        </p:txBody>
      </p:sp>
      <p:sp>
        <p:nvSpPr>
          <p:cNvPr id="3" name="Content Placeholder 2"/>
          <p:cNvSpPr>
            <a:spLocks noGrp="1"/>
          </p:cNvSpPr>
          <p:nvPr>
            <p:ph idx="1"/>
          </p:nvPr>
        </p:nvSpPr>
        <p:spPr>
          <a:xfrm>
            <a:off x="457199" y="817417"/>
            <a:ext cx="8492837" cy="5805055"/>
          </a:xfrm>
        </p:spPr>
        <p:txBody>
          <a:bodyPr numCol="3">
            <a:normAutofit fontScale="47500" lnSpcReduction="20000"/>
          </a:bodyPr>
          <a:lstStyle/>
          <a:p>
            <a:pPr marL="0" indent="0" algn="just">
              <a:buNone/>
            </a:pPr>
            <a:r>
              <a:rPr lang="en-US" b="1" dirty="0" smtClean="0">
                <a:solidFill>
                  <a:srgbClr val="FF0000"/>
                </a:solidFill>
              </a:rPr>
              <a:t>Definition</a:t>
            </a:r>
            <a:endParaRPr lang="en-US" b="1" dirty="0">
              <a:solidFill>
                <a:srgbClr val="FF0000"/>
              </a:solidFill>
            </a:endParaRPr>
          </a:p>
          <a:p>
            <a:pPr algn="just"/>
            <a:r>
              <a:rPr lang="en-US" b="1" dirty="0"/>
              <a:t>Big Data</a:t>
            </a:r>
            <a:r>
              <a:rPr lang="en-US" dirty="0"/>
              <a:t> refers to extremely large and complex datasets that cannot be efficiently stored, processed, or analyzed using traditional relational database systems.</a:t>
            </a:r>
          </a:p>
          <a:p>
            <a:pPr marL="0" indent="0" algn="just">
              <a:buNone/>
            </a:pPr>
            <a:r>
              <a:rPr lang="en-US" b="1" dirty="0">
                <a:solidFill>
                  <a:srgbClr val="FF0000"/>
                </a:solidFill>
              </a:rPr>
              <a:t>Characteristics of Big Data (5 V’s)</a:t>
            </a:r>
          </a:p>
          <a:p>
            <a:pPr algn="just"/>
            <a:r>
              <a:rPr lang="en-US" b="1" dirty="0"/>
              <a:t>Volume</a:t>
            </a:r>
            <a:r>
              <a:rPr lang="en-US" dirty="0"/>
              <a:t> – Huge amount of data (TBs, PBs)</a:t>
            </a:r>
          </a:p>
          <a:p>
            <a:pPr algn="just"/>
            <a:r>
              <a:rPr lang="en-US" b="1" dirty="0"/>
              <a:t>Velocity</a:t>
            </a:r>
            <a:r>
              <a:rPr lang="en-US" dirty="0"/>
              <a:t> – High speed of data generation and processing</a:t>
            </a:r>
          </a:p>
          <a:p>
            <a:pPr algn="just"/>
            <a:r>
              <a:rPr lang="en-US" b="1" dirty="0"/>
              <a:t>Variety</a:t>
            </a:r>
            <a:r>
              <a:rPr lang="en-US" dirty="0"/>
              <a:t> – Different data types (structured, semi-structured, unstructured)</a:t>
            </a:r>
          </a:p>
          <a:p>
            <a:pPr algn="just"/>
            <a:r>
              <a:rPr lang="en-US" b="1" dirty="0"/>
              <a:t>Veracity</a:t>
            </a:r>
            <a:r>
              <a:rPr lang="en-US" dirty="0"/>
              <a:t> – Data quality and reliability</a:t>
            </a:r>
          </a:p>
          <a:p>
            <a:pPr algn="just"/>
            <a:r>
              <a:rPr lang="en-US" b="1" dirty="0"/>
              <a:t>Value</a:t>
            </a:r>
            <a:r>
              <a:rPr lang="en-US" dirty="0"/>
              <a:t> – Useful insights extracted from data</a:t>
            </a:r>
          </a:p>
          <a:p>
            <a:pPr marL="0" indent="0" algn="just">
              <a:buNone/>
            </a:pPr>
            <a:r>
              <a:rPr lang="en-US" b="1" dirty="0">
                <a:solidFill>
                  <a:srgbClr val="FF0000"/>
                </a:solidFill>
              </a:rPr>
              <a:t>Sources of Big Data</a:t>
            </a:r>
          </a:p>
          <a:p>
            <a:pPr algn="just"/>
            <a:r>
              <a:rPr lang="en-US" dirty="0"/>
              <a:t>Social media</a:t>
            </a:r>
          </a:p>
          <a:p>
            <a:pPr algn="just"/>
            <a:r>
              <a:rPr lang="en-US" dirty="0" err="1"/>
              <a:t>IoT</a:t>
            </a:r>
            <a:r>
              <a:rPr lang="en-US" dirty="0"/>
              <a:t> sensors</a:t>
            </a:r>
          </a:p>
          <a:p>
            <a:pPr algn="just"/>
            <a:r>
              <a:rPr lang="en-US" dirty="0"/>
              <a:t>Healthcare systems</a:t>
            </a:r>
          </a:p>
          <a:p>
            <a:pPr algn="just"/>
            <a:r>
              <a:rPr lang="en-US" dirty="0"/>
              <a:t>Financial transactions</a:t>
            </a:r>
          </a:p>
          <a:p>
            <a:pPr algn="just"/>
            <a:r>
              <a:rPr lang="en-US" dirty="0"/>
              <a:t>Multimedia content</a:t>
            </a:r>
          </a:p>
          <a:p>
            <a:pPr marL="0" indent="0" algn="just">
              <a:buNone/>
            </a:pPr>
            <a:r>
              <a:rPr lang="en-IN" b="1" dirty="0">
                <a:solidFill>
                  <a:srgbClr val="FF0000"/>
                </a:solidFill>
              </a:rPr>
              <a:t>Big Data Technologies</a:t>
            </a:r>
          </a:p>
          <a:p>
            <a:pPr algn="just"/>
            <a:r>
              <a:rPr lang="en-IN" b="1" dirty="0"/>
              <a:t>Hadoop (HDFS, </a:t>
            </a:r>
            <a:r>
              <a:rPr lang="en-IN" b="1" dirty="0" err="1"/>
              <a:t>MapReduce</a:t>
            </a:r>
            <a:r>
              <a:rPr lang="en-IN" b="1" dirty="0"/>
              <a:t>)</a:t>
            </a:r>
            <a:endParaRPr lang="en-IN" dirty="0"/>
          </a:p>
          <a:p>
            <a:pPr algn="just"/>
            <a:r>
              <a:rPr lang="en-IN" b="1" dirty="0"/>
              <a:t>Apache Spark</a:t>
            </a:r>
            <a:endParaRPr lang="en-IN" dirty="0"/>
          </a:p>
          <a:p>
            <a:pPr algn="just"/>
            <a:r>
              <a:rPr lang="en-IN" b="1" dirty="0"/>
              <a:t>Kafka, </a:t>
            </a:r>
            <a:r>
              <a:rPr lang="en-IN" b="1" dirty="0" err="1"/>
              <a:t>Flink</a:t>
            </a:r>
            <a:endParaRPr lang="en-IN" dirty="0"/>
          </a:p>
          <a:p>
            <a:pPr algn="just"/>
            <a:r>
              <a:rPr lang="en-IN" b="1" dirty="0"/>
              <a:t>Hive, Pig</a:t>
            </a:r>
            <a:endParaRPr lang="en-IN" dirty="0"/>
          </a:p>
          <a:p>
            <a:pPr marL="0" indent="0" algn="just">
              <a:buNone/>
            </a:pPr>
            <a:r>
              <a:rPr lang="en-US" b="1" dirty="0">
                <a:solidFill>
                  <a:srgbClr val="00B050"/>
                </a:solidFill>
              </a:rPr>
              <a:t>NoSQL Databases</a:t>
            </a:r>
          </a:p>
          <a:p>
            <a:pPr algn="just"/>
            <a:r>
              <a:rPr lang="en-US" b="1" dirty="0"/>
              <a:t>Definition</a:t>
            </a:r>
          </a:p>
          <a:p>
            <a:pPr algn="just"/>
            <a:r>
              <a:rPr lang="en-US" b="1" dirty="0"/>
              <a:t>NoSQL (Not Only SQL)</a:t>
            </a:r>
            <a:r>
              <a:rPr lang="en-US" dirty="0"/>
              <a:t> databases are </a:t>
            </a:r>
            <a:r>
              <a:rPr lang="en-US" b="1" dirty="0"/>
              <a:t>non-relational databases</a:t>
            </a:r>
            <a:r>
              <a:rPr lang="en-US" dirty="0"/>
              <a:t> designed to handle </a:t>
            </a:r>
            <a:r>
              <a:rPr lang="en-US" b="1" dirty="0"/>
              <a:t>big data, high scalability, and flexible schemas</a:t>
            </a:r>
            <a:r>
              <a:rPr lang="en-US" dirty="0"/>
              <a:t>.</a:t>
            </a:r>
          </a:p>
          <a:p>
            <a:pPr marL="0" indent="0" algn="just">
              <a:buNone/>
            </a:pPr>
            <a:r>
              <a:rPr lang="en-US" b="1" dirty="0">
                <a:solidFill>
                  <a:srgbClr val="00B050"/>
                </a:solidFill>
              </a:rPr>
              <a:t>Why NoSQL?</a:t>
            </a:r>
          </a:p>
          <a:p>
            <a:pPr algn="just"/>
            <a:r>
              <a:rPr lang="en-US" dirty="0"/>
              <a:t>Handles unstructured data</a:t>
            </a:r>
          </a:p>
          <a:p>
            <a:pPr algn="just"/>
            <a:r>
              <a:rPr lang="en-US" dirty="0"/>
              <a:t>High scalability (horizontal scaling)</a:t>
            </a:r>
          </a:p>
          <a:p>
            <a:pPr algn="just"/>
            <a:r>
              <a:rPr lang="en-US" dirty="0"/>
              <a:t>High availability</a:t>
            </a:r>
          </a:p>
          <a:p>
            <a:pPr algn="just"/>
            <a:r>
              <a:rPr lang="en-US" dirty="0"/>
              <a:t>Flexible data models</a:t>
            </a:r>
          </a:p>
          <a:p>
            <a:pPr marL="0" indent="0" algn="just">
              <a:buNone/>
            </a:pPr>
            <a:r>
              <a:rPr lang="en-IN" b="1" dirty="0" smtClean="0">
                <a:solidFill>
                  <a:srgbClr val="00B050"/>
                </a:solidFill>
              </a:rPr>
              <a:t>Types </a:t>
            </a:r>
            <a:r>
              <a:rPr lang="en-IN" b="1" dirty="0">
                <a:solidFill>
                  <a:srgbClr val="00B050"/>
                </a:solidFill>
              </a:rPr>
              <a:t>of NoSQL Databases</a:t>
            </a:r>
          </a:p>
          <a:p>
            <a:pPr algn="just"/>
            <a:r>
              <a:rPr lang="en-IN" b="1" dirty="0"/>
              <a:t>1. Key–Value Stores</a:t>
            </a:r>
          </a:p>
          <a:p>
            <a:pPr algn="just"/>
            <a:r>
              <a:rPr lang="en-IN" dirty="0"/>
              <a:t>Data stored as key–value pairs</a:t>
            </a:r>
          </a:p>
          <a:p>
            <a:pPr algn="just"/>
            <a:r>
              <a:rPr lang="en-IN" b="1" dirty="0"/>
              <a:t>Example:</a:t>
            </a:r>
            <a:r>
              <a:rPr lang="en-IN" dirty="0"/>
              <a:t> </a:t>
            </a:r>
            <a:r>
              <a:rPr lang="en-IN" dirty="0" err="1"/>
              <a:t>Redis</a:t>
            </a:r>
            <a:r>
              <a:rPr lang="en-IN" dirty="0"/>
              <a:t>, </a:t>
            </a:r>
            <a:r>
              <a:rPr lang="en-IN" dirty="0" err="1"/>
              <a:t>DynamoDB</a:t>
            </a:r>
            <a:endParaRPr lang="en-IN" dirty="0"/>
          </a:p>
          <a:p>
            <a:pPr algn="just"/>
            <a:r>
              <a:rPr lang="en-IN" b="1" dirty="0"/>
              <a:t>2. Document Databases</a:t>
            </a:r>
          </a:p>
          <a:p>
            <a:pPr algn="just"/>
            <a:r>
              <a:rPr lang="en-IN" dirty="0"/>
              <a:t>Data stored as JSON/XML documents</a:t>
            </a:r>
          </a:p>
          <a:p>
            <a:pPr algn="just"/>
            <a:r>
              <a:rPr lang="en-IN" b="1" dirty="0"/>
              <a:t>Example:</a:t>
            </a:r>
            <a:r>
              <a:rPr lang="en-IN" dirty="0"/>
              <a:t> MongoDB, </a:t>
            </a:r>
            <a:r>
              <a:rPr lang="en-IN" dirty="0" err="1"/>
              <a:t>CouchDB</a:t>
            </a:r>
            <a:endParaRPr lang="en-IN" dirty="0"/>
          </a:p>
          <a:p>
            <a:pPr marL="0" indent="0" algn="just">
              <a:buNone/>
            </a:pPr>
            <a:r>
              <a:rPr lang="en-IN" b="1" dirty="0">
                <a:solidFill>
                  <a:srgbClr val="00B050"/>
                </a:solidFill>
              </a:rPr>
              <a:t>3. Column-Family Stores</a:t>
            </a:r>
          </a:p>
          <a:p>
            <a:pPr algn="just"/>
            <a:r>
              <a:rPr lang="en-IN" dirty="0"/>
              <a:t>Data stored in columns instead of rows</a:t>
            </a:r>
          </a:p>
          <a:p>
            <a:pPr algn="just"/>
            <a:r>
              <a:rPr lang="en-IN" b="1" dirty="0"/>
              <a:t>Example:</a:t>
            </a:r>
            <a:r>
              <a:rPr lang="en-IN" dirty="0"/>
              <a:t> Cassandra, </a:t>
            </a:r>
            <a:r>
              <a:rPr lang="en-IN" dirty="0" err="1"/>
              <a:t>HBase</a:t>
            </a:r>
            <a:endParaRPr lang="en-IN" dirty="0"/>
          </a:p>
          <a:p>
            <a:pPr algn="just"/>
            <a:r>
              <a:rPr lang="en-IN" b="1" dirty="0"/>
              <a:t>4. Graph Databases</a:t>
            </a:r>
          </a:p>
          <a:p>
            <a:pPr algn="just"/>
            <a:r>
              <a:rPr lang="en-IN" dirty="0"/>
              <a:t>Data stored as nodes and edges</a:t>
            </a:r>
          </a:p>
          <a:p>
            <a:pPr algn="just"/>
            <a:r>
              <a:rPr lang="en-IN" b="1" dirty="0"/>
              <a:t>Example:</a:t>
            </a:r>
            <a:r>
              <a:rPr lang="en-IN" dirty="0"/>
              <a:t> Neo4j</a:t>
            </a:r>
          </a:p>
          <a:p>
            <a:pPr algn="just"/>
            <a:endParaRPr lang="en-IN" dirty="0"/>
          </a:p>
        </p:txBody>
      </p:sp>
    </p:spTree>
    <p:extLst>
      <p:ext uri="{BB962C8B-B14F-4D97-AF65-F5344CB8AC3E}">
        <p14:creationId xmlns:p14="http://schemas.microsoft.com/office/powerpoint/2010/main" val="270034750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Codd's</a:t>
            </a:r>
            <a:r>
              <a:rPr lang="en-US" dirty="0"/>
              <a:t> Rule for Relational DBMS</a:t>
            </a:r>
            <a:br>
              <a:rPr lang="en-US" dirty="0"/>
            </a:br>
            <a:endParaRPr lang="en-IN" dirty="0"/>
          </a:p>
        </p:txBody>
      </p:sp>
      <p:sp>
        <p:nvSpPr>
          <p:cNvPr id="3" name="Content Placeholder 2"/>
          <p:cNvSpPr>
            <a:spLocks noGrp="1"/>
          </p:cNvSpPr>
          <p:nvPr>
            <p:ph idx="1"/>
          </p:nvPr>
        </p:nvSpPr>
        <p:spPr>
          <a:xfrm>
            <a:off x="360218" y="1039091"/>
            <a:ext cx="8520546" cy="5597235"/>
          </a:xfrm>
        </p:spPr>
        <p:txBody>
          <a:bodyPr numCol="2">
            <a:normAutofit fontScale="70000" lnSpcReduction="20000"/>
          </a:bodyPr>
          <a:lstStyle/>
          <a:p>
            <a:pPr algn="just"/>
            <a:r>
              <a:rPr lang="en-US" dirty="0" smtClean="0"/>
              <a:t>E.F </a:t>
            </a:r>
            <a:r>
              <a:rPr lang="en-US" dirty="0" err="1"/>
              <a:t>Codd</a:t>
            </a:r>
            <a:r>
              <a:rPr lang="en-US" dirty="0"/>
              <a:t> was a Computer Scientist who invented the </a:t>
            </a:r>
            <a:r>
              <a:rPr lang="en-US" b="1" dirty="0"/>
              <a:t>Relational model</a:t>
            </a:r>
            <a:r>
              <a:rPr lang="en-US" dirty="0"/>
              <a:t> for Database management. Based on relational model, the </a:t>
            </a:r>
            <a:r>
              <a:rPr lang="en-US" b="1" dirty="0"/>
              <a:t>Relational database</a:t>
            </a:r>
            <a:r>
              <a:rPr lang="en-US" dirty="0"/>
              <a:t> was created. </a:t>
            </a:r>
            <a:r>
              <a:rPr lang="en-US" dirty="0" err="1"/>
              <a:t>Codd</a:t>
            </a:r>
            <a:r>
              <a:rPr lang="en-US" dirty="0"/>
              <a:t> proposed 13 rules popularly known as </a:t>
            </a:r>
            <a:r>
              <a:rPr lang="en-US" b="1" dirty="0" err="1"/>
              <a:t>Codd's</a:t>
            </a:r>
            <a:r>
              <a:rPr lang="en-US" b="1" dirty="0"/>
              <a:t> 12 rules</a:t>
            </a:r>
            <a:r>
              <a:rPr lang="en-US" dirty="0"/>
              <a:t> to test DBMS's concept against his relational model. </a:t>
            </a:r>
            <a:r>
              <a:rPr lang="en-US" dirty="0" err="1"/>
              <a:t>Codd's</a:t>
            </a:r>
            <a:r>
              <a:rPr lang="en-US" dirty="0"/>
              <a:t> rule </a:t>
            </a:r>
            <a:r>
              <a:rPr lang="en-US" dirty="0" err="1"/>
              <a:t>actualy</a:t>
            </a:r>
            <a:r>
              <a:rPr lang="en-US" dirty="0"/>
              <a:t> define what quality a DBMS requires in order to become a Relational Database Management System(RDBMS). Till now, there is hardly any commercial product that follows all the 13 </a:t>
            </a:r>
            <a:r>
              <a:rPr lang="en-US" dirty="0" err="1"/>
              <a:t>Codd's</a:t>
            </a:r>
            <a:r>
              <a:rPr lang="en-US" dirty="0"/>
              <a:t> rules. Even </a:t>
            </a:r>
            <a:r>
              <a:rPr lang="en-US" b="1" dirty="0"/>
              <a:t>Oracle</a:t>
            </a:r>
            <a:r>
              <a:rPr lang="en-US" dirty="0"/>
              <a:t> follows only eight and half(8.5) out of 13. The </a:t>
            </a:r>
            <a:r>
              <a:rPr lang="en-US" dirty="0" err="1"/>
              <a:t>Codd's</a:t>
            </a:r>
            <a:r>
              <a:rPr lang="en-US" dirty="0"/>
              <a:t> 12 rules are as follows</a:t>
            </a:r>
            <a:r>
              <a:rPr lang="en-US" dirty="0" smtClean="0"/>
              <a:t>.</a:t>
            </a:r>
          </a:p>
          <a:p>
            <a:pPr algn="just"/>
            <a:r>
              <a:rPr lang="en-US" dirty="0"/>
              <a:t>✔ No commercial DBMS fully satisfies </a:t>
            </a:r>
            <a:r>
              <a:rPr lang="en-US" b="1" dirty="0"/>
              <a:t>all 12 rules</a:t>
            </a:r>
            <a:r>
              <a:rPr lang="en-US" dirty="0"/>
              <a:t>.</a:t>
            </a:r>
            <a:br>
              <a:rPr lang="en-US" dirty="0"/>
            </a:br>
            <a:r>
              <a:rPr lang="en-US" dirty="0"/>
              <a:t>✔ They are </a:t>
            </a:r>
            <a:r>
              <a:rPr lang="en-US" b="1" dirty="0"/>
              <a:t>guidelines</a:t>
            </a:r>
            <a:r>
              <a:rPr lang="en-US" dirty="0"/>
              <a:t>, not strict requirements.</a:t>
            </a:r>
          </a:p>
          <a:p>
            <a:r>
              <a:rPr lang="en-US" b="1" dirty="0"/>
              <a:t>Father of DBMS and RDBMS</a:t>
            </a:r>
          </a:p>
          <a:p>
            <a:pPr marL="0" indent="0">
              <a:buNone/>
            </a:pPr>
            <a:r>
              <a:rPr lang="en-US" b="1" dirty="0">
                <a:solidFill>
                  <a:srgbClr val="C00000"/>
                </a:solidFill>
              </a:rPr>
              <a:t>Father of DBMS</a:t>
            </a:r>
            <a:r>
              <a:rPr lang="en-US" b="1" dirty="0"/>
              <a:t>:</a:t>
            </a:r>
            <a:r>
              <a:rPr lang="en-US" dirty="0"/>
              <a:t/>
            </a:r>
            <a:br>
              <a:rPr lang="en-US" dirty="0"/>
            </a:br>
            <a:r>
              <a:rPr lang="en-US" b="1" dirty="0"/>
              <a:t>Charles W. Bachman</a:t>
            </a:r>
            <a:endParaRPr lang="en-US" dirty="0"/>
          </a:p>
          <a:p>
            <a:pPr lvl="1"/>
            <a:r>
              <a:rPr lang="en-US" dirty="0"/>
              <a:t>Developed the </a:t>
            </a:r>
            <a:r>
              <a:rPr lang="en-US" b="1" dirty="0"/>
              <a:t>Integrated Data Store (IDS)</a:t>
            </a:r>
            <a:endParaRPr lang="en-US" dirty="0"/>
          </a:p>
          <a:p>
            <a:pPr lvl="1"/>
            <a:r>
              <a:rPr lang="en-US" dirty="0"/>
              <a:t>Pioneer of early database systems and the </a:t>
            </a:r>
            <a:r>
              <a:rPr lang="en-US" b="1" dirty="0"/>
              <a:t>Network Data Model</a:t>
            </a:r>
            <a:endParaRPr lang="en-US" dirty="0"/>
          </a:p>
          <a:p>
            <a:pPr marL="0" indent="0">
              <a:buNone/>
            </a:pPr>
            <a:r>
              <a:rPr lang="en-US" b="1" dirty="0">
                <a:solidFill>
                  <a:srgbClr val="FF0000"/>
                </a:solidFill>
              </a:rPr>
              <a:t>Father of RDBMS:</a:t>
            </a:r>
            <a:r>
              <a:rPr lang="en-US" dirty="0">
                <a:solidFill>
                  <a:srgbClr val="FF0000"/>
                </a:solidFill>
              </a:rPr>
              <a:t/>
            </a:r>
            <a:br>
              <a:rPr lang="en-US" dirty="0">
                <a:solidFill>
                  <a:srgbClr val="FF0000"/>
                </a:solidFill>
              </a:rPr>
            </a:br>
            <a:r>
              <a:rPr lang="en-US" b="1" dirty="0"/>
              <a:t>Dr. Edgar F. </a:t>
            </a:r>
            <a:r>
              <a:rPr lang="en-US" b="1" dirty="0" err="1"/>
              <a:t>Codd</a:t>
            </a:r>
            <a:endParaRPr lang="en-US" dirty="0"/>
          </a:p>
          <a:p>
            <a:pPr lvl="1"/>
            <a:r>
              <a:rPr lang="en-US" dirty="0"/>
              <a:t>Proposed the </a:t>
            </a:r>
            <a:r>
              <a:rPr lang="en-US" b="1" dirty="0"/>
              <a:t>Relational Model</a:t>
            </a:r>
            <a:r>
              <a:rPr lang="en-US" dirty="0"/>
              <a:t> in 1970</a:t>
            </a:r>
          </a:p>
          <a:p>
            <a:pPr lvl="1"/>
            <a:r>
              <a:rPr lang="en-US" dirty="0"/>
              <a:t>Introduced </a:t>
            </a:r>
            <a:r>
              <a:rPr lang="en-US" b="1" dirty="0" err="1"/>
              <a:t>Codd’s</a:t>
            </a:r>
            <a:r>
              <a:rPr lang="en-US" b="1" dirty="0"/>
              <a:t> Rules</a:t>
            </a:r>
            <a:r>
              <a:rPr lang="en-US" dirty="0"/>
              <a:t> for relational databases</a:t>
            </a:r>
          </a:p>
          <a:p>
            <a:pPr algn="just"/>
            <a:endParaRPr lang="en-IN" dirty="0"/>
          </a:p>
        </p:txBody>
      </p:sp>
    </p:spTree>
    <p:extLst>
      <p:ext uri="{BB962C8B-B14F-4D97-AF65-F5344CB8AC3E}">
        <p14:creationId xmlns:p14="http://schemas.microsoft.com/office/powerpoint/2010/main" val="413253104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62671"/>
          </a:xfrm>
        </p:spPr>
        <p:txBody>
          <a:bodyPr>
            <a:normAutofit fontScale="90000"/>
          </a:bodyPr>
          <a:lstStyle/>
          <a:p>
            <a:r>
              <a:rPr lang="en-US" dirty="0" err="1" smtClean="0"/>
              <a:t>Contd</a:t>
            </a:r>
            <a:r>
              <a:rPr lang="en-US" dirty="0" smtClean="0"/>
              <a:t>…</a:t>
            </a:r>
            <a:endParaRPr lang="en-IN" dirty="0"/>
          </a:p>
        </p:txBody>
      </p:sp>
      <p:sp>
        <p:nvSpPr>
          <p:cNvPr id="3" name="Content Placeholder 2"/>
          <p:cNvSpPr>
            <a:spLocks noGrp="1"/>
          </p:cNvSpPr>
          <p:nvPr>
            <p:ph idx="1"/>
          </p:nvPr>
        </p:nvSpPr>
        <p:spPr>
          <a:xfrm>
            <a:off x="457200" y="637309"/>
            <a:ext cx="8229600" cy="5749636"/>
          </a:xfrm>
        </p:spPr>
        <p:txBody>
          <a:bodyPr numCol="2">
            <a:normAutofit fontScale="77500" lnSpcReduction="20000"/>
          </a:bodyPr>
          <a:lstStyle/>
          <a:p>
            <a:pPr marL="0" indent="0" algn="just">
              <a:buNone/>
            </a:pPr>
            <a:r>
              <a:rPr lang="en-US" dirty="0">
                <a:solidFill>
                  <a:srgbClr val="C00000"/>
                </a:solidFill>
              </a:rPr>
              <a:t>Rule </a:t>
            </a:r>
            <a:r>
              <a:rPr lang="en-US" dirty="0" smtClean="0">
                <a:solidFill>
                  <a:srgbClr val="C00000"/>
                </a:solidFill>
              </a:rPr>
              <a:t>zero: Foundation rule</a:t>
            </a:r>
            <a:endParaRPr lang="en-US" dirty="0">
              <a:solidFill>
                <a:srgbClr val="C00000"/>
              </a:solidFill>
            </a:endParaRPr>
          </a:p>
          <a:p>
            <a:pPr algn="just"/>
            <a:r>
              <a:rPr lang="en-US" dirty="0"/>
              <a:t>This rule states that for a system to qualify as an </a:t>
            </a:r>
            <a:r>
              <a:rPr lang="en-US" b="1" dirty="0"/>
              <a:t>RDBMS</a:t>
            </a:r>
            <a:r>
              <a:rPr lang="en-US" dirty="0"/>
              <a:t>, it must be able to manage database entirely through the relational capabilities.</a:t>
            </a:r>
          </a:p>
          <a:p>
            <a:pPr marL="0" indent="0" algn="just">
              <a:buNone/>
            </a:pPr>
            <a:r>
              <a:rPr lang="en-US" dirty="0">
                <a:solidFill>
                  <a:srgbClr val="C00000"/>
                </a:solidFill>
              </a:rPr>
              <a:t>Rule 1: Information rule</a:t>
            </a:r>
          </a:p>
          <a:p>
            <a:pPr algn="just"/>
            <a:r>
              <a:rPr lang="en-US" dirty="0"/>
              <a:t>All information(including metadata) is to be represented as stored data in cells of tables. The rows and columns have to be strictly unordered.</a:t>
            </a:r>
          </a:p>
          <a:p>
            <a:pPr marL="0" indent="0" algn="just">
              <a:buNone/>
            </a:pPr>
            <a:r>
              <a:rPr lang="en-US" dirty="0" smtClean="0">
                <a:solidFill>
                  <a:srgbClr val="C00000"/>
                </a:solidFill>
              </a:rPr>
              <a:t>Rule </a:t>
            </a:r>
            <a:r>
              <a:rPr lang="en-US" dirty="0">
                <a:solidFill>
                  <a:srgbClr val="C00000"/>
                </a:solidFill>
              </a:rPr>
              <a:t>2: </a:t>
            </a:r>
            <a:r>
              <a:rPr lang="en-US" dirty="0" err="1">
                <a:solidFill>
                  <a:srgbClr val="C00000"/>
                </a:solidFill>
              </a:rPr>
              <a:t>Guaranted</a:t>
            </a:r>
            <a:r>
              <a:rPr lang="en-US" dirty="0">
                <a:solidFill>
                  <a:srgbClr val="C00000"/>
                </a:solidFill>
              </a:rPr>
              <a:t> Access</a:t>
            </a:r>
          </a:p>
          <a:p>
            <a:pPr algn="just"/>
            <a:r>
              <a:rPr lang="en-US" dirty="0"/>
              <a:t>Each unique piece of data(atomic value) should be </a:t>
            </a:r>
            <a:r>
              <a:rPr lang="en-US" dirty="0" err="1"/>
              <a:t>accesible</a:t>
            </a:r>
            <a:r>
              <a:rPr lang="en-US" dirty="0"/>
              <a:t> by : </a:t>
            </a:r>
            <a:r>
              <a:rPr lang="en-US" b="1" dirty="0"/>
              <a:t>Table Name + Primary Key(Row) + Attribute(column)</a:t>
            </a:r>
            <a:r>
              <a:rPr lang="en-US" dirty="0"/>
              <a:t>.</a:t>
            </a:r>
          </a:p>
          <a:p>
            <a:pPr algn="just"/>
            <a:r>
              <a:rPr lang="en-US" b="1" dirty="0"/>
              <a:t>NOTE:</a:t>
            </a:r>
            <a:r>
              <a:rPr lang="en-US" dirty="0"/>
              <a:t> Ability to directly access via POINTER is a violation of this rule</a:t>
            </a:r>
            <a:r>
              <a:rPr lang="en-US" dirty="0" smtClean="0"/>
              <a:t>.</a:t>
            </a:r>
          </a:p>
          <a:p>
            <a:pPr marL="0" indent="0" algn="just">
              <a:buNone/>
            </a:pPr>
            <a:r>
              <a:rPr lang="en-US" dirty="0">
                <a:solidFill>
                  <a:srgbClr val="C00000"/>
                </a:solidFill>
              </a:rPr>
              <a:t>Rule 3 – Systematic Treatment of NULL Values</a:t>
            </a:r>
          </a:p>
          <a:p>
            <a:pPr algn="just"/>
            <a:r>
              <a:rPr lang="en-US" dirty="0"/>
              <a:t>NULL values must be handled </a:t>
            </a:r>
            <a:r>
              <a:rPr lang="en-US" b="1" dirty="0"/>
              <a:t>uniformly</a:t>
            </a:r>
            <a:r>
              <a:rPr lang="en-US" dirty="0"/>
              <a:t>, independent of data type.</a:t>
            </a:r>
          </a:p>
          <a:p>
            <a:pPr algn="just"/>
            <a:endParaRPr lang="en-US" dirty="0"/>
          </a:p>
          <a:p>
            <a:endParaRPr lang="en-IN" dirty="0"/>
          </a:p>
        </p:txBody>
      </p:sp>
    </p:spTree>
    <p:extLst>
      <p:ext uri="{BB962C8B-B14F-4D97-AF65-F5344CB8AC3E}">
        <p14:creationId xmlns:p14="http://schemas.microsoft.com/office/powerpoint/2010/main" val="187914738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4344"/>
          </a:xfrm>
        </p:spPr>
        <p:txBody>
          <a:bodyPr>
            <a:normAutofit fontScale="90000"/>
          </a:bodyPr>
          <a:lstStyle/>
          <a:p>
            <a:r>
              <a:rPr lang="en-US" dirty="0" err="1" smtClean="0"/>
              <a:t>Contd</a:t>
            </a:r>
            <a:r>
              <a:rPr lang="en-US" dirty="0" smtClean="0"/>
              <a:t>…</a:t>
            </a:r>
            <a:endParaRPr lang="en-IN" dirty="0"/>
          </a:p>
        </p:txBody>
      </p:sp>
      <p:sp>
        <p:nvSpPr>
          <p:cNvPr id="3" name="Content Placeholder 2"/>
          <p:cNvSpPr>
            <a:spLocks noGrp="1"/>
          </p:cNvSpPr>
          <p:nvPr>
            <p:ph idx="1"/>
          </p:nvPr>
        </p:nvSpPr>
        <p:spPr>
          <a:xfrm>
            <a:off x="457200" y="858981"/>
            <a:ext cx="8229600" cy="5818909"/>
          </a:xfrm>
        </p:spPr>
        <p:txBody>
          <a:bodyPr numCol="2">
            <a:normAutofit fontScale="62500" lnSpcReduction="20000"/>
          </a:bodyPr>
          <a:lstStyle/>
          <a:p>
            <a:pPr marL="0" indent="0" algn="just">
              <a:buNone/>
            </a:pPr>
            <a:r>
              <a:rPr lang="en-US" dirty="0">
                <a:solidFill>
                  <a:srgbClr val="C00000"/>
                </a:solidFill>
              </a:rPr>
              <a:t>Rule 4: Active Online Catalog</a:t>
            </a:r>
          </a:p>
          <a:p>
            <a:pPr algn="just"/>
            <a:r>
              <a:rPr lang="en-US" dirty="0"/>
              <a:t>Database dictionary(catalog) is the structure description of the complete </a:t>
            </a:r>
            <a:r>
              <a:rPr lang="en-US" b="1" dirty="0"/>
              <a:t>Database</a:t>
            </a:r>
            <a:r>
              <a:rPr lang="en-US" dirty="0"/>
              <a:t> and it must be stored online. The Catalog must be governed by same rules as rest of the database. The same query language should be used on catalog as used to query database.</a:t>
            </a:r>
          </a:p>
          <a:p>
            <a:pPr marL="0" indent="0" algn="just">
              <a:buNone/>
            </a:pPr>
            <a:r>
              <a:rPr lang="en-US" dirty="0">
                <a:solidFill>
                  <a:srgbClr val="C00000"/>
                </a:solidFill>
              </a:rPr>
              <a:t>Rule 5: Powerful and Well-Structured Language</a:t>
            </a:r>
          </a:p>
          <a:p>
            <a:pPr algn="just"/>
            <a:r>
              <a:rPr lang="en-US" dirty="0"/>
              <a:t>One well structured language must be there to provide all manners of access to the data stored in the database. Example: </a:t>
            </a:r>
            <a:r>
              <a:rPr lang="en-US" b="1" dirty="0"/>
              <a:t>SQL</a:t>
            </a:r>
            <a:r>
              <a:rPr lang="en-US" dirty="0"/>
              <a:t>, etc. If the database allows access to the data without the use of this language, then that is a violation</a:t>
            </a:r>
            <a:r>
              <a:rPr lang="en-US" dirty="0" smtClean="0"/>
              <a:t>.</a:t>
            </a:r>
          </a:p>
          <a:p>
            <a:pPr marL="0" indent="0" algn="just">
              <a:buNone/>
            </a:pPr>
            <a:r>
              <a:rPr lang="en-US" dirty="0">
                <a:solidFill>
                  <a:srgbClr val="C00000"/>
                </a:solidFill>
              </a:rPr>
              <a:t>Rule 6: View </a:t>
            </a:r>
            <a:r>
              <a:rPr lang="en-US" dirty="0" err="1">
                <a:solidFill>
                  <a:srgbClr val="C00000"/>
                </a:solidFill>
              </a:rPr>
              <a:t>Updation</a:t>
            </a:r>
            <a:r>
              <a:rPr lang="en-US" dirty="0">
                <a:solidFill>
                  <a:srgbClr val="C00000"/>
                </a:solidFill>
              </a:rPr>
              <a:t> Rule</a:t>
            </a:r>
          </a:p>
          <a:p>
            <a:pPr algn="just"/>
            <a:r>
              <a:rPr lang="en-US" dirty="0"/>
              <a:t>All the view that are theoretically updatable should be updatable by the system as well.</a:t>
            </a:r>
          </a:p>
          <a:p>
            <a:pPr algn="just"/>
            <a:endParaRPr lang="en-US" dirty="0"/>
          </a:p>
          <a:p>
            <a:pPr marL="0" indent="0" algn="just">
              <a:buNone/>
            </a:pPr>
            <a:r>
              <a:rPr lang="en-US" dirty="0">
                <a:solidFill>
                  <a:srgbClr val="C00000"/>
                </a:solidFill>
              </a:rPr>
              <a:t>Rule 7: Relational Level Operation</a:t>
            </a:r>
          </a:p>
          <a:p>
            <a:pPr algn="just"/>
            <a:r>
              <a:rPr lang="en-US" dirty="0"/>
              <a:t>There must be Insert, Delete, Update operations at each level of relations. Set operation like Union, Intersection and minus should also be supported.</a:t>
            </a:r>
          </a:p>
          <a:p>
            <a:pPr marL="0" indent="0" algn="just">
              <a:buNone/>
            </a:pPr>
            <a:r>
              <a:rPr lang="en-US" dirty="0">
                <a:solidFill>
                  <a:srgbClr val="C00000"/>
                </a:solidFill>
              </a:rPr>
              <a:t>Rule 8: Physical Data Independence</a:t>
            </a:r>
          </a:p>
          <a:p>
            <a:pPr algn="just"/>
            <a:r>
              <a:rPr lang="en-US" dirty="0"/>
              <a:t>The physical storage of data should not matter to the system. If say, some file supporting table is renamed or moved from one disk to another, it should not effect the application.</a:t>
            </a:r>
          </a:p>
          <a:p>
            <a:pPr algn="just"/>
            <a:r>
              <a:rPr lang="en-US" dirty="0"/>
              <a:t/>
            </a:r>
            <a:br>
              <a:rPr lang="en-US" dirty="0"/>
            </a:br>
            <a:endParaRPr lang="en-IN" dirty="0"/>
          </a:p>
        </p:txBody>
      </p:sp>
    </p:spTree>
    <p:extLst>
      <p:ext uri="{BB962C8B-B14F-4D97-AF65-F5344CB8AC3E}">
        <p14:creationId xmlns:p14="http://schemas.microsoft.com/office/powerpoint/2010/main" val="307271744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45798"/>
          </a:xfrm>
        </p:spPr>
        <p:txBody>
          <a:bodyPr>
            <a:normAutofit fontScale="90000"/>
          </a:bodyPr>
          <a:lstStyle/>
          <a:p>
            <a:r>
              <a:rPr lang="en-US" dirty="0" smtClean="0"/>
              <a:t>Contd..</a:t>
            </a:r>
            <a:endParaRPr lang="en-IN" dirty="0"/>
          </a:p>
        </p:txBody>
      </p:sp>
      <p:sp>
        <p:nvSpPr>
          <p:cNvPr id="3" name="Content Placeholder 2"/>
          <p:cNvSpPr>
            <a:spLocks noGrp="1"/>
          </p:cNvSpPr>
          <p:nvPr>
            <p:ph idx="1"/>
          </p:nvPr>
        </p:nvSpPr>
        <p:spPr>
          <a:xfrm>
            <a:off x="457200" y="720436"/>
            <a:ext cx="8229600" cy="5999019"/>
          </a:xfrm>
        </p:spPr>
        <p:txBody>
          <a:bodyPr>
            <a:normAutofit fontScale="70000" lnSpcReduction="20000"/>
          </a:bodyPr>
          <a:lstStyle/>
          <a:p>
            <a:pPr marL="0" indent="0">
              <a:buNone/>
            </a:pPr>
            <a:r>
              <a:rPr lang="en-US" b="1" dirty="0">
                <a:solidFill>
                  <a:srgbClr val="C00000"/>
                </a:solidFill>
              </a:rPr>
              <a:t>Rule 9: Logical Data Independence</a:t>
            </a:r>
          </a:p>
          <a:p>
            <a:r>
              <a:rPr lang="en-US" dirty="0"/>
              <a:t>If there is change in the logical structure(table structures) of the database the user view of data should not change. Say, if a table is split into two tables, a new view should give result as the join of the two tables. This rule is most difficult to satisfy.</a:t>
            </a:r>
          </a:p>
          <a:p>
            <a:pPr marL="0" indent="0">
              <a:buNone/>
            </a:pPr>
            <a:r>
              <a:rPr lang="en-US" dirty="0">
                <a:solidFill>
                  <a:srgbClr val="C00000"/>
                </a:solidFill>
              </a:rPr>
              <a:t>Rule 10: Integrity Independence</a:t>
            </a:r>
          </a:p>
          <a:p>
            <a:r>
              <a:rPr lang="en-US" dirty="0"/>
              <a:t>The database should be able to enforce its own integrity rather than using other programs. Key and Check constraints, trigger </a:t>
            </a:r>
            <a:r>
              <a:rPr lang="en-US" dirty="0" err="1"/>
              <a:t>etc</a:t>
            </a:r>
            <a:r>
              <a:rPr lang="en-US" dirty="0"/>
              <a:t>, should be stored in Data Dictionary. This also make </a:t>
            </a:r>
            <a:r>
              <a:rPr lang="en-US" b="1" dirty="0"/>
              <a:t>RDBMS</a:t>
            </a:r>
            <a:r>
              <a:rPr lang="en-US" dirty="0"/>
              <a:t> independent of front-end.</a:t>
            </a:r>
          </a:p>
          <a:p>
            <a:pPr marL="0" indent="0">
              <a:buNone/>
            </a:pPr>
            <a:r>
              <a:rPr lang="en-US" dirty="0">
                <a:solidFill>
                  <a:srgbClr val="C00000"/>
                </a:solidFill>
              </a:rPr>
              <a:t>Rule 11: Distribution Independence</a:t>
            </a:r>
          </a:p>
          <a:p>
            <a:r>
              <a:rPr lang="en-US" dirty="0"/>
              <a:t>A database should work properly regardless of its distribution across a network. Even if a database is geographically distributed, with data stored in pieces, the end user should get an impression that it is stored at the same place. This lays the foundation of </a:t>
            </a:r>
            <a:r>
              <a:rPr lang="en-US" b="1" dirty="0"/>
              <a:t>distributed database</a:t>
            </a:r>
            <a:r>
              <a:rPr lang="en-US" dirty="0"/>
              <a:t>.</a:t>
            </a:r>
          </a:p>
          <a:p>
            <a:pPr marL="0" indent="0">
              <a:buNone/>
            </a:pPr>
            <a:r>
              <a:rPr lang="en-US" b="1" dirty="0" smtClean="0">
                <a:solidFill>
                  <a:srgbClr val="C00000"/>
                </a:solidFill>
              </a:rPr>
              <a:t>Rule </a:t>
            </a:r>
            <a:r>
              <a:rPr lang="en-US" b="1" dirty="0">
                <a:solidFill>
                  <a:srgbClr val="C00000"/>
                </a:solidFill>
              </a:rPr>
              <a:t>12: </a:t>
            </a:r>
            <a:r>
              <a:rPr lang="en-US" b="1" dirty="0" err="1">
                <a:solidFill>
                  <a:srgbClr val="C00000"/>
                </a:solidFill>
              </a:rPr>
              <a:t>Nonsubversion</a:t>
            </a:r>
            <a:r>
              <a:rPr lang="en-US" b="1" dirty="0">
                <a:solidFill>
                  <a:srgbClr val="C00000"/>
                </a:solidFill>
              </a:rPr>
              <a:t> Rule</a:t>
            </a:r>
          </a:p>
          <a:p>
            <a:r>
              <a:rPr lang="en-US" dirty="0"/>
              <a:t>If low level access is allowed to a system it should not be able to subvert or bypass integrity rules to change the data. This can be achieved by some sort of looking or encryption.</a:t>
            </a:r>
          </a:p>
          <a:p>
            <a:endParaRPr lang="en-IN" dirty="0"/>
          </a:p>
        </p:txBody>
      </p:sp>
    </p:spTree>
    <p:extLst>
      <p:ext uri="{BB962C8B-B14F-4D97-AF65-F5344CB8AC3E}">
        <p14:creationId xmlns:p14="http://schemas.microsoft.com/office/powerpoint/2010/main" val="343257554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07253"/>
          </a:xfrm>
        </p:spPr>
        <p:txBody>
          <a:bodyPr>
            <a:normAutofit fontScale="90000"/>
          </a:bodyPr>
          <a:lstStyle/>
          <a:p>
            <a:r>
              <a:rPr lang="en-US" sz="3200" dirty="0" smtClean="0"/>
              <a:t>Summary</a:t>
            </a:r>
            <a:endParaRPr lang="en-IN" sz="32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270893527"/>
              </p:ext>
            </p:extLst>
          </p:nvPr>
        </p:nvGraphicFramePr>
        <p:xfrm>
          <a:off x="457200" y="581891"/>
          <a:ext cx="8354292" cy="6252120"/>
        </p:xfrm>
        <a:graphic>
          <a:graphicData uri="http://schemas.openxmlformats.org/drawingml/2006/table">
            <a:tbl>
              <a:tblPr/>
              <a:tblGrid>
                <a:gridCol w="4177146">
                  <a:extLst>
                    <a:ext uri="{9D8B030D-6E8A-4147-A177-3AD203B41FA5}">
                      <a16:colId xmlns:a16="http://schemas.microsoft.com/office/drawing/2014/main" val="3321432217"/>
                    </a:ext>
                  </a:extLst>
                </a:gridCol>
                <a:gridCol w="4177146">
                  <a:extLst>
                    <a:ext uri="{9D8B030D-6E8A-4147-A177-3AD203B41FA5}">
                      <a16:colId xmlns:a16="http://schemas.microsoft.com/office/drawing/2014/main" val="3124862177"/>
                    </a:ext>
                  </a:extLst>
                </a:gridCol>
              </a:tblGrid>
              <a:tr h="431471">
                <a:tc>
                  <a:txBody>
                    <a:bodyPr/>
                    <a:lstStyle/>
                    <a:p>
                      <a:r>
                        <a:rPr lang="en-IN" sz="2400" b="1" dirty="0">
                          <a:solidFill>
                            <a:srgbClr val="C00000"/>
                          </a:solidFill>
                        </a:rPr>
                        <a:t>Rule No.</a:t>
                      </a:r>
                    </a:p>
                  </a:txBody>
                  <a:tcPr marL="80821" marR="80821" marT="40410" marB="40410" anchor="ctr">
                    <a:lnL>
                      <a:noFill/>
                    </a:lnL>
                    <a:lnR>
                      <a:noFill/>
                    </a:lnR>
                    <a:lnT>
                      <a:noFill/>
                    </a:lnT>
                    <a:lnB>
                      <a:noFill/>
                    </a:lnB>
                  </a:tcPr>
                </a:tc>
                <a:tc>
                  <a:txBody>
                    <a:bodyPr/>
                    <a:lstStyle/>
                    <a:p>
                      <a:r>
                        <a:rPr lang="en-IN" sz="2400" b="1" dirty="0">
                          <a:solidFill>
                            <a:srgbClr val="C00000"/>
                          </a:solidFill>
                        </a:rPr>
                        <a:t>Rule Name</a:t>
                      </a:r>
                    </a:p>
                  </a:txBody>
                  <a:tcPr marL="80821" marR="80821" marT="40410" marB="40410" anchor="ctr">
                    <a:lnL>
                      <a:noFill/>
                    </a:lnL>
                    <a:lnR>
                      <a:noFill/>
                    </a:lnR>
                    <a:lnT>
                      <a:noFill/>
                    </a:lnT>
                    <a:lnB>
                      <a:noFill/>
                    </a:lnB>
                  </a:tcPr>
                </a:tc>
                <a:extLst>
                  <a:ext uri="{0D108BD9-81ED-4DB2-BD59-A6C34878D82A}">
                    <a16:rowId xmlns:a16="http://schemas.microsoft.com/office/drawing/2014/main" val="1658888324"/>
                  </a:ext>
                </a:extLst>
              </a:tr>
              <a:tr h="431471">
                <a:tc>
                  <a:txBody>
                    <a:bodyPr/>
                    <a:lstStyle/>
                    <a:p>
                      <a:r>
                        <a:rPr lang="en-IN" sz="2400" dirty="0"/>
                        <a:t>0</a:t>
                      </a:r>
                    </a:p>
                  </a:txBody>
                  <a:tcPr marL="80821" marR="80821" marT="40410" marB="40410" anchor="ctr">
                    <a:lnL>
                      <a:noFill/>
                    </a:lnL>
                    <a:lnR>
                      <a:noFill/>
                    </a:lnR>
                    <a:lnT>
                      <a:noFill/>
                    </a:lnT>
                    <a:lnB>
                      <a:noFill/>
                    </a:lnB>
                  </a:tcPr>
                </a:tc>
                <a:tc>
                  <a:txBody>
                    <a:bodyPr/>
                    <a:lstStyle/>
                    <a:p>
                      <a:r>
                        <a:rPr lang="en-IN" sz="2400" dirty="0"/>
                        <a:t>Foundation Rule</a:t>
                      </a:r>
                    </a:p>
                  </a:txBody>
                  <a:tcPr marL="80821" marR="80821" marT="40410" marB="40410" anchor="ctr">
                    <a:lnL>
                      <a:noFill/>
                    </a:lnL>
                    <a:lnR>
                      <a:noFill/>
                    </a:lnR>
                    <a:lnT>
                      <a:noFill/>
                    </a:lnT>
                    <a:lnB>
                      <a:noFill/>
                    </a:lnB>
                  </a:tcPr>
                </a:tc>
                <a:extLst>
                  <a:ext uri="{0D108BD9-81ED-4DB2-BD59-A6C34878D82A}">
                    <a16:rowId xmlns:a16="http://schemas.microsoft.com/office/drawing/2014/main" val="1678351685"/>
                  </a:ext>
                </a:extLst>
              </a:tr>
              <a:tr h="431471">
                <a:tc>
                  <a:txBody>
                    <a:bodyPr/>
                    <a:lstStyle/>
                    <a:p>
                      <a:r>
                        <a:rPr lang="en-IN" sz="2400" dirty="0"/>
                        <a:t>1</a:t>
                      </a:r>
                    </a:p>
                  </a:txBody>
                  <a:tcPr marL="80821" marR="80821" marT="40410" marB="40410" anchor="ctr">
                    <a:lnL>
                      <a:noFill/>
                    </a:lnL>
                    <a:lnR>
                      <a:noFill/>
                    </a:lnR>
                    <a:lnT>
                      <a:noFill/>
                    </a:lnT>
                    <a:lnB>
                      <a:noFill/>
                    </a:lnB>
                  </a:tcPr>
                </a:tc>
                <a:tc>
                  <a:txBody>
                    <a:bodyPr/>
                    <a:lstStyle/>
                    <a:p>
                      <a:r>
                        <a:rPr lang="en-IN" sz="2400"/>
                        <a:t>Information Rule</a:t>
                      </a:r>
                    </a:p>
                  </a:txBody>
                  <a:tcPr marL="80821" marR="80821" marT="40410" marB="40410" anchor="ctr">
                    <a:lnL>
                      <a:noFill/>
                    </a:lnL>
                    <a:lnR>
                      <a:noFill/>
                    </a:lnR>
                    <a:lnT>
                      <a:noFill/>
                    </a:lnT>
                    <a:lnB>
                      <a:noFill/>
                    </a:lnB>
                  </a:tcPr>
                </a:tc>
                <a:extLst>
                  <a:ext uri="{0D108BD9-81ED-4DB2-BD59-A6C34878D82A}">
                    <a16:rowId xmlns:a16="http://schemas.microsoft.com/office/drawing/2014/main" val="1720931980"/>
                  </a:ext>
                </a:extLst>
              </a:tr>
              <a:tr h="431471">
                <a:tc>
                  <a:txBody>
                    <a:bodyPr/>
                    <a:lstStyle/>
                    <a:p>
                      <a:r>
                        <a:rPr lang="en-IN" sz="2400" dirty="0"/>
                        <a:t>2</a:t>
                      </a:r>
                    </a:p>
                  </a:txBody>
                  <a:tcPr marL="80821" marR="80821" marT="40410" marB="40410" anchor="ctr">
                    <a:lnL>
                      <a:noFill/>
                    </a:lnL>
                    <a:lnR>
                      <a:noFill/>
                    </a:lnR>
                    <a:lnT>
                      <a:noFill/>
                    </a:lnT>
                    <a:lnB>
                      <a:noFill/>
                    </a:lnB>
                  </a:tcPr>
                </a:tc>
                <a:tc>
                  <a:txBody>
                    <a:bodyPr/>
                    <a:lstStyle/>
                    <a:p>
                      <a:r>
                        <a:rPr lang="en-IN" sz="2400"/>
                        <a:t>Guaranteed Access</a:t>
                      </a:r>
                    </a:p>
                  </a:txBody>
                  <a:tcPr marL="80821" marR="80821" marT="40410" marB="40410" anchor="ctr">
                    <a:lnL>
                      <a:noFill/>
                    </a:lnL>
                    <a:lnR>
                      <a:noFill/>
                    </a:lnR>
                    <a:lnT>
                      <a:noFill/>
                    </a:lnT>
                    <a:lnB>
                      <a:noFill/>
                    </a:lnB>
                  </a:tcPr>
                </a:tc>
                <a:extLst>
                  <a:ext uri="{0D108BD9-81ED-4DB2-BD59-A6C34878D82A}">
                    <a16:rowId xmlns:a16="http://schemas.microsoft.com/office/drawing/2014/main" val="624934783"/>
                  </a:ext>
                </a:extLst>
              </a:tr>
              <a:tr h="431471">
                <a:tc>
                  <a:txBody>
                    <a:bodyPr/>
                    <a:lstStyle/>
                    <a:p>
                      <a:r>
                        <a:rPr lang="en-IN" sz="2400" dirty="0"/>
                        <a:t>3</a:t>
                      </a:r>
                    </a:p>
                  </a:txBody>
                  <a:tcPr marL="80821" marR="80821" marT="40410" marB="40410" anchor="ctr">
                    <a:lnL>
                      <a:noFill/>
                    </a:lnL>
                    <a:lnR>
                      <a:noFill/>
                    </a:lnR>
                    <a:lnT>
                      <a:noFill/>
                    </a:lnT>
                    <a:lnB>
                      <a:noFill/>
                    </a:lnB>
                  </a:tcPr>
                </a:tc>
                <a:tc>
                  <a:txBody>
                    <a:bodyPr/>
                    <a:lstStyle/>
                    <a:p>
                      <a:r>
                        <a:rPr lang="en-IN" sz="2400" dirty="0"/>
                        <a:t>NULL Value Handling</a:t>
                      </a:r>
                    </a:p>
                  </a:txBody>
                  <a:tcPr marL="80821" marR="80821" marT="40410" marB="40410" anchor="ctr">
                    <a:lnL>
                      <a:noFill/>
                    </a:lnL>
                    <a:lnR>
                      <a:noFill/>
                    </a:lnR>
                    <a:lnT>
                      <a:noFill/>
                    </a:lnT>
                    <a:lnB>
                      <a:noFill/>
                    </a:lnB>
                  </a:tcPr>
                </a:tc>
                <a:extLst>
                  <a:ext uri="{0D108BD9-81ED-4DB2-BD59-A6C34878D82A}">
                    <a16:rowId xmlns:a16="http://schemas.microsoft.com/office/drawing/2014/main" val="3423951420"/>
                  </a:ext>
                </a:extLst>
              </a:tr>
              <a:tr h="431471">
                <a:tc>
                  <a:txBody>
                    <a:bodyPr/>
                    <a:lstStyle/>
                    <a:p>
                      <a:r>
                        <a:rPr lang="en-IN" sz="2400"/>
                        <a:t>4</a:t>
                      </a:r>
                    </a:p>
                  </a:txBody>
                  <a:tcPr marL="80821" marR="80821" marT="40410" marB="40410" anchor="ctr">
                    <a:lnL>
                      <a:noFill/>
                    </a:lnL>
                    <a:lnR>
                      <a:noFill/>
                    </a:lnR>
                    <a:lnT>
                      <a:noFill/>
                    </a:lnT>
                    <a:lnB>
                      <a:noFill/>
                    </a:lnB>
                  </a:tcPr>
                </a:tc>
                <a:tc>
                  <a:txBody>
                    <a:bodyPr/>
                    <a:lstStyle/>
                    <a:p>
                      <a:r>
                        <a:rPr lang="en-IN" sz="2400" dirty="0"/>
                        <a:t>Dynamic Online Catalog</a:t>
                      </a:r>
                    </a:p>
                  </a:txBody>
                  <a:tcPr marL="80821" marR="80821" marT="40410" marB="40410" anchor="ctr">
                    <a:lnL>
                      <a:noFill/>
                    </a:lnL>
                    <a:lnR>
                      <a:noFill/>
                    </a:lnR>
                    <a:lnT>
                      <a:noFill/>
                    </a:lnT>
                    <a:lnB>
                      <a:noFill/>
                    </a:lnB>
                  </a:tcPr>
                </a:tc>
                <a:extLst>
                  <a:ext uri="{0D108BD9-81ED-4DB2-BD59-A6C34878D82A}">
                    <a16:rowId xmlns:a16="http://schemas.microsoft.com/office/drawing/2014/main" val="1173093283"/>
                  </a:ext>
                </a:extLst>
              </a:tr>
              <a:tr h="431471">
                <a:tc>
                  <a:txBody>
                    <a:bodyPr/>
                    <a:lstStyle/>
                    <a:p>
                      <a:r>
                        <a:rPr lang="en-IN" sz="2400"/>
                        <a:t>5</a:t>
                      </a:r>
                    </a:p>
                  </a:txBody>
                  <a:tcPr marL="80821" marR="80821" marT="40410" marB="40410" anchor="ctr">
                    <a:lnL>
                      <a:noFill/>
                    </a:lnL>
                    <a:lnR>
                      <a:noFill/>
                    </a:lnR>
                    <a:lnT>
                      <a:noFill/>
                    </a:lnT>
                    <a:lnB>
                      <a:noFill/>
                    </a:lnB>
                  </a:tcPr>
                </a:tc>
                <a:tc>
                  <a:txBody>
                    <a:bodyPr/>
                    <a:lstStyle/>
                    <a:p>
                      <a:r>
                        <a:rPr lang="en-IN" sz="2400" dirty="0"/>
                        <a:t>Comprehensive Sublanguage</a:t>
                      </a:r>
                    </a:p>
                  </a:txBody>
                  <a:tcPr marL="80821" marR="80821" marT="40410" marB="40410" anchor="ctr">
                    <a:lnL>
                      <a:noFill/>
                    </a:lnL>
                    <a:lnR>
                      <a:noFill/>
                    </a:lnR>
                    <a:lnT>
                      <a:noFill/>
                    </a:lnT>
                    <a:lnB>
                      <a:noFill/>
                    </a:lnB>
                  </a:tcPr>
                </a:tc>
                <a:extLst>
                  <a:ext uri="{0D108BD9-81ED-4DB2-BD59-A6C34878D82A}">
                    <a16:rowId xmlns:a16="http://schemas.microsoft.com/office/drawing/2014/main" val="3601250614"/>
                  </a:ext>
                </a:extLst>
              </a:tr>
              <a:tr h="431471">
                <a:tc>
                  <a:txBody>
                    <a:bodyPr/>
                    <a:lstStyle/>
                    <a:p>
                      <a:r>
                        <a:rPr lang="en-IN" sz="2400"/>
                        <a:t>6</a:t>
                      </a:r>
                    </a:p>
                  </a:txBody>
                  <a:tcPr marL="80821" marR="80821" marT="40410" marB="40410" anchor="ctr">
                    <a:lnL>
                      <a:noFill/>
                    </a:lnL>
                    <a:lnR>
                      <a:noFill/>
                    </a:lnR>
                    <a:lnT>
                      <a:noFill/>
                    </a:lnT>
                    <a:lnB>
                      <a:noFill/>
                    </a:lnB>
                  </a:tcPr>
                </a:tc>
                <a:tc>
                  <a:txBody>
                    <a:bodyPr/>
                    <a:lstStyle/>
                    <a:p>
                      <a:r>
                        <a:rPr lang="en-IN" sz="2400" dirty="0"/>
                        <a:t>View Updating</a:t>
                      </a:r>
                    </a:p>
                  </a:txBody>
                  <a:tcPr marL="80821" marR="80821" marT="40410" marB="40410" anchor="ctr">
                    <a:lnL>
                      <a:noFill/>
                    </a:lnL>
                    <a:lnR>
                      <a:noFill/>
                    </a:lnR>
                    <a:lnT>
                      <a:noFill/>
                    </a:lnT>
                    <a:lnB>
                      <a:noFill/>
                    </a:lnB>
                  </a:tcPr>
                </a:tc>
                <a:extLst>
                  <a:ext uri="{0D108BD9-81ED-4DB2-BD59-A6C34878D82A}">
                    <a16:rowId xmlns:a16="http://schemas.microsoft.com/office/drawing/2014/main" val="2645038025"/>
                  </a:ext>
                </a:extLst>
              </a:tr>
              <a:tr h="431471">
                <a:tc>
                  <a:txBody>
                    <a:bodyPr/>
                    <a:lstStyle/>
                    <a:p>
                      <a:r>
                        <a:rPr lang="en-IN" sz="2400"/>
                        <a:t>7</a:t>
                      </a:r>
                    </a:p>
                  </a:txBody>
                  <a:tcPr marL="80821" marR="80821" marT="40410" marB="40410" anchor="ctr">
                    <a:lnL>
                      <a:noFill/>
                    </a:lnL>
                    <a:lnR>
                      <a:noFill/>
                    </a:lnR>
                    <a:lnT>
                      <a:noFill/>
                    </a:lnT>
                    <a:lnB>
                      <a:noFill/>
                    </a:lnB>
                  </a:tcPr>
                </a:tc>
                <a:tc>
                  <a:txBody>
                    <a:bodyPr/>
                    <a:lstStyle/>
                    <a:p>
                      <a:r>
                        <a:rPr lang="en-IN" sz="2400" dirty="0"/>
                        <a:t>High-Level Operations</a:t>
                      </a:r>
                    </a:p>
                  </a:txBody>
                  <a:tcPr marL="80821" marR="80821" marT="40410" marB="40410" anchor="ctr">
                    <a:lnL>
                      <a:noFill/>
                    </a:lnL>
                    <a:lnR>
                      <a:noFill/>
                    </a:lnR>
                    <a:lnT>
                      <a:noFill/>
                    </a:lnT>
                    <a:lnB>
                      <a:noFill/>
                    </a:lnB>
                  </a:tcPr>
                </a:tc>
                <a:extLst>
                  <a:ext uri="{0D108BD9-81ED-4DB2-BD59-A6C34878D82A}">
                    <a16:rowId xmlns:a16="http://schemas.microsoft.com/office/drawing/2014/main" val="3003665612"/>
                  </a:ext>
                </a:extLst>
              </a:tr>
              <a:tr h="431471">
                <a:tc>
                  <a:txBody>
                    <a:bodyPr/>
                    <a:lstStyle/>
                    <a:p>
                      <a:r>
                        <a:rPr lang="en-IN" sz="2400"/>
                        <a:t>8</a:t>
                      </a:r>
                    </a:p>
                  </a:txBody>
                  <a:tcPr marL="80821" marR="80821" marT="40410" marB="40410" anchor="ctr">
                    <a:lnL>
                      <a:noFill/>
                    </a:lnL>
                    <a:lnR>
                      <a:noFill/>
                    </a:lnR>
                    <a:lnT>
                      <a:noFill/>
                    </a:lnT>
                    <a:lnB>
                      <a:noFill/>
                    </a:lnB>
                  </a:tcPr>
                </a:tc>
                <a:tc>
                  <a:txBody>
                    <a:bodyPr/>
                    <a:lstStyle/>
                    <a:p>
                      <a:r>
                        <a:rPr lang="en-IN" sz="2400" dirty="0"/>
                        <a:t>Physical Data Independence</a:t>
                      </a:r>
                    </a:p>
                  </a:txBody>
                  <a:tcPr marL="80821" marR="80821" marT="40410" marB="40410" anchor="ctr">
                    <a:lnL>
                      <a:noFill/>
                    </a:lnL>
                    <a:lnR>
                      <a:noFill/>
                    </a:lnR>
                    <a:lnT>
                      <a:noFill/>
                    </a:lnT>
                    <a:lnB>
                      <a:noFill/>
                    </a:lnB>
                  </a:tcPr>
                </a:tc>
                <a:extLst>
                  <a:ext uri="{0D108BD9-81ED-4DB2-BD59-A6C34878D82A}">
                    <a16:rowId xmlns:a16="http://schemas.microsoft.com/office/drawing/2014/main" val="327841296"/>
                  </a:ext>
                </a:extLst>
              </a:tr>
              <a:tr h="431471">
                <a:tc>
                  <a:txBody>
                    <a:bodyPr/>
                    <a:lstStyle/>
                    <a:p>
                      <a:r>
                        <a:rPr lang="en-IN" sz="2400"/>
                        <a:t>9</a:t>
                      </a:r>
                    </a:p>
                  </a:txBody>
                  <a:tcPr marL="80821" marR="80821" marT="40410" marB="40410" anchor="ctr">
                    <a:lnL>
                      <a:noFill/>
                    </a:lnL>
                    <a:lnR>
                      <a:noFill/>
                    </a:lnR>
                    <a:lnT>
                      <a:noFill/>
                    </a:lnT>
                    <a:lnB>
                      <a:noFill/>
                    </a:lnB>
                  </a:tcPr>
                </a:tc>
                <a:tc>
                  <a:txBody>
                    <a:bodyPr/>
                    <a:lstStyle/>
                    <a:p>
                      <a:r>
                        <a:rPr lang="en-IN" sz="2400" dirty="0"/>
                        <a:t>Logical Data Independence</a:t>
                      </a:r>
                    </a:p>
                  </a:txBody>
                  <a:tcPr marL="80821" marR="80821" marT="40410" marB="40410" anchor="ctr">
                    <a:lnL>
                      <a:noFill/>
                    </a:lnL>
                    <a:lnR>
                      <a:noFill/>
                    </a:lnR>
                    <a:lnT>
                      <a:noFill/>
                    </a:lnT>
                    <a:lnB>
                      <a:noFill/>
                    </a:lnB>
                  </a:tcPr>
                </a:tc>
                <a:extLst>
                  <a:ext uri="{0D108BD9-81ED-4DB2-BD59-A6C34878D82A}">
                    <a16:rowId xmlns:a16="http://schemas.microsoft.com/office/drawing/2014/main" val="2614612933"/>
                  </a:ext>
                </a:extLst>
              </a:tr>
              <a:tr h="431471">
                <a:tc>
                  <a:txBody>
                    <a:bodyPr/>
                    <a:lstStyle/>
                    <a:p>
                      <a:r>
                        <a:rPr lang="en-IN" sz="2400"/>
                        <a:t>10</a:t>
                      </a:r>
                    </a:p>
                  </a:txBody>
                  <a:tcPr marL="80821" marR="80821" marT="40410" marB="40410" anchor="ctr">
                    <a:lnL>
                      <a:noFill/>
                    </a:lnL>
                    <a:lnR>
                      <a:noFill/>
                    </a:lnR>
                    <a:lnT>
                      <a:noFill/>
                    </a:lnT>
                    <a:lnB>
                      <a:noFill/>
                    </a:lnB>
                  </a:tcPr>
                </a:tc>
                <a:tc>
                  <a:txBody>
                    <a:bodyPr/>
                    <a:lstStyle/>
                    <a:p>
                      <a:r>
                        <a:rPr lang="en-IN" sz="2400" dirty="0"/>
                        <a:t>Integrity Independence</a:t>
                      </a:r>
                    </a:p>
                  </a:txBody>
                  <a:tcPr marL="80821" marR="80821" marT="40410" marB="40410" anchor="ctr">
                    <a:lnL>
                      <a:noFill/>
                    </a:lnL>
                    <a:lnR>
                      <a:noFill/>
                    </a:lnR>
                    <a:lnT>
                      <a:noFill/>
                    </a:lnT>
                    <a:lnB>
                      <a:noFill/>
                    </a:lnB>
                  </a:tcPr>
                </a:tc>
                <a:extLst>
                  <a:ext uri="{0D108BD9-81ED-4DB2-BD59-A6C34878D82A}">
                    <a16:rowId xmlns:a16="http://schemas.microsoft.com/office/drawing/2014/main" val="3013323819"/>
                  </a:ext>
                </a:extLst>
              </a:tr>
              <a:tr h="431471">
                <a:tc>
                  <a:txBody>
                    <a:bodyPr/>
                    <a:lstStyle/>
                    <a:p>
                      <a:r>
                        <a:rPr lang="en-IN" sz="2400"/>
                        <a:t>11</a:t>
                      </a:r>
                    </a:p>
                  </a:txBody>
                  <a:tcPr marL="80821" marR="80821" marT="40410" marB="40410" anchor="ctr">
                    <a:lnL>
                      <a:noFill/>
                    </a:lnL>
                    <a:lnR>
                      <a:noFill/>
                    </a:lnR>
                    <a:lnT>
                      <a:noFill/>
                    </a:lnT>
                    <a:lnB>
                      <a:noFill/>
                    </a:lnB>
                  </a:tcPr>
                </a:tc>
                <a:tc>
                  <a:txBody>
                    <a:bodyPr/>
                    <a:lstStyle/>
                    <a:p>
                      <a:r>
                        <a:rPr lang="en-IN" sz="2400" dirty="0"/>
                        <a:t>Distribution Independence</a:t>
                      </a:r>
                    </a:p>
                  </a:txBody>
                  <a:tcPr marL="80821" marR="80821" marT="40410" marB="40410" anchor="ctr">
                    <a:lnL>
                      <a:noFill/>
                    </a:lnL>
                    <a:lnR>
                      <a:noFill/>
                    </a:lnR>
                    <a:lnT>
                      <a:noFill/>
                    </a:lnT>
                    <a:lnB>
                      <a:noFill/>
                    </a:lnB>
                  </a:tcPr>
                </a:tc>
                <a:extLst>
                  <a:ext uri="{0D108BD9-81ED-4DB2-BD59-A6C34878D82A}">
                    <a16:rowId xmlns:a16="http://schemas.microsoft.com/office/drawing/2014/main" val="2610379362"/>
                  </a:ext>
                </a:extLst>
              </a:tr>
              <a:tr h="431471">
                <a:tc>
                  <a:txBody>
                    <a:bodyPr/>
                    <a:lstStyle/>
                    <a:p>
                      <a:r>
                        <a:rPr lang="en-IN" sz="2400" dirty="0"/>
                        <a:t>12</a:t>
                      </a:r>
                    </a:p>
                  </a:txBody>
                  <a:tcPr marL="80821" marR="80821" marT="40410" marB="40410" anchor="ctr">
                    <a:lnL>
                      <a:noFill/>
                    </a:lnL>
                    <a:lnR>
                      <a:noFill/>
                    </a:lnR>
                    <a:lnT>
                      <a:noFill/>
                    </a:lnT>
                    <a:lnB>
                      <a:noFill/>
                    </a:lnB>
                  </a:tcPr>
                </a:tc>
                <a:tc>
                  <a:txBody>
                    <a:bodyPr/>
                    <a:lstStyle/>
                    <a:p>
                      <a:r>
                        <a:rPr lang="en-IN" sz="2400" dirty="0"/>
                        <a:t>Non-Subversion</a:t>
                      </a:r>
                    </a:p>
                  </a:txBody>
                  <a:tcPr marL="80821" marR="80821" marT="40410" marB="40410" anchor="ctr">
                    <a:lnL>
                      <a:noFill/>
                    </a:lnL>
                    <a:lnR>
                      <a:noFill/>
                    </a:lnR>
                    <a:lnT>
                      <a:noFill/>
                    </a:lnT>
                    <a:lnB>
                      <a:noFill/>
                    </a:lnB>
                  </a:tcPr>
                </a:tc>
                <a:extLst>
                  <a:ext uri="{0D108BD9-81ED-4DB2-BD59-A6C34878D82A}">
                    <a16:rowId xmlns:a16="http://schemas.microsoft.com/office/drawing/2014/main" val="206746740"/>
                  </a:ext>
                </a:extLst>
              </a:tr>
            </a:tbl>
          </a:graphicData>
        </a:graphic>
      </p:graphicFrame>
    </p:spTree>
    <p:extLst>
      <p:ext uri="{BB962C8B-B14F-4D97-AF65-F5344CB8AC3E}">
        <p14:creationId xmlns:p14="http://schemas.microsoft.com/office/powerpoint/2010/main" val="167447834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spTree>
    <p:extLst>
      <p:ext uri="{BB962C8B-B14F-4D97-AF65-F5344CB8AC3E}">
        <p14:creationId xmlns:p14="http://schemas.microsoft.com/office/powerpoint/2010/main" val="211026910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618</TotalTime>
  <Words>1974</Words>
  <Application>Microsoft Office PowerPoint</Application>
  <PresentationFormat>On-screen Show (4:3)</PresentationFormat>
  <Paragraphs>433</Paragraphs>
  <Slides>32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Structure, Components &amp; functions of DBMS By: Dr. Subhasish Mohapatra</vt:lpstr>
      <vt:lpstr>Components of DBS</vt:lpstr>
      <vt:lpstr>Components of DBS …</vt:lpstr>
      <vt:lpstr>Components of DBS …</vt:lpstr>
      <vt:lpstr>PowerPoint Presentation</vt:lpstr>
      <vt:lpstr>Types of Database Languages</vt:lpstr>
      <vt:lpstr>SQL (Structured Query Language)</vt:lpstr>
      <vt:lpstr>Visual Comparison of Database Languages</vt:lpstr>
      <vt:lpstr>Structure of DBMS</vt:lpstr>
      <vt:lpstr>Functions / Features of DBMS</vt:lpstr>
      <vt:lpstr>Summary</vt:lpstr>
      <vt:lpstr>Data Abstraction </vt:lpstr>
      <vt:lpstr> Data Independence </vt:lpstr>
      <vt:lpstr>Difference </vt:lpstr>
      <vt:lpstr> Data Models (DBMS) </vt:lpstr>
      <vt:lpstr> Types of Data Models </vt:lpstr>
      <vt:lpstr>Contd..</vt:lpstr>
      <vt:lpstr>Difference</vt:lpstr>
      <vt:lpstr> Parallel Database </vt:lpstr>
      <vt:lpstr>Contd.</vt:lpstr>
      <vt:lpstr>PowerPoint Presentation</vt:lpstr>
      <vt:lpstr>Data Warehousing </vt:lpstr>
      <vt:lpstr>PowerPoint Presentation</vt:lpstr>
      <vt:lpstr>Data Mining </vt:lpstr>
      <vt:lpstr>Difference</vt:lpstr>
      <vt:lpstr> Big Data &amp; NO SQL </vt:lpstr>
      <vt:lpstr>Codd's Rule for Relational DBMS </vt:lpstr>
      <vt:lpstr>Contd…</vt:lpstr>
      <vt:lpstr>Contd…</vt:lpstr>
      <vt:lpstr>Contd..</vt:lpstr>
      <vt:lpstr>Summary</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Database Systems</dc:title>
  <dc:subject/>
  <dc:creator>Satyabrat Sahoo</dc:creator>
  <cp:keywords/>
  <dc:description>generated using python-pptx</dc:description>
  <cp:lastModifiedBy>Subhasish_Mohapatra</cp:lastModifiedBy>
  <cp:revision>204</cp:revision>
  <dcterms:created xsi:type="dcterms:W3CDTF">2013-01-27T09:14:16Z</dcterms:created>
  <dcterms:modified xsi:type="dcterms:W3CDTF">2026-01-15T10:04:13Z</dcterms:modified>
  <cp:category/>
</cp:coreProperties>
</file>