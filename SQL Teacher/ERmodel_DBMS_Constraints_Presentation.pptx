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1" r:id="rId3"/>
    <p:sldId id="292" r:id="rId4"/>
    <p:sldId id="293" r:id="rId5"/>
    <p:sldId id="294" r:id="rId6"/>
    <p:sldId id="295" r:id="rId7"/>
    <p:sldId id="296" r:id="rId8"/>
    <p:sldId id="309" r:id="rId9"/>
    <p:sldId id="297" r:id="rId10"/>
    <p:sldId id="298" r:id="rId11"/>
    <p:sldId id="299" r:id="rId12"/>
    <p:sldId id="301" r:id="rId13"/>
    <p:sldId id="302" r:id="rId14"/>
    <p:sldId id="303" r:id="rId15"/>
    <p:sldId id="304" r:id="rId16"/>
    <p:sldId id="305" r:id="rId17"/>
    <p:sldId id="306" r:id="rId18"/>
    <p:sldId id="308" r:id="rId19"/>
    <p:sldId id="307"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257" r:id="rId39"/>
    <p:sldId id="258" r:id="rId40"/>
    <p:sldId id="259" r:id="rId41"/>
    <p:sldId id="260" r:id="rId42"/>
    <p:sldId id="261" r:id="rId43"/>
    <p:sldId id="272" r:id="rId44"/>
    <p:sldId id="273" r:id="rId45"/>
    <p:sldId id="262" r:id="rId46"/>
    <p:sldId id="263" r:id="rId47"/>
    <p:sldId id="264" r:id="rId48"/>
    <p:sldId id="265" r:id="rId49"/>
    <p:sldId id="266" r:id="rId50"/>
    <p:sldId id="267" r:id="rId51"/>
    <p:sldId id="268" r:id="rId52"/>
    <p:sldId id="269" r:id="rId53"/>
    <p:sldId id="270" r:id="rId54"/>
    <p:sldId id="271" r:id="rId55"/>
    <p:sldId id="274" r:id="rId56"/>
    <p:sldId id="275" r:id="rId57"/>
    <p:sldId id="276" r:id="rId58"/>
    <p:sldId id="287" r:id="rId59"/>
    <p:sldId id="277" r:id="rId60"/>
    <p:sldId id="278" r:id="rId61"/>
    <p:sldId id="279" r:id="rId62"/>
    <p:sldId id="280" r:id="rId63"/>
    <p:sldId id="281" r:id="rId64"/>
    <p:sldId id="282" r:id="rId65"/>
    <p:sldId id="283" r:id="rId66"/>
    <p:sldId id="284" r:id="rId67"/>
    <p:sldId id="337" r:id="rId68"/>
    <p:sldId id="338" r:id="rId69"/>
    <p:sldId id="339" r:id="rId70"/>
    <p:sldId id="340" r:id="rId71"/>
    <p:sldId id="341" r:id="rId72"/>
    <p:sldId id="342" r:id="rId73"/>
    <p:sldId id="285" r:id="rId74"/>
    <p:sldId id="286" r:id="rId75"/>
    <p:sldId id="343" r:id="rId76"/>
    <p:sldId id="344" r:id="rId77"/>
    <p:sldId id="345" r:id="rId78"/>
    <p:sldId id="346" r:id="rId79"/>
    <p:sldId id="347" r:id="rId80"/>
    <p:sldId id="348" r:id="rId81"/>
    <p:sldId id="288" r:id="rId82"/>
    <p:sldId id="289" r:id="rId83"/>
    <p:sldId id="290" r:id="rId84"/>
    <p:sldId id="370" r:id="rId85"/>
    <p:sldId id="328" r:id="rId86"/>
    <p:sldId id="329" r:id="rId87"/>
    <p:sldId id="330" r:id="rId88"/>
    <p:sldId id="331" r:id="rId89"/>
    <p:sldId id="332" r:id="rId90"/>
    <p:sldId id="333" r:id="rId91"/>
    <p:sldId id="334" r:id="rId92"/>
    <p:sldId id="335" r:id="rId93"/>
    <p:sldId id="336"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5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simplilearn.com/tutorials/sql-tutorial/create-mysql-databas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0.wmf"/></Relationships>
</file>

<file path=ppt/slides/_rels/slide6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2.wmf"/></Relationships>
</file>

<file path=ppt/slides/_rels/slide7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0.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1.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0.wmf"/><Relationship Id="rId4" Type="http://schemas.openxmlformats.org/officeDocument/2006/relationships/oleObject" Target="../embeddings/oleObject1.bin"/></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0.wmf"/><Relationship Id="rId5" Type="http://schemas.openxmlformats.org/officeDocument/2006/relationships/oleObject" Target="../embeddings/oleObject1.bin"/><Relationship Id="rId4" Type="http://schemas.openxmlformats.org/officeDocument/2006/relationships/image" Target="../media/image55.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6.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57.w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58.w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www.prepbytes.com/blog/computer-architecture/ardens-theorem-in-to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ERD/</a:t>
            </a:r>
            <a:r>
              <a:rPr dirty="0" smtClean="0"/>
              <a:t>Constraints </a:t>
            </a:r>
            <a:r>
              <a:rPr dirty="0"/>
              <a:t>in DBMS &amp; Foreign Key Relationships</a:t>
            </a:r>
          </a:p>
        </p:txBody>
      </p:sp>
      <p:sp>
        <p:nvSpPr>
          <p:cNvPr id="3" name="Content Placeholder 2"/>
          <p:cNvSpPr>
            <a:spLocks noGrp="1"/>
          </p:cNvSpPr>
          <p:nvPr>
            <p:ph idx="1"/>
          </p:nvPr>
        </p:nvSpPr>
        <p:spPr/>
        <p:txBody>
          <a:bodyPr/>
          <a:lstStyle/>
          <a:p>
            <a:pPr marL="0" indent="0" algn="ctr">
              <a:buNone/>
            </a:pPr>
            <a:endParaRPr lang="en-US" i="1" dirty="0" smtClean="0">
              <a:solidFill>
                <a:srgbClr val="FF0000"/>
              </a:solidFill>
            </a:endParaRPr>
          </a:p>
          <a:p>
            <a:pPr marL="0" indent="0" algn="ctr">
              <a:buNone/>
            </a:pPr>
            <a:endParaRPr lang="en-US" i="1" dirty="0">
              <a:solidFill>
                <a:srgbClr val="FF0000"/>
              </a:solidFill>
            </a:endParaRPr>
          </a:p>
          <a:p>
            <a:pPr marL="0" indent="0" algn="ctr">
              <a:buNone/>
            </a:pPr>
            <a:r>
              <a:rPr i="1" dirty="0" smtClean="0">
                <a:solidFill>
                  <a:srgbClr val="FF0000"/>
                </a:solidFill>
              </a:rPr>
              <a:t>Understanding </a:t>
            </a:r>
            <a:r>
              <a:rPr i="1" dirty="0">
                <a:solidFill>
                  <a:srgbClr val="FF0000"/>
                </a:solidFill>
              </a:rPr>
              <a:t>Constraints, Parent-Child Tables, and Cascading Effects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an ER Model?</a:t>
            </a:r>
            <a:br>
              <a:rPr lang="en-US" dirty="0"/>
            </a:br>
            <a:endParaRPr lang="en-IN" dirty="0"/>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pPr marL="0" indent="0" algn="just">
              <a:buNone/>
            </a:pPr>
            <a:r>
              <a:rPr lang="en-US" dirty="0" smtClean="0"/>
              <a:t>An </a:t>
            </a:r>
            <a:r>
              <a:rPr lang="en-US" dirty="0"/>
              <a:t>Entity-Relationship Model represents the structure of the </a:t>
            </a:r>
            <a:r>
              <a:rPr lang="en-US" dirty="0">
                <a:hlinkClick r:id="rId2" tooltip="database"/>
              </a:rPr>
              <a:t>database</a:t>
            </a:r>
            <a:r>
              <a:rPr lang="en-US" dirty="0"/>
              <a:t> with the help of a diagram. ER Modelling is a systematic process to design a database as it would require you to analyze all data requirements before implementing your database</a:t>
            </a:r>
            <a:r>
              <a:rPr lang="en-US" dirty="0" smtClean="0"/>
              <a:t>.</a:t>
            </a:r>
          </a:p>
          <a:p>
            <a:pPr marL="0" indent="0" algn="just">
              <a:buNone/>
            </a:pPr>
            <a:r>
              <a:rPr lang="en-US" b="1" i="1" u="sng" dirty="0"/>
              <a:t>History of ER models</a:t>
            </a:r>
          </a:p>
          <a:p>
            <a:pPr marL="0" indent="0" algn="just">
              <a:buNone/>
            </a:pPr>
            <a:r>
              <a:rPr lang="en-US" dirty="0"/>
              <a:t>Peter Chen proposed ER Diagrams in 1971 to create a uniform convention that can be used as a conceptual modeling tool. Many models were presented and discussed, but none were suitable. The data structure diagrams offered by Charles Bachman also inspired his model.</a:t>
            </a:r>
          </a:p>
          <a:p>
            <a:pPr algn="just"/>
            <a:endParaRPr lang="en-US" dirty="0"/>
          </a:p>
          <a:p>
            <a:endParaRPr lang="en-IN" dirty="0"/>
          </a:p>
        </p:txBody>
      </p:sp>
    </p:spTree>
    <p:extLst>
      <p:ext uri="{BB962C8B-B14F-4D97-AF65-F5344CB8AC3E}">
        <p14:creationId xmlns:p14="http://schemas.microsoft.com/office/powerpoint/2010/main" val="38743744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053"/>
          </a:xfrm>
        </p:spPr>
        <p:txBody>
          <a:bodyPr>
            <a:normAutofit fontScale="90000"/>
          </a:bodyPr>
          <a:lstStyle/>
          <a:p>
            <a:r>
              <a:rPr lang="en-US" dirty="0" smtClean="0"/>
              <a:t/>
            </a:r>
            <a:br>
              <a:rPr lang="en-US" dirty="0" smtClean="0"/>
            </a:br>
            <a:r>
              <a:rPr lang="en-US" dirty="0" smtClean="0"/>
              <a:t>Why </a:t>
            </a:r>
            <a:r>
              <a:rPr lang="en-US" dirty="0"/>
              <a:t>Use ER Diagrams in DBMS?</a:t>
            </a:r>
            <a:br>
              <a:rPr lang="en-US" dirty="0"/>
            </a:br>
            <a:endParaRPr lang="en-IN" dirty="0"/>
          </a:p>
        </p:txBody>
      </p:sp>
      <p:sp>
        <p:nvSpPr>
          <p:cNvPr id="3" name="Content Placeholder 2"/>
          <p:cNvSpPr>
            <a:spLocks noGrp="1"/>
          </p:cNvSpPr>
          <p:nvPr>
            <p:ph idx="1"/>
          </p:nvPr>
        </p:nvSpPr>
        <p:spPr>
          <a:xfrm>
            <a:off x="457200" y="886692"/>
            <a:ext cx="8229600" cy="5239472"/>
          </a:xfrm>
        </p:spPr>
        <p:txBody>
          <a:bodyPr>
            <a:normAutofit fontScale="92500" lnSpcReduction="10000"/>
          </a:bodyPr>
          <a:lstStyle/>
          <a:p>
            <a:pPr algn="just"/>
            <a:r>
              <a:rPr lang="en-US" dirty="0" smtClean="0"/>
              <a:t>ER </a:t>
            </a:r>
            <a:r>
              <a:rPr lang="en-US" dirty="0"/>
              <a:t>Diagram helps you conceptualize the database and lets you know which fields need to be embedded for a particular entity</a:t>
            </a:r>
          </a:p>
          <a:p>
            <a:pPr algn="just"/>
            <a:r>
              <a:rPr lang="en-US" dirty="0"/>
              <a:t>ER Diagram gives a better understanding of the information to be stored in a database</a:t>
            </a:r>
          </a:p>
          <a:p>
            <a:pPr algn="just"/>
            <a:r>
              <a:rPr lang="en-US" dirty="0"/>
              <a:t>It reduces complexity and allows database designers to build databases quickly</a:t>
            </a:r>
          </a:p>
          <a:p>
            <a:pPr algn="just"/>
            <a:r>
              <a:rPr lang="en-US" dirty="0"/>
              <a:t>It helps to describe elements using Entity-Relationship models</a:t>
            </a:r>
          </a:p>
          <a:p>
            <a:pPr algn="just"/>
            <a:r>
              <a:rPr lang="en-US" dirty="0"/>
              <a:t>It allows users to get a preview of the logical structure of the database</a:t>
            </a:r>
          </a:p>
          <a:p>
            <a:endParaRPr lang="en-IN" dirty="0"/>
          </a:p>
        </p:txBody>
      </p:sp>
    </p:spTree>
    <p:extLst>
      <p:ext uri="{BB962C8B-B14F-4D97-AF65-F5344CB8AC3E}">
        <p14:creationId xmlns:p14="http://schemas.microsoft.com/office/powerpoint/2010/main" val="21452507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Symbols Used in ER Diagrams</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solidFill>
                  <a:srgbClr val="FF0000"/>
                </a:solidFill>
              </a:rPr>
              <a:t>Rectangles</a:t>
            </a:r>
            <a:r>
              <a:rPr lang="en-US" dirty="0"/>
              <a:t>: This Entity Relationship Diagram symbol represents entity types</a:t>
            </a:r>
          </a:p>
          <a:p>
            <a:r>
              <a:rPr lang="en-US" dirty="0">
                <a:solidFill>
                  <a:srgbClr val="FF0000"/>
                </a:solidFill>
              </a:rPr>
              <a:t>Ellipses</a:t>
            </a:r>
            <a:r>
              <a:rPr lang="en-US" dirty="0"/>
              <a:t>: This symbol represents attributes</a:t>
            </a:r>
          </a:p>
          <a:p>
            <a:r>
              <a:rPr lang="en-US" dirty="0">
                <a:solidFill>
                  <a:srgbClr val="FF0000"/>
                </a:solidFill>
              </a:rPr>
              <a:t>Diamonds</a:t>
            </a:r>
            <a:r>
              <a:rPr lang="en-US" dirty="0"/>
              <a:t>: This symbol represents relationship types</a:t>
            </a:r>
          </a:p>
          <a:p>
            <a:r>
              <a:rPr lang="en-US" dirty="0">
                <a:solidFill>
                  <a:srgbClr val="FF0000"/>
                </a:solidFill>
              </a:rPr>
              <a:t>Lines</a:t>
            </a:r>
            <a:r>
              <a:rPr lang="en-US" dirty="0"/>
              <a:t>: It links attributes to entity types and entity types with other relationship types</a:t>
            </a:r>
          </a:p>
          <a:p>
            <a:r>
              <a:rPr lang="en-US" dirty="0">
                <a:solidFill>
                  <a:srgbClr val="FF0000"/>
                </a:solidFill>
              </a:rPr>
              <a:t>Primary key</a:t>
            </a:r>
            <a:r>
              <a:rPr lang="en-US" dirty="0"/>
              <a:t>: Here, it underlines the attributes </a:t>
            </a:r>
          </a:p>
          <a:p>
            <a:r>
              <a:rPr lang="en-US" dirty="0">
                <a:solidFill>
                  <a:srgbClr val="FF0000"/>
                </a:solidFill>
              </a:rPr>
              <a:t>Double Ellipses</a:t>
            </a:r>
            <a:r>
              <a:rPr lang="en-US" dirty="0"/>
              <a:t>: Represents multi-valued attributes</a:t>
            </a:r>
          </a:p>
          <a:p>
            <a:endParaRPr lang="en-IN" dirty="0"/>
          </a:p>
        </p:txBody>
      </p:sp>
    </p:spTree>
    <p:extLst>
      <p:ext uri="{BB962C8B-B14F-4D97-AF65-F5344CB8AC3E}">
        <p14:creationId xmlns:p14="http://schemas.microsoft.com/office/powerpoint/2010/main" val="1554505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50598"/>
          </a:xfrm>
        </p:spPr>
        <p:txBody>
          <a:bodyPr>
            <a:normAutofit fontScale="90000"/>
          </a:bodyPr>
          <a:lstStyle/>
          <a:p>
            <a:endParaRPr lang="en-IN" dirty="0"/>
          </a:p>
        </p:txBody>
      </p:sp>
      <p:pic>
        <p:nvPicPr>
          <p:cNvPr id="1028" name="Picture 4" descr="ERDiagramsInDBMS_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229600" cy="512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201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Components of ER Diagram</a:t>
            </a:r>
            <a:br>
              <a:rPr lang="en-US" dirty="0"/>
            </a:br>
            <a:endParaRPr lang="en-IN" dirty="0"/>
          </a:p>
        </p:txBody>
      </p:sp>
      <p:sp>
        <p:nvSpPr>
          <p:cNvPr id="3" name="Content Placeholder 2"/>
          <p:cNvSpPr>
            <a:spLocks noGrp="1"/>
          </p:cNvSpPr>
          <p:nvPr>
            <p:ph idx="1"/>
          </p:nvPr>
        </p:nvSpPr>
        <p:spPr>
          <a:xfrm>
            <a:off x="457200" y="803564"/>
            <a:ext cx="8492836" cy="5805054"/>
          </a:xfrm>
        </p:spPr>
        <p:txBody>
          <a:bodyPr numCol="2">
            <a:normAutofit/>
          </a:bodyPr>
          <a:lstStyle/>
          <a:p>
            <a:pPr marL="0" indent="0">
              <a:buNone/>
            </a:pPr>
            <a:r>
              <a:rPr lang="en-US" dirty="0" smtClean="0">
                <a:solidFill>
                  <a:srgbClr val="FF0000"/>
                </a:solidFill>
              </a:rPr>
              <a:t>ER </a:t>
            </a:r>
            <a:r>
              <a:rPr lang="en-US" dirty="0">
                <a:solidFill>
                  <a:srgbClr val="FF0000"/>
                </a:solidFill>
              </a:rPr>
              <a:t>Diagram on three basic concepts:</a:t>
            </a:r>
          </a:p>
          <a:p>
            <a:r>
              <a:rPr lang="en-US" dirty="0">
                <a:solidFill>
                  <a:srgbClr val="FF0000"/>
                </a:solidFill>
              </a:rPr>
              <a:t>Entities</a:t>
            </a:r>
          </a:p>
          <a:p>
            <a:pPr lvl="1"/>
            <a:r>
              <a:rPr lang="en-US" dirty="0"/>
              <a:t>Weak Entity</a:t>
            </a:r>
          </a:p>
          <a:p>
            <a:r>
              <a:rPr lang="en-US" dirty="0">
                <a:solidFill>
                  <a:srgbClr val="FF0000"/>
                </a:solidFill>
              </a:rPr>
              <a:t>Attributes</a:t>
            </a:r>
          </a:p>
          <a:p>
            <a:pPr lvl="1"/>
            <a:r>
              <a:rPr lang="en-US" dirty="0"/>
              <a:t>Key Attribute</a:t>
            </a:r>
          </a:p>
          <a:p>
            <a:pPr lvl="1"/>
            <a:r>
              <a:rPr lang="en-US" dirty="0"/>
              <a:t>Composite Attribute</a:t>
            </a:r>
          </a:p>
          <a:p>
            <a:pPr lvl="1"/>
            <a:r>
              <a:rPr lang="en-US" dirty="0"/>
              <a:t>Multivalued Attribute</a:t>
            </a:r>
          </a:p>
          <a:p>
            <a:pPr lvl="1"/>
            <a:r>
              <a:rPr lang="en-US" dirty="0"/>
              <a:t>Derived </a:t>
            </a:r>
            <a:r>
              <a:rPr lang="en-US" dirty="0" smtClean="0"/>
              <a:t>Attribute</a:t>
            </a:r>
          </a:p>
          <a:p>
            <a:pPr lvl="1"/>
            <a:endParaRPr lang="en-US" dirty="0"/>
          </a:p>
          <a:p>
            <a:r>
              <a:rPr lang="en-US" dirty="0">
                <a:solidFill>
                  <a:srgbClr val="FF0000"/>
                </a:solidFill>
              </a:rPr>
              <a:t>Relationships</a:t>
            </a:r>
          </a:p>
          <a:p>
            <a:pPr lvl="1"/>
            <a:r>
              <a:rPr lang="en-US" dirty="0"/>
              <a:t>One-to-One Relationships</a:t>
            </a:r>
          </a:p>
          <a:p>
            <a:pPr lvl="1"/>
            <a:r>
              <a:rPr lang="en-US" dirty="0"/>
              <a:t>One-to-Many Relationships</a:t>
            </a:r>
          </a:p>
          <a:p>
            <a:pPr lvl="1"/>
            <a:r>
              <a:rPr lang="en-US" dirty="0"/>
              <a:t>Many-to-One Relationships</a:t>
            </a:r>
          </a:p>
          <a:p>
            <a:pPr lvl="1"/>
            <a:r>
              <a:rPr lang="en-US" dirty="0"/>
              <a:t>Many-to-Many Relationships</a:t>
            </a:r>
          </a:p>
          <a:p>
            <a:endParaRPr lang="en-IN" dirty="0"/>
          </a:p>
        </p:txBody>
      </p:sp>
    </p:spTree>
    <p:extLst>
      <p:ext uri="{BB962C8B-B14F-4D97-AF65-F5344CB8AC3E}">
        <p14:creationId xmlns:p14="http://schemas.microsoft.com/office/powerpoint/2010/main" val="23018057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9653"/>
          </a:xfrm>
        </p:spPr>
        <p:txBody>
          <a:bodyPr>
            <a:normAutofit fontScale="90000"/>
          </a:bodyPr>
          <a:lstStyle/>
          <a:p>
            <a:r>
              <a:rPr lang="en-US" dirty="0" smtClean="0"/>
              <a:t/>
            </a:r>
            <a:br>
              <a:rPr lang="en-US" dirty="0" smtClean="0"/>
            </a:br>
            <a:r>
              <a:rPr lang="en-US" dirty="0" smtClean="0"/>
              <a:t>Entities/Weak Entities</a:t>
            </a:r>
            <a:r>
              <a:rPr lang="en-US" dirty="0"/>
              <a:t/>
            </a:r>
            <a:br>
              <a:rPr lang="en-US" dirty="0"/>
            </a:br>
            <a:endParaRPr lang="en-IN" dirty="0"/>
          </a:p>
        </p:txBody>
      </p:sp>
      <p:sp>
        <p:nvSpPr>
          <p:cNvPr id="3" name="Content Placeholder 2"/>
          <p:cNvSpPr>
            <a:spLocks noGrp="1"/>
          </p:cNvSpPr>
          <p:nvPr>
            <p:ph idx="1"/>
          </p:nvPr>
        </p:nvSpPr>
        <p:spPr>
          <a:xfrm>
            <a:off x="457200" y="900546"/>
            <a:ext cx="8229600" cy="5735782"/>
          </a:xfrm>
        </p:spPr>
        <p:txBody>
          <a:bodyPr>
            <a:normAutofit fontScale="77500" lnSpcReduction="20000"/>
          </a:bodyPr>
          <a:lstStyle/>
          <a:p>
            <a:pPr algn="just"/>
            <a:r>
              <a:rPr lang="en-US" dirty="0" smtClean="0"/>
              <a:t>An </a:t>
            </a:r>
            <a:r>
              <a:rPr lang="en-US" dirty="0"/>
              <a:t>entity can be either a living or non-living component.</a:t>
            </a:r>
          </a:p>
          <a:p>
            <a:pPr algn="just"/>
            <a:r>
              <a:rPr lang="en-US" dirty="0"/>
              <a:t>It showcases an entity as a rectangle in an ER diagram.</a:t>
            </a:r>
          </a:p>
          <a:p>
            <a:pPr algn="just"/>
            <a:r>
              <a:rPr lang="en-US" dirty="0"/>
              <a:t>For example, in a student study course, both the student and the course are entities.</a:t>
            </a:r>
          </a:p>
          <a:p>
            <a:pPr marL="0" indent="0" algn="just">
              <a:buNone/>
            </a:pPr>
            <a:r>
              <a:rPr lang="en-US" dirty="0">
                <a:solidFill>
                  <a:srgbClr val="FF0000"/>
                </a:solidFill>
              </a:rPr>
              <a:t>Weak Entity</a:t>
            </a:r>
          </a:p>
          <a:p>
            <a:pPr algn="just"/>
            <a:r>
              <a:rPr lang="en-US" dirty="0"/>
              <a:t>An entity that makes reliance over another entity is called a weak entity</a:t>
            </a:r>
          </a:p>
          <a:p>
            <a:pPr algn="just"/>
            <a:r>
              <a:rPr lang="en-US" dirty="0"/>
              <a:t>You showcase the weak entity as a double rectangle in ER Diagram.</a:t>
            </a:r>
          </a:p>
          <a:p>
            <a:pPr algn="just"/>
            <a:r>
              <a:rPr lang="en-US" dirty="0"/>
              <a:t>In the example below, school is a strong entity because it has a primary key attribute - school number. Unlike school, the classroom is a weak entity because it does not have any primary key and the room number here acts only as a discriminator.</a:t>
            </a:r>
          </a:p>
          <a:p>
            <a:pPr algn="just"/>
            <a:r>
              <a:rPr lang="en-US" dirty="0"/>
              <a:t/>
            </a:r>
            <a:br>
              <a:rPr lang="en-US" dirty="0"/>
            </a:br>
            <a:endParaRPr lang="en-IN" dirty="0"/>
          </a:p>
        </p:txBody>
      </p:sp>
    </p:spTree>
    <p:extLst>
      <p:ext uri="{BB962C8B-B14F-4D97-AF65-F5344CB8AC3E}">
        <p14:creationId xmlns:p14="http://schemas.microsoft.com/office/powerpoint/2010/main" val="879960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6017"/>
          </a:xfrm>
        </p:spPr>
        <p:txBody>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363" y="1080656"/>
            <a:ext cx="8160327" cy="5555672"/>
          </a:xfrm>
        </p:spPr>
      </p:pic>
    </p:spTree>
    <p:extLst>
      <p:ext uri="{BB962C8B-B14F-4D97-AF65-F5344CB8AC3E}">
        <p14:creationId xmlns:p14="http://schemas.microsoft.com/office/powerpoint/2010/main" val="1579867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ERDiagramsInDBMS_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982405"/>
            <a:ext cx="8038095" cy="25650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RDiagramsInDBMS_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23" y="274638"/>
            <a:ext cx="86487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5586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Attribute</a:t>
            </a:r>
            <a:br>
              <a:rPr lang="en-US" dirty="0"/>
            </a:br>
            <a:endParaRPr lang="en-IN" dirty="0"/>
          </a:p>
        </p:txBody>
      </p:sp>
      <p:sp>
        <p:nvSpPr>
          <p:cNvPr id="3" name="Content Placeholder 2"/>
          <p:cNvSpPr>
            <a:spLocks noGrp="1"/>
          </p:cNvSpPr>
          <p:nvPr>
            <p:ph idx="1"/>
          </p:nvPr>
        </p:nvSpPr>
        <p:spPr>
          <a:xfrm>
            <a:off x="457200" y="1122218"/>
            <a:ext cx="8229600" cy="5320146"/>
          </a:xfrm>
        </p:spPr>
        <p:txBody>
          <a:bodyPr>
            <a:normAutofit fontScale="92500"/>
          </a:bodyPr>
          <a:lstStyle/>
          <a:p>
            <a:pPr algn="just"/>
            <a:r>
              <a:rPr lang="en-US" dirty="0" smtClean="0"/>
              <a:t>An </a:t>
            </a:r>
            <a:r>
              <a:rPr lang="en-US" dirty="0"/>
              <a:t>attribute exhibits the properties of an entity. </a:t>
            </a:r>
          </a:p>
          <a:p>
            <a:pPr algn="just"/>
            <a:r>
              <a:rPr lang="en-US" dirty="0"/>
              <a:t>You can illustrate an attribute with an oval shape in an ER diagram</a:t>
            </a:r>
            <a:r>
              <a:rPr lang="en-US" dirty="0" smtClean="0"/>
              <a:t>.</a:t>
            </a:r>
          </a:p>
          <a:p>
            <a:pPr marL="0" indent="0" algn="just">
              <a:buNone/>
            </a:pPr>
            <a:r>
              <a:rPr lang="en-US" dirty="0">
                <a:solidFill>
                  <a:srgbClr val="FF0000"/>
                </a:solidFill>
              </a:rPr>
              <a:t>Key Attribute</a:t>
            </a:r>
          </a:p>
          <a:p>
            <a:pPr algn="just"/>
            <a:r>
              <a:rPr lang="en-US" dirty="0"/>
              <a:t>Key attribute uniquely identifies an entity from an entity set.</a:t>
            </a:r>
          </a:p>
          <a:p>
            <a:pPr algn="just"/>
            <a:r>
              <a:rPr lang="en-US" dirty="0"/>
              <a:t>It underlines the text of a key attribute.</a:t>
            </a:r>
          </a:p>
          <a:p>
            <a:pPr algn="just"/>
            <a:r>
              <a:rPr lang="en-US" dirty="0"/>
              <a:t>For example: For a student entity, the roll number can uniquely identify a student from a set of students.</a:t>
            </a:r>
          </a:p>
          <a:p>
            <a:endParaRPr lang="en-US" dirty="0"/>
          </a:p>
          <a:p>
            <a:endParaRPr lang="en-IN" dirty="0"/>
          </a:p>
        </p:txBody>
      </p:sp>
    </p:spTree>
    <p:extLst>
      <p:ext uri="{BB962C8B-B14F-4D97-AF65-F5344CB8AC3E}">
        <p14:creationId xmlns:p14="http://schemas.microsoft.com/office/powerpoint/2010/main" val="42794130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ERDiagramsInDBMS_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213003"/>
            <a:ext cx="8229600" cy="3300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9919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89"/>
          </a:xfrm>
        </p:spPr>
        <p:txBody>
          <a:bodyPr>
            <a:normAutofit fontScale="90000"/>
          </a:bodyPr>
          <a:lstStyle/>
          <a:p>
            <a:endParaRPr lang="en-IN" dirty="0"/>
          </a:p>
        </p:txBody>
      </p:sp>
      <p:sp>
        <p:nvSpPr>
          <p:cNvPr id="3" name="Content Placeholder 2"/>
          <p:cNvSpPr>
            <a:spLocks noGrp="1"/>
          </p:cNvSpPr>
          <p:nvPr>
            <p:ph idx="1"/>
          </p:nvPr>
        </p:nvSpPr>
        <p:spPr>
          <a:xfrm>
            <a:off x="457200" y="969818"/>
            <a:ext cx="8229600" cy="5611091"/>
          </a:xfrm>
        </p:spPr>
        <p:txBody>
          <a:bodyPr>
            <a:normAutofit fontScale="77500" lnSpcReduction="20000"/>
          </a:bodyPr>
          <a:lstStyle/>
          <a:p>
            <a:pPr marL="0" indent="0">
              <a:buNone/>
            </a:pPr>
            <a:r>
              <a:rPr lang="en-US" dirty="0">
                <a:solidFill>
                  <a:srgbClr val="FF0000"/>
                </a:solidFill>
              </a:rPr>
              <a:t>Composite Attribute</a:t>
            </a:r>
          </a:p>
          <a:p>
            <a:r>
              <a:rPr lang="en-US" dirty="0"/>
              <a:t>An attribute that is composed of several other attributes is known as a composite attribute.</a:t>
            </a:r>
          </a:p>
          <a:p>
            <a:r>
              <a:rPr lang="en-US" dirty="0"/>
              <a:t>An oval showcases the composite attribute, and the composite attribute oval is further connected with other ovals.</a:t>
            </a:r>
          </a:p>
          <a:p>
            <a:pPr marL="0" indent="0">
              <a:buNone/>
            </a:pPr>
            <a:r>
              <a:rPr lang="en-US" dirty="0">
                <a:solidFill>
                  <a:srgbClr val="FF0000"/>
                </a:solidFill>
              </a:rPr>
              <a:t>Multivalued Attribute</a:t>
            </a:r>
          </a:p>
          <a:p>
            <a:r>
              <a:rPr lang="en-US" dirty="0"/>
              <a:t>Some attributes can possess over one value, those attributes are called multivalued attributes.</a:t>
            </a:r>
          </a:p>
          <a:p>
            <a:r>
              <a:rPr lang="en-US" dirty="0"/>
              <a:t>The double oval shape is used to represent a multivalued attribute</a:t>
            </a:r>
            <a:r>
              <a:rPr lang="en-US" dirty="0" smtClean="0"/>
              <a:t>.</a:t>
            </a:r>
          </a:p>
          <a:p>
            <a:pPr marL="0" indent="0">
              <a:buNone/>
            </a:pPr>
            <a:r>
              <a:rPr lang="en-US" dirty="0">
                <a:solidFill>
                  <a:srgbClr val="FF0000"/>
                </a:solidFill>
              </a:rPr>
              <a:t>Derived Attribute</a:t>
            </a:r>
          </a:p>
          <a:p>
            <a:r>
              <a:rPr lang="en-US" dirty="0"/>
              <a:t>An attribute that can be derived from other attributes of the entity is known as a derived attribute.</a:t>
            </a:r>
          </a:p>
          <a:p>
            <a:r>
              <a:rPr lang="en-US" dirty="0"/>
              <a:t>In the ER diagram, the dashed oval represents the derived attribute.</a:t>
            </a:r>
          </a:p>
          <a:p>
            <a:endParaRPr lang="en-US" dirty="0"/>
          </a:p>
          <a:p>
            <a:endParaRPr lang="en-IN" dirty="0"/>
          </a:p>
        </p:txBody>
      </p:sp>
    </p:spTree>
    <p:extLst>
      <p:ext uri="{BB962C8B-B14F-4D97-AF65-F5344CB8AC3E}">
        <p14:creationId xmlns:p14="http://schemas.microsoft.com/office/powerpoint/2010/main" val="38149821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Composite Attribute</a:t>
            </a:r>
            <a:br>
              <a:rPr lang="en-IN" dirty="0"/>
            </a:br>
            <a:endParaRPr lang="en-IN" dirty="0"/>
          </a:p>
        </p:txBody>
      </p:sp>
      <p:pic>
        <p:nvPicPr>
          <p:cNvPr id="5122" name="Picture 2" descr="ERDiagramsInDBMS_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515230"/>
            <a:ext cx="8229600" cy="2695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1887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Multivalued</a:t>
            </a:r>
            <a:endParaRPr lang="en-IN" dirty="0"/>
          </a:p>
        </p:txBody>
      </p:sp>
      <p:pic>
        <p:nvPicPr>
          <p:cNvPr id="6146" name="Picture 2" descr="ERDiagramsInDBMS_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415578"/>
            <a:ext cx="8229600" cy="2895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272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Derived</a:t>
            </a:r>
            <a:endParaRPr lang="en-IN" dirty="0"/>
          </a:p>
        </p:txBody>
      </p:sp>
      <p:pic>
        <p:nvPicPr>
          <p:cNvPr id="7170" name="Picture 2" descr="ERDiagramsInDBMS_9."/>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460290"/>
            <a:ext cx="8229600" cy="280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481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16853"/>
          </a:xfrm>
        </p:spPr>
        <p:txBody>
          <a:bodyPr>
            <a:normAutofit fontScale="90000"/>
          </a:bodyPr>
          <a:lstStyle/>
          <a:p>
            <a:r>
              <a:rPr lang="en-US" sz="4000" dirty="0"/>
              <a:t>Relationship</a:t>
            </a:r>
            <a:r>
              <a:rPr lang="en-US" dirty="0"/>
              <a:t/>
            </a:r>
            <a:br>
              <a:rPr lang="en-US" dirty="0"/>
            </a:br>
            <a:endParaRPr lang="en-IN" dirty="0"/>
          </a:p>
        </p:txBody>
      </p:sp>
      <p:sp>
        <p:nvSpPr>
          <p:cNvPr id="3" name="Content Placeholder 2"/>
          <p:cNvSpPr>
            <a:spLocks noGrp="1"/>
          </p:cNvSpPr>
          <p:nvPr>
            <p:ph idx="1"/>
          </p:nvPr>
        </p:nvSpPr>
        <p:spPr>
          <a:xfrm>
            <a:off x="457200" y="706583"/>
            <a:ext cx="8229600" cy="5999018"/>
          </a:xfrm>
        </p:spPr>
        <p:txBody>
          <a:bodyPr>
            <a:normAutofit fontScale="62500" lnSpcReduction="20000"/>
          </a:bodyPr>
          <a:lstStyle/>
          <a:p>
            <a:pPr algn="just"/>
            <a:r>
              <a:rPr lang="en-US" dirty="0" smtClean="0"/>
              <a:t>The </a:t>
            </a:r>
            <a:r>
              <a:rPr lang="en-US" dirty="0"/>
              <a:t>diamond shape showcases a relationship in the ER diagram.</a:t>
            </a:r>
          </a:p>
          <a:p>
            <a:pPr algn="just"/>
            <a:r>
              <a:rPr lang="en-US" dirty="0"/>
              <a:t>It depicts the relationship between two entities.</a:t>
            </a:r>
          </a:p>
          <a:p>
            <a:pPr algn="just"/>
            <a:r>
              <a:rPr lang="en-US" dirty="0"/>
              <a:t>In the example below, both the student and the course are entities, and study is the relationship between them. </a:t>
            </a:r>
            <a:endParaRPr lang="en-US" dirty="0" smtClean="0"/>
          </a:p>
          <a:p>
            <a:pPr marL="0" indent="0" algn="just">
              <a:buNone/>
            </a:pPr>
            <a:r>
              <a:rPr lang="en-US" b="1" dirty="0">
                <a:solidFill>
                  <a:srgbClr val="FF0000"/>
                </a:solidFill>
              </a:rPr>
              <a:t>One-to-One Relationship</a:t>
            </a:r>
          </a:p>
          <a:p>
            <a:pPr algn="just"/>
            <a:r>
              <a:rPr lang="en-US" dirty="0"/>
              <a:t>When a single element of an entity is associated with a single element of another entity, it is called a one-to-one relationship.</a:t>
            </a:r>
          </a:p>
          <a:p>
            <a:pPr algn="just"/>
            <a:r>
              <a:rPr lang="en-US" dirty="0"/>
              <a:t>For example, a student has only one identification card and an identification card is given to one person</a:t>
            </a:r>
            <a:r>
              <a:rPr lang="en-US" dirty="0" smtClean="0"/>
              <a:t>.</a:t>
            </a:r>
          </a:p>
          <a:p>
            <a:pPr marL="0" indent="0" algn="just">
              <a:buNone/>
            </a:pPr>
            <a:r>
              <a:rPr lang="en-US" b="1" dirty="0">
                <a:solidFill>
                  <a:srgbClr val="FF0000"/>
                </a:solidFill>
              </a:rPr>
              <a:t>One-to-Many Relationship</a:t>
            </a:r>
          </a:p>
          <a:p>
            <a:pPr algn="just"/>
            <a:r>
              <a:rPr lang="en-US" dirty="0"/>
              <a:t>When a single element of an entity is associated with more than one element of another entity, it is called a one-to-many relationship</a:t>
            </a:r>
          </a:p>
          <a:p>
            <a:pPr algn="just"/>
            <a:r>
              <a:rPr lang="en-US" dirty="0"/>
              <a:t>For example, a customer can place many orders, but an order cannot be placed by many customers.</a:t>
            </a:r>
          </a:p>
          <a:p>
            <a:pPr algn="just"/>
            <a:endParaRPr lang="en-US" dirty="0"/>
          </a:p>
          <a:p>
            <a:pPr marL="0" indent="0" algn="just">
              <a:buNone/>
            </a:pPr>
            <a:r>
              <a:rPr lang="en-US" b="1" dirty="0">
                <a:solidFill>
                  <a:srgbClr val="FF0000"/>
                </a:solidFill>
              </a:rPr>
              <a:t>Many-to-One Relationship</a:t>
            </a:r>
          </a:p>
          <a:p>
            <a:pPr algn="just"/>
            <a:r>
              <a:rPr lang="en-US" dirty="0"/>
              <a:t>When more than one element of an entity is related to a single element of another entity, then it is called a many-to-one relationship.</a:t>
            </a:r>
          </a:p>
          <a:p>
            <a:pPr algn="just"/>
            <a:r>
              <a:rPr lang="en-US" dirty="0"/>
              <a:t>For example, students have to opt for a single course, but a course can have many students.</a:t>
            </a:r>
          </a:p>
          <a:p>
            <a:pPr algn="just"/>
            <a:endParaRPr lang="en-US" dirty="0"/>
          </a:p>
          <a:p>
            <a:pPr algn="just"/>
            <a:endParaRPr lang="en-IN" dirty="0"/>
          </a:p>
        </p:txBody>
      </p:sp>
    </p:spTree>
    <p:extLst>
      <p:ext uri="{BB962C8B-B14F-4D97-AF65-F5344CB8AC3E}">
        <p14:creationId xmlns:p14="http://schemas.microsoft.com/office/powerpoint/2010/main" val="10148148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135091" cy="1143000"/>
          </a:xfrm>
        </p:spPr>
        <p:txBody>
          <a:bodyPr/>
          <a:lstStyle/>
          <a:p>
            <a:endParaRPr lang="en-IN" dirty="0"/>
          </a:p>
        </p:txBody>
      </p:sp>
      <p:pic>
        <p:nvPicPr>
          <p:cNvPr id="8194" name="Picture 2" descr="ERDiagramsInDBMS_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3229186"/>
            <a:ext cx="8229600" cy="268721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ERDiagramsInDBMS_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75" y="31750"/>
            <a:ext cx="7105650" cy="141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3371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Draw an ER Diagram?</a:t>
            </a:r>
            <a:br>
              <a:rPr lang="en-US" dirty="0"/>
            </a:br>
            <a:endParaRPr lang="en-IN" dirty="0"/>
          </a:p>
        </p:txBody>
      </p:sp>
      <p:sp>
        <p:nvSpPr>
          <p:cNvPr id="3" name="Content Placeholder 2"/>
          <p:cNvSpPr>
            <a:spLocks noGrp="1"/>
          </p:cNvSpPr>
          <p:nvPr>
            <p:ph idx="1"/>
          </p:nvPr>
        </p:nvSpPr>
        <p:spPr>
          <a:xfrm>
            <a:off x="457200" y="1025236"/>
            <a:ext cx="8229600" cy="5100927"/>
          </a:xfrm>
        </p:spPr>
        <p:txBody>
          <a:bodyPr>
            <a:normAutofit fontScale="85000" lnSpcReduction="20000"/>
          </a:bodyPr>
          <a:lstStyle/>
          <a:p>
            <a:pPr algn="just"/>
            <a:r>
              <a:rPr lang="en-US" dirty="0" smtClean="0"/>
              <a:t>Below </a:t>
            </a:r>
            <a:r>
              <a:rPr lang="en-US" dirty="0"/>
              <a:t>are some important points to draw ER diagram:</a:t>
            </a:r>
          </a:p>
          <a:p>
            <a:pPr algn="just"/>
            <a:r>
              <a:rPr lang="en-US" dirty="0"/>
              <a:t>First, identify all the Entities. Embed all the entities in a rectangle and label them properly.</a:t>
            </a:r>
          </a:p>
          <a:p>
            <a:pPr algn="just"/>
            <a:r>
              <a:rPr lang="en-US" dirty="0"/>
              <a:t>Identify relationships between entities and connect them using a diamond in the middle, illustrating the relationship. Do not connect relationships with each other.</a:t>
            </a:r>
          </a:p>
          <a:p>
            <a:pPr algn="just"/>
            <a:r>
              <a:rPr lang="en-US" dirty="0"/>
              <a:t>Connect attributes for entities and label them properly.</a:t>
            </a:r>
          </a:p>
          <a:p>
            <a:pPr algn="just"/>
            <a:r>
              <a:rPr lang="en-US" dirty="0"/>
              <a:t>Eradicate any redundant entities or relationships.</a:t>
            </a:r>
          </a:p>
          <a:p>
            <a:pPr algn="just"/>
            <a:r>
              <a:rPr lang="en-US" dirty="0"/>
              <a:t>Make sure your ER Diagram supports all the data provided to design the database.</a:t>
            </a:r>
          </a:p>
          <a:p>
            <a:pPr algn="just"/>
            <a:r>
              <a:rPr lang="en-US" dirty="0"/>
              <a:t>Effectively use colors to highlight key areas in your diagrams.</a:t>
            </a:r>
          </a:p>
          <a:p>
            <a:endParaRPr lang="en-IN" dirty="0"/>
          </a:p>
        </p:txBody>
      </p:sp>
    </p:spTree>
    <p:extLst>
      <p:ext uri="{BB962C8B-B14F-4D97-AF65-F5344CB8AC3E}">
        <p14:creationId xmlns:p14="http://schemas.microsoft.com/office/powerpoint/2010/main" val="12226567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1:1,1:m,m:1Relation ship</a:t>
            </a:r>
            <a:endParaRPr lang="en-IN" dirty="0"/>
          </a:p>
        </p:txBody>
      </p:sp>
      <p:pic>
        <p:nvPicPr>
          <p:cNvPr id="9220" name="Picture 4" descr="ERDiagramsInDBMS_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120" y="1214293"/>
            <a:ext cx="71437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ERDiagramsInDBMS_1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3051732"/>
            <a:ext cx="8229600" cy="1622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85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
            </a:r>
            <a:br>
              <a:rPr lang="en-US" b="1" dirty="0" smtClean="0"/>
            </a:br>
            <a:r>
              <a:rPr lang="en-US" b="1" dirty="0" smtClean="0"/>
              <a:t>CASE1</a:t>
            </a:r>
            <a:r>
              <a:rPr lang="en-US" b="1" dirty="0"/>
              <a:t>: For Strong Entity Set</a:t>
            </a:r>
            <a:br>
              <a:rPr lang="en-US" b="1" dirty="0"/>
            </a:br>
            <a:endParaRPr lang="en-IN" dirty="0"/>
          </a:p>
        </p:txBody>
      </p:sp>
      <p:sp>
        <p:nvSpPr>
          <p:cNvPr id="3" name="Content Placeholder 2"/>
          <p:cNvSpPr>
            <a:spLocks noGrp="1"/>
          </p:cNvSpPr>
          <p:nvPr>
            <p:ph idx="1"/>
          </p:nvPr>
        </p:nvSpPr>
        <p:spPr>
          <a:xfrm>
            <a:off x="457200" y="955964"/>
            <a:ext cx="8229600" cy="5170199"/>
          </a:xfrm>
        </p:spPr>
        <p:txBody>
          <a:bodyPr>
            <a:normAutofit/>
          </a:bodyPr>
          <a:lstStyle/>
          <a:p>
            <a:pPr algn="just"/>
            <a:r>
              <a:rPr lang="en-US" dirty="0" smtClean="0"/>
              <a:t>A </a:t>
            </a:r>
            <a:r>
              <a:rPr lang="en-US" dirty="0"/>
              <a:t>strong entity set having only simple attributes or composite attributes will require only one table in the relational model.</a:t>
            </a:r>
          </a:p>
          <a:p>
            <a:pPr algn="just"/>
            <a:r>
              <a:rPr lang="en-US" dirty="0"/>
              <a:t>The simple attribute of the table will be the attribute of the entity set. Simple attributes of the composite attributes are considered and not composite attributes themselves.</a:t>
            </a:r>
          </a:p>
          <a:p>
            <a:pPr algn="just"/>
            <a:r>
              <a:rPr lang="en-US" dirty="0"/>
              <a:t>The primary key of the resulting table will be the key attribute of the entity set.</a:t>
            </a:r>
            <a:br>
              <a:rPr lang="en-US" dirty="0"/>
            </a:br>
            <a:r>
              <a:rPr lang="en-US" b="1" dirty="0"/>
              <a:t>Examples</a:t>
            </a:r>
            <a:endParaRPr lang="en-US" dirty="0"/>
          </a:p>
          <a:p>
            <a:endParaRPr lang="en-IN" dirty="0"/>
          </a:p>
        </p:txBody>
      </p:sp>
    </p:spTree>
    <p:extLst>
      <p:ext uri="{BB962C8B-B14F-4D97-AF65-F5344CB8AC3E}">
        <p14:creationId xmlns:p14="http://schemas.microsoft.com/office/powerpoint/2010/main" val="118671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623455" y="2091531"/>
            <a:ext cx="6788727" cy="4530942"/>
          </a:xfrm>
          <a:prstGeom prst="rect">
            <a:avLst/>
          </a:prstGeom>
        </p:spPr>
      </p:pic>
    </p:spTree>
    <p:extLst>
      <p:ext uri="{BB962C8B-B14F-4D97-AF65-F5344CB8AC3E}">
        <p14:creationId xmlns:p14="http://schemas.microsoft.com/office/powerpoint/2010/main" val="42782850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Composite Attribute Representation</a:t>
            </a:r>
            <a:endParaRPr lang="en-IN" dirty="0"/>
          </a:p>
        </p:txBody>
      </p:sp>
      <p:pic>
        <p:nvPicPr>
          <p:cNvPr id="5" name="Content Placeholder 4"/>
          <p:cNvPicPr>
            <a:picLocks noGrp="1" noChangeAspect="1"/>
          </p:cNvPicPr>
          <p:nvPr>
            <p:ph idx="1"/>
          </p:nvPr>
        </p:nvPicPr>
        <p:blipFill>
          <a:blip r:embed="rId2"/>
          <a:stretch>
            <a:fillRect/>
          </a:stretch>
        </p:blipFill>
        <p:spPr>
          <a:xfrm>
            <a:off x="457200" y="1417638"/>
            <a:ext cx="8091055" cy="5028550"/>
          </a:xfrm>
          <a:prstGeom prst="rect">
            <a:avLst/>
          </a:prstGeom>
        </p:spPr>
      </p:pic>
    </p:spTree>
    <p:extLst>
      <p:ext uri="{BB962C8B-B14F-4D97-AF65-F5344CB8AC3E}">
        <p14:creationId xmlns:p14="http://schemas.microsoft.com/office/powerpoint/2010/main" val="26502539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CASE 2: For Strong Entity Set With Multi-Valued Attributes</a:t>
            </a:r>
            <a:endParaRPr lang="en-IN" dirty="0"/>
          </a:p>
        </p:txBody>
      </p:sp>
      <p:sp>
        <p:nvSpPr>
          <p:cNvPr id="3" name="Content Placeholder 2"/>
          <p:cNvSpPr>
            <a:spLocks noGrp="1"/>
          </p:cNvSpPr>
          <p:nvPr>
            <p:ph idx="1"/>
          </p:nvPr>
        </p:nvSpPr>
        <p:spPr>
          <a:xfrm>
            <a:off x="457200" y="1417638"/>
            <a:ext cx="8229600" cy="5163271"/>
          </a:xfrm>
        </p:spPr>
        <p:txBody>
          <a:bodyPr>
            <a:normAutofit fontScale="85000" lnSpcReduction="10000"/>
          </a:bodyPr>
          <a:lstStyle/>
          <a:p>
            <a:pPr marL="0" indent="0">
              <a:buNone/>
            </a:pPr>
            <a:r>
              <a:rPr lang="en-US" b="1" dirty="0"/>
              <a:t> </a:t>
            </a:r>
            <a:r>
              <a:rPr lang="en-US" dirty="0" smtClean="0"/>
              <a:t>A </a:t>
            </a:r>
            <a:r>
              <a:rPr lang="en-US" dirty="0"/>
              <a:t>strong entity set having any number of multi-valued attributes will require two tables in the relational model.</a:t>
            </a:r>
          </a:p>
          <a:p>
            <a:r>
              <a:rPr lang="en-US" dirty="0"/>
              <a:t>One table will consist of all the simple attributes with the primary key.</a:t>
            </a:r>
          </a:p>
          <a:p>
            <a:r>
              <a:rPr lang="en-US" dirty="0"/>
              <a:t>Another table will contain the primary key and all the multi-valued attributes.</a:t>
            </a:r>
          </a:p>
          <a:p>
            <a:r>
              <a:rPr lang="en-US" b="1" dirty="0"/>
              <a:t>Example</a:t>
            </a:r>
            <a:endParaRPr lang="en-US" dirty="0"/>
          </a:p>
          <a:p>
            <a:r>
              <a:rPr lang="en-US" dirty="0"/>
              <a:t>In this example, </a:t>
            </a:r>
            <a:r>
              <a:rPr lang="en-US" dirty="0" err="1"/>
              <a:t>Mobile_no</a:t>
            </a:r>
            <a:r>
              <a:rPr lang="en-US" dirty="0"/>
              <a:t> is a multivalued attribute. Here, </a:t>
            </a:r>
            <a:r>
              <a:rPr lang="en-US" dirty="0" err="1"/>
              <a:t>Roll_no</a:t>
            </a:r>
            <a:r>
              <a:rPr lang="en-US" dirty="0"/>
              <a:t> is the primary key. So we made a table using primary key </a:t>
            </a:r>
            <a:r>
              <a:rPr lang="en-US" dirty="0" err="1"/>
              <a:t>Roll_no</a:t>
            </a:r>
            <a:r>
              <a:rPr lang="en-US" dirty="0"/>
              <a:t> and remaining simple attributes and other tables having attributes </a:t>
            </a:r>
            <a:r>
              <a:rPr lang="en-US" dirty="0" err="1"/>
              <a:t>Roll_no</a:t>
            </a:r>
            <a:r>
              <a:rPr lang="en-US" dirty="0"/>
              <a:t> and </a:t>
            </a:r>
            <a:r>
              <a:rPr lang="en-US" dirty="0" err="1"/>
              <a:t>Mobile_no</a:t>
            </a:r>
            <a:r>
              <a:rPr lang="en-US" dirty="0"/>
              <a:t>.</a:t>
            </a:r>
          </a:p>
          <a:p>
            <a:endParaRPr lang="en-IN" dirty="0"/>
          </a:p>
        </p:txBody>
      </p:sp>
    </p:spTree>
    <p:extLst>
      <p:ext uri="{BB962C8B-B14F-4D97-AF65-F5344CB8AC3E}">
        <p14:creationId xmlns:p14="http://schemas.microsoft.com/office/powerpoint/2010/main" val="36954828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Multivalued Representation</a:t>
            </a:r>
            <a:endParaRPr lang="en-IN" dirty="0"/>
          </a:p>
        </p:txBody>
      </p:sp>
      <p:pic>
        <p:nvPicPr>
          <p:cNvPr id="4" name="Content Placeholder 3"/>
          <p:cNvPicPr>
            <a:picLocks noGrp="1" noChangeAspect="1"/>
          </p:cNvPicPr>
          <p:nvPr>
            <p:ph idx="1"/>
          </p:nvPr>
        </p:nvPicPr>
        <p:blipFill>
          <a:blip r:embed="rId2"/>
          <a:stretch>
            <a:fillRect/>
          </a:stretch>
        </p:blipFill>
        <p:spPr>
          <a:xfrm>
            <a:off x="249382" y="1417638"/>
            <a:ext cx="8312727" cy="5260253"/>
          </a:xfrm>
          <a:prstGeom prst="rect">
            <a:avLst/>
          </a:prstGeom>
        </p:spPr>
      </p:pic>
    </p:spTree>
    <p:extLst>
      <p:ext uri="{BB962C8B-B14F-4D97-AF65-F5344CB8AC3E}">
        <p14:creationId xmlns:p14="http://schemas.microsoft.com/office/powerpoint/2010/main" val="33355196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CASE 3: Binary Relationship with 1:1 cardinality with the total participation of an entity </a:t>
            </a:r>
            <a:br>
              <a:rPr lang="en-US" sz="2800" b="1" dirty="0"/>
            </a:br>
            <a:endParaRPr lang="en-IN" sz="2800" dirty="0"/>
          </a:p>
        </p:txBody>
      </p:sp>
      <p:sp>
        <p:nvSpPr>
          <p:cNvPr id="3" name="Content Placeholder 2"/>
          <p:cNvSpPr>
            <a:spLocks noGrp="1"/>
          </p:cNvSpPr>
          <p:nvPr>
            <p:ph idx="1"/>
          </p:nvPr>
        </p:nvSpPr>
        <p:spPr>
          <a:xfrm>
            <a:off x="457200" y="1177636"/>
            <a:ext cx="8229600" cy="5237019"/>
          </a:xfrm>
        </p:spPr>
        <p:txBody>
          <a:bodyPr/>
          <a:lstStyle/>
          <a:p>
            <a:endParaRPr lang="en-IN" dirty="0"/>
          </a:p>
        </p:txBody>
      </p:sp>
      <p:pic>
        <p:nvPicPr>
          <p:cNvPr id="5" name="Picture 4"/>
          <p:cNvPicPr>
            <a:picLocks noChangeAspect="1"/>
          </p:cNvPicPr>
          <p:nvPr/>
        </p:nvPicPr>
        <p:blipFill>
          <a:blip r:embed="rId2"/>
          <a:stretch>
            <a:fillRect/>
          </a:stretch>
        </p:blipFill>
        <p:spPr>
          <a:xfrm>
            <a:off x="872837" y="2840183"/>
            <a:ext cx="6705600" cy="2865292"/>
          </a:xfrm>
          <a:prstGeom prst="rect">
            <a:avLst/>
          </a:prstGeom>
        </p:spPr>
      </p:pic>
    </p:spTree>
    <p:extLst>
      <p:ext uri="{BB962C8B-B14F-4D97-AF65-F5344CB8AC3E}">
        <p14:creationId xmlns:p14="http://schemas.microsoft.com/office/powerpoint/2010/main" val="7313039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algn="just"/>
            <a:r>
              <a:rPr lang="en-US" dirty="0"/>
              <a:t>In this example, a person can have 0 or 1 passport number. A single person owns each passport shown., So it is one-to-one (1:1) cardinality with the full participation of the Passport entity. </a:t>
            </a:r>
          </a:p>
          <a:p>
            <a:pPr algn="just"/>
            <a:r>
              <a:rPr lang="en-US" dirty="0"/>
              <a:t>Firstly, we will convert every entity and relationship to tables. We have three tables corresponding to two entities and one for the relation between the entities. Person table and Passport table correspond to Person and Passport entity respectively. The Has table shows the relationship between Passport and Person table. So it will take attribute Per-Id from Person and Pass-No from Passport.</a:t>
            </a:r>
          </a:p>
          <a:p>
            <a:endParaRPr lang="en-IN" dirty="0"/>
          </a:p>
        </p:txBody>
      </p:sp>
    </p:spTree>
    <p:extLst>
      <p:ext uri="{BB962C8B-B14F-4D97-AF65-F5344CB8AC3E}">
        <p14:creationId xmlns:p14="http://schemas.microsoft.com/office/powerpoint/2010/main" val="37996893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35528" y="1704108"/>
            <a:ext cx="8451272" cy="4793673"/>
          </a:xfrm>
          <a:prstGeom prst="rect">
            <a:avLst/>
          </a:prstGeom>
        </p:spPr>
      </p:pic>
    </p:spTree>
    <p:extLst>
      <p:ext uri="{BB962C8B-B14F-4D97-AF65-F5344CB8AC3E}">
        <p14:creationId xmlns:p14="http://schemas.microsoft.com/office/powerpoint/2010/main" val="6954171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90" y="2008909"/>
            <a:ext cx="8562109" cy="3616035"/>
          </a:xfrm>
        </p:spPr>
      </p:pic>
    </p:spTree>
    <p:extLst>
      <p:ext uri="{BB962C8B-B14F-4D97-AF65-F5344CB8AC3E}">
        <p14:creationId xmlns:p14="http://schemas.microsoft.com/office/powerpoint/2010/main" val="17390261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CASE 4: Binary Relationship with 1:1 cardinality and partial participation of both entities</a:t>
            </a:r>
          </a:p>
          <a:p>
            <a:endParaRPr lang="en-IN" dirty="0"/>
          </a:p>
        </p:txBody>
      </p:sp>
      <p:pic>
        <p:nvPicPr>
          <p:cNvPr id="5" name="Picture 4"/>
          <p:cNvPicPr>
            <a:picLocks noChangeAspect="1"/>
          </p:cNvPicPr>
          <p:nvPr/>
        </p:nvPicPr>
        <p:blipFill>
          <a:blip r:embed="rId2"/>
          <a:stretch>
            <a:fillRect/>
          </a:stretch>
        </p:blipFill>
        <p:spPr>
          <a:xfrm>
            <a:off x="1779876" y="3429000"/>
            <a:ext cx="5057775" cy="2362200"/>
          </a:xfrm>
          <a:prstGeom prst="rect">
            <a:avLst/>
          </a:prstGeom>
        </p:spPr>
      </p:pic>
    </p:spTree>
    <p:extLst>
      <p:ext uri="{BB962C8B-B14F-4D97-AF65-F5344CB8AC3E}">
        <p14:creationId xmlns:p14="http://schemas.microsoft.com/office/powerpoint/2010/main" val="738209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2021" y="1805494"/>
            <a:ext cx="7039957" cy="4115374"/>
          </a:xfrm>
        </p:spPr>
      </p:pic>
    </p:spTree>
    <p:extLst>
      <p:ext uri="{BB962C8B-B14F-4D97-AF65-F5344CB8AC3E}">
        <p14:creationId xmlns:p14="http://schemas.microsoft.com/office/powerpoint/2010/main" val="1652327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CASE </a:t>
            </a:r>
            <a:r>
              <a:rPr lang="en-US" b="1" dirty="0"/>
              <a:t>5: Binary Relationship having n: 1 cardinality </a:t>
            </a:r>
            <a:br>
              <a:rPr lang="en-US" b="1" dirty="0"/>
            </a:br>
            <a:endParaRPr lang="en-IN" dirty="0"/>
          </a:p>
        </p:txBody>
      </p:sp>
      <p:pic>
        <p:nvPicPr>
          <p:cNvPr id="5" name="Content Placeholder 4"/>
          <p:cNvPicPr>
            <a:picLocks noGrp="1" noChangeAspect="1"/>
          </p:cNvPicPr>
          <p:nvPr>
            <p:ph idx="1"/>
          </p:nvPr>
        </p:nvPicPr>
        <p:blipFill>
          <a:blip r:embed="rId2"/>
          <a:stretch>
            <a:fillRect/>
          </a:stretch>
        </p:blipFill>
        <p:spPr>
          <a:xfrm>
            <a:off x="748145" y="2743994"/>
            <a:ext cx="6927273" cy="2977933"/>
          </a:xfrm>
          <a:prstGeom prst="rect">
            <a:avLst/>
          </a:prstGeom>
        </p:spPr>
      </p:pic>
    </p:spTree>
    <p:extLst>
      <p:ext uri="{BB962C8B-B14F-4D97-AF65-F5344CB8AC3E}">
        <p14:creationId xmlns:p14="http://schemas.microsoft.com/office/powerpoint/2010/main" val="12923612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95968"/>
            <a:ext cx="8091055" cy="4618687"/>
          </a:xfrm>
        </p:spPr>
      </p:pic>
    </p:spTree>
    <p:extLst>
      <p:ext uri="{BB962C8B-B14F-4D97-AF65-F5344CB8AC3E}">
        <p14:creationId xmlns:p14="http://schemas.microsoft.com/office/powerpoint/2010/main" val="30738291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CASE </a:t>
            </a:r>
            <a:r>
              <a:rPr lang="en-US" b="1" dirty="0"/>
              <a:t>6: Binary Relationship having m: n cardinality</a:t>
            </a:r>
            <a:br>
              <a:rPr lang="en-US" b="1" dirty="0"/>
            </a:br>
            <a:endParaRPr lang="en-IN" dirty="0"/>
          </a:p>
        </p:txBody>
      </p:sp>
      <p:pic>
        <p:nvPicPr>
          <p:cNvPr id="5" name="Content Placeholder 4"/>
          <p:cNvPicPr>
            <a:picLocks noGrp="1" noChangeAspect="1"/>
          </p:cNvPicPr>
          <p:nvPr>
            <p:ph idx="1"/>
          </p:nvPr>
        </p:nvPicPr>
        <p:blipFill>
          <a:blip r:embed="rId2"/>
          <a:stretch>
            <a:fillRect/>
          </a:stretch>
        </p:blipFill>
        <p:spPr>
          <a:xfrm>
            <a:off x="360218" y="2064327"/>
            <a:ext cx="7897091" cy="3796145"/>
          </a:xfrm>
          <a:prstGeom prst="rect">
            <a:avLst/>
          </a:prstGeom>
        </p:spPr>
      </p:pic>
    </p:spTree>
    <p:extLst>
      <p:ext uri="{BB962C8B-B14F-4D97-AF65-F5344CB8AC3E}">
        <p14:creationId xmlns:p14="http://schemas.microsoft.com/office/powerpoint/2010/main" val="8771398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673" y="1781678"/>
            <a:ext cx="8603671" cy="4674540"/>
          </a:xfrm>
        </p:spPr>
      </p:pic>
    </p:spTree>
    <p:extLst>
      <p:ext uri="{BB962C8B-B14F-4D97-AF65-F5344CB8AC3E}">
        <p14:creationId xmlns:p14="http://schemas.microsoft.com/office/powerpoint/2010/main" val="5240011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CASE </a:t>
            </a:r>
            <a:r>
              <a:rPr lang="en-US" b="1" dirty="0"/>
              <a:t>7: Binary Relationship having a weak entity</a:t>
            </a:r>
            <a:br>
              <a:rPr lang="en-US" b="1" dirty="0"/>
            </a:br>
            <a:endParaRPr lang="en-IN" dirty="0"/>
          </a:p>
        </p:txBody>
      </p:sp>
      <p:pic>
        <p:nvPicPr>
          <p:cNvPr id="5" name="Content Placeholder 4"/>
          <p:cNvPicPr>
            <a:picLocks noGrp="1" noChangeAspect="1"/>
          </p:cNvPicPr>
          <p:nvPr>
            <p:ph idx="1"/>
          </p:nvPr>
        </p:nvPicPr>
        <p:blipFill>
          <a:blip r:embed="rId2"/>
          <a:stretch>
            <a:fillRect/>
          </a:stretch>
        </p:blipFill>
        <p:spPr>
          <a:xfrm>
            <a:off x="678873" y="2577306"/>
            <a:ext cx="7883236" cy="3463276"/>
          </a:xfrm>
          <a:prstGeom prst="rect">
            <a:avLst/>
          </a:prstGeom>
        </p:spPr>
      </p:pic>
    </p:spTree>
    <p:extLst>
      <p:ext uri="{BB962C8B-B14F-4D97-AF65-F5344CB8AC3E}">
        <p14:creationId xmlns:p14="http://schemas.microsoft.com/office/powerpoint/2010/main" val="33390723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1" y="1579418"/>
            <a:ext cx="8409708" cy="4599709"/>
          </a:xfrm>
        </p:spPr>
      </p:pic>
    </p:spTree>
    <p:extLst>
      <p:ext uri="{BB962C8B-B14F-4D97-AF65-F5344CB8AC3E}">
        <p14:creationId xmlns:p14="http://schemas.microsoft.com/office/powerpoint/2010/main" val="13121259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9"/>
            <a:ext cx="8229600" cy="4927744"/>
          </a:xfrm>
        </p:spPr>
      </p:pic>
    </p:spTree>
    <p:extLst>
      <p:ext uri="{BB962C8B-B14F-4D97-AF65-F5344CB8AC3E}">
        <p14:creationId xmlns:p14="http://schemas.microsoft.com/office/powerpoint/2010/main" val="6063449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Introduction to Constraints in DBMS</a:t>
            </a:r>
          </a:p>
        </p:txBody>
      </p:sp>
      <p:sp>
        <p:nvSpPr>
          <p:cNvPr id="3" name="Content Placeholder 2"/>
          <p:cNvSpPr>
            <a:spLocks noGrp="1"/>
          </p:cNvSpPr>
          <p:nvPr>
            <p:ph idx="1"/>
          </p:nvPr>
        </p:nvSpPr>
        <p:spPr/>
        <p:txBody>
          <a:bodyPr/>
          <a:lstStyle/>
          <a:p>
            <a:r>
              <a:t>Constraints ensure data integrity and accuracy in databases.</a:t>
            </a:r>
          </a:p>
          <a:p>
            <a:r>
              <a:t>They impose rules on table columns to restrict invalid data entry.</a:t>
            </a:r>
          </a:p>
          <a:p>
            <a:r>
              <a:t>Types of constraints: NOT NULL, UNIQUE, PRIMARY KEY, FOREIGN KEY, CHECK, DEFAULT.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NOT NULL Constraint</a:t>
            </a:r>
          </a:p>
        </p:txBody>
      </p:sp>
      <p:sp>
        <p:nvSpPr>
          <p:cNvPr id="3" name="Content Placeholder 2"/>
          <p:cNvSpPr>
            <a:spLocks noGrp="1"/>
          </p:cNvSpPr>
          <p:nvPr>
            <p:ph idx="1"/>
          </p:nvPr>
        </p:nvSpPr>
        <p:spPr/>
        <p:txBody>
          <a:bodyPr/>
          <a:lstStyle/>
          <a:p>
            <a:r>
              <a:t>Ensures that a column cannot have NULL values.</a:t>
            </a:r>
          </a:p>
          <a:p>
            <a:r>
              <a:t>Example:</a:t>
            </a:r>
          </a:p>
          <a:p>
            <a:r>
              <a:t>CREATE TABLE Students (</a:t>
            </a:r>
          </a:p>
          <a:p>
            <a:r>
              <a:t>    StudentID INT PRIMARY KEY,</a:t>
            </a:r>
          </a:p>
          <a:p>
            <a:r>
              <a:t>    Name VARCHAR(50) NOT NULL</a:t>
            </a:r>
          </a:p>
          <a:p>
            <a:r>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UNIQUE Constraint</a:t>
            </a:r>
          </a:p>
        </p:txBody>
      </p:sp>
      <p:sp>
        <p:nvSpPr>
          <p:cNvPr id="3" name="Content Placeholder 2"/>
          <p:cNvSpPr>
            <a:spLocks noGrp="1"/>
          </p:cNvSpPr>
          <p:nvPr>
            <p:ph idx="1"/>
          </p:nvPr>
        </p:nvSpPr>
        <p:spPr/>
        <p:txBody>
          <a:bodyPr/>
          <a:lstStyle/>
          <a:p>
            <a:r>
              <a:t>Ensures all values in a column are unique.</a:t>
            </a:r>
          </a:p>
          <a:p>
            <a:r>
              <a:t>Example:</a:t>
            </a:r>
          </a:p>
          <a:p>
            <a:r>
              <a:t>CREATE TABLE Employees (</a:t>
            </a:r>
          </a:p>
          <a:p>
            <a:r>
              <a:t>    EmpID INT PRIMARY KEY,</a:t>
            </a:r>
          </a:p>
          <a:p>
            <a:r>
              <a:t>    Email VARCHAR(100) UNIQUE</a:t>
            </a:r>
          </a:p>
          <a:p>
            <a:r>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PRIMARY KEY Constraint</a:t>
            </a:r>
          </a:p>
        </p:txBody>
      </p:sp>
      <p:sp>
        <p:nvSpPr>
          <p:cNvPr id="3" name="Content Placeholder 2"/>
          <p:cNvSpPr>
            <a:spLocks noGrp="1"/>
          </p:cNvSpPr>
          <p:nvPr>
            <p:ph idx="1"/>
          </p:nvPr>
        </p:nvSpPr>
        <p:spPr/>
        <p:txBody>
          <a:bodyPr/>
          <a:lstStyle/>
          <a:p>
            <a:r>
              <a:t>Uniquely identifies each record in a table.</a:t>
            </a:r>
          </a:p>
          <a:p>
            <a:r>
              <a:t>Example:</a:t>
            </a:r>
          </a:p>
          <a:p>
            <a:r>
              <a:t>CREATE TABLE Courses (</a:t>
            </a:r>
          </a:p>
          <a:p>
            <a:r>
              <a:t>    CourseID INT PRIMARY KEY,</a:t>
            </a:r>
          </a:p>
          <a:p>
            <a:r>
              <a:t>    CourseName VARCHAR(50) NOT NULL</a:t>
            </a:r>
          </a:p>
          <a:p>
            <a:r>
              <a: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FOREIGN KEY Constraint</a:t>
            </a:r>
          </a:p>
        </p:txBody>
      </p:sp>
      <p:sp>
        <p:nvSpPr>
          <p:cNvPr id="3" name="Content Placeholder 2"/>
          <p:cNvSpPr>
            <a:spLocks noGrp="1"/>
          </p:cNvSpPr>
          <p:nvPr>
            <p:ph idx="1"/>
          </p:nvPr>
        </p:nvSpPr>
        <p:spPr/>
        <p:txBody>
          <a:bodyPr>
            <a:normAutofit fontScale="92500"/>
          </a:bodyPr>
          <a:lstStyle/>
          <a:p>
            <a:r>
              <a:t>Links two tables to enforce referential integrity.</a:t>
            </a:r>
          </a:p>
          <a:p>
            <a:r>
              <a:t>Example:</a:t>
            </a:r>
          </a:p>
          <a:p>
            <a:r>
              <a:t>CREATE TABLE Enrollments (</a:t>
            </a:r>
          </a:p>
          <a:p>
            <a:r>
              <a:t>    EnrollmentID INT PRIMARY KEY,</a:t>
            </a:r>
          </a:p>
          <a:p>
            <a:r>
              <a:t>    StudentID INT,</a:t>
            </a:r>
          </a:p>
          <a:p>
            <a:r>
              <a:t>    FOREIGN KEY (StudentID) REFERENCES Students(StudentID)</a:t>
            </a:r>
          </a:p>
          <a:p>
            <a:r>
              <a: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b="1" dirty="0"/>
              <a:t>Parent and Child Table Concept in Foreign Key</a:t>
            </a:r>
          </a:p>
          <a:p>
            <a:r>
              <a:rPr lang="en-US" dirty="0"/>
              <a:t>A </a:t>
            </a:r>
            <a:r>
              <a:rPr lang="en-US" b="1" dirty="0"/>
              <a:t>Foreign Key</a:t>
            </a:r>
            <a:r>
              <a:rPr lang="en-US" dirty="0"/>
              <a:t> creates a relationship between two tables, forming a </a:t>
            </a:r>
            <a:r>
              <a:rPr lang="en-US" b="1" dirty="0"/>
              <a:t>Parent-Child</a:t>
            </a:r>
            <a:r>
              <a:rPr lang="en-US" dirty="0"/>
              <a:t> relationship.</a:t>
            </a:r>
          </a:p>
          <a:p>
            <a:r>
              <a:rPr lang="en-US" b="1" dirty="0"/>
              <a:t>Parent Table:</a:t>
            </a:r>
            <a:r>
              <a:rPr lang="en-US" dirty="0"/>
              <a:t> The table that contains the </a:t>
            </a:r>
            <a:r>
              <a:rPr lang="en-US" b="1" dirty="0"/>
              <a:t>Primary Key</a:t>
            </a:r>
            <a:r>
              <a:rPr lang="en-US" dirty="0"/>
              <a:t> (Referenced Table).</a:t>
            </a:r>
          </a:p>
          <a:p>
            <a:r>
              <a:rPr lang="en-US" b="1" dirty="0"/>
              <a:t>Child Table:</a:t>
            </a:r>
            <a:r>
              <a:rPr lang="en-US" dirty="0"/>
              <a:t> The table that contains the </a:t>
            </a:r>
            <a:r>
              <a:rPr lang="en-US" b="1" dirty="0"/>
              <a:t>Foreign Key</a:t>
            </a:r>
            <a:r>
              <a:rPr lang="en-US" dirty="0"/>
              <a:t> (Referencing Table</a:t>
            </a:r>
            <a:r>
              <a:rPr lang="en-US" dirty="0" smtClean="0"/>
              <a:t>).</a:t>
            </a:r>
          </a:p>
          <a:p>
            <a:r>
              <a:rPr lang="en-US" b="1" dirty="0"/>
              <a:t>Example:</a:t>
            </a:r>
          </a:p>
          <a:p>
            <a:r>
              <a:rPr lang="en-US" dirty="0"/>
              <a:t>Consider a </a:t>
            </a:r>
            <a:r>
              <a:rPr lang="en-US" b="1" dirty="0"/>
              <a:t>Students</a:t>
            </a:r>
            <a:r>
              <a:rPr lang="en-US" dirty="0"/>
              <a:t> table as the </a:t>
            </a:r>
            <a:r>
              <a:rPr lang="en-US" b="1" dirty="0"/>
              <a:t>Parent Table</a:t>
            </a:r>
            <a:r>
              <a:rPr lang="en-US" dirty="0"/>
              <a:t> and an </a:t>
            </a:r>
            <a:r>
              <a:rPr lang="en-US" b="1" dirty="0"/>
              <a:t>Enrollments</a:t>
            </a:r>
            <a:r>
              <a:rPr lang="en-US" dirty="0"/>
              <a:t> table as the </a:t>
            </a:r>
            <a:r>
              <a:rPr lang="en-US" b="1" dirty="0"/>
              <a:t>Child Table</a:t>
            </a:r>
            <a:r>
              <a:rPr lang="en-US" dirty="0"/>
              <a:t>.</a:t>
            </a:r>
          </a:p>
          <a:p>
            <a:endParaRPr lang="en-US" dirty="0"/>
          </a:p>
          <a:p>
            <a:endParaRPr lang="en-IN" dirty="0"/>
          </a:p>
        </p:txBody>
      </p:sp>
    </p:spTree>
    <p:extLst>
      <p:ext uri="{BB962C8B-B14F-4D97-AF65-F5344CB8AC3E}">
        <p14:creationId xmlns:p14="http://schemas.microsoft.com/office/powerpoint/2010/main" val="18470233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a:t>CREATE TABLE Students (</a:t>
            </a:r>
          </a:p>
          <a:p>
            <a:pPr marL="0" indent="0">
              <a:buNone/>
            </a:pPr>
            <a:r>
              <a:rPr lang="en-IN" dirty="0"/>
              <a:t>    </a:t>
            </a:r>
            <a:r>
              <a:rPr lang="en-IN" dirty="0" err="1"/>
              <a:t>StudentID</a:t>
            </a:r>
            <a:r>
              <a:rPr lang="en-IN" dirty="0"/>
              <a:t> INT PRIMARY KEY,</a:t>
            </a:r>
          </a:p>
          <a:p>
            <a:pPr marL="0" indent="0">
              <a:buNone/>
            </a:pPr>
            <a:r>
              <a:rPr lang="en-IN" dirty="0"/>
              <a:t>    Name VARCHAR(50) NOT NULL</a:t>
            </a:r>
          </a:p>
          <a:p>
            <a:pPr marL="0" indent="0">
              <a:buNone/>
            </a:pPr>
            <a:r>
              <a:rPr lang="en-IN" dirty="0"/>
              <a:t>);</a:t>
            </a:r>
          </a:p>
          <a:p>
            <a:pPr marL="0" indent="0">
              <a:buNone/>
            </a:pPr>
            <a:endParaRPr lang="en-IN" dirty="0"/>
          </a:p>
          <a:p>
            <a:pPr marL="0" indent="0">
              <a:buNone/>
            </a:pPr>
            <a:r>
              <a:rPr lang="en-IN" dirty="0"/>
              <a:t>CREATE TABLE </a:t>
            </a:r>
            <a:r>
              <a:rPr lang="en-IN" dirty="0" err="1"/>
              <a:t>Enrollments</a:t>
            </a:r>
            <a:r>
              <a:rPr lang="en-IN" dirty="0"/>
              <a:t> (</a:t>
            </a:r>
          </a:p>
          <a:p>
            <a:pPr marL="0" indent="0">
              <a:buNone/>
            </a:pPr>
            <a:r>
              <a:rPr lang="en-IN" dirty="0"/>
              <a:t>    </a:t>
            </a:r>
            <a:r>
              <a:rPr lang="en-IN" dirty="0" err="1"/>
              <a:t>EnrollmentID</a:t>
            </a:r>
            <a:r>
              <a:rPr lang="en-IN" dirty="0"/>
              <a:t> INT PRIMARY KEY,</a:t>
            </a:r>
          </a:p>
          <a:p>
            <a:pPr marL="0" indent="0">
              <a:buNone/>
            </a:pPr>
            <a:r>
              <a:rPr lang="en-IN" dirty="0"/>
              <a:t>    </a:t>
            </a:r>
            <a:r>
              <a:rPr lang="en-IN" dirty="0" err="1"/>
              <a:t>StudentID</a:t>
            </a:r>
            <a:r>
              <a:rPr lang="en-IN" dirty="0"/>
              <a:t> INT,</a:t>
            </a:r>
          </a:p>
          <a:p>
            <a:pPr marL="0" indent="0">
              <a:buNone/>
            </a:pPr>
            <a:r>
              <a:rPr lang="en-IN" dirty="0"/>
              <a:t>    </a:t>
            </a:r>
            <a:r>
              <a:rPr lang="en-IN" dirty="0" err="1"/>
              <a:t>CourseName</a:t>
            </a:r>
            <a:r>
              <a:rPr lang="en-IN" dirty="0"/>
              <a:t> VARCHAR(50),</a:t>
            </a:r>
          </a:p>
          <a:p>
            <a:pPr marL="0" indent="0">
              <a:buNone/>
            </a:pPr>
            <a:r>
              <a:rPr lang="en-IN" dirty="0"/>
              <a:t>    FOREIGN KEY (</a:t>
            </a:r>
            <a:r>
              <a:rPr lang="en-IN" dirty="0" err="1"/>
              <a:t>StudentID</a:t>
            </a:r>
            <a:r>
              <a:rPr lang="en-IN" dirty="0"/>
              <a:t>) REFERENCES Students(</a:t>
            </a:r>
            <a:r>
              <a:rPr lang="en-IN" dirty="0" err="1"/>
              <a:t>StudentID</a:t>
            </a:r>
            <a:r>
              <a:rPr lang="en-IN" dirty="0"/>
              <a:t>)</a:t>
            </a:r>
          </a:p>
          <a:p>
            <a:pPr marL="0" indent="0">
              <a:buNone/>
            </a:pPr>
            <a:r>
              <a:rPr lang="en-IN" dirty="0"/>
              <a:t>);</a:t>
            </a:r>
          </a:p>
          <a:p>
            <a:endParaRPr lang="en-IN" dirty="0"/>
          </a:p>
        </p:txBody>
      </p:sp>
    </p:spTree>
    <p:extLst>
      <p:ext uri="{BB962C8B-B14F-4D97-AF65-F5344CB8AC3E}">
        <p14:creationId xmlns:p14="http://schemas.microsoft.com/office/powerpoint/2010/main" val="7994295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 Constraint</a:t>
            </a:r>
          </a:p>
        </p:txBody>
      </p:sp>
      <p:sp>
        <p:nvSpPr>
          <p:cNvPr id="3" name="Content Placeholder 2"/>
          <p:cNvSpPr>
            <a:spLocks noGrp="1"/>
          </p:cNvSpPr>
          <p:nvPr>
            <p:ph idx="1"/>
          </p:nvPr>
        </p:nvSpPr>
        <p:spPr/>
        <p:txBody>
          <a:bodyPr/>
          <a:lstStyle/>
          <a:p>
            <a:r>
              <a:t>Ensures values meet a specified condition.</a:t>
            </a:r>
          </a:p>
          <a:p>
            <a:r>
              <a:t>Example:</a:t>
            </a:r>
          </a:p>
          <a:p>
            <a:r>
              <a:t>CREATE TABLE Products (</a:t>
            </a:r>
          </a:p>
          <a:p>
            <a:r>
              <a:t>    ProductID INT PRIMARY KEY,</a:t>
            </a:r>
          </a:p>
          <a:p>
            <a:r>
              <a:t>    Price DECIMAL(10,2) CHECK (Price &gt; 0)</a:t>
            </a:r>
          </a:p>
          <a:p>
            <a:r>
              <a: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DEFAULT Constraint</a:t>
            </a:r>
          </a:p>
        </p:txBody>
      </p:sp>
      <p:sp>
        <p:nvSpPr>
          <p:cNvPr id="3" name="Content Placeholder 2"/>
          <p:cNvSpPr>
            <a:spLocks noGrp="1"/>
          </p:cNvSpPr>
          <p:nvPr>
            <p:ph idx="1"/>
          </p:nvPr>
        </p:nvSpPr>
        <p:spPr/>
        <p:txBody>
          <a:bodyPr/>
          <a:lstStyle/>
          <a:p>
            <a:r>
              <a:t>Sets a default value for a column.</a:t>
            </a:r>
          </a:p>
          <a:p>
            <a:r>
              <a:t>Example:</a:t>
            </a:r>
          </a:p>
          <a:p>
            <a:r>
              <a:t>CREATE TABLE Orders (</a:t>
            </a:r>
          </a:p>
          <a:p>
            <a:r>
              <a:t>    OrderID INT PRIMARY KEY,</a:t>
            </a:r>
          </a:p>
          <a:p>
            <a:r>
              <a:t>    OrderDate DATE DEFAULT CURRENT_DATE</a:t>
            </a:r>
          </a:p>
          <a:p>
            <a:r>
              <a:t>);</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Parent and Child Tables in Foreign Key</a:t>
            </a:r>
          </a:p>
        </p:txBody>
      </p:sp>
      <p:sp>
        <p:nvSpPr>
          <p:cNvPr id="3" name="Content Placeholder 2"/>
          <p:cNvSpPr>
            <a:spLocks noGrp="1"/>
          </p:cNvSpPr>
          <p:nvPr>
            <p:ph idx="1"/>
          </p:nvPr>
        </p:nvSpPr>
        <p:spPr/>
        <p:txBody>
          <a:bodyPr/>
          <a:lstStyle/>
          <a:p>
            <a:r>
              <a:t>Parent Table: Contains the primary key.</a:t>
            </a:r>
          </a:p>
          <a:p>
            <a:r>
              <a:t>Child Table: Contains the foreign key referencing the parent table.</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Cascading Effects in Foreign Key</a:t>
            </a:r>
          </a:p>
        </p:txBody>
      </p:sp>
      <p:sp>
        <p:nvSpPr>
          <p:cNvPr id="3" name="Content Placeholder 2"/>
          <p:cNvSpPr>
            <a:spLocks noGrp="1"/>
          </p:cNvSpPr>
          <p:nvPr>
            <p:ph idx="1"/>
          </p:nvPr>
        </p:nvSpPr>
        <p:spPr/>
        <p:txBody>
          <a:bodyPr/>
          <a:lstStyle/>
          <a:p>
            <a:r>
              <a:t>ON DELETE CASCADE: Deletes child records when parent record is deleted.</a:t>
            </a:r>
          </a:p>
          <a:p>
            <a:r>
              <a:t>ON DELETE SET NULL: Sets child records' foreign key to NULL.</a:t>
            </a:r>
          </a:p>
          <a:p>
            <a:r>
              <a:t>ON DELETE RESTRICT: Prevents deletion if related child records exist.</a:t>
            </a:r>
          </a:p>
          <a:p>
            <a:r>
              <a:t>ON UPDATE CASCADE: Updates child records when parent key changes.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of ON DELETE CASCADE</a:t>
            </a:r>
          </a:p>
        </p:txBody>
      </p:sp>
      <p:sp>
        <p:nvSpPr>
          <p:cNvPr id="3" name="Content Placeholder 2"/>
          <p:cNvSpPr>
            <a:spLocks noGrp="1"/>
          </p:cNvSpPr>
          <p:nvPr>
            <p:ph idx="1"/>
          </p:nvPr>
        </p:nvSpPr>
        <p:spPr/>
        <p:txBody>
          <a:bodyPr/>
          <a:lstStyle/>
          <a:p>
            <a:r>
              <a:t>Example:</a:t>
            </a:r>
          </a:p>
          <a:p>
            <a:r>
              <a:t>CREATE TABLE Enrollments (</a:t>
            </a:r>
          </a:p>
          <a:p>
            <a:r>
              <a:t>    EnrollmentID INT PRIMARY KEY,</a:t>
            </a:r>
          </a:p>
          <a:p>
            <a:r>
              <a:t>    StudentID INT,</a:t>
            </a:r>
          </a:p>
          <a:p>
            <a:r>
              <a:t>    FOREIGN KEY (StudentID) REFERENCES Students(StudentID) ON DELETE CASCADE</a:t>
            </a:r>
          </a:p>
          <a:p>
            <a:r>
              <a: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of ON DELETE SET NULL</a:t>
            </a:r>
          </a:p>
        </p:txBody>
      </p:sp>
      <p:sp>
        <p:nvSpPr>
          <p:cNvPr id="3" name="Content Placeholder 2"/>
          <p:cNvSpPr>
            <a:spLocks noGrp="1"/>
          </p:cNvSpPr>
          <p:nvPr>
            <p:ph idx="1"/>
          </p:nvPr>
        </p:nvSpPr>
        <p:spPr/>
        <p:txBody>
          <a:bodyPr/>
          <a:lstStyle/>
          <a:p>
            <a:r>
              <a:t>Example:</a:t>
            </a:r>
          </a:p>
          <a:p>
            <a:r>
              <a:t>CREATE TABLE Enrollments (</a:t>
            </a:r>
          </a:p>
          <a:p>
            <a:r>
              <a:t>    EnrollmentID INT PRIMARY KEY,</a:t>
            </a:r>
          </a:p>
          <a:p>
            <a:r>
              <a:t>    StudentID INT,</a:t>
            </a:r>
          </a:p>
          <a:p>
            <a:r>
              <a:t>    FOREIGN KEY (StudentID) REFERENCES Students(StudentID) ON DELETE SET NULL</a:t>
            </a:r>
          </a:p>
          <a:p>
            <a:r>
              <a:t>);</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of ON DELETE RESTRICT</a:t>
            </a:r>
          </a:p>
        </p:txBody>
      </p:sp>
      <p:sp>
        <p:nvSpPr>
          <p:cNvPr id="3" name="Content Placeholder 2"/>
          <p:cNvSpPr>
            <a:spLocks noGrp="1"/>
          </p:cNvSpPr>
          <p:nvPr>
            <p:ph idx="1"/>
          </p:nvPr>
        </p:nvSpPr>
        <p:spPr/>
        <p:txBody>
          <a:bodyPr/>
          <a:lstStyle/>
          <a:p>
            <a:r>
              <a:t>Example:</a:t>
            </a:r>
          </a:p>
          <a:p>
            <a:r>
              <a:t>CREATE TABLE Enrollments (</a:t>
            </a:r>
          </a:p>
          <a:p>
            <a:r>
              <a:t>    EnrollmentID INT PRIMARY KEY,</a:t>
            </a:r>
          </a:p>
          <a:p>
            <a:r>
              <a:t>    StudentID INT,</a:t>
            </a:r>
          </a:p>
          <a:p>
            <a:r>
              <a:t>    FOREIGN KEY (StudentID) REFERENCES Students(StudentID) ON DELETE RESTRICT</a:t>
            </a:r>
          </a:p>
          <a:p>
            <a:r>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of ON UPDATE CASCADE</a:t>
            </a:r>
          </a:p>
        </p:txBody>
      </p:sp>
      <p:sp>
        <p:nvSpPr>
          <p:cNvPr id="3" name="Content Placeholder 2"/>
          <p:cNvSpPr>
            <a:spLocks noGrp="1"/>
          </p:cNvSpPr>
          <p:nvPr>
            <p:ph idx="1"/>
          </p:nvPr>
        </p:nvSpPr>
        <p:spPr/>
        <p:txBody>
          <a:bodyPr/>
          <a:lstStyle/>
          <a:p>
            <a:r>
              <a:t>Example:</a:t>
            </a:r>
          </a:p>
          <a:p>
            <a:r>
              <a:t>CREATE TABLE Enrollments (</a:t>
            </a:r>
          </a:p>
          <a:p>
            <a:r>
              <a:t>    EnrollmentID INT PRIMARY KEY,</a:t>
            </a:r>
          </a:p>
          <a:p>
            <a:r>
              <a:t>    StudentID INT,</a:t>
            </a:r>
          </a:p>
          <a:p>
            <a:r>
              <a:t>    FOREIGN KEY (StudentID) REFERENCES Students(StudentID) ON UPDATE CASCADE</a:t>
            </a:r>
          </a:p>
          <a:p>
            <a:r>
              <a: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Constraints maintain data integrity and relationships.</a:t>
            </a:r>
          </a:p>
          <a:p>
            <a:r>
              <a:t>Foreign keys establish parent-child relationships.</a:t>
            </a:r>
          </a:p>
          <a:p>
            <a:r>
              <a:t>Cascading effects help automate updates and deletions.</a:t>
            </a:r>
          </a:p>
          <a:p>
            <a:r>
              <a:t>Use constraints wisely to ensure efficient database management.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t>Thank you! Any questions?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22909506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39139485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39263761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38314718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317079862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933575" y="-228600"/>
            <a:ext cx="13011150" cy="7315200"/>
          </a:xfrm>
          <a:prstGeom prst="rect">
            <a:avLst/>
          </a:prstGeom>
        </p:spPr>
      </p:pic>
      <p:sp>
        <p:nvSpPr>
          <p:cNvPr id="5" name="Rectangle 4"/>
          <p:cNvSpPr/>
          <p:nvPr/>
        </p:nvSpPr>
        <p:spPr>
          <a:xfrm>
            <a:off x="-1933575" y="6622473"/>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640816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998672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 PK in </a:t>
            </a:r>
            <a:r>
              <a:rPr lang="en-US" dirty="0" err="1" smtClean="0"/>
              <a:t>Section,Weak</a:t>
            </a:r>
            <a:endParaRPr lang="en-IN" dirty="0"/>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954621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Dotted line (it exist </a:t>
            </a:r>
            <a:r>
              <a:rPr lang="en-US" dirty="0" err="1" smtClean="0"/>
              <a:t>bcoz</a:t>
            </a:r>
            <a:r>
              <a:rPr lang="en-US" dirty="0" smtClean="0"/>
              <a:t> other 2 exist)</a:t>
            </a:r>
            <a:endParaRPr lang="en-IN" dirty="0"/>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600463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201664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684518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 Instructor can advise to many students(one to many)</a:t>
            </a:r>
            <a:endParaRPr lang="en-IN" dirty="0"/>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7" y="5662036"/>
            <a:ext cx="2584739" cy="464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271405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114302206"/>
              </p:ext>
            </p:extLst>
          </p:nvPr>
        </p:nvGraphicFramePr>
        <p:xfrm>
          <a:off x="886691" y="1600200"/>
          <a:ext cx="7481453" cy="4525963"/>
        </p:xfrm>
        <a:graphic>
          <a:graphicData uri="http://schemas.openxmlformats.org/presentationml/2006/ole">
            <mc:AlternateContent xmlns:mc="http://schemas.openxmlformats.org/markup-compatibility/2006">
              <mc:Choice xmlns:v="urn:schemas-microsoft-com:vml" Requires="v">
                <p:oleObj spid="_x0000_s5245" name="Bitmap Image" r:id="rId3" imgW="3591000" imgH="2752560" progId="Paint.Picture">
                  <p:embed/>
                </p:oleObj>
              </mc:Choice>
              <mc:Fallback>
                <p:oleObj name="Bitmap Image" r:id="rId3" imgW="3591000" imgH="2752560" progId="Paint.Picture">
                  <p:embed/>
                  <p:pic>
                    <p:nvPicPr>
                      <p:cNvPr id="0" name=""/>
                      <p:cNvPicPr/>
                      <p:nvPr/>
                    </p:nvPicPr>
                    <p:blipFill>
                      <a:blip r:embed="rId4"/>
                      <a:stretch>
                        <a:fillRect/>
                      </a:stretch>
                    </p:blipFill>
                    <p:spPr>
                      <a:xfrm>
                        <a:off x="886691" y="1600200"/>
                        <a:ext cx="7481453" cy="4525963"/>
                      </a:xfrm>
                      <a:prstGeom prst="rect">
                        <a:avLst/>
                      </a:prstGeom>
                    </p:spPr>
                  </p:pic>
                </p:oleObj>
              </mc:Fallback>
            </mc:AlternateContent>
          </a:graphicData>
        </a:graphic>
      </p:graphicFrame>
    </p:spTree>
    <p:extLst>
      <p:ext uri="{BB962C8B-B14F-4D97-AF65-F5344CB8AC3E}">
        <p14:creationId xmlns:p14="http://schemas.microsoft.com/office/powerpoint/2010/main" val="343406453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M:1</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229600" cy="5315671"/>
          </a:xfrm>
        </p:spPr>
      </p:pic>
    </p:spTree>
    <p:extLst>
      <p:ext uri="{BB962C8B-B14F-4D97-AF65-F5344CB8AC3E}">
        <p14:creationId xmlns:p14="http://schemas.microsoft.com/office/powerpoint/2010/main" val="314270771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to many</a:t>
            </a:r>
            <a:endParaRPr lang="en-IN"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756722058"/>
              </p:ext>
            </p:extLst>
          </p:nvPr>
        </p:nvGraphicFramePr>
        <p:xfrm>
          <a:off x="1514475" y="1600200"/>
          <a:ext cx="6115050" cy="4525963"/>
        </p:xfrm>
        <a:graphic>
          <a:graphicData uri="http://schemas.openxmlformats.org/presentationml/2006/ole">
            <mc:AlternateContent xmlns:mc="http://schemas.openxmlformats.org/markup-compatibility/2006">
              <mc:Choice xmlns:v="urn:schemas-microsoft-com:vml" Requires="v">
                <p:oleObj spid="_x0000_s6267" name="Bitmap Image" r:id="rId3" imgW="3591000" imgH="2657520" progId="Paint.Picture">
                  <p:embed/>
                </p:oleObj>
              </mc:Choice>
              <mc:Fallback>
                <p:oleObj name="Bitmap Image" r:id="rId3" imgW="3591000" imgH="2657520" progId="Paint.Picture">
                  <p:embed/>
                  <p:pic>
                    <p:nvPicPr>
                      <p:cNvPr id="0" name=""/>
                      <p:cNvPicPr/>
                      <p:nvPr/>
                    </p:nvPicPr>
                    <p:blipFill>
                      <a:blip r:embed="rId4"/>
                      <a:stretch>
                        <a:fillRect/>
                      </a:stretch>
                    </p:blipFill>
                    <p:spPr>
                      <a:xfrm>
                        <a:off x="1514475" y="1600200"/>
                        <a:ext cx="6115050" cy="4525963"/>
                      </a:xfrm>
                      <a:prstGeom prst="rect">
                        <a:avLst/>
                      </a:prstGeom>
                    </p:spPr>
                  </p:pic>
                </p:oleObj>
              </mc:Fallback>
            </mc:AlternateContent>
          </a:graphicData>
        </a:graphic>
      </p:graphicFrame>
    </p:spTree>
    <p:extLst>
      <p:ext uri="{BB962C8B-B14F-4D97-AF65-F5344CB8AC3E}">
        <p14:creationId xmlns:p14="http://schemas.microsoft.com/office/powerpoint/2010/main" val="15717708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673" y="2153444"/>
            <a:ext cx="8631382" cy="4233501"/>
          </a:xfrm>
        </p:spPr>
      </p:pic>
    </p:spTree>
    <p:extLst>
      <p:ext uri="{BB962C8B-B14F-4D97-AF65-F5344CB8AC3E}">
        <p14:creationId xmlns:p14="http://schemas.microsoft.com/office/powerpoint/2010/main" val="267152047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r>
              <a:rPr lang="en-US" dirty="0" smtClean="0"/>
              <a:t>1:1</a:t>
            </a:r>
            <a:endParaRPr lang="en-IN" dirty="0"/>
          </a:p>
        </p:txBody>
      </p:sp>
      <p:pic>
        <p:nvPicPr>
          <p:cNvPr id="4" name="Content Placeholder 3"/>
          <p:cNvPicPr>
            <a:picLocks noGrp="1" noChangeAspect="1"/>
          </p:cNvPicPr>
          <p:nvPr>
            <p:ph idx="1"/>
          </p:nvPr>
        </p:nvPicPr>
        <p:blipFill>
          <a:blip r:embed="rId2"/>
          <a:stretch>
            <a:fillRect/>
          </a:stretch>
        </p:blipFill>
        <p:spPr>
          <a:xfrm>
            <a:off x="346364" y="997527"/>
            <a:ext cx="8645236" cy="5721927"/>
          </a:xfrm>
          <a:prstGeom prst="rect">
            <a:avLst/>
          </a:prstGeom>
        </p:spPr>
      </p:pic>
    </p:spTree>
    <p:extLst>
      <p:ext uri="{BB962C8B-B14F-4D97-AF65-F5344CB8AC3E}">
        <p14:creationId xmlns:p14="http://schemas.microsoft.com/office/powerpoint/2010/main" val="244805571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61727"/>
            <a:ext cx="8229600" cy="5243873"/>
          </a:xfrm>
        </p:spPr>
      </p:pic>
    </p:spTree>
    <p:extLst>
      <p:ext uri="{BB962C8B-B14F-4D97-AF65-F5344CB8AC3E}">
        <p14:creationId xmlns:p14="http://schemas.microsoft.com/office/powerpoint/2010/main" val="409973721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291607424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Tree>
    <p:extLst>
      <p:ext uri="{BB962C8B-B14F-4D97-AF65-F5344CB8AC3E}">
        <p14:creationId xmlns:p14="http://schemas.microsoft.com/office/powerpoint/2010/main" val="196190068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817418"/>
            <a:ext cx="8229599" cy="5749637"/>
          </a:xfrm>
        </p:spPr>
      </p:pic>
    </p:spTree>
    <p:extLst>
      <p:ext uri="{BB962C8B-B14F-4D97-AF65-F5344CB8AC3E}">
        <p14:creationId xmlns:p14="http://schemas.microsoft.com/office/powerpoint/2010/main" val="239116081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1600" dirty="0"/>
              <a:t>Here,</a:t>
            </a:r>
            <a:br>
              <a:rPr lang="en-US" sz="1600" dirty="0"/>
            </a:br>
            <a:r>
              <a:rPr lang="en-US" sz="1600" dirty="0"/>
              <a:t>Double line between the entity set “Student” and relationship set “Enrolled in” signifies total participation.</a:t>
            </a:r>
            <a:br>
              <a:rPr lang="en-US" sz="1600" dirty="0"/>
            </a:br>
            <a:r>
              <a:rPr lang="en-US" sz="1600" dirty="0"/>
              <a:t>It specifies that each student must be enrolled in at least one course.</a:t>
            </a:r>
            <a:br>
              <a:rPr lang="en-US" sz="1600" dirty="0"/>
            </a:br>
            <a:endParaRPr lang="en-IN" sz="16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451273" cy="5190980"/>
          </a:xfrm>
        </p:spPr>
      </p:pic>
    </p:spTree>
    <p:extLst>
      <p:ext uri="{BB962C8B-B14F-4D97-AF65-F5344CB8AC3E}">
        <p14:creationId xmlns:p14="http://schemas.microsoft.com/office/powerpoint/2010/main" val="217395924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2. Partial Participation-</a:t>
            </a:r>
            <a:r>
              <a:rPr lang="en-IN" b="1" dirty="0"/>
              <a:t/>
            </a:r>
            <a:br>
              <a:rPr lang="en-IN" b="1" dirty="0"/>
            </a:br>
            <a:endParaRPr lang="en-IN" dirty="0"/>
          </a:p>
        </p:txBody>
      </p:sp>
      <p:sp>
        <p:nvSpPr>
          <p:cNvPr id="3" name="Content Placeholder 2"/>
          <p:cNvSpPr>
            <a:spLocks noGrp="1"/>
          </p:cNvSpPr>
          <p:nvPr>
            <p:ph idx="1"/>
          </p:nvPr>
        </p:nvSpPr>
        <p:spPr/>
        <p:txBody>
          <a:bodyPr/>
          <a:lstStyle/>
          <a:p>
            <a:pPr algn="just"/>
            <a:r>
              <a:rPr lang="en-US" dirty="0"/>
              <a:t>It specifies that each entity in the entity set may or may not participate in the relationship instance in that relationship set.</a:t>
            </a:r>
          </a:p>
          <a:p>
            <a:pPr algn="just"/>
            <a:r>
              <a:rPr lang="en-US" dirty="0"/>
              <a:t>That is why, it is also called as </a:t>
            </a:r>
            <a:r>
              <a:rPr lang="en-US" b="1" dirty="0"/>
              <a:t>optional participation.</a:t>
            </a:r>
            <a:endParaRPr lang="en-US" dirty="0"/>
          </a:p>
          <a:p>
            <a:pPr algn="just"/>
            <a:r>
              <a:rPr lang="en-US" dirty="0"/>
              <a:t>Partial participation is represented using a single line between the entity set and relationship set.</a:t>
            </a:r>
          </a:p>
          <a:p>
            <a:endParaRPr lang="en-IN" dirty="0"/>
          </a:p>
        </p:txBody>
      </p:sp>
    </p:spTree>
    <p:extLst>
      <p:ext uri="{BB962C8B-B14F-4D97-AF65-F5344CB8AC3E}">
        <p14:creationId xmlns:p14="http://schemas.microsoft.com/office/powerpoint/2010/main" val="228679652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775262708"/>
              </p:ext>
            </p:extLst>
          </p:nvPr>
        </p:nvGraphicFramePr>
        <p:xfrm>
          <a:off x="457200" y="2316163"/>
          <a:ext cx="8229600" cy="3092450"/>
        </p:xfrm>
        <a:graphic>
          <a:graphicData uri="http://schemas.openxmlformats.org/presentationml/2006/ole">
            <mc:AlternateContent xmlns:mc="http://schemas.openxmlformats.org/markup-compatibility/2006">
              <mc:Choice xmlns:v="urn:schemas-microsoft-com:vml" Requires="v">
                <p:oleObj spid="_x0000_s7251" name="Bitmap Image" r:id="rId3" imgW="3067200" imgH="1152360" progId="Paint.Picture">
                  <p:embed/>
                </p:oleObj>
              </mc:Choice>
              <mc:Fallback>
                <p:oleObj name="Bitmap Image" r:id="rId3" imgW="3067200" imgH="1152360" progId="Paint.Picture">
                  <p:embed/>
                  <p:pic>
                    <p:nvPicPr>
                      <p:cNvPr id="0" name=""/>
                      <p:cNvPicPr/>
                      <p:nvPr/>
                    </p:nvPicPr>
                    <p:blipFill>
                      <a:blip r:embed="rId4"/>
                      <a:stretch>
                        <a:fillRect/>
                      </a:stretch>
                    </p:blipFill>
                    <p:spPr>
                      <a:xfrm>
                        <a:off x="457200" y="2316163"/>
                        <a:ext cx="8229600" cy="3092450"/>
                      </a:xfrm>
                      <a:prstGeom prst="rect">
                        <a:avLst/>
                      </a:prstGeom>
                    </p:spPr>
                  </p:pic>
                </p:oleObj>
              </mc:Fallback>
            </mc:AlternateContent>
          </a:graphicData>
        </a:graphic>
      </p:graphicFrame>
    </p:spTree>
    <p:extLst>
      <p:ext uri="{BB962C8B-B14F-4D97-AF65-F5344CB8AC3E}">
        <p14:creationId xmlns:p14="http://schemas.microsoft.com/office/powerpoint/2010/main" val="176958607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939157340"/>
              </p:ext>
            </p:extLst>
          </p:nvPr>
        </p:nvGraphicFramePr>
        <p:xfrm>
          <a:off x="457200" y="2382982"/>
          <a:ext cx="8229600" cy="2452253"/>
        </p:xfrm>
        <a:graphic>
          <a:graphicData uri="http://schemas.openxmlformats.org/presentationml/2006/ole">
            <mc:AlternateContent xmlns:mc="http://schemas.openxmlformats.org/markup-compatibility/2006">
              <mc:Choice xmlns:v="urn:schemas-microsoft-com:vml" Requires="v">
                <p:oleObj spid="_x0000_s8275" name="Bitmap Image" r:id="rId3" imgW="6114960" imgH="781200" progId="Paint.Picture">
                  <p:embed/>
                </p:oleObj>
              </mc:Choice>
              <mc:Fallback>
                <p:oleObj name="Bitmap Image" r:id="rId3" imgW="6114960" imgH="781200" progId="Paint.Picture">
                  <p:embed/>
                  <p:pic>
                    <p:nvPicPr>
                      <p:cNvPr id="0" name=""/>
                      <p:cNvPicPr/>
                      <p:nvPr/>
                    </p:nvPicPr>
                    <p:blipFill>
                      <a:blip r:embed="rId4"/>
                      <a:stretch>
                        <a:fillRect/>
                      </a:stretch>
                    </p:blipFill>
                    <p:spPr>
                      <a:xfrm>
                        <a:off x="457200" y="2382982"/>
                        <a:ext cx="8229600" cy="2452253"/>
                      </a:xfrm>
                      <a:prstGeom prst="rect">
                        <a:avLst/>
                      </a:prstGeom>
                    </p:spPr>
                  </p:pic>
                </p:oleObj>
              </mc:Fallback>
            </mc:AlternateContent>
          </a:graphicData>
        </a:graphic>
      </p:graphicFrame>
    </p:spTree>
    <p:extLst>
      <p:ext uri="{BB962C8B-B14F-4D97-AF65-F5344CB8AC3E}">
        <p14:creationId xmlns:p14="http://schemas.microsoft.com/office/powerpoint/2010/main" val="119468882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a:buNone/>
            </a:pPr>
            <a:r>
              <a:rPr lang="en-US" dirty="0"/>
              <a:t>Here,</a:t>
            </a:r>
          </a:p>
          <a:p>
            <a:pPr marL="0" indent="0">
              <a:buNone/>
            </a:pPr>
            <a:r>
              <a:rPr lang="en-US" dirty="0"/>
              <a:t>Single line between the entity set “Course” and relationship set “Enrolled in” signifies partial participation.</a:t>
            </a:r>
          </a:p>
          <a:p>
            <a:pPr marL="0" indent="0">
              <a:buNone/>
            </a:pPr>
            <a:r>
              <a:rPr lang="en-US" dirty="0"/>
              <a:t>It specifies that there might exist some courses for which no enrollments are made.</a:t>
            </a:r>
          </a:p>
          <a:p>
            <a:pPr marL="0" indent="0">
              <a:buNone/>
            </a:pPr>
            <a:endParaRPr lang="en-US" dirty="0"/>
          </a:p>
          <a:p>
            <a:pPr marL="0" indent="0">
              <a:buNone/>
            </a:pPr>
            <a:r>
              <a:rPr lang="en-US" b="1" u="sng" dirty="0"/>
              <a:t>Relationship between Cardinality and Participation </a:t>
            </a:r>
            <a:r>
              <a:rPr lang="en-US" b="1" u="sng" dirty="0" smtClean="0"/>
              <a:t>Constraints-</a:t>
            </a:r>
            <a:r>
              <a:rPr lang="en-US" dirty="0"/>
              <a:t>Minimum cardinality tells whether the participation is partial or total.</a:t>
            </a:r>
          </a:p>
          <a:p>
            <a:pPr marL="0" indent="0">
              <a:buNone/>
            </a:pPr>
            <a:r>
              <a:rPr lang="en-US" dirty="0"/>
              <a:t>If minimum cardinality = 0, then it signifies partial participation.</a:t>
            </a:r>
          </a:p>
          <a:p>
            <a:pPr marL="0" indent="0">
              <a:buNone/>
            </a:pPr>
            <a:r>
              <a:rPr lang="en-US" dirty="0"/>
              <a:t>If minimum cardinality = 1, then it signifies total participation.</a:t>
            </a:r>
          </a:p>
          <a:p>
            <a:pPr marL="0" indent="0">
              <a:buNone/>
            </a:pPr>
            <a:r>
              <a:rPr lang="en-US" dirty="0"/>
              <a:t>Maximum cardinality tells the maximum number of entities that participates in a relationship set.</a:t>
            </a:r>
          </a:p>
          <a:p>
            <a:pPr marL="0" indent="0">
              <a:buNone/>
            </a:pPr>
            <a:endParaRPr lang="en-US" b="1" dirty="0"/>
          </a:p>
          <a:p>
            <a:endParaRPr lang="en-IN" dirty="0"/>
          </a:p>
        </p:txBody>
      </p:sp>
    </p:spTree>
    <p:extLst>
      <p:ext uri="{BB962C8B-B14F-4D97-AF65-F5344CB8AC3E}">
        <p14:creationId xmlns:p14="http://schemas.microsoft.com/office/powerpoint/2010/main" val="310317465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933575" y="-228600"/>
            <a:ext cx="13011150" cy="7315200"/>
          </a:xfrm>
          <a:prstGeom prst="rect">
            <a:avLst/>
          </a:prstGeom>
        </p:spPr>
      </p:pic>
    </p:spTree>
    <p:extLst>
      <p:ext uri="{BB962C8B-B14F-4D97-AF65-F5344CB8AC3E}">
        <p14:creationId xmlns:p14="http://schemas.microsoft.com/office/powerpoint/2010/main" val="287182808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569314"/>
            <a:ext cx="8229600" cy="2587735"/>
          </a:xfrm>
        </p:spPr>
      </p:pic>
    </p:spTree>
    <p:extLst>
      <p:ext uri="{BB962C8B-B14F-4D97-AF65-F5344CB8AC3E}">
        <p14:creationId xmlns:p14="http://schemas.microsoft.com/office/powerpoint/2010/main" val="7526748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For a single LOAN Multiple Payment can </a:t>
            </a:r>
            <a:r>
              <a:rPr lang="en-US" smtClean="0"/>
              <a:t>be made.</a:t>
            </a:r>
          </a:p>
          <a:p>
            <a:endParaRPr lang="en-IN"/>
          </a:p>
        </p:txBody>
      </p:sp>
    </p:spTree>
    <p:extLst>
      <p:ext uri="{BB962C8B-B14F-4D97-AF65-F5344CB8AC3E}">
        <p14:creationId xmlns:p14="http://schemas.microsoft.com/office/powerpoint/2010/main" val="112878211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510" y="0"/>
            <a:ext cx="8229600" cy="842675"/>
          </a:xfrm>
        </p:spPr>
        <p:txBody>
          <a:bodyPr>
            <a:normAutofit fontScale="90000"/>
          </a:bodyPr>
          <a:lstStyle/>
          <a:p>
            <a:pPr algn="l"/>
            <a:r>
              <a:rPr lang="en-US" sz="2800" b="1" dirty="0" smtClean="0"/>
              <a:t>How </a:t>
            </a:r>
            <a:r>
              <a:rPr lang="en-US" sz="2800" b="1" dirty="0"/>
              <a:t>to Convert ER Diagrams to Tables in DBMS?</a:t>
            </a:r>
            <a:br>
              <a:rPr lang="en-US" sz="2800" b="1" dirty="0"/>
            </a:br>
            <a:endParaRPr lang="en-IN" sz="2800" dirty="0"/>
          </a:p>
        </p:txBody>
      </p:sp>
      <p:sp>
        <p:nvSpPr>
          <p:cNvPr id="3" name="Content Placeholder 2"/>
          <p:cNvSpPr>
            <a:spLocks noGrp="1"/>
          </p:cNvSpPr>
          <p:nvPr>
            <p:ph idx="1"/>
          </p:nvPr>
        </p:nvSpPr>
        <p:spPr>
          <a:xfrm>
            <a:off x="138545" y="443345"/>
            <a:ext cx="8548255" cy="6262255"/>
          </a:xfrm>
        </p:spPr>
        <p:txBody>
          <a:bodyPr numCol="2">
            <a:normAutofit fontScale="40000" lnSpcReduction="20000"/>
          </a:bodyPr>
          <a:lstStyle/>
          <a:p>
            <a:pPr algn="just"/>
            <a:r>
              <a:rPr lang="en-US" dirty="0" smtClean="0"/>
              <a:t>To </a:t>
            </a:r>
            <a:r>
              <a:rPr lang="en-US" dirty="0"/>
              <a:t>convert ER diagrams to tables in a database management system (DBMS), follow the methods outlined below:</a:t>
            </a:r>
          </a:p>
          <a:p>
            <a:pPr marL="0" indent="0" algn="just">
              <a:buNone/>
            </a:pPr>
            <a:r>
              <a:rPr lang="en-US" b="1" dirty="0"/>
              <a:t>Step 1</a:t>
            </a:r>
          </a:p>
          <a:p>
            <a:pPr algn="just"/>
            <a:r>
              <a:rPr lang="en-US" dirty="0">
                <a:solidFill>
                  <a:srgbClr val="0070C0"/>
                </a:solidFill>
              </a:rPr>
              <a:t>Converting strong entities</a:t>
            </a:r>
          </a:p>
          <a:p>
            <a:pPr algn="just"/>
            <a:r>
              <a:rPr lang="en-US" dirty="0"/>
              <a:t>Create a separate table with about the same name for each strong object.</a:t>
            </a:r>
          </a:p>
          <a:p>
            <a:pPr algn="just"/>
            <a:r>
              <a:rPr lang="en-US" dirty="0"/>
              <a:t>If there is a composite attribute that has to be included, it must be separated into simple attributes.</a:t>
            </a:r>
          </a:p>
          <a:p>
            <a:pPr algn="just"/>
            <a:r>
              <a:rPr lang="en-US" dirty="0"/>
              <a:t>At this point, ignore multivalued characteristics.</a:t>
            </a:r>
          </a:p>
          <a:p>
            <a:pPr algn="just"/>
            <a:r>
              <a:rPr lang="en-US" dirty="0"/>
              <a:t>For the table, press the P key.</a:t>
            </a:r>
          </a:p>
          <a:p>
            <a:pPr marL="0" indent="0" algn="just">
              <a:buNone/>
            </a:pPr>
            <a:r>
              <a:rPr lang="en-US" b="1" dirty="0"/>
              <a:t>Step 2</a:t>
            </a:r>
          </a:p>
          <a:p>
            <a:pPr algn="just"/>
            <a:r>
              <a:rPr lang="en-US" dirty="0">
                <a:solidFill>
                  <a:srgbClr val="0070C0"/>
                </a:solidFill>
              </a:rPr>
              <a:t>Converting weak entity</a:t>
            </a:r>
          </a:p>
          <a:p>
            <a:pPr algn="just"/>
            <a:r>
              <a:rPr lang="en-US" dirty="0"/>
              <a:t>Create a separate table with the very same name for each weak entity.</a:t>
            </a:r>
          </a:p>
          <a:p>
            <a:pPr algn="just"/>
            <a:r>
              <a:rPr lang="en-US" dirty="0"/>
              <a:t>Include all attributes in your list.</a:t>
            </a:r>
          </a:p>
          <a:p>
            <a:pPr algn="just"/>
            <a:r>
              <a:rPr lang="en-US" dirty="0"/>
              <a:t>The weak entity includes the P key of a strong entity as a foreign key.</a:t>
            </a:r>
          </a:p>
          <a:p>
            <a:pPr algn="just"/>
            <a:r>
              <a:rPr lang="en-US" dirty="0"/>
              <a:t>Declare the weak entity’s P key as a combination of foreign key as well as decimator attribute.</a:t>
            </a:r>
          </a:p>
          <a:p>
            <a:pPr marL="0" indent="0" algn="just">
              <a:buNone/>
            </a:pPr>
            <a:r>
              <a:rPr lang="en-US" b="1" dirty="0"/>
              <a:t>Step 3</a:t>
            </a:r>
          </a:p>
          <a:p>
            <a:pPr algn="just"/>
            <a:r>
              <a:rPr lang="en-US" dirty="0">
                <a:solidFill>
                  <a:srgbClr val="0070C0"/>
                </a:solidFill>
              </a:rPr>
              <a:t>Converting one-to-one relationship</a:t>
            </a:r>
          </a:p>
          <a:p>
            <a:pPr algn="just"/>
            <a:r>
              <a:rPr lang="en-US" dirty="0"/>
              <a:t>Modify either the A or B side of each one-to-one connection, say A and B, to add the P key of the opposite side as a foreign key.</a:t>
            </a:r>
          </a:p>
          <a:p>
            <a:pPr algn="just"/>
            <a:r>
              <a:rPr lang="en-US" dirty="0"/>
              <a:t>If A or B has 100% participation, then the table should be modified.</a:t>
            </a:r>
          </a:p>
          <a:p>
            <a:pPr algn="just"/>
            <a:r>
              <a:rPr lang="en-US" dirty="0"/>
              <a:t>Include attributes in the modified table if a relationship contains them.</a:t>
            </a:r>
          </a:p>
          <a:p>
            <a:pPr marL="0" indent="0" algn="just">
              <a:buNone/>
            </a:pPr>
            <a:r>
              <a:rPr lang="en-US" b="1" dirty="0"/>
              <a:t>Step 4</a:t>
            </a:r>
          </a:p>
          <a:p>
            <a:pPr algn="just"/>
            <a:r>
              <a:rPr lang="en-US" dirty="0">
                <a:solidFill>
                  <a:srgbClr val="0070C0"/>
                </a:solidFill>
              </a:rPr>
              <a:t>Converting one-to-many relationship</a:t>
            </a:r>
          </a:p>
          <a:p>
            <a:pPr algn="just"/>
            <a:r>
              <a:rPr lang="en-US" dirty="0"/>
              <a:t>Modify the M side of each one-to-many relation to include the P key of one of the sides as a foreign key.</a:t>
            </a:r>
          </a:p>
          <a:p>
            <a:pPr algn="just"/>
            <a:r>
              <a:rPr lang="en-US" dirty="0"/>
              <a:t>If your relationships have attributes, make sure to mention them as well.</a:t>
            </a:r>
          </a:p>
          <a:p>
            <a:pPr algn="just"/>
            <a:r>
              <a:rPr lang="en-US" b="1" dirty="0"/>
              <a:t>Step 5</a:t>
            </a:r>
          </a:p>
          <a:p>
            <a:pPr algn="just"/>
            <a:r>
              <a:rPr lang="en-US" dirty="0">
                <a:solidFill>
                  <a:srgbClr val="0070C0"/>
                </a:solidFill>
              </a:rPr>
              <a:t>Converting many-to-many relationship</a:t>
            </a:r>
          </a:p>
          <a:p>
            <a:pPr algn="just"/>
            <a:r>
              <a:rPr lang="en-US" dirty="0"/>
              <a:t>Create a new table for each many-to-many relationship, using the P key from the M side and the N side as foreign keys.</a:t>
            </a:r>
          </a:p>
          <a:p>
            <a:pPr algn="just"/>
            <a:r>
              <a:rPr lang="en-US" dirty="0"/>
              <a:t>Declare P for the new table’s foreign key combination.</a:t>
            </a:r>
          </a:p>
          <a:p>
            <a:pPr algn="just"/>
            <a:r>
              <a:rPr lang="en-US" dirty="0"/>
              <a:t>If your relationships have properties, insert those in the new table as well.</a:t>
            </a:r>
          </a:p>
          <a:p>
            <a:pPr algn="just"/>
            <a:r>
              <a:rPr lang="en-US" b="1" dirty="0"/>
              <a:t>Step 6</a:t>
            </a:r>
          </a:p>
          <a:p>
            <a:pPr algn="just"/>
            <a:r>
              <a:rPr lang="en-US" dirty="0">
                <a:solidFill>
                  <a:srgbClr val="0070C0"/>
                </a:solidFill>
              </a:rPr>
              <a:t>Converting multivalued attributes</a:t>
            </a:r>
          </a:p>
          <a:p>
            <a:pPr algn="just"/>
            <a:r>
              <a:rPr lang="en-US" dirty="0"/>
              <a:t>Create a separate table for each multivalued attribute and use the current table’s P key as a foreign key.</a:t>
            </a:r>
          </a:p>
          <a:p>
            <a:pPr algn="just"/>
            <a:r>
              <a:rPr lang="en-US" dirty="0"/>
              <a:t>P keys are created by combining a foreign key and a multivalued attribute.</a:t>
            </a:r>
          </a:p>
          <a:p>
            <a:pPr algn="just"/>
            <a:r>
              <a:rPr lang="en-US" b="1" dirty="0"/>
              <a:t>Step 7</a:t>
            </a:r>
          </a:p>
          <a:p>
            <a:pPr algn="just"/>
            <a:r>
              <a:rPr lang="en-US" dirty="0">
                <a:solidFill>
                  <a:srgbClr val="0070C0"/>
                </a:solidFill>
              </a:rPr>
              <a:t>Converting n-</a:t>
            </a:r>
            <a:r>
              <a:rPr lang="en-US" dirty="0" err="1">
                <a:solidFill>
                  <a:srgbClr val="0070C0"/>
                </a:solidFill>
              </a:rPr>
              <a:t>ary</a:t>
            </a:r>
            <a:r>
              <a:rPr lang="en-US" dirty="0">
                <a:solidFill>
                  <a:srgbClr val="0070C0"/>
                </a:solidFill>
              </a:rPr>
              <a:t> relationship</a:t>
            </a:r>
          </a:p>
          <a:p>
            <a:pPr algn="just"/>
            <a:r>
              <a:rPr lang="en-US" dirty="0"/>
              <a:t>Create a separate table for each n-</a:t>
            </a:r>
            <a:r>
              <a:rPr lang="en-US" dirty="0" err="1"/>
              <a:t>ary</a:t>
            </a:r>
            <a:r>
              <a:rPr lang="en-US" dirty="0"/>
              <a:t> relationship and then include the P key of all the entities as a foreign key.</a:t>
            </a:r>
          </a:p>
          <a:p>
            <a:pPr algn="just"/>
            <a:r>
              <a:rPr lang="en-US" dirty="0"/>
              <a:t>Declare the P key as a combination of foreign keys.</a:t>
            </a:r>
          </a:p>
          <a:p>
            <a:pPr algn="just"/>
            <a:endParaRPr lang="en-IN" dirty="0"/>
          </a:p>
        </p:txBody>
      </p:sp>
    </p:spTree>
    <p:extLst>
      <p:ext uri="{BB962C8B-B14F-4D97-AF65-F5344CB8AC3E}">
        <p14:creationId xmlns:p14="http://schemas.microsoft.com/office/powerpoint/2010/main" val="20265739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smtClean="0"/>
              <a:t>Ex-1</a:t>
            </a:r>
            <a:endParaRPr lang="en-IN"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191491"/>
            <a:ext cx="8382000" cy="5472545"/>
          </a:xfrm>
        </p:spPr>
      </p:pic>
      <p:graphicFrame>
        <p:nvGraphicFramePr>
          <p:cNvPr id="5" name="Content Placeholder 3"/>
          <p:cNvGraphicFramePr>
            <a:graphicFrameLocks noChangeAspect="1"/>
          </p:cNvGraphicFramePr>
          <p:nvPr>
            <p:extLst>
              <p:ext uri="{D42A27DB-BD31-4B8C-83A1-F6EECF244321}">
                <p14:modId xmlns:p14="http://schemas.microsoft.com/office/powerpoint/2010/main" val="1214186725"/>
              </p:ext>
            </p:extLst>
          </p:nvPr>
        </p:nvGraphicFramePr>
        <p:xfrm>
          <a:off x="5666509" y="0"/>
          <a:ext cx="2701635" cy="1281545"/>
        </p:xfrm>
        <a:graphic>
          <a:graphicData uri="http://schemas.openxmlformats.org/presentationml/2006/ole">
            <mc:AlternateContent xmlns:mc="http://schemas.openxmlformats.org/markup-compatibility/2006">
              <mc:Choice xmlns:v="urn:schemas-microsoft-com:vml" Requires="v">
                <p:oleObj spid="_x0000_s9233" name="Bitmap Image" r:id="rId4" imgW="3591000" imgH="2752560" progId="Paint.Picture">
                  <p:embed/>
                </p:oleObj>
              </mc:Choice>
              <mc:Fallback>
                <p:oleObj name="Bitmap Image" r:id="rId4" imgW="3591000" imgH="2752560" progId="Paint.Picture">
                  <p:embed/>
                  <p:pic>
                    <p:nvPicPr>
                      <p:cNvPr id="4" name="Content Placeholder 3"/>
                      <p:cNvPicPr/>
                      <p:nvPr/>
                    </p:nvPicPr>
                    <p:blipFill>
                      <a:blip r:embed="rId5"/>
                      <a:stretch>
                        <a:fillRect/>
                      </a:stretch>
                    </p:blipFill>
                    <p:spPr>
                      <a:xfrm>
                        <a:off x="5666509" y="0"/>
                        <a:ext cx="2701635" cy="1281545"/>
                      </a:xfrm>
                      <a:prstGeom prst="rect">
                        <a:avLst/>
                      </a:prstGeom>
                    </p:spPr>
                  </p:pic>
                </p:oleObj>
              </mc:Fallback>
            </mc:AlternateContent>
          </a:graphicData>
        </a:graphic>
      </p:graphicFrame>
    </p:spTree>
    <p:extLst>
      <p:ext uri="{BB962C8B-B14F-4D97-AF65-F5344CB8AC3E}">
        <p14:creationId xmlns:p14="http://schemas.microsoft.com/office/powerpoint/2010/main" val="135657587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18" y="320676"/>
            <a:ext cx="8229600" cy="981651"/>
          </a:xfrm>
        </p:spPr>
        <p:txBody>
          <a:bodyPr>
            <a:normAutofit fontScale="90000"/>
          </a:bodyPr>
          <a:lstStyle/>
          <a:p>
            <a:r>
              <a:rPr lang="en-US" b="1" u="sng" dirty="0"/>
              <a:t>Problem-02:</a:t>
            </a:r>
            <a:r>
              <a:rPr lang="en-US" b="1" dirty="0"/>
              <a:t/>
            </a:r>
            <a:br>
              <a:rPr lang="en-US" b="1" dirty="0"/>
            </a:br>
            <a:endParaRPr lang="en-IN" dirty="0"/>
          </a:p>
        </p:txBody>
      </p:sp>
      <p:sp>
        <p:nvSpPr>
          <p:cNvPr id="3" name="Content Placeholder 2"/>
          <p:cNvSpPr>
            <a:spLocks noGrp="1"/>
          </p:cNvSpPr>
          <p:nvPr>
            <p:ph idx="1"/>
          </p:nvPr>
        </p:nvSpPr>
        <p:spPr>
          <a:xfrm>
            <a:off x="457200" y="1302327"/>
            <a:ext cx="8229600" cy="5555673"/>
          </a:xfrm>
        </p:spPr>
        <p:txBody>
          <a:bodyPr/>
          <a:lstStyle/>
          <a:p>
            <a:r>
              <a:rPr lang="en-US" dirty="0"/>
              <a:t> </a:t>
            </a:r>
            <a:r>
              <a:rPr lang="en-US" dirty="0" smtClean="0"/>
              <a:t>Find </a:t>
            </a:r>
            <a:r>
              <a:rPr lang="en-US" dirty="0"/>
              <a:t>the minimum number of tables required to represent the given ER diagram in relational model-</a:t>
            </a:r>
          </a:p>
          <a:p>
            <a:r>
              <a:rPr lang="en-US" dirty="0"/>
              <a:t> </a:t>
            </a:r>
          </a:p>
          <a:p>
            <a:endParaRPr lang="en-IN" dirty="0"/>
          </a:p>
        </p:txBody>
      </p:sp>
      <p:graphicFrame>
        <p:nvGraphicFramePr>
          <p:cNvPr id="6" name="Object 5"/>
          <p:cNvGraphicFramePr>
            <a:graphicFrameLocks noChangeAspect="1"/>
          </p:cNvGraphicFramePr>
          <p:nvPr>
            <p:extLst>
              <p:ext uri="{D42A27DB-BD31-4B8C-83A1-F6EECF244321}">
                <p14:modId xmlns:p14="http://schemas.microsoft.com/office/powerpoint/2010/main" val="4106722058"/>
              </p:ext>
            </p:extLst>
          </p:nvPr>
        </p:nvGraphicFramePr>
        <p:xfrm>
          <a:off x="720437" y="3049443"/>
          <a:ext cx="7966364" cy="3667125"/>
        </p:xfrm>
        <a:graphic>
          <a:graphicData uri="http://schemas.openxmlformats.org/presentationml/2006/ole">
            <mc:AlternateContent xmlns:mc="http://schemas.openxmlformats.org/markup-compatibility/2006">
              <mc:Choice xmlns:v="urn:schemas-microsoft-com:vml" Requires="v">
                <p:oleObj spid="_x0000_s1172" name="Bitmap Image" r:id="rId3" imgW="5667480" imgH="3666960" progId="Paint.Picture">
                  <p:embed/>
                </p:oleObj>
              </mc:Choice>
              <mc:Fallback>
                <p:oleObj name="Bitmap Image" r:id="rId3" imgW="5667480" imgH="3666960" progId="Paint.Picture">
                  <p:embed/>
                  <p:pic>
                    <p:nvPicPr>
                      <p:cNvPr id="0" name=""/>
                      <p:cNvPicPr/>
                      <p:nvPr/>
                    </p:nvPicPr>
                    <p:blipFill>
                      <a:blip r:embed="rId4"/>
                      <a:stretch>
                        <a:fillRect/>
                      </a:stretch>
                    </p:blipFill>
                    <p:spPr>
                      <a:xfrm>
                        <a:off x="720437" y="3049443"/>
                        <a:ext cx="7966364" cy="3667125"/>
                      </a:xfrm>
                      <a:prstGeom prst="rect">
                        <a:avLst/>
                      </a:prstGeom>
                    </p:spPr>
                  </p:pic>
                </p:oleObj>
              </mc:Fallback>
            </mc:AlternateContent>
          </a:graphicData>
        </a:graphic>
      </p:graphicFrame>
      <p:graphicFrame>
        <p:nvGraphicFramePr>
          <p:cNvPr id="5" name="Content Placeholder 3"/>
          <p:cNvGraphicFramePr>
            <a:graphicFrameLocks noChangeAspect="1"/>
          </p:cNvGraphicFramePr>
          <p:nvPr>
            <p:extLst>
              <p:ext uri="{D42A27DB-BD31-4B8C-83A1-F6EECF244321}">
                <p14:modId xmlns:p14="http://schemas.microsoft.com/office/powerpoint/2010/main" val="1205349187"/>
              </p:ext>
            </p:extLst>
          </p:nvPr>
        </p:nvGraphicFramePr>
        <p:xfrm>
          <a:off x="5666509" y="0"/>
          <a:ext cx="2701635" cy="1281545"/>
        </p:xfrm>
        <a:graphic>
          <a:graphicData uri="http://schemas.openxmlformats.org/presentationml/2006/ole">
            <mc:AlternateContent xmlns:mc="http://schemas.openxmlformats.org/markup-compatibility/2006">
              <mc:Choice xmlns:v="urn:schemas-microsoft-com:vml" Requires="v">
                <p:oleObj spid="_x0000_s1173" name="Bitmap Image" r:id="rId5" imgW="3591000" imgH="2752560" progId="Paint.Picture">
                  <p:embed/>
                </p:oleObj>
              </mc:Choice>
              <mc:Fallback>
                <p:oleObj name="Bitmap Image" r:id="rId5" imgW="3591000" imgH="2752560" progId="Paint.Picture">
                  <p:embed/>
                  <p:pic>
                    <p:nvPicPr>
                      <p:cNvPr id="5" name="Content Placeholder 3"/>
                      <p:cNvPicPr/>
                      <p:nvPr/>
                    </p:nvPicPr>
                    <p:blipFill>
                      <a:blip r:embed="rId6"/>
                      <a:stretch>
                        <a:fillRect/>
                      </a:stretch>
                    </p:blipFill>
                    <p:spPr>
                      <a:xfrm>
                        <a:off x="5666509" y="0"/>
                        <a:ext cx="2701635" cy="1281545"/>
                      </a:xfrm>
                      <a:prstGeom prst="rect">
                        <a:avLst/>
                      </a:prstGeom>
                    </p:spPr>
                  </p:pic>
                </p:oleObj>
              </mc:Fallback>
            </mc:AlternateContent>
          </a:graphicData>
        </a:graphic>
      </p:graphicFrame>
    </p:spTree>
    <p:extLst>
      <p:ext uri="{BB962C8B-B14F-4D97-AF65-F5344CB8AC3E}">
        <p14:creationId xmlns:p14="http://schemas.microsoft.com/office/powerpoint/2010/main" val="118789827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err="1" smtClean="0"/>
              <a:t>Ans</a:t>
            </a:r>
            <a:r>
              <a:rPr lang="en-US" dirty="0" smtClean="0"/>
              <a:t>:-Applying </a:t>
            </a:r>
            <a:r>
              <a:rPr lang="en-US" dirty="0"/>
              <a:t>the rules, minimum 4 tables will be required-</a:t>
            </a:r>
          </a:p>
          <a:p>
            <a:r>
              <a:rPr lang="en-US" dirty="0"/>
              <a:t>AR1R2 (</a:t>
            </a:r>
            <a:r>
              <a:rPr lang="en-US" u="sng" dirty="0"/>
              <a:t>a1</a:t>
            </a:r>
            <a:r>
              <a:rPr lang="en-US" dirty="0"/>
              <a:t> , a2 , </a:t>
            </a:r>
            <a:r>
              <a:rPr lang="en-US" u="sng" dirty="0"/>
              <a:t>b1</a:t>
            </a:r>
            <a:r>
              <a:rPr lang="en-US" dirty="0"/>
              <a:t> , </a:t>
            </a:r>
            <a:r>
              <a:rPr lang="en-US" u="sng" dirty="0"/>
              <a:t>c1</a:t>
            </a:r>
            <a:r>
              <a:rPr lang="en-US" dirty="0"/>
              <a:t>)</a:t>
            </a:r>
          </a:p>
          <a:p>
            <a:r>
              <a:rPr lang="en-US" dirty="0"/>
              <a:t>B (</a:t>
            </a:r>
            <a:r>
              <a:rPr lang="en-US" u="sng" dirty="0"/>
              <a:t>b1</a:t>
            </a:r>
            <a:r>
              <a:rPr lang="en-US" dirty="0"/>
              <a:t> , b2)</a:t>
            </a:r>
          </a:p>
          <a:p>
            <a:r>
              <a:rPr lang="en-US" dirty="0"/>
              <a:t>C (</a:t>
            </a:r>
            <a:r>
              <a:rPr lang="en-US" u="sng" dirty="0"/>
              <a:t>c1</a:t>
            </a:r>
            <a:r>
              <a:rPr lang="en-US" dirty="0"/>
              <a:t> , c2)</a:t>
            </a:r>
          </a:p>
          <a:p>
            <a:r>
              <a:rPr lang="en-US" dirty="0"/>
              <a:t>R3 (</a:t>
            </a:r>
            <a:r>
              <a:rPr lang="en-US" u="sng" dirty="0"/>
              <a:t>b1</a:t>
            </a:r>
            <a:r>
              <a:rPr lang="en-US" dirty="0"/>
              <a:t> , </a:t>
            </a:r>
            <a:r>
              <a:rPr lang="en-US" u="sng" dirty="0"/>
              <a:t>c1</a:t>
            </a:r>
            <a:r>
              <a:rPr lang="en-US" dirty="0"/>
              <a:t>)</a:t>
            </a:r>
          </a:p>
          <a:p>
            <a:endParaRPr lang="en-IN" dirty="0"/>
          </a:p>
        </p:txBody>
      </p:sp>
    </p:spTree>
    <p:extLst>
      <p:ext uri="{BB962C8B-B14F-4D97-AF65-F5344CB8AC3E}">
        <p14:creationId xmlns:p14="http://schemas.microsoft.com/office/powerpoint/2010/main" val="2276888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Problem-03:</a:t>
            </a:r>
            <a:r>
              <a:rPr lang="en-US" b="1" dirty="0"/>
              <a:t/>
            </a:r>
            <a:br>
              <a:rPr lang="en-US" b="1" dirty="0"/>
            </a:br>
            <a:endParaRPr lang="en-IN" dirty="0"/>
          </a:p>
        </p:txBody>
      </p:sp>
      <p:sp>
        <p:nvSpPr>
          <p:cNvPr id="3" name="Content Placeholder 2"/>
          <p:cNvSpPr>
            <a:spLocks noGrp="1"/>
          </p:cNvSpPr>
          <p:nvPr>
            <p:ph idx="1"/>
          </p:nvPr>
        </p:nvSpPr>
        <p:spPr/>
        <p:txBody>
          <a:bodyPr/>
          <a:lstStyle/>
          <a:p>
            <a:r>
              <a:rPr lang="en-US" dirty="0" smtClean="0"/>
              <a:t>Find </a:t>
            </a:r>
            <a:r>
              <a:rPr lang="en-US" dirty="0"/>
              <a:t>the minimum number of tables required to represent the given ER diagram in relational model-</a:t>
            </a:r>
          </a:p>
          <a:p>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3566266909"/>
              </p:ext>
            </p:extLst>
          </p:nvPr>
        </p:nvGraphicFramePr>
        <p:xfrm>
          <a:off x="2010352" y="2641600"/>
          <a:ext cx="5972175" cy="3667125"/>
        </p:xfrm>
        <a:graphic>
          <a:graphicData uri="http://schemas.openxmlformats.org/presentationml/2006/ole">
            <mc:AlternateContent xmlns:mc="http://schemas.openxmlformats.org/markup-compatibility/2006">
              <mc:Choice xmlns:v="urn:schemas-microsoft-com:vml" Requires="v">
                <p:oleObj spid="_x0000_s2179" name="Bitmap Image" r:id="rId3" imgW="5972040" imgH="3666960" progId="Paint.Picture">
                  <p:embed/>
                </p:oleObj>
              </mc:Choice>
              <mc:Fallback>
                <p:oleObj name="Bitmap Image" r:id="rId3" imgW="5972040" imgH="3666960" progId="Paint.Picture">
                  <p:embed/>
                  <p:pic>
                    <p:nvPicPr>
                      <p:cNvPr id="0" name=""/>
                      <p:cNvPicPr/>
                      <p:nvPr/>
                    </p:nvPicPr>
                    <p:blipFill>
                      <a:blip r:embed="rId4"/>
                      <a:stretch>
                        <a:fillRect/>
                      </a:stretch>
                    </p:blipFill>
                    <p:spPr>
                      <a:xfrm>
                        <a:off x="2010352" y="2641600"/>
                        <a:ext cx="5972175" cy="3667125"/>
                      </a:xfrm>
                      <a:prstGeom prst="rect">
                        <a:avLst/>
                      </a:prstGeom>
                    </p:spPr>
                  </p:pic>
                </p:oleObj>
              </mc:Fallback>
            </mc:AlternateContent>
          </a:graphicData>
        </a:graphic>
      </p:graphicFrame>
    </p:spTree>
    <p:extLst>
      <p:ext uri="{BB962C8B-B14F-4D97-AF65-F5344CB8AC3E}">
        <p14:creationId xmlns:p14="http://schemas.microsoft.com/office/powerpoint/2010/main" val="19488400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r>
              <a:rPr lang="en-US" b="1" u="sng" dirty="0"/>
              <a:t>Solution-</a:t>
            </a:r>
            <a:endParaRPr lang="en-US" b="1" dirty="0"/>
          </a:p>
          <a:p>
            <a:pPr marL="0" indent="0">
              <a:buNone/>
            </a:pPr>
            <a:r>
              <a:rPr lang="en-US" dirty="0" smtClean="0"/>
              <a:t>Applying </a:t>
            </a:r>
            <a:r>
              <a:rPr lang="en-US" dirty="0"/>
              <a:t>the rules, minimum 5 tables will be </a:t>
            </a:r>
            <a:r>
              <a:rPr lang="en-US" dirty="0" smtClean="0"/>
              <a:t>required-</a:t>
            </a:r>
          </a:p>
          <a:p>
            <a:r>
              <a:rPr lang="pt-BR" dirty="0" smtClean="0"/>
              <a:t>BR1R4R5 </a:t>
            </a:r>
            <a:r>
              <a:rPr lang="pt-BR" dirty="0"/>
              <a:t>(</a:t>
            </a:r>
            <a:r>
              <a:rPr lang="pt-BR" u="sng" dirty="0"/>
              <a:t>b1</a:t>
            </a:r>
            <a:r>
              <a:rPr lang="pt-BR" dirty="0"/>
              <a:t> , b2 , </a:t>
            </a:r>
            <a:r>
              <a:rPr lang="pt-BR" u="sng" dirty="0"/>
              <a:t>a1</a:t>
            </a:r>
            <a:r>
              <a:rPr lang="pt-BR" dirty="0"/>
              <a:t> , </a:t>
            </a:r>
            <a:r>
              <a:rPr lang="pt-BR" u="sng" dirty="0"/>
              <a:t>c1</a:t>
            </a:r>
            <a:r>
              <a:rPr lang="pt-BR" dirty="0"/>
              <a:t> , </a:t>
            </a:r>
            <a:r>
              <a:rPr lang="pt-BR" u="sng" dirty="0"/>
              <a:t>d1</a:t>
            </a:r>
            <a:r>
              <a:rPr lang="pt-BR" dirty="0"/>
              <a:t>)</a:t>
            </a:r>
          </a:p>
          <a:p>
            <a:r>
              <a:rPr lang="pt-BR" dirty="0"/>
              <a:t>A (</a:t>
            </a:r>
            <a:r>
              <a:rPr lang="pt-BR" u="sng" dirty="0"/>
              <a:t>a1</a:t>
            </a:r>
            <a:r>
              <a:rPr lang="pt-BR" dirty="0"/>
              <a:t> , a2)</a:t>
            </a:r>
          </a:p>
          <a:p>
            <a:r>
              <a:rPr lang="pt-BR" dirty="0"/>
              <a:t>R2 (</a:t>
            </a:r>
            <a:r>
              <a:rPr lang="pt-BR" u="sng" dirty="0"/>
              <a:t>a1</a:t>
            </a:r>
            <a:r>
              <a:rPr lang="pt-BR" dirty="0"/>
              <a:t> , </a:t>
            </a:r>
            <a:r>
              <a:rPr lang="pt-BR" u="sng" dirty="0"/>
              <a:t>c1</a:t>
            </a:r>
            <a:r>
              <a:rPr lang="pt-BR" dirty="0"/>
              <a:t>)</a:t>
            </a:r>
          </a:p>
          <a:p>
            <a:r>
              <a:rPr lang="pt-BR" dirty="0"/>
              <a:t>CR3 (</a:t>
            </a:r>
            <a:r>
              <a:rPr lang="pt-BR" u="sng" dirty="0"/>
              <a:t>c1</a:t>
            </a:r>
            <a:r>
              <a:rPr lang="pt-BR" dirty="0"/>
              <a:t> , c2 , </a:t>
            </a:r>
            <a:r>
              <a:rPr lang="pt-BR" u="sng" dirty="0"/>
              <a:t>d1</a:t>
            </a:r>
            <a:r>
              <a:rPr lang="pt-BR" dirty="0"/>
              <a:t>)</a:t>
            </a:r>
          </a:p>
          <a:p>
            <a:r>
              <a:rPr lang="pt-BR" dirty="0"/>
              <a:t>D (</a:t>
            </a:r>
            <a:r>
              <a:rPr lang="pt-BR" u="sng" dirty="0"/>
              <a:t>d1</a:t>
            </a:r>
            <a:r>
              <a:rPr lang="pt-BR" dirty="0"/>
              <a:t> , d2)</a:t>
            </a:r>
          </a:p>
          <a:p>
            <a:r>
              <a:rPr lang="pt-BR" dirty="0"/>
              <a:t> </a:t>
            </a:r>
          </a:p>
          <a:p>
            <a:endParaRPr lang="en-US" dirty="0"/>
          </a:p>
          <a:p>
            <a:endParaRPr lang="en-IN" dirty="0"/>
          </a:p>
        </p:txBody>
      </p:sp>
    </p:spTree>
    <p:extLst>
      <p:ext uri="{BB962C8B-B14F-4D97-AF65-F5344CB8AC3E}">
        <p14:creationId xmlns:p14="http://schemas.microsoft.com/office/powerpoint/2010/main" val="205620966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Problem-04:</a:t>
            </a:r>
            <a:r>
              <a:rPr lang="en-US" b="1" dirty="0"/>
              <a:t/>
            </a:r>
            <a:br>
              <a:rPr lang="en-US" b="1" dirty="0"/>
            </a:br>
            <a:endParaRPr lang="en-IN" dirty="0"/>
          </a:p>
        </p:txBody>
      </p:sp>
      <p:sp>
        <p:nvSpPr>
          <p:cNvPr id="3" name="Content Placeholder 2"/>
          <p:cNvSpPr>
            <a:spLocks noGrp="1"/>
          </p:cNvSpPr>
          <p:nvPr>
            <p:ph idx="1"/>
          </p:nvPr>
        </p:nvSpPr>
        <p:spPr/>
        <p:txBody>
          <a:bodyPr/>
          <a:lstStyle/>
          <a:p>
            <a:r>
              <a:rPr lang="en-US" dirty="0" smtClean="0"/>
              <a:t>Find </a:t>
            </a:r>
            <a:r>
              <a:rPr lang="en-US" dirty="0"/>
              <a:t>the minimum number of tables required to represent the given ER diagram in relational model-</a:t>
            </a:r>
          </a:p>
          <a:p>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678886053"/>
              </p:ext>
            </p:extLst>
          </p:nvPr>
        </p:nvGraphicFramePr>
        <p:xfrm>
          <a:off x="832716" y="3271116"/>
          <a:ext cx="7077075" cy="1781175"/>
        </p:xfrm>
        <a:graphic>
          <a:graphicData uri="http://schemas.openxmlformats.org/presentationml/2006/ole">
            <mc:AlternateContent xmlns:mc="http://schemas.openxmlformats.org/markup-compatibility/2006">
              <mc:Choice xmlns:v="urn:schemas-microsoft-com:vml" Requires="v">
                <p:oleObj spid="_x0000_s3200" name="Bitmap Image" r:id="rId3" imgW="7077240" imgH="1781280" progId="Paint.Picture">
                  <p:embed/>
                </p:oleObj>
              </mc:Choice>
              <mc:Fallback>
                <p:oleObj name="Bitmap Image" r:id="rId3" imgW="7077240" imgH="1781280" progId="Paint.Picture">
                  <p:embed/>
                  <p:pic>
                    <p:nvPicPr>
                      <p:cNvPr id="0" name=""/>
                      <p:cNvPicPr/>
                      <p:nvPr/>
                    </p:nvPicPr>
                    <p:blipFill>
                      <a:blip r:embed="rId4"/>
                      <a:stretch>
                        <a:fillRect/>
                      </a:stretch>
                    </p:blipFill>
                    <p:spPr>
                      <a:xfrm>
                        <a:off x="832716" y="3271116"/>
                        <a:ext cx="7077075" cy="1781175"/>
                      </a:xfrm>
                      <a:prstGeom prst="rect">
                        <a:avLst/>
                      </a:prstGeom>
                    </p:spPr>
                  </p:pic>
                </p:oleObj>
              </mc:Fallback>
            </mc:AlternateContent>
          </a:graphicData>
        </a:graphic>
      </p:graphicFrame>
    </p:spTree>
    <p:extLst>
      <p:ext uri="{BB962C8B-B14F-4D97-AF65-F5344CB8AC3E}">
        <p14:creationId xmlns:p14="http://schemas.microsoft.com/office/powerpoint/2010/main" val="25779103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u="sng" dirty="0"/>
              <a:t>Solution-</a:t>
            </a:r>
            <a:endParaRPr lang="en-US" b="1" dirty="0"/>
          </a:p>
          <a:p>
            <a:r>
              <a:rPr lang="en-US" dirty="0" smtClean="0"/>
              <a:t>Applying </a:t>
            </a:r>
            <a:r>
              <a:rPr lang="en-US" dirty="0"/>
              <a:t>the rules, minimum 3 tables will be required-</a:t>
            </a:r>
          </a:p>
          <a:p>
            <a:r>
              <a:rPr lang="en-US" dirty="0"/>
              <a:t>E1 (</a:t>
            </a:r>
            <a:r>
              <a:rPr lang="en-US" u="sng" dirty="0"/>
              <a:t>a1</a:t>
            </a:r>
            <a:r>
              <a:rPr lang="en-US" dirty="0"/>
              <a:t> , a2)</a:t>
            </a:r>
          </a:p>
          <a:p>
            <a:r>
              <a:rPr lang="en-US" dirty="0"/>
              <a:t>E2R1R2 (</a:t>
            </a:r>
            <a:r>
              <a:rPr lang="en-US" u="sng" dirty="0"/>
              <a:t>b1</a:t>
            </a:r>
            <a:r>
              <a:rPr lang="en-US" dirty="0"/>
              <a:t> , b2 , </a:t>
            </a:r>
            <a:r>
              <a:rPr lang="en-US" u="sng" dirty="0"/>
              <a:t>a1</a:t>
            </a:r>
            <a:r>
              <a:rPr lang="en-US" dirty="0"/>
              <a:t> , </a:t>
            </a:r>
            <a:r>
              <a:rPr lang="en-US" u="sng" dirty="0"/>
              <a:t>c1</a:t>
            </a:r>
            <a:r>
              <a:rPr lang="en-US" dirty="0"/>
              <a:t> , b3)</a:t>
            </a:r>
          </a:p>
          <a:p>
            <a:r>
              <a:rPr lang="en-US" dirty="0"/>
              <a:t>E3 (</a:t>
            </a:r>
            <a:r>
              <a:rPr lang="en-US" u="sng" dirty="0"/>
              <a:t>c1</a:t>
            </a:r>
            <a:r>
              <a:rPr lang="en-US" dirty="0"/>
              <a:t> , c2)</a:t>
            </a:r>
          </a:p>
          <a:p>
            <a:endParaRPr lang="en-IN" dirty="0"/>
          </a:p>
        </p:txBody>
      </p:sp>
    </p:spTree>
    <p:extLst>
      <p:ext uri="{BB962C8B-B14F-4D97-AF65-F5344CB8AC3E}">
        <p14:creationId xmlns:p14="http://schemas.microsoft.com/office/powerpoint/2010/main" val="89890020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endParaRPr lang="en-IN" dirty="0"/>
          </a:p>
        </p:txBody>
      </p:sp>
      <p:sp>
        <p:nvSpPr>
          <p:cNvPr id="3" name="Content Placeholder 2"/>
          <p:cNvSpPr>
            <a:spLocks noGrp="1"/>
          </p:cNvSpPr>
          <p:nvPr>
            <p:ph idx="1"/>
          </p:nvPr>
        </p:nvSpPr>
        <p:spPr>
          <a:xfrm>
            <a:off x="457200" y="706582"/>
            <a:ext cx="8229600" cy="6026727"/>
          </a:xfrm>
        </p:spPr>
        <p:txBody>
          <a:bodyPr/>
          <a:lstStyle/>
          <a:p>
            <a:r>
              <a:rPr lang="en-US" b="1" u="sng" dirty="0" smtClean="0"/>
              <a:t>Problem-05:</a:t>
            </a:r>
            <a:r>
              <a:rPr lang="en-US" dirty="0" smtClean="0"/>
              <a:t>Find </a:t>
            </a:r>
            <a:r>
              <a:rPr lang="en-US" dirty="0"/>
              <a:t>the minimum number of tables required to represent the given ER diagram in relational model-</a:t>
            </a:r>
          </a:p>
          <a:p>
            <a:endParaRPr lang="en-US" dirty="0"/>
          </a:p>
          <a:p>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2062845214"/>
              </p:ext>
            </p:extLst>
          </p:nvPr>
        </p:nvGraphicFramePr>
        <p:xfrm>
          <a:off x="457200" y="2341417"/>
          <a:ext cx="8229600" cy="4391891"/>
        </p:xfrm>
        <a:graphic>
          <a:graphicData uri="http://schemas.openxmlformats.org/presentationml/2006/ole">
            <mc:AlternateContent xmlns:mc="http://schemas.openxmlformats.org/markup-compatibility/2006">
              <mc:Choice xmlns:v="urn:schemas-microsoft-com:vml" Requires="v">
                <p:oleObj spid="_x0000_s4223" name="Bitmap Image" r:id="rId3" imgW="6039000" imgH="4896000" progId="Paint.Picture">
                  <p:embed/>
                </p:oleObj>
              </mc:Choice>
              <mc:Fallback>
                <p:oleObj name="Bitmap Image" r:id="rId3" imgW="6039000" imgH="4896000" progId="Paint.Picture">
                  <p:embed/>
                  <p:pic>
                    <p:nvPicPr>
                      <p:cNvPr id="0" name=""/>
                      <p:cNvPicPr/>
                      <p:nvPr/>
                    </p:nvPicPr>
                    <p:blipFill>
                      <a:blip r:embed="rId4"/>
                      <a:stretch>
                        <a:fillRect/>
                      </a:stretch>
                    </p:blipFill>
                    <p:spPr>
                      <a:xfrm>
                        <a:off x="457200" y="2341417"/>
                        <a:ext cx="8229600" cy="4391891"/>
                      </a:xfrm>
                      <a:prstGeom prst="rect">
                        <a:avLst/>
                      </a:prstGeom>
                    </p:spPr>
                  </p:pic>
                </p:oleObj>
              </mc:Fallback>
            </mc:AlternateContent>
          </a:graphicData>
        </a:graphic>
      </p:graphicFrame>
    </p:spTree>
    <p:extLst>
      <p:ext uri="{BB962C8B-B14F-4D97-AF65-F5344CB8AC3E}">
        <p14:creationId xmlns:p14="http://schemas.microsoft.com/office/powerpoint/2010/main" val="167949931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US" dirty="0" err="1" smtClean="0"/>
              <a:t>Ans</a:t>
            </a:r>
            <a:r>
              <a:rPr lang="en-US" dirty="0" smtClean="0"/>
              <a:t>:-Applying </a:t>
            </a:r>
            <a:r>
              <a:rPr lang="en-US" dirty="0"/>
              <a:t>the rules that we have learnt, minimum 6 tables will be required-</a:t>
            </a:r>
          </a:p>
          <a:p>
            <a:r>
              <a:rPr lang="en-US" dirty="0"/>
              <a:t>Account (</a:t>
            </a:r>
            <a:r>
              <a:rPr lang="en-US" u="sng" dirty="0" err="1"/>
              <a:t>Ac_no</a:t>
            </a:r>
            <a:r>
              <a:rPr lang="en-US" dirty="0"/>
              <a:t> , Balance , </a:t>
            </a:r>
            <a:r>
              <a:rPr lang="en-US" u="sng" dirty="0" err="1"/>
              <a:t>b_name</a:t>
            </a:r>
            <a:r>
              <a:rPr lang="en-US" dirty="0"/>
              <a:t>)</a:t>
            </a:r>
          </a:p>
          <a:p>
            <a:r>
              <a:rPr lang="en-US" dirty="0"/>
              <a:t>Branch (</a:t>
            </a:r>
            <a:r>
              <a:rPr lang="en-US" u="sng" dirty="0" err="1"/>
              <a:t>b_name</a:t>
            </a:r>
            <a:r>
              <a:rPr lang="en-US" dirty="0"/>
              <a:t> , </a:t>
            </a:r>
            <a:r>
              <a:rPr lang="en-US" dirty="0" err="1"/>
              <a:t>b_city</a:t>
            </a:r>
            <a:r>
              <a:rPr lang="en-US" dirty="0"/>
              <a:t> , Assets)</a:t>
            </a:r>
          </a:p>
          <a:p>
            <a:r>
              <a:rPr lang="en-US" dirty="0"/>
              <a:t>Loan (</a:t>
            </a:r>
            <a:r>
              <a:rPr lang="en-US" u="sng" dirty="0" err="1"/>
              <a:t>L_no</a:t>
            </a:r>
            <a:r>
              <a:rPr lang="en-US" dirty="0"/>
              <a:t> , </a:t>
            </a:r>
            <a:r>
              <a:rPr lang="en-US" dirty="0" err="1"/>
              <a:t>Amt</a:t>
            </a:r>
            <a:r>
              <a:rPr lang="en-US" dirty="0"/>
              <a:t> , </a:t>
            </a:r>
            <a:r>
              <a:rPr lang="en-US" u="sng" dirty="0" err="1"/>
              <a:t>b_name</a:t>
            </a:r>
            <a:r>
              <a:rPr lang="en-US" dirty="0"/>
              <a:t>)</a:t>
            </a:r>
          </a:p>
          <a:p>
            <a:r>
              <a:rPr lang="en-US" dirty="0"/>
              <a:t>Borrower (</a:t>
            </a:r>
            <a:r>
              <a:rPr lang="en-US" u="sng" dirty="0" err="1"/>
              <a:t>C_name</a:t>
            </a:r>
            <a:r>
              <a:rPr lang="en-US" dirty="0"/>
              <a:t> , </a:t>
            </a:r>
            <a:r>
              <a:rPr lang="en-US" u="sng" dirty="0" err="1"/>
              <a:t>L_no</a:t>
            </a:r>
            <a:r>
              <a:rPr lang="en-US" dirty="0"/>
              <a:t>)</a:t>
            </a:r>
          </a:p>
          <a:p>
            <a:r>
              <a:rPr lang="en-US" dirty="0"/>
              <a:t>Customer (</a:t>
            </a:r>
            <a:r>
              <a:rPr lang="en-US" u="sng" dirty="0" err="1"/>
              <a:t>C_name</a:t>
            </a:r>
            <a:r>
              <a:rPr lang="en-US" dirty="0"/>
              <a:t> , </a:t>
            </a:r>
            <a:r>
              <a:rPr lang="en-US" dirty="0" err="1"/>
              <a:t>C_street</a:t>
            </a:r>
            <a:r>
              <a:rPr lang="en-US" dirty="0"/>
              <a:t> , </a:t>
            </a:r>
            <a:r>
              <a:rPr lang="en-US" dirty="0" err="1"/>
              <a:t>C_city</a:t>
            </a:r>
            <a:r>
              <a:rPr lang="en-US" dirty="0"/>
              <a:t>)</a:t>
            </a:r>
          </a:p>
          <a:p>
            <a:r>
              <a:rPr lang="en-US" dirty="0"/>
              <a:t>Depositor (</a:t>
            </a:r>
            <a:r>
              <a:rPr lang="en-US" u="sng" dirty="0" err="1"/>
              <a:t>C_name</a:t>
            </a:r>
            <a:r>
              <a:rPr lang="en-US" dirty="0"/>
              <a:t> , </a:t>
            </a:r>
            <a:r>
              <a:rPr lang="en-US" u="sng" dirty="0" err="1"/>
              <a:t>Ac_no</a:t>
            </a:r>
            <a:r>
              <a:rPr lang="en-US" dirty="0"/>
              <a:t>)</a:t>
            </a:r>
          </a:p>
          <a:p>
            <a:endParaRPr lang="en-IN" dirty="0"/>
          </a:p>
        </p:txBody>
      </p:sp>
    </p:spTree>
    <p:extLst>
      <p:ext uri="{BB962C8B-B14F-4D97-AF65-F5344CB8AC3E}">
        <p14:creationId xmlns:p14="http://schemas.microsoft.com/office/powerpoint/2010/main" val="316851891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3617"/>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63783"/>
            <a:ext cx="8229600" cy="5167744"/>
          </a:xfrm>
        </p:spPr>
      </p:pic>
    </p:spTree>
    <p:extLst>
      <p:ext uri="{BB962C8B-B14F-4D97-AF65-F5344CB8AC3E}">
        <p14:creationId xmlns:p14="http://schemas.microsoft.com/office/powerpoint/2010/main" val="36451418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8237" y="1748631"/>
            <a:ext cx="6867525" cy="4229100"/>
          </a:xfrm>
        </p:spPr>
      </p:pic>
    </p:spTree>
    <p:extLst>
      <p:ext uri="{BB962C8B-B14F-4D97-AF65-F5344CB8AC3E}">
        <p14:creationId xmlns:p14="http://schemas.microsoft.com/office/powerpoint/2010/main" val="42496469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5350" y="1710531"/>
            <a:ext cx="7353300" cy="4305300"/>
          </a:xfrm>
        </p:spPr>
      </p:pic>
    </p:spTree>
    <p:extLst>
      <p:ext uri="{BB962C8B-B14F-4D97-AF65-F5344CB8AC3E}">
        <p14:creationId xmlns:p14="http://schemas.microsoft.com/office/powerpoint/2010/main" val="25867952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6312" y="1729581"/>
            <a:ext cx="7191375" cy="4267200"/>
          </a:xfrm>
        </p:spPr>
      </p:pic>
    </p:spTree>
    <p:extLst>
      <p:ext uri="{BB962C8B-B14F-4D97-AF65-F5344CB8AC3E}">
        <p14:creationId xmlns:p14="http://schemas.microsoft.com/office/powerpoint/2010/main" val="14658347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t>
            </a:r>
            <a:endParaRPr lang="en-IN" dirty="0"/>
          </a:p>
        </p:txBody>
      </p:sp>
      <p:pic>
        <p:nvPicPr>
          <p:cNvPr id="4" name="Content Placeholder 3" descr="C:\Users\Subhasish_Mohapatra\Desktop\Capture.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8655" y="1551709"/>
            <a:ext cx="8243454" cy="4793673"/>
          </a:xfrm>
          <a:prstGeom prst="rect">
            <a:avLst/>
          </a:prstGeom>
          <a:noFill/>
          <a:ln>
            <a:noFill/>
          </a:ln>
        </p:spPr>
      </p:pic>
    </p:spTree>
    <p:extLst>
      <p:ext uri="{BB962C8B-B14F-4D97-AF65-F5344CB8AC3E}">
        <p14:creationId xmlns:p14="http://schemas.microsoft.com/office/powerpoint/2010/main" val="377808895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Ex-2</a:t>
            </a:r>
            <a:endParaRPr lang="en-IN" dirty="0"/>
          </a:p>
        </p:txBody>
      </p:sp>
      <p:pic>
        <p:nvPicPr>
          <p:cNvPr id="4" name="Content Placeholder 3" descr="C:\Users\Subhasish_Mohapatra\Desktop\Capture.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302327"/>
            <a:ext cx="8229600" cy="5070764"/>
          </a:xfrm>
          <a:prstGeom prst="rect">
            <a:avLst/>
          </a:prstGeom>
          <a:noFill/>
          <a:ln>
            <a:noFill/>
          </a:ln>
        </p:spPr>
      </p:pic>
    </p:spTree>
    <p:extLst>
      <p:ext uri="{BB962C8B-B14F-4D97-AF65-F5344CB8AC3E}">
        <p14:creationId xmlns:p14="http://schemas.microsoft.com/office/powerpoint/2010/main" val="414859896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229600" cy="5093998"/>
          </a:xfrm>
        </p:spPr>
      </p:pic>
    </p:spTree>
    <p:extLst>
      <p:ext uri="{BB962C8B-B14F-4D97-AF65-F5344CB8AC3E}">
        <p14:creationId xmlns:p14="http://schemas.microsoft.com/office/powerpoint/2010/main" val="288517405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10271"/>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484909"/>
            <a:ext cx="8229600" cy="5957455"/>
          </a:xfrm>
        </p:spPr>
      </p:pic>
    </p:spTree>
    <p:extLst>
      <p:ext uri="{BB962C8B-B14F-4D97-AF65-F5344CB8AC3E}">
        <p14:creationId xmlns:p14="http://schemas.microsoft.com/office/powerpoint/2010/main" val="85644290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70363"/>
            <a:ext cx="8229599" cy="4862945"/>
          </a:xfrm>
        </p:spPr>
      </p:pic>
    </p:spTree>
    <p:extLst>
      <p:ext uri="{BB962C8B-B14F-4D97-AF65-F5344CB8AC3E}">
        <p14:creationId xmlns:p14="http://schemas.microsoft.com/office/powerpoint/2010/main" val="87571612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10271"/>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74638"/>
            <a:ext cx="8229599" cy="6375544"/>
          </a:xfrm>
        </p:spPr>
      </p:pic>
    </p:spTree>
    <p:extLst>
      <p:ext uri="{BB962C8B-B14F-4D97-AF65-F5344CB8AC3E}">
        <p14:creationId xmlns:p14="http://schemas.microsoft.com/office/powerpoint/2010/main" val="278323884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Keys In RDBMS</a:t>
            </a:r>
            <a:endParaRPr lang="en-IN" dirty="0"/>
          </a:p>
        </p:txBody>
      </p:sp>
      <p:sp>
        <p:nvSpPr>
          <p:cNvPr id="3" name="Content Placeholder 2"/>
          <p:cNvSpPr>
            <a:spLocks noGrp="1"/>
          </p:cNvSpPr>
          <p:nvPr>
            <p:ph idx="1"/>
          </p:nvPr>
        </p:nvSpPr>
        <p:spPr>
          <a:xfrm>
            <a:off x="457200" y="1136074"/>
            <a:ext cx="8229600" cy="4990090"/>
          </a:xfrm>
        </p:spPr>
        <p:txBody>
          <a:bodyPr>
            <a:normAutofit lnSpcReduction="10000"/>
          </a:bodyPr>
          <a:lstStyle/>
          <a:p>
            <a:pPr marL="0" indent="0">
              <a:buNone/>
            </a:pPr>
            <a:r>
              <a:rPr lang="en-US" b="1" dirty="0"/>
              <a:t>What are the different types of Keys in DBMS?</a:t>
            </a:r>
          </a:p>
          <a:p>
            <a:r>
              <a:rPr lang="en-US" dirty="0"/>
              <a:t>Keys are of seven broad types in DBMS:</a:t>
            </a:r>
          </a:p>
          <a:p>
            <a:r>
              <a:rPr lang="en-US" dirty="0"/>
              <a:t>Candidate Key</a:t>
            </a:r>
          </a:p>
          <a:p>
            <a:r>
              <a:rPr lang="en-US" dirty="0"/>
              <a:t>Primary Key</a:t>
            </a:r>
          </a:p>
          <a:p>
            <a:r>
              <a:rPr lang="en-US" dirty="0"/>
              <a:t>Foreign Key</a:t>
            </a:r>
          </a:p>
          <a:p>
            <a:r>
              <a:rPr lang="en-US" dirty="0"/>
              <a:t>Super Key</a:t>
            </a:r>
          </a:p>
          <a:p>
            <a:r>
              <a:rPr lang="en-US" dirty="0"/>
              <a:t>Alternate Key</a:t>
            </a:r>
          </a:p>
          <a:p>
            <a:r>
              <a:rPr lang="en-US" dirty="0"/>
              <a:t>Composite Key</a:t>
            </a:r>
          </a:p>
          <a:p>
            <a:r>
              <a:rPr lang="en-US" dirty="0"/>
              <a:t>Unique Key</a:t>
            </a:r>
          </a:p>
          <a:p>
            <a:endParaRPr lang="en-IN" dirty="0"/>
          </a:p>
        </p:txBody>
      </p:sp>
    </p:spTree>
    <p:extLst>
      <p:ext uri="{BB962C8B-B14F-4D97-AF65-F5344CB8AC3E}">
        <p14:creationId xmlns:p14="http://schemas.microsoft.com/office/powerpoint/2010/main" val="19598885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04235"/>
          </a:xfrm>
        </p:spPr>
        <p:txBody>
          <a:bodyPr>
            <a:normAutofit fontScale="90000"/>
          </a:bodyPr>
          <a:lstStyle/>
          <a:p>
            <a:endParaRPr lang="en-IN" dirty="0"/>
          </a:p>
        </p:txBody>
      </p:sp>
      <p:sp>
        <p:nvSpPr>
          <p:cNvPr id="3" name="Content Placeholder 2"/>
          <p:cNvSpPr>
            <a:spLocks noGrp="1"/>
          </p:cNvSpPr>
          <p:nvPr>
            <p:ph idx="1"/>
          </p:nvPr>
        </p:nvSpPr>
        <p:spPr>
          <a:xfrm>
            <a:off x="457200" y="678874"/>
            <a:ext cx="8229600" cy="5447290"/>
          </a:xfrm>
        </p:spPr>
        <p:txBody>
          <a:bodyPr>
            <a:normAutofit fontScale="62500" lnSpcReduction="20000"/>
          </a:bodyPr>
          <a:lstStyle/>
          <a:p>
            <a:pPr marL="0" indent="0">
              <a:buNone/>
            </a:pPr>
            <a:r>
              <a:rPr lang="en-US" b="1" dirty="0"/>
              <a:t>1. Primary Key</a:t>
            </a:r>
          </a:p>
          <a:p>
            <a:r>
              <a:rPr lang="en-US" dirty="0"/>
              <a:t>The primary key refers to a column or a set of columns of a table that helps us identify all the records uniquely present in that table. A table can consist of just one primary key. Also, this primary key cannot consist of the same values reappearing/repeating for any of its rows. All the values of a primary key have to be different, and there should be no repetitions.</a:t>
            </a:r>
          </a:p>
          <a:p>
            <a:r>
              <a:rPr lang="en-US" dirty="0"/>
              <a:t>The PK (PRIMARY KEY) constraint that we put on a column/set of columns won’t allow these to have a null value or a duplicate. Any table can consist of only a single primary key constraint. A foreign key (explained below) that refers to it can never change the values present in the primary key.</a:t>
            </a:r>
          </a:p>
          <a:p>
            <a:pPr marL="0" indent="0">
              <a:buNone/>
            </a:pPr>
            <a:r>
              <a:rPr lang="en-US" b="1" dirty="0"/>
              <a:t>2. Super Key</a:t>
            </a:r>
          </a:p>
          <a:p>
            <a:r>
              <a:rPr lang="en-US" dirty="0"/>
              <a:t>A super key refers to the set of all those keys that help us uniquely identify all the rows present in a table. It means that all of these columns present in a table that can identify the columns of that table uniquely act as the super keys.</a:t>
            </a:r>
          </a:p>
          <a:p>
            <a:r>
              <a:rPr lang="en-US" dirty="0"/>
              <a:t>A super key is a candidate key’s superset (candidate key has been explained below). We need to pick the primary key of any table from the super key’s set so as to make it the table’s identity attribute.</a:t>
            </a:r>
          </a:p>
          <a:p>
            <a:endParaRPr lang="en-IN" dirty="0"/>
          </a:p>
        </p:txBody>
      </p:sp>
    </p:spTree>
    <p:extLst>
      <p:ext uri="{BB962C8B-B14F-4D97-AF65-F5344CB8AC3E}">
        <p14:creationId xmlns:p14="http://schemas.microsoft.com/office/powerpoint/2010/main" val="259019278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37980"/>
          </a:xfrm>
        </p:spPr>
        <p:txBody>
          <a:bodyPr>
            <a:normAutofit fontScale="90000"/>
          </a:bodyPr>
          <a:lstStyle/>
          <a:p>
            <a:endParaRPr lang="en-IN" dirty="0"/>
          </a:p>
        </p:txBody>
      </p:sp>
      <p:sp>
        <p:nvSpPr>
          <p:cNvPr id="3" name="Content Placeholder 2"/>
          <p:cNvSpPr>
            <a:spLocks noGrp="1"/>
          </p:cNvSpPr>
          <p:nvPr>
            <p:ph idx="1"/>
          </p:nvPr>
        </p:nvSpPr>
        <p:spPr>
          <a:xfrm>
            <a:off x="457200" y="512618"/>
            <a:ext cx="8229600" cy="6248400"/>
          </a:xfrm>
        </p:spPr>
        <p:txBody>
          <a:bodyPr>
            <a:normAutofit fontScale="55000" lnSpcReduction="20000"/>
          </a:bodyPr>
          <a:lstStyle/>
          <a:p>
            <a:pPr marL="0" indent="0">
              <a:buNone/>
            </a:pPr>
            <a:r>
              <a:rPr lang="en-US" b="1" dirty="0"/>
              <a:t>3. Candidate Key</a:t>
            </a:r>
          </a:p>
          <a:p>
            <a:r>
              <a:rPr lang="en-US" dirty="0"/>
              <a:t>The candidate keys refer to those attributes that identify rows uniquely in a table. In a table, we select the primary key from a candidate key. Thus, a candidate key has similar properties as that of the primary keys that we have explained above. In a table, there can be multiple candidate keys.</a:t>
            </a:r>
          </a:p>
          <a:p>
            <a:pPr marL="0" indent="0">
              <a:buNone/>
            </a:pPr>
            <a:r>
              <a:rPr lang="en-US" b="1" dirty="0"/>
              <a:t>4. Alternate Key</a:t>
            </a:r>
          </a:p>
          <a:p>
            <a:r>
              <a:rPr lang="en-US" dirty="0"/>
              <a:t>As we have stated above, any table can consist of multiple choices for the primary key. But, it can only choose one. Thus, all those keys that did not become a primary key are known as alternate keys.</a:t>
            </a:r>
          </a:p>
          <a:p>
            <a:pPr marL="0" indent="0">
              <a:buNone/>
            </a:pPr>
            <a:r>
              <a:rPr lang="en-US" b="1" dirty="0"/>
              <a:t>5. Foreign Key</a:t>
            </a:r>
          </a:p>
          <a:p>
            <a:r>
              <a:rPr lang="en-US" dirty="0"/>
              <a:t>We use a foreign key to establish relationships between two available tables. The foreign key would require every value present in a column/set of columns to match the referential table’s primary key. A foreign key helps us to maintain data as well as referential integrity.</a:t>
            </a:r>
          </a:p>
          <a:p>
            <a:pPr marL="0" indent="0">
              <a:buNone/>
            </a:pPr>
            <a:r>
              <a:rPr lang="en-US" b="1" dirty="0"/>
              <a:t>6. Composite Key</a:t>
            </a:r>
          </a:p>
          <a:p>
            <a:r>
              <a:rPr lang="en-US" dirty="0"/>
              <a:t>The composite key refers to a set of multiple attributes that help us uniquely identify every tuple present in a table. The attributes present in a set may not be unique whenever we consider them separately. Thus, when we take them all together, it will ensure total uniqueness.</a:t>
            </a:r>
          </a:p>
          <a:p>
            <a:pPr marL="0" indent="0">
              <a:buNone/>
            </a:pPr>
            <a:r>
              <a:rPr lang="en-US" b="1" dirty="0"/>
              <a:t>7. Unique Key</a:t>
            </a:r>
          </a:p>
          <a:p>
            <a:r>
              <a:rPr lang="en-US" dirty="0"/>
              <a:t>A unique key refers to a column/a set of columns that identify every record uniquely in a table. All the values in this key would have to be unique. Remember that a unique key is different from a primary key. It is because it is only capable of having one null value. A primary key, on the other hand, cannot have a null value.</a:t>
            </a:r>
          </a:p>
          <a:p>
            <a:endParaRPr lang="en-IN" dirty="0"/>
          </a:p>
        </p:txBody>
      </p:sp>
    </p:spTree>
    <p:extLst>
      <p:ext uri="{BB962C8B-B14F-4D97-AF65-F5344CB8AC3E}">
        <p14:creationId xmlns:p14="http://schemas.microsoft.com/office/powerpoint/2010/main" val="28011646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What </a:t>
            </a:r>
            <a:r>
              <a:rPr lang="en-US" b="1" dirty="0"/>
              <a:t>are Armstrong’s Axioms in DBMS?</a:t>
            </a:r>
            <a:br>
              <a:rPr lang="en-US" b="1" dirty="0"/>
            </a:br>
            <a:endParaRPr lang="en-IN"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Armstrong’s </a:t>
            </a:r>
            <a:r>
              <a:rPr lang="en-US" dirty="0"/>
              <a:t>axioms, introduced by William W. Armstrong in 1974, are a set of inference rules utilized to deduce all the functional dependencies within a relational database. These rules, when applied to a set of functional dependencies denoted as F+, are both sound, ensuring that only dependencies within the closure set F are generated, and complete, meaning that applying these rules iteratively will derive all functional dependencies within the closure F+.</a:t>
            </a:r>
          </a:p>
          <a:p>
            <a:endParaRPr lang="en-IN" dirty="0"/>
          </a:p>
        </p:txBody>
      </p:sp>
    </p:spTree>
    <p:extLst>
      <p:ext uri="{BB962C8B-B14F-4D97-AF65-F5344CB8AC3E}">
        <p14:creationId xmlns:p14="http://schemas.microsoft.com/office/powerpoint/2010/main" val="14387003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r>
              <a:rPr lang="en-US" b="1" dirty="0" smtClean="0"/>
              <a:t/>
            </a:r>
            <a:br>
              <a:rPr lang="en-US" b="1" dirty="0" smtClean="0"/>
            </a:br>
            <a:r>
              <a:rPr lang="en-US" b="1" dirty="0" smtClean="0"/>
              <a:t>Types </a:t>
            </a:r>
            <a:r>
              <a:rPr lang="en-US" b="1" dirty="0"/>
              <a:t>of Axioms</a:t>
            </a:r>
            <a:br>
              <a:rPr lang="en-US" b="1" dirty="0"/>
            </a:br>
            <a:endParaRPr lang="en-IN" dirty="0"/>
          </a:p>
        </p:txBody>
      </p:sp>
      <p:sp>
        <p:nvSpPr>
          <p:cNvPr id="3" name="Content Placeholder 2"/>
          <p:cNvSpPr>
            <a:spLocks noGrp="1"/>
          </p:cNvSpPr>
          <p:nvPr>
            <p:ph idx="1"/>
          </p:nvPr>
        </p:nvSpPr>
        <p:spPr>
          <a:xfrm>
            <a:off x="457200" y="831274"/>
            <a:ext cx="8229600" cy="5294890"/>
          </a:xfrm>
        </p:spPr>
        <p:txBody>
          <a:bodyPr>
            <a:normAutofit fontScale="77500" lnSpcReduction="20000"/>
          </a:bodyPr>
          <a:lstStyle/>
          <a:p>
            <a:r>
              <a:rPr lang="en-US" dirty="0" smtClean="0"/>
              <a:t>There </a:t>
            </a:r>
            <a:r>
              <a:rPr lang="en-US" dirty="0"/>
              <a:t>are 3 types of Axioms:</a:t>
            </a:r>
          </a:p>
          <a:p>
            <a:pPr marL="0" indent="0">
              <a:buNone/>
            </a:pPr>
            <a:r>
              <a:rPr lang="en-US" b="1" i="1" dirty="0">
                <a:solidFill>
                  <a:srgbClr val="FF0000"/>
                </a:solidFill>
              </a:rPr>
              <a:t>Reflexivity Axiom:</a:t>
            </a:r>
            <a:r>
              <a:rPr lang="en-US" i="1" dirty="0">
                <a:solidFill>
                  <a:srgbClr val="FF0000"/>
                </a:solidFill>
              </a:rPr>
              <a:t/>
            </a:r>
            <a:br>
              <a:rPr lang="en-US" i="1" dirty="0">
                <a:solidFill>
                  <a:srgbClr val="FF0000"/>
                </a:solidFill>
              </a:rPr>
            </a:br>
            <a:r>
              <a:rPr lang="en-US" dirty="0"/>
              <a:t>For a set of attributes A and a subset B of A, if B is a subset of A (B⊆A), then A→B. This axiom represents a trivial property where a set of attributes implies itself.</a:t>
            </a:r>
          </a:p>
          <a:p>
            <a:pPr marL="0" indent="0">
              <a:buNone/>
            </a:pPr>
            <a:r>
              <a:rPr lang="en-US" b="1" i="1" dirty="0">
                <a:solidFill>
                  <a:srgbClr val="FF0000"/>
                </a:solidFill>
              </a:rPr>
              <a:t>Augmentation Axiom:</a:t>
            </a:r>
            <a:r>
              <a:rPr lang="en-US" i="1" dirty="0">
                <a:solidFill>
                  <a:srgbClr val="FF0000"/>
                </a:solidFill>
              </a:rPr>
              <a:t/>
            </a:r>
            <a:br>
              <a:rPr lang="en-US" i="1" dirty="0">
                <a:solidFill>
                  <a:srgbClr val="FF0000"/>
                </a:solidFill>
              </a:rPr>
            </a:br>
            <a:r>
              <a:rPr lang="en-US" dirty="0"/>
              <a:t>If A→B is true and Y is a set of attributes, then AY→BY is also true. This axiom demonstrates that adding attributes to dependencies does not alter the fundamental dependencies. If A→B holds, AC→BC holds for any set of attributes C.</a:t>
            </a:r>
          </a:p>
          <a:p>
            <a:pPr marL="0" indent="0">
              <a:buNone/>
            </a:pPr>
            <a:r>
              <a:rPr lang="en-US" b="1" i="1" dirty="0">
                <a:solidFill>
                  <a:srgbClr val="FF0000"/>
                </a:solidFill>
              </a:rPr>
              <a:t>Transitivity Axiom:</a:t>
            </a:r>
            <a:r>
              <a:rPr lang="en-US" i="1" dirty="0">
                <a:solidFill>
                  <a:srgbClr val="FF0000"/>
                </a:solidFill>
              </a:rPr>
              <a:t/>
            </a:r>
            <a:br>
              <a:rPr lang="en-US" i="1" dirty="0">
                <a:solidFill>
                  <a:srgbClr val="FF0000"/>
                </a:solidFill>
              </a:rPr>
            </a:br>
            <a:r>
              <a:rPr lang="en-US" dirty="0"/>
              <a:t>If A→B holds and B→C holds, then A→C also holds, similar to the transitive rule in algebra. Functionally, it means that if A determines B and B determines C, then A determines C. If X→Y and Y→Z are true, then X→Z is also true.</a:t>
            </a:r>
          </a:p>
          <a:p>
            <a:endParaRPr lang="en-IN" dirty="0"/>
          </a:p>
        </p:txBody>
      </p:sp>
    </p:spTree>
    <p:extLst>
      <p:ext uri="{BB962C8B-B14F-4D97-AF65-F5344CB8AC3E}">
        <p14:creationId xmlns:p14="http://schemas.microsoft.com/office/powerpoint/2010/main" val="29328037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7471"/>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74639"/>
            <a:ext cx="8229600" cy="6333980"/>
          </a:xfrm>
        </p:spPr>
      </p:pic>
    </p:spTree>
    <p:extLst>
      <p:ext uri="{BB962C8B-B14F-4D97-AF65-F5344CB8AC3E}">
        <p14:creationId xmlns:p14="http://schemas.microsoft.com/office/powerpoint/2010/main" val="34200954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74638"/>
            <a:ext cx="8229600" cy="532259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691" y="5597236"/>
            <a:ext cx="7703127" cy="1260764"/>
          </a:xfrm>
          <a:prstGeom prst="rect">
            <a:avLst/>
          </a:prstGeom>
        </p:spPr>
      </p:pic>
    </p:spTree>
    <p:extLst>
      <p:ext uri="{BB962C8B-B14F-4D97-AF65-F5344CB8AC3E}">
        <p14:creationId xmlns:p14="http://schemas.microsoft.com/office/powerpoint/2010/main" val="18148272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89"/>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74638"/>
            <a:ext cx="8229599" cy="6417107"/>
          </a:xfrm>
        </p:spPr>
      </p:pic>
    </p:spTree>
    <p:extLst>
      <p:ext uri="{BB962C8B-B14F-4D97-AF65-F5344CB8AC3E}">
        <p14:creationId xmlns:p14="http://schemas.microsoft.com/office/powerpoint/2010/main" val="219510741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274638"/>
            <a:ext cx="8534400" cy="6403253"/>
          </a:xfrm>
        </p:spPr>
      </p:pic>
    </p:spTree>
    <p:extLst>
      <p:ext uri="{BB962C8B-B14F-4D97-AF65-F5344CB8AC3E}">
        <p14:creationId xmlns:p14="http://schemas.microsoft.com/office/powerpoint/2010/main" val="22273109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595744" y="320357"/>
            <a:ext cx="8091055" cy="261534"/>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0271" y="579438"/>
            <a:ext cx="8382000" cy="6278562"/>
          </a:xfrm>
        </p:spPr>
        <p:txBody>
          <a:bodyPr numCol="2">
            <a:normAutofit fontScale="70000" lnSpcReduction="20000"/>
          </a:bodyPr>
          <a:lstStyle/>
          <a:p>
            <a:pPr marL="0" indent="0">
              <a:buNone/>
            </a:pPr>
            <a:r>
              <a:rPr lang="en-US" b="1" i="1" dirty="0">
                <a:solidFill>
                  <a:srgbClr val="FF0000"/>
                </a:solidFill>
              </a:rPr>
              <a:t>Self-determination</a:t>
            </a:r>
          </a:p>
          <a:p>
            <a:r>
              <a:rPr lang="en-US" dirty="0"/>
              <a:t>A→A for any given A.</a:t>
            </a:r>
          </a:p>
          <a:p>
            <a:endParaRPr lang="en-US" dirty="0"/>
          </a:p>
          <a:p>
            <a:r>
              <a:rPr lang="en-US" dirty="0"/>
              <a:t>This rule directly follows the Axiom of Reflexivity.</a:t>
            </a:r>
          </a:p>
          <a:p>
            <a:endParaRPr lang="en-US" dirty="0"/>
          </a:p>
          <a:p>
            <a:pPr marL="0" indent="0">
              <a:buNone/>
            </a:pPr>
            <a:r>
              <a:rPr lang="en-US" dirty="0" err="1"/>
              <a:t>Extensivity</a:t>
            </a:r>
            <a:endParaRPr lang="en-US" dirty="0"/>
          </a:p>
          <a:p>
            <a:r>
              <a:rPr lang="en-US" dirty="0" err="1"/>
              <a:t>Extensivity</a:t>
            </a:r>
            <a:r>
              <a:rPr lang="en-US" dirty="0"/>
              <a:t> is a particular case of augmentation where C=A</a:t>
            </a:r>
          </a:p>
          <a:p>
            <a:endParaRPr lang="en-US" dirty="0"/>
          </a:p>
          <a:p>
            <a:r>
              <a:rPr lang="en-US" dirty="0"/>
              <a:t>If A→B, then A→AB</a:t>
            </a:r>
          </a:p>
          <a:p>
            <a:endParaRPr lang="en-US" dirty="0"/>
          </a:p>
          <a:p>
            <a:r>
              <a:rPr lang="en-US" dirty="0"/>
              <a:t>In the sense that augmentation can be proven from </a:t>
            </a:r>
            <a:r>
              <a:rPr lang="en-US" dirty="0" err="1"/>
              <a:t>extensivity</a:t>
            </a:r>
            <a:r>
              <a:rPr lang="en-US" dirty="0"/>
              <a:t> and other axioms, </a:t>
            </a:r>
            <a:r>
              <a:rPr lang="en-US" dirty="0" err="1"/>
              <a:t>extensivity</a:t>
            </a:r>
            <a:r>
              <a:rPr lang="en-US" dirty="0"/>
              <a:t> can replace augmentation as an axiom.</a:t>
            </a:r>
          </a:p>
          <a:p>
            <a:endParaRPr lang="en-US" dirty="0" smtClean="0"/>
          </a:p>
          <a:p>
            <a:endParaRPr lang="en-US" dirty="0"/>
          </a:p>
          <a:p>
            <a:endParaRPr lang="en-US" dirty="0" smtClean="0"/>
          </a:p>
          <a:p>
            <a:endParaRPr lang="en-US" dirty="0"/>
          </a:p>
          <a:p>
            <a:pPr marL="0" indent="0">
              <a:buNone/>
            </a:pPr>
            <a:r>
              <a:rPr lang="en-US" b="1" dirty="0">
                <a:solidFill>
                  <a:srgbClr val="FF0000"/>
                </a:solidFill>
              </a:rPr>
              <a:t>Proof</a:t>
            </a:r>
          </a:p>
          <a:p>
            <a:endParaRPr lang="en-US" dirty="0"/>
          </a:p>
          <a:p>
            <a:r>
              <a:rPr lang="en-US" dirty="0"/>
              <a:t>AC→A____(</a:t>
            </a:r>
            <a:r>
              <a:rPr lang="en-US" dirty="0" err="1"/>
              <a:t>i</a:t>
            </a:r>
            <a:r>
              <a:rPr lang="en-US" dirty="0"/>
              <a:t>)</a:t>
            </a:r>
          </a:p>
          <a:p>
            <a:endParaRPr lang="en-US" dirty="0"/>
          </a:p>
          <a:p>
            <a:r>
              <a:rPr lang="en-US" dirty="0"/>
              <a:t>A→B________(ii)</a:t>
            </a:r>
          </a:p>
          <a:p>
            <a:endParaRPr lang="en-US" dirty="0"/>
          </a:p>
          <a:p>
            <a:r>
              <a:rPr lang="en-US" dirty="0"/>
              <a:t>AC→B________(iii) (Transitivity of </a:t>
            </a:r>
            <a:r>
              <a:rPr lang="en-US" dirty="0" err="1"/>
              <a:t>i</a:t>
            </a:r>
            <a:r>
              <a:rPr lang="en-US" dirty="0"/>
              <a:t> and ii)</a:t>
            </a:r>
          </a:p>
          <a:p>
            <a:endParaRPr lang="en-US" dirty="0"/>
          </a:p>
          <a:p>
            <a:r>
              <a:rPr lang="en-US" dirty="0"/>
              <a:t>AC→ABC_______(iv) (</a:t>
            </a:r>
            <a:r>
              <a:rPr lang="en-US" dirty="0" err="1"/>
              <a:t>Extensivity</a:t>
            </a:r>
            <a:r>
              <a:rPr lang="en-US" dirty="0"/>
              <a:t> of iii)</a:t>
            </a:r>
          </a:p>
          <a:p>
            <a:endParaRPr lang="en-US" dirty="0"/>
          </a:p>
          <a:p>
            <a:r>
              <a:rPr lang="en-US" dirty="0"/>
              <a:t>ABC→BC______(v) (Reflexivity)</a:t>
            </a:r>
          </a:p>
          <a:p>
            <a:endParaRPr lang="en-US" dirty="0"/>
          </a:p>
          <a:p>
            <a:r>
              <a:rPr lang="en-US" dirty="0"/>
              <a:t>AC→BC (Transitivity of iv and v)</a:t>
            </a:r>
            <a:endParaRPr lang="en-IN" dirty="0"/>
          </a:p>
        </p:txBody>
      </p:sp>
    </p:spTree>
    <p:extLst>
      <p:ext uri="{BB962C8B-B14F-4D97-AF65-F5344CB8AC3E}">
        <p14:creationId xmlns:p14="http://schemas.microsoft.com/office/powerpoint/2010/main" val="409397125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509" y="122239"/>
            <a:ext cx="8229600" cy="224126"/>
          </a:xfrm>
        </p:spPr>
        <p:txBody>
          <a:bodyPr>
            <a:normAutofit fontScale="90000"/>
          </a:bodyPr>
          <a:lstStyle/>
          <a:p>
            <a:endParaRPr lang="en-IN" dirty="0"/>
          </a:p>
        </p:txBody>
      </p:sp>
      <p:sp>
        <p:nvSpPr>
          <p:cNvPr id="3" name="Content Placeholder 2"/>
          <p:cNvSpPr>
            <a:spLocks noGrp="1"/>
          </p:cNvSpPr>
          <p:nvPr>
            <p:ph idx="1"/>
          </p:nvPr>
        </p:nvSpPr>
        <p:spPr>
          <a:xfrm>
            <a:off x="332509" y="540327"/>
            <a:ext cx="8354291" cy="6192983"/>
          </a:xfrm>
        </p:spPr>
        <p:txBody>
          <a:bodyPr numCol="2">
            <a:normAutofit fontScale="47500" lnSpcReduction="20000"/>
          </a:bodyPr>
          <a:lstStyle/>
          <a:p>
            <a:pPr algn="just"/>
            <a:r>
              <a:rPr lang="en-US" b="1" dirty="0"/>
              <a:t>Q1. What is the significance of Armstrong’s axioms in DBMS?</a:t>
            </a:r>
            <a:r>
              <a:rPr lang="en-US" dirty="0"/>
              <a:t/>
            </a:r>
            <a:br>
              <a:rPr lang="en-US" dirty="0"/>
            </a:br>
            <a:r>
              <a:rPr lang="en-US" dirty="0"/>
              <a:t>Armstrong’s axioms play a crucial role in the design, normalization, and analysis of relational databases. They provide a formal framework to identify and derive functional dependencies, which are essential for maintaining data integrity and designing efficient database schemas.</a:t>
            </a:r>
          </a:p>
          <a:p>
            <a:pPr algn="just"/>
            <a:r>
              <a:rPr lang="en-US" b="1" dirty="0"/>
              <a:t>Q2. How are Armstrong’s axioms applied in DBMS?</a:t>
            </a:r>
            <a:r>
              <a:rPr lang="en-US" dirty="0"/>
              <a:t/>
            </a:r>
            <a:br>
              <a:rPr lang="en-US" dirty="0"/>
            </a:br>
            <a:r>
              <a:rPr lang="en-US" dirty="0"/>
              <a:t>In DBMS, Armstrong’s axioms are used to infer additional functional dependencies from a given set of functional dependencies. By repeatedly applying the axioms, one can systematically derive all the dependencies that hold in the database schema.</a:t>
            </a:r>
          </a:p>
          <a:p>
            <a:pPr algn="just"/>
            <a:r>
              <a:rPr lang="en-US" b="1" dirty="0"/>
              <a:t>Q3. Can Armstrong’s axioms generate incorrect dependencies?</a:t>
            </a:r>
            <a:r>
              <a:rPr lang="en-US" dirty="0"/>
              <a:t/>
            </a:r>
            <a:br>
              <a:rPr lang="en-US" dirty="0"/>
            </a:br>
            <a:r>
              <a:rPr lang="en-US" dirty="0"/>
              <a:t>Armstrong’s axioms are sound, meaning that the dependencies they generate hold true in all valid relation states. However, if the initial set of functional dependencies is incorrect or incomplete, the derived dependencies may also be incorrect or incomplete.</a:t>
            </a:r>
          </a:p>
          <a:p>
            <a:pPr algn="just"/>
            <a:r>
              <a:rPr lang="en-US" b="1" dirty="0"/>
              <a:t>Q4. Are Armstrong’s axioms limited to specific types of databases?</a:t>
            </a:r>
            <a:r>
              <a:rPr lang="en-US" dirty="0"/>
              <a:t/>
            </a:r>
            <a:br>
              <a:rPr lang="en-US" dirty="0"/>
            </a:br>
            <a:r>
              <a:rPr lang="en-US" dirty="0"/>
              <a:t>No, Armstrong’s axioms are applicable to any relational database. They are independent of the specific database management system and can be used in the normalization and analysis of databases across different domains and industries.</a:t>
            </a:r>
          </a:p>
          <a:p>
            <a:pPr algn="just"/>
            <a:r>
              <a:rPr lang="en-US" b="1" dirty="0"/>
              <a:t>Q5. Are there any limitations to the use of Armstrong’s axioms?</a:t>
            </a:r>
            <a:r>
              <a:rPr lang="en-US" dirty="0"/>
              <a:t/>
            </a:r>
            <a:br>
              <a:rPr lang="en-US" dirty="0"/>
            </a:br>
            <a:r>
              <a:rPr lang="en-US" dirty="0"/>
              <a:t>One limitation of Armstrong’s axioms is that the size of the minimum Armstrong relation can grow exponentially with the number of attributes in the dependencies being considered. This can pose challenges in terms of storage requirements and computational complexity for large databases.</a:t>
            </a:r>
          </a:p>
          <a:p>
            <a:pPr algn="just"/>
            <a:r>
              <a:rPr lang="en-US" b="1" dirty="0"/>
              <a:t>Q6. Are there any alternative methods to derive functional dependencies?</a:t>
            </a:r>
            <a:r>
              <a:rPr lang="en-US" dirty="0"/>
              <a:t/>
            </a:r>
            <a:br>
              <a:rPr lang="en-US" dirty="0"/>
            </a:br>
            <a:r>
              <a:rPr lang="en-US" dirty="0"/>
              <a:t>Apart from Armstrong’s axioms, there are other methods to derive functional dependencies, such as the closure algorithm and the attribute closure method. These methods use different approaches but aim to achieve the same goal of identifying all the functional dependencies in a database schema.</a:t>
            </a:r>
          </a:p>
          <a:p>
            <a:pPr algn="just"/>
            <a:r>
              <a:rPr lang="en-US" b="1" dirty="0"/>
              <a:t>Post navigation</a:t>
            </a:r>
          </a:p>
          <a:p>
            <a:pPr algn="just"/>
            <a:r>
              <a:rPr lang="en-US" dirty="0">
                <a:hlinkClick r:id="rId2"/>
              </a:rPr>
              <a:t/>
            </a:r>
            <a:br>
              <a:rPr lang="en-US" dirty="0">
                <a:hlinkClick r:id="rId2"/>
              </a:rPr>
            </a:br>
            <a:endParaRPr lang="en-IN" dirty="0"/>
          </a:p>
        </p:txBody>
      </p:sp>
    </p:spTree>
    <p:extLst>
      <p:ext uri="{BB962C8B-B14F-4D97-AF65-F5344CB8AC3E}">
        <p14:creationId xmlns:p14="http://schemas.microsoft.com/office/powerpoint/2010/main" val="1764648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1597</TotalTime>
  <Words>2697</Words>
  <Application>Microsoft Office PowerPoint</Application>
  <PresentationFormat>On-screen Show (4:3)</PresentationFormat>
  <Paragraphs>377</Paragraphs>
  <Slides>114</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114</vt:i4>
      </vt:variant>
    </vt:vector>
  </HeadingPairs>
  <TitlesOfParts>
    <vt:vector size="118" baseType="lpstr">
      <vt:lpstr>Arial</vt:lpstr>
      <vt:lpstr>Calibri</vt:lpstr>
      <vt:lpstr>Office Theme</vt:lpstr>
      <vt:lpstr>Bitmap Image</vt:lpstr>
      <vt:lpstr>ERD/Constraints in DBMS &amp; Foreign Key Relationships</vt:lpstr>
      <vt:lpstr>What is an ER Model? </vt:lpstr>
      <vt:lpstr> Why Use ER Diagrams in DBMS? </vt:lpstr>
      <vt:lpstr>Symbols Used in ER Diagrams </vt:lpstr>
      <vt:lpstr>PowerPoint Presentation</vt:lpstr>
      <vt:lpstr>Components of ER Diagram </vt:lpstr>
      <vt:lpstr> Entities/Weak Entities </vt:lpstr>
      <vt:lpstr>PowerPoint Presentation</vt:lpstr>
      <vt:lpstr>PowerPoint Presentation</vt:lpstr>
      <vt:lpstr>Attribute </vt:lpstr>
      <vt:lpstr>PowerPoint Presentation</vt:lpstr>
      <vt:lpstr>PowerPoint Presentation</vt:lpstr>
      <vt:lpstr>Composite Attribute </vt:lpstr>
      <vt:lpstr>Multivalued</vt:lpstr>
      <vt:lpstr>Derived</vt:lpstr>
      <vt:lpstr>Relationship </vt:lpstr>
      <vt:lpstr>PowerPoint Presentation</vt:lpstr>
      <vt:lpstr>How to Draw an ER Diagram? </vt:lpstr>
      <vt:lpstr>1:1,1:m,m:1Relation ship</vt:lpstr>
      <vt:lpstr> CASE1: For Strong Entity Set </vt:lpstr>
      <vt:lpstr>PowerPoint Presentation</vt:lpstr>
      <vt:lpstr>Composite Attribute Representation</vt:lpstr>
      <vt:lpstr>CASE 2: For Strong Entity Set With Multi-Valued Attributes</vt:lpstr>
      <vt:lpstr>Multivalued Representation</vt:lpstr>
      <vt:lpstr>CASE 3: Binary Relationship with 1:1 cardinality with the total participation of an entity  </vt:lpstr>
      <vt:lpstr>PowerPoint Presentation</vt:lpstr>
      <vt:lpstr>PowerPoint Presentation</vt:lpstr>
      <vt:lpstr>PowerPoint Presentation</vt:lpstr>
      <vt:lpstr>PowerPoint Presentation</vt:lpstr>
      <vt:lpstr>PowerPoint Presentation</vt:lpstr>
      <vt:lpstr> CASE 5: Binary Relationship having n: 1 cardinality  </vt:lpstr>
      <vt:lpstr>PowerPoint Presentation</vt:lpstr>
      <vt:lpstr> CASE 6: Binary Relationship having m: n cardinality </vt:lpstr>
      <vt:lpstr>PowerPoint Presentation</vt:lpstr>
      <vt:lpstr> CASE 7: Binary Relationship having a weak entity </vt:lpstr>
      <vt:lpstr>PowerPoint Presentation</vt:lpstr>
      <vt:lpstr>PowerPoint Presentation</vt:lpstr>
      <vt:lpstr>Introduction to Constraints in DBMS</vt:lpstr>
      <vt:lpstr>NOT NULL Constraint</vt:lpstr>
      <vt:lpstr>UNIQUE Constraint</vt:lpstr>
      <vt:lpstr>PRIMARY KEY Constraint</vt:lpstr>
      <vt:lpstr>FOREIGN KEY Constraint</vt:lpstr>
      <vt:lpstr>PowerPoint Presentation</vt:lpstr>
      <vt:lpstr>Example:-</vt:lpstr>
      <vt:lpstr>CHECK Constraint</vt:lpstr>
      <vt:lpstr>DEFAULT Constraint</vt:lpstr>
      <vt:lpstr>Parent and Child Tables in Foreign Key</vt:lpstr>
      <vt:lpstr>Cascading Effects in Foreign Key</vt:lpstr>
      <vt:lpstr>Example of ON DELETE CASCADE</vt:lpstr>
      <vt:lpstr>Example of ON DELETE SET NULL</vt:lpstr>
      <vt:lpstr>Example of ON DELETE RESTRICT</vt:lpstr>
      <vt:lpstr>Example of ON UPDATE CASCADE</vt:lpstr>
      <vt:lpstr>Conclusion</vt:lpstr>
      <vt:lpstr>Q&amp;A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 PK in Section,Weak</vt:lpstr>
      <vt:lpstr>Dotted line (it exist bcoz other 2 exist)</vt:lpstr>
      <vt:lpstr>PowerPoint Presentation</vt:lpstr>
      <vt:lpstr>PowerPoint Presentation</vt:lpstr>
      <vt:lpstr>1 Instructor can advise to many students(one to many)</vt:lpstr>
      <vt:lpstr>PowerPoint Presentation</vt:lpstr>
      <vt:lpstr>M:1</vt:lpstr>
      <vt:lpstr>One to many</vt:lpstr>
      <vt:lpstr>1:n</vt:lpstr>
      <vt:lpstr>1:1</vt:lpstr>
      <vt:lpstr>PowerPoint Presentation</vt:lpstr>
      <vt:lpstr>PowerPoint Presentation</vt:lpstr>
      <vt:lpstr>PowerPoint Presentation</vt:lpstr>
      <vt:lpstr>PowerPoint Presentation</vt:lpstr>
      <vt:lpstr>Here, Double line between the entity set “Student” and relationship set “Enrolled in” signifies total participation. It specifies that each student must be enrolled in at least one course. </vt:lpstr>
      <vt:lpstr>2. Partial Participation- </vt:lpstr>
      <vt:lpstr>PowerPoint Presentation</vt:lpstr>
      <vt:lpstr>PowerPoint Presentation</vt:lpstr>
      <vt:lpstr>PowerPoint Presentation</vt:lpstr>
      <vt:lpstr>PowerPoint Presentation</vt:lpstr>
      <vt:lpstr>PowerPoint Presentation</vt:lpstr>
      <vt:lpstr>PowerPoint Presentation</vt:lpstr>
      <vt:lpstr>How to Convert ER Diagrams to Tables in DBMS? </vt:lpstr>
      <vt:lpstr>Ex-1</vt:lpstr>
      <vt:lpstr>Problem-02: </vt:lpstr>
      <vt:lpstr>PowerPoint Presentation</vt:lpstr>
      <vt:lpstr>Problem-03: </vt:lpstr>
      <vt:lpstr>PowerPoint Presentation</vt:lpstr>
      <vt:lpstr>Problem-04: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vt:lpstr>
      <vt:lpstr>Ex-2</vt:lpstr>
      <vt:lpstr>PowerPoint Presentation</vt:lpstr>
      <vt:lpstr>PowerPoint Presentation</vt:lpstr>
      <vt:lpstr>PowerPoint Presentation</vt:lpstr>
      <vt:lpstr>PowerPoint Presentation</vt:lpstr>
      <vt:lpstr>Keys In RDBMS</vt:lpstr>
      <vt:lpstr>PowerPoint Presentation</vt:lpstr>
      <vt:lpstr>PowerPoint Presentation</vt:lpstr>
      <vt:lpstr> What are Armstrong’s Axioms in DBMS? </vt:lpstr>
      <vt:lpstr> Types of Axioms </vt:lpstr>
      <vt:lpstr>PowerPoint Presentation</vt:lpstr>
      <vt:lpstr>PowerPoint Presentation</vt:lpstr>
      <vt:lpstr>PowerPoint Presentation</vt:lpstr>
      <vt:lpstr>PowerPoint Presentation</vt:lpstr>
      <vt:lpstr>Contd..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Constraints in DBMS &amp; Foreign Key Relationships</dc:title>
  <dc:subject/>
  <dc:creator/>
  <cp:keywords/>
  <dc:description>generated using python-pptx</dc:description>
  <cp:lastModifiedBy>Subhasish_Mohapatra</cp:lastModifiedBy>
  <cp:revision>105</cp:revision>
  <dcterms:created xsi:type="dcterms:W3CDTF">2013-01-27T09:14:16Z</dcterms:created>
  <dcterms:modified xsi:type="dcterms:W3CDTF">2025-03-07T08:23:41Z</dcterms:modified>
  <cp:category/>
</cp:coreProperties>
</file>