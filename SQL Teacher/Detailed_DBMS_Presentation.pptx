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5" r:id="rId15"/>
    <p:sldId id="276" r:id="rId16"/>
    <p:sldId id="277" r:id="rId17"/>
    <p:sldId id="278" r:id="rId18"/>
    <p:sldId id="280" r:id="rId19"/>
    <p:sldId id="281" r:id="rId20"/>
    <p:sldId id="282" r:id="rId21"/>
    <p:sldId id="283" r:id="rId22"/>
    <p:sldId id="279" r:id="rId23"/>
    <p:sldId id="284" r:id="rId24"/>
    <p:sldId id="285" r:id="rId25"/>
    <p:sldId id="269" r:id="rId26"/>
    <p:sldId id="286" r:id="rId27"/>
    <p:sldId id="287" r:id="rId28"/>
    <p:sldId id="288" r:id="rId29"/>
    <p:sldId id="289" r:id="rId30"/>
    <p:sldId id="270" r:id="rId31"/>
    <p:sldId id="271" r:id="rId32"/>
    <p:sldId id="272" r:id="rId33"/>
    <p:sldId id="273" r:id="rId34"/>
    <p:sldId id="274"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Mapping Structure, Functions, and Components of DBMS</a:t>
            </a:r>
          </a:p>
        </p:txBody>
      </p:sp>
      <p:sp>
        <p:nvSpPr>
          <p:cNvPr id="3" name="Subtitle 2"/>
          <p:cNvSpPr>
            <a:spLocks noGrp="1"/>
          </p:cNvSpPr>
          <p:nvPr>
            <p:ph type="subTitle" idx="1"/>
          </p:nvPr>
        </p:nvSpPr>
        <p:spPr/>
        <p:txBody>
          <a:bodyPr/>
          <a:lstStyle/>
          <a:p>
            <a:r>
              <a:rPr i="1" dirty="0">
                <a:solidFill>
                  <a:srgbClr val="FF0000"/>
                </a:solidFill>
              </a:rPr>
              <a:t>Detailed Presentation with Examples and Notes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DBMS</a:t>
            </a:r>
          </a:p>
        </p:txBody>
      </p:sp>
      <p:sp>
        <p:nvSpPr>
          <p:cNvPr id="3" name="Content Placeholder 2"/>
          <p:cNvSpPr>
            <a:spLocks noGrp="1"/>
          </p:cNvSpPr>
          <p:nvPr>
            <p:ph idx="1"/>
          </p:nvPr>
        </p:nvSpPr>
        <p:spPr/>
        <p:txBody>
          <a:bodyPr/>
          <a:lstStyle/>
          <a:p>
            <a:r>
              <a:t>A Database Management System (DBMS) is software that facilitates structured data storage, management, and retrieval. It provides an abstraction over data storage and ensures efficient access.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DBMS Mapping Structure</a:t>
            </a:r>
          </a:p>
        </p:txBody>
      </p:sp>
      <p:sp>
        <p:nvSpPr>
          <p:cNvPr id="3" name="Content Placeholder 2"/>
          <p:cNvSpPr>
            <a:spLocks noGrp="1"/>
          </p:cNvSpPr>
          <p:nvPr>
            <p:ph idx="1"/>
          </p:nvPr>
        </p:nvSpPr>
        <p:spPr/>
        <p:txBody>
          <a:bodyPr>
            <a:normAutofit lnSpcReduction="10000"/>
          </a:bodyPr>
          <a:lstStyle/>
          <a:p>
            <a:r>
              <a:t>DBMS follows a three-level architecture:</a:t>
            </a:r>
          </a:p>
          <a:p>
            <a:endParaRPr/>
          </a:p>
          <a:p>
            <a:r>
              <a:t>1. Internal Level (Physical Storage)</a:t>
            </a:r>
          </a:p>
          <a:p>
            <a:r>
              <a:t>2. Conceptual Level (Logical Structure)</a:t>
            </a:r>
          </a:p>
          <a:p>
            <a:r>
              <a:t>3. External Level (User Views)</a:t>
            </a:r>
          </a:p>
          <a:p>
            <a:endParaRPr/>
          </a:p>
          <a:p>
            <a:r>
              <a:t>Mappings ensure smooth transition between these levels.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Internal Level (Physical Storage)</a:t>
            </a:r>
          </a:p>
        </p:txBody>
      </p:sp>
      <p:sp>
        <p:nvSpPr>
          <p:cNvPr id="3" name="Content Placeholder 2"/>
          <p:cNvSpPr>
            <a:spLocks noGrp="1"/>
          </p:cNvSpPr>
          <p:nvPr>
            <p:ph idx="1"/>
          </p:nvPr>
        </p:nvSpPr>
        <p:spPr/>
        <p:txBody>
          <a:bodyPr/>
          <a:lstStyle/>
          <a:p>
            <a:r>
              <a:t>• Deals with how data is stored on disks or SSDs.</a:t>
            </a:r>
          </a:p>
          <a:p>
            <a:r>
              <a:t>• Uses indexing, hashing, and file organization techniques.</a:t>
            </a:r>
          </a:p>
          <a:p>
            <a:r>
              <a:t>Example: Storing employee records as B-trees for faster retrieval.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Conceptual Level (Logical Schema)</a:t>
            </a:r>
          </a:p>
        </p:txBody>
      </p:sp>
      <p:sp>
        <p:nvSpPr>
          <p:cNvPr id="3" name="Content Placeholder 2"/>
          <p:cNvSpPr>
            <a:spLocks noGrp="1"/>
          </p:cNvSpPr>
          <p:nvPr>
            <p:ph idx="1"/>
          </p:nvPr>
        </p:nvSpPr>
        <p:spPr/>
        <p:txBody>
          <a:bodyPr/>
          <a:lstStyle/>
          <a:p>
            <a:r>
              <a:t>• Defines tables, relationships, keys, and constraints.</a:t>
            </a:r>
          </a:p>
          <a:p>
            <a:r>
              <a:t>• Independent of physical storage details.</a:t>
            </a:r>
          </a:p>
          <a:p>
            <a:r>
              <a:t>Example: A relational model defining Employee(EmployeeID, Name, Salary).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External Level (User Views)</a:t>
            </a:r>
          </a:p>
        </p:txBody>
      </p:sp>
      <p:sp>
        <p:nvSpPr>
          <p:cNvPr id="3" name="Content Placeholder 2"/>
          <p:cNvSpPr>
            <a:spLocks noGrp="1"/>
          </p:cNvSpPr>
          <p:nvPr>
            <p:ph idx="1"/>
          </p:nvPr>
        </p:nvSpPr>
        <p:spPr/>
        <p:txBody>
          <a:bodyPr/>
          <a:lstStyle/>
          <a:p>
            <a:r>
              <a:t>• Provides different views for different users.</a:t>
            </a:r>
          </a:p>
          <a:p>
            <a:r>
              <a:t>• Ensures security and abstraction.</a:t>
            </a:r>
          </a:p>
          <a:p>
            <a:r>
              <a:t>Example: A professor sees only student grades, while an admin sees full student details.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Functions of DBMS</a:t>
            </a:r>
          </a:p>
        </p:txBody>
      </p:sp>
      <p:sp>
        <p:nvSpPr>
          <p:cNvPr id="3" name="Content Placeholder 2"/>
          <p:cNvSpPr>
            <a:spLocks noGrp="1"/>
          </p:cNvSpPr>
          <p:nvPr>
            <p:ph idx="1"/>
          </p:nvPr>
        </p:nvSpPr>
        <p:spPr/>
        <p:txBody>
          <a:bodyPr/>
          <a:lstStyle/>
          <a:p>
            <a:r>
              <a:t>1. Data Definition (DDL)</a:t>
            </a:r>
          </a:p>
          <a:p>
            <a:r>
              <a:t>2. Data Storage &amp; Retrieval</a:t>
            </a:r>
          </a:p>
          <a:p>
            <a:r>
              <a:t>3. Data Manipulation (DML)</a:t>
            </a:r>
          </a:p>
          <a:p>
            <a:r>
              <a:t>4. Transaction Management</a:t>
            </a:r>
          </a:p>
          <a:p>
            <a:r>
              <a:t>5. Security &amp; Authorization</a:t>
            </a:r>
          </a:p>
          <a:p>
            <a:r>
              <a:t>6. Backup &amp; Recovery</a:t>
            </a:r>
          </a:p>
          <a:p>
            <a:r>
              <a:t>7. Data Integrity &amp; Consistency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Definition (DDL)</a:t>
            </a:r>
          </a:p>
        </p:txBody>
      </p:sp>
      <p:sp>
        <p:nvSpPr>
          <p:cNvPr id="3" name="Content Placeholder 2"/>
          <p:cNvSpPr>
            <a:spLocks noGrp="1"/>
          </p:cNvSpPr>
          <p:nvPr>
            <p:ph idx="1"/>
          </p:nvPr>
        </p:nvSpPr>
        <p:spPr/>
        <p:txBody>
          <a:bodyPr/>
          <a:lstStyle/>
          <a:p>
            <a:r>
              <a:t>Defines database schema using commands like:</a:t>
            </a:r>
          </a:p>
          <a:p>
            <a:r>
              <a:t>• CREATE TABLE, ALTER TABLE, DROP TABLE</a:t>
            </a:r>
          </a:p>
          <a:p>
            <a:r>
              <a:t>Example:</a:t>
            </a:r>
          </a:p>
          <a:p>
            <a:r>
              <a:t>CREATE TABLE Students (ID INT PRIMARY KEY, Name VARCHAR(50));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Manipulation (DML)</a:t>
            </a:r>
          </a:p>
        </p:txBody>
      </p:sp>
      <p:sp>
        <p:nvSpPr>
          <p:cNvPr id="3" name="Content Placeholder 2"/>
          <p:cNvSpPr>
            <a:spLocks noGrp="1"/>
          </p:cNvSpPr>
          <p:nvPr>
            <p:ph idx="1"/>
          </p:nvPr>
        </p:nvSpPr>
        <p:spPr/>
        <p:txBody>
          <a:bodyPr/>
          <a:lstStyle/>
          <a:p>
            <a:r>
              <a:t>Performs CRUD operations using:</a:t>
            </a:r>
          </a:p>
          <a:p>
            <a:r>
              <a:t>• INSERT, UPDATE, DELETE, SELECT</a:t>
            </a:r>
          </a:p>
          <a:p>
            <a:r>
              <a:t>Example:</a:t>
            </a:r>
          </a:p>
          <a:p>
            <a:r>
              <a:t>INSERT INTO Students VALUES (1, 'Alice');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Transaction Management (ACID)</a:t>
            </a:r>
          </a:p>
        </p:txBody>
      </p:sp>
      <p:sp>
        <p:nvSpPr>
          <p:cNvPr id="3" name="Content Placeholder 2"/>
          <p:cNvSpPr>
            <a:spLocks noGrp="1"/>
          </p:cNvSpPr>
          <p:nvPr>
            <p:ph idx="1"/>
          </p:nvPr>
        </p:nvSpPr>
        <p:spPr/>
        <p:txBody>
          <a:bodyPr/>
          <a:lstStyle/>
          <a:p>
            <a:r>
              <a:t>Ensures ACID properties:</a:t>
            </a:r>
          </a:p>
          <a:p>
            <a:r>
              <a:t>• Atomicity: Complete or rollback transaction</a:t>
            </a:r>
          </a:p>
          <a:p>
            <a:r>
              <a:t>• Consistency: Data remains valid</a:t>
            </a:r>
          </a:p>
          <a:p>
            <a:r>
              <a:t>• Isolation: Transactions don’t interfere</a:t>
            </a:r>
          </a:p>
          <a:p>
            <a:r>
              <a:t>• Durability: Changes persist after commit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Security &amp; Authorization</a:t>
            </a:r>
          </a:p>
        </p:txBody>
      </p:sp>
      <p:sp>
        <p:nvSpPr>
          <p:cNvPr id="3" name="Content Placeholder 2"/>
          <p:cNvSpPr>
            <a:spLocks noGrp="1"/>
          </p:cNvSpPr>
          <p:nvPr>
            <p:ph idx="1"/>
          </p:nvPr>
        </p:nvSpPr>
        <p:spPr/>
        <p:txBody>
          <a:bodyPr/>
          <a:lstStyle/>
          <a:p>
            <a:r>
              <a:t>Controls access using GRANT and REVOKE.</a:t>
            </a:r>
          </a:p>
          <a:p>
            <a:r>
              <a:t>Example:</a:t>
            </a:r>
          </a:p>
          <a:p>
            <a:r>
              <a:t>GRANT SELECT ON Students TO Professor;</a:t>
            </a:r>
          </a:p>
          <a:p>
            <a:r>
              <a:t>REVOKE DELETE ON Students FROM Professor;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Components of DBMS</a:t>
            </a:r>
          </a:p>
        </p:txBody>
      </p:sp>
      <p:sp>
        <p:nvSpPr>
          <p:cNvPr id="3" name="Content Placeholder 2"/>
          <p:cNvSpPr>
            <a:spLocks noGrp="1"/>
          </p:cNvSpPr>
          <p:nvPr>
            <p:ph idx="1"/>
          </p:nvPr>
        </p:nvSpPr>
        <p:spPr/>
        <p:txBody>
          <a:bodyPr/>
          <a:lstStyle/>
          <a:p>
            <a:r>
              <a:rPr dirty="0"/>
              <a:t>1. Database Engine</a:t>
            </a:r>
          </a:p>
          <a:p>
            <a:r>
              <a:rPr dirty="0"/>
              <a:t>2. Storage Manager</a:t>
            </a:r>
          </a:p>
          <a:p>
            <a:r>
              <a:rPr dirty="0"/>
              <a:t>3. Query Processor</a:t>
            </a:r>
          </a:p>
          <a:p>
            <a:r>
              <a:rPr dirty="0"/>
              <a:t>4. Transaction Manager</a:t>
            </a:r>
          </a:p>
          <a:p>
            <a:r>
              <a:rPr dirty="0"/>
              <a:t>5. Metadata Catalog</a:t>
            </a:r>
          </a:p>
          <a:p>
            <a:r>
              <a:rPr dirty="0"/>
              <a:t>6. User Interface &amp; APIs</a:t>
            </a:r>
          </a:p>
          <a:p>
            <a:r>
              <a:rPr dirty="0"/>
              <a:t>7. Concurrency Control Manager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Database Engine</a:t>
            </a:r>
          </a:p>
        </p:txBody>
      </p:sp>
      <p:sp>
        <p:nvSpPr>
          <p:cNvPr id="3" name="Content Placeholder 2"/>
          <p:cNvSpPr>
            <a:spLocks noGrp="1"/>
          </p:cNvSpPr>
          <p:nvPr>
            <p:ph idx="1"/>
          </p:nvPr>
        </p:nvSpPr>
        <p:spPr>
          <a:xfrm>
            <a:off x="457200" y="1149927"/>
            <a:ext cx="8229600" cy="5389417"/>
          </a:xfrm>
        </p:spPr>
        <p:txBody>
          <a:bodyPr>
            <a:normAutofit fontScale="85000" lnSpcReduction="10000"/>
          </a:bodyPr>
          <a:lstStyle/>
          <a:p>
            <a:r>
              <a:rPr dirty="0"/>
              <a:t>• Core component that processes queries and transactions.</a:t>
            </a:r>
          </a:p>
          <a:p>
            <a:r>
              <a:rPr dirty="0"/>
              <a:t>• Converts SQL queries into low-level operations.</a:t>
            </a:r>
          </a:p>
          <a:p>
            <a:r>
              <a:rPr dirty="0"/>
              <a:t>Example: MySQL, PostgreSQL, Oracle </a:t>
            </a:r>
            <a:r>
              <a:rPr dirty="0" smtClean="0"/>
              <a:t>Database </a:t>
            </a:r>
            <a:r>
              <a:rPr dirty="0"/>
              <a:t>engines</a:t>
            </a:r>
            <a:r>
              <a:rPr dirty="0" smtClean="0"/>
              <a:t>.</a:t>
            </a:r>
            <a:endParaRPr lang="en-US" dirty="0" smtClean="0"/>
          </a:p>
          <a:p>
            <a:pPr algn="just"/>
            <a:r>
              <a:rPr lang="en-US" dirty="0"/>
              <a:t>A database engine is a component of software that facilitates working with databases. It controls how information in a database is saved, retrieved, and altered. Database engines act as a bridge between the database's data and the user, facilitating interaction with the information stored there. MySQL, Oracle, and SQL Server are just a few of the most well-known database management systems.</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How </a:t>
            </a:r>
            <a:r>
              <a:rPr lang="en-US" b="1" dirty="0"/>
              <a:t>Relational Database Engines Work</a:t>
            </a:r>
            <a:br>
              <a:rPr lang="en-US" b="1" dirty="0"/>
            </a:br>
            <a:endParaRPr lang="en-IN" dirty="0"/>
          </a:p>
        </p:txBody>
      </p:sp>
      <p:sp>
        <p:nvSpPr>
          <p:cNvPr id="3" name="Content Placeholder 2"/>
          <p:cNvSpPr>
            <a:spLocks noGrp="1"/>
          </p:cNvSpPr>
          <p:nvPr>
            <p:ph idx="1"/>
          </p:nvPr>
        </p:nvSpPr>
        <p:spPr/>
        <p:txBody>
          <a:bodyPr>
            <a:normAutofit fontScale="85000" lnSpcReduction="10000"/>
          </a:bodyPr>
          <a:lstStyle/>
          <a:p>
            <a:pPr algn="just"/>
            <a:r>
              <a:rPr lang="en-US" dirty="0" smtClean="0"/>
              <a:t>Relational </a:t>
            </a:r>
            <a:r>
              <a:rPr lang="en-US" dirty="0"/>
              <a:t>database engines store data in tables, with each table representing a different entity or object. Each table has a unique primary key that is used to identify the rows in the table. Tables can be related to each other using foreign keys, which are used to establish relationships between tables.</a:t>
            </a:r>
          </a:p>
          <a:p>
            <a:pPr algn="just"/>
            <a:r>
              <a:rPr lang="en-US" dirty="0"/>
              <a:t>To retrieve data from a relational database, users use SQL queries. SQL is a standard language used to manipulate relational databases. SQL queries are used to select, insert, update, and delete data from the database.</a:t>
            </a:r>
          </a:p>
          <a:p>
            <a:endParaRPr lang="en-IN" dirty="0"/>
          </a:p>
        </p:txBody>
      </p:sp>
    </p:spTree>
    <p:extLst>
      <p:ext uri="{BB962C8B-B14F-4D97-AF65-F5344CB8AC3E}">
        <p14:creationId xmlns:p14="http://schemas.microsoft.com/office/powerpoint/2010/main" val="1287817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How </a:t>
            </a:r>
            <a:r>
              <a:rPr lang="en-US" b="1" dirty="0" smtClean="0"/>
              <a:t>NoSQL </a:t>
            </a:r>
            <a:r>
              <a:rPr lang="en-US" b="1" dirty="0"/>
              <a:t>Database Engines Work</a:t>
            </a:r>
            <a:endParaRPr lang="en-IN" dirty="0"/>
          </a:p>
        </p:txBody>
      </p:sp>
      <p:sp>
        <p:nvSpPr>
          <p:cNvPr id="3" name="Content Placeholder 2"/>
          <p:cNvSpPr>
            <a:spLocks noGrp="1"/>
          </p:cNvSpPr>
          <p:nvPr>
            <p:ph idx="1"/>
          </p:nvPr>
        </p:nvSpPr>
        <p:spPr/>
        <p:txBody>
          <a:bodyPr>
            <a:normAutofit fontScale="85000" lnSpcReduction="20000"/>
          </a:bodyPr>
          <a:lstStyle/>
          <a:p>
            <a:pPr algn="just"/>
            <a:r>
              <a:rPr lang="en-US" dirty="0"/>
              <a:t>NoSQL databases are designed to handle unstructured or semi-structured data, which makes them highly flexible and scalable. NoSQL databases use a variety of data models to store data, including document, key-value, graph, and column-family models.</a:t>
            </a:r>
          </a:p>
          <a:p>
            <a:pPr algn="just"/>
            <a:r>
              <a:rPr lang="en-US" dirty="0"/>
              <a:t>In a document model, data is stored in a document, which is similar to a JSON object. In a key-value model, data is stored as a set of key-value pairs. In a graph model, data is stored as nodes and edges, which are used to represent relationships between objects. In a column-family model, data is stored in columns, which are grouped into column families.</a:t>
            </a:r>
          </a:p>
          <a:p>
            <a:pPr algn="just"/>
            <a:endParaRPr lang="en-IN" dirty="0"/>
          </a:p>
        </p:txBody>
      </p:sp>
    </p:spTree>
    <p:extLst>
      <p:ext uri="{BB962C8B-B14F-4D97-AF65-F5344CB8AC3E}">
        <p14:creationId xmlns:p14="http://schemas.microsoft.com/office/powerpoint/2010/main" val="2752479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1944"/>
          </a:xfrm>
        </p:spPr>
        <p:txBody>
          <a:bodyPr>
            <a:normAutofit fontScale="90000"/>
          </a:bodyPr>
          <a:lstStyle/>
          <a:p>
            <a:endParaRPr lang="en-IN" dirty="0"/>
          </a:p>
        </p:txBody>
      </p:sp>
      <p:sp>
        <p:nvSpPr>
          <p:cNvPr id="3" name="Content Placeholder 2"/>
          <p:cNvSpPr>
            <a:spLocks noGrp="1"/>
          </p:cNvSpPr>
          <p:nvPr>
            <p:ph idx="1"/>
          </p:nvPr>
        </p:nvSpPr>
        <p:spPr>
          <a:xfrm>
            <a:off x="457200" y="803564"/>
            <a:ext cx="8229600" cy="5777345"/>
          </a:xfrm>
        </p:spPr>
        <p:txBody>
          <a:bodyPr>
            <a:normAutofit fontScale="62500" lnSpcReduction="20000"/>
          </a:bodyPr>
          <a:lstStyle/>
          <a:p>
            <a:pPr algn="just"/>
            <a:r>
              <a:rPr lang="en-US" b="1" dirty="0"/>
              <a:t>In-Memory Database Engines</a:t>
            </a:r>
          </a:p>
          <a:p>
            <a:pPr algn="just"/>
            <a:r>
              <a:rPr lang="en-US" dirty="0"/>
              <a:t>In-memory database engines are made to keep data in memory instead of on a hard drive. This makes them very useful because info can be found and changed quickly. In-memory databases are frequently used in </a:t>
            </a:r>
            <a:r>
              <a:rPr lang="en-US" dirty="0" err="1"/>
              <a:t>programmes</a:t>
            </a:r>
            <a:r>
              <a:rPr lang="en-US" dirty="0"/>
              <a:t> that need to handle data in real-time, like online trading platforms and games.</a:t>
            </a:r>
          </a:p>
          <a:p>
            <a:pPr algn="just"/>
            <a:r>
              <a:rPr lang="en-US" b="1" dirty="0"/>
              <a:t>How In-Memory Database Engines Work</a:t>
            </a:r>
          </a:p>
          <a:p>
            <a:pPr algn="just"/>
            <a:r>
              <a:rPr lang="en-US" dirty="0"/>
              <a:t>In-memory database engines keep information in memory, which makes them very fast. Standard SQL queries are used to get and change data, just like in regular relational databases. In-memory databases are often used with traditional databases, where data is first saved on a hard drive and then cached in memory so it can be accessed quickly.</a:t>
            </a:r>
          </a:p>
          <a:p>
            <a:pPr algn="just"/>
            <a:r>
              <a:rPr lang="en-US" b="1" dirty="0"/>
              <a:t>Examples of In-Memory Database Engines</a:t>
            </a:r>
          </a:p>
          <a:p>
            <a:pPr algn="just"/>
            <a:r>
              <a:rPr lang="en-US" b="1" dirty="0"/>
              <a:t>SAP HANA</a:t>
            </a:r>
            <a:r>
              <a:rPr lang="en-US" dirty="0"/>
              <a:t>:</a:t>
            </a:r>
          </a:p>
          <a:p>
            <a:pPr algn="just"/>
            <a:r>
              <a:rPr lang="en-US" dirty="0"/>
              <a:t>SAP HANA is an in-memory database engine that is widely used in enterprise applications. It is known for its high performance and scalability.</a:t>
            </a:r>
          </a:p>
          <a:p>
            <a:pPr algn="just"/>
            <a:r>
              <a:rPr lang="en-US" b="1" dirty="0" err="1"/>
              <a:t>Redis</a:t>
            </a:r>
            <a:r>
              <a:rPr lang="en-US" dirty="0"/>
              <a:t>:</a:t>
            </a:r>
          </a:p>
          <a:p>
            <a:pPr algn="just"/>
            <a:r>
              <a:rPr lang="en-US" dirty="0" err="1"/>
              <a:t>Redis</a:t>
            </a:r>
            <a:r>
              <a:rPr lang="en-US" dirty="0"/>
              <a:t> is an open-source in-memory database engine that is commonly used as a cache. It provides a range of features for storing and retrieving data in memory.</a:t>
            </a:r>
          </a:p>
          <a:p>
            <a:pPr algn="just"/>
            <a:endParaRPr lang="en-IN" dirty="0"/>
          </a:p>
        </p:txBody>
      </p:sp>
    </p:spTree>
    <p:extLst>
      <p:ext uri="{BB962C8B-B14F-4D97-AF65-F5344CB8AC3E}">
        <p14:creationId xmlns:p14="http://schemas.microsoft.com/office/powerpoint/2010/main" val="31399500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5719"/>
          </a:xfrm>
        </p:spPr>
        <p:txBody>
          <a:bodyPr>
            <a:normAutofit fontScale="90000"/>
          </a:bodyPr>
          <a:lstStyle/>
          <a:p>
            <a:endParaRPr lang="en-IN" dirty="0"/>
          </a:p>
        </p:txBody>
      </p:sp>
      <p:sp>
        <p:nvSpPr>
          <p:cNvPr id="3" name="Content Placeholder 2"/>
          <p:cNvSpPr>
            <a:spLocks noGrp="1"/>
          </p:cNvSpPr>
          <p:nvPr>
            <p:ph idx="1"/>
          </p:nvPr>
        </p:nvSpPr>
        <p:spPr>
          <a:xfrm>
            <a:off x="457200" y="320358"/>
            <a:ext cx="8686800" cy="6371388"/>
          </a:xfrm>
        </p:spPr>
        <p:txBody>
          <a:bodyPr numCol="1">
            <a:noAutofit/>
          </a:bodyPr>
          <a:lstStyle/>
          <a:p>
            <a:pPr marL="0" indent="0" algn="just" fontAlgn="auto">
              <a:buNone/>
            </a:pPr>
            <a:r>
              <a:rPr lang="en-US" sz="2000" b="1" dirty="0"/>
              <a:t>Complete Explanation:</a:t>
            </a:r>
            <a:endParaRPr lang="en-US" sz="2000" dirty="0"/>
          </a:p>
          <a:p>
            <a:pPr marL="0" indent="0" algn="just" fontAlgn="auto">
              <a:buNone/>
            </a:pPr>
            <a:r>
              <a:rPr lang="en-US" sz="2000" dirty="0"/>
              <a:t>SQL database engines are designed to manage data in a structured manner using tables, rows, and columns. The core components of a SQL database engine include the Query Parser, Query Optimizer, Query Executor, and Storage Engine.</a:t>
            </a:r>
          </a:p>
          <a:p>
            <a:pPr marL="0" indent="0" algn="just" fontAlgn="auto">
              <a:buNone/>
            </a:pPr>
            <a:r>
              <a:rPr lang="en-US" sz="2000" b="1" dirty="0" smtClean="0"/>
              <a:t>Query </a:t>
            </a:r>
            <a:r>
              <a:rPr lang="en-US" sz="2000" b="1" dirty="0"/>
              <a:t>Parser</a:t>
            </a:r>
            <a:endParaRPr lang="en-US" sz="2000" dirty="0"/>
          </a:p>
          <a:p>
            <a:pPr marL="0" indent="0" algn="just" fontAlgn="auto">
              <a:buNone/>
            </a:pPr>
            <a:r>
              <a:rPr lang="en-US" sz="2000" dirty="0"/>
              <a:t>The Query Parser is the first point of contact with the database engine. When you execute a SQL query, the parser validates the syntax, checks for grammatical errors, and creates an internal representation of the query known as a parse tree. The parse tree helps break down the question into its components for further processing.</a:t>
            </a:r>
          </a:p>
          <a:p>
            <a:pPr marL="0" indent="0" fontAlgn="auto">
              <a:buNone/>
            </a:pPr>
            <a:r>
              <a:rPr lang="en-US" sz="2000" b="1" dirty="0"/>
              <a:t>Query Optimizer</a:t>
            </a:r>
            <a:endParaRPr lang="en-US" sz="2000" dirty="0"/>
          </a:p>
          <a:p>
            <a:pPr marL="0" indent="0" algn="just" fontAlgn="auto">
              <a:buNone/>
            </a:pPr>
            <a:r>
              <a:rPr lang="en-US" sz="2000" dirty="0"/>
              <a:t>The Query Optimizer analyses the parse tree and determines the most efficient way to execute the query. It evaluates various query execution plans, estimates costs, and selects the lowest price. This step ensures that the database engine fetches and processes data optimally, improving query performance.</a:t>
            </a:r>
          </a:p>
          <a:p>
            <a:pPr marL="0" indent="0">
              <a:buNone/>
            </a:pPr>
            <a:r>
              <a:rPr lang="en-US" sz="2000" dirty="0"/>
              <a:t/>
            </a:r>
            <a:br>
              <a:rPr lang="en-US" sz="2000" dirty="0"/>
            </a:br>
            <a:endParaRPr lang="en-IN" sz="2000" dirty="0"/>
          </a:p>
        </p:txBody>
      </p:sp>
    </p:spTree>
    <p:extLst>
      <p:ext uri="{BB962C8B-B14F-4D97-AF65-F5344CB8AC3E}">
        <p14:creationId xmlns:p14="http://schemas.microsoft.com/office/powerpoint/2010/main" val="16289828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90380"/>
          </a:xfrm>
        </p:spPr>
        <p:txBody>
          <a:bodyPr>
            <a:normAutofit fontScale="90000"/>
          </a:bodyPr>
          <a:lstStyle/>
          <a:p>
            <a:endParaRPr lang="en-IN" dirty="0"/>
          </a:p>
        </p:txBody>
      </p:sp>
      <p:pic>
        <p:nvPicPr>
          <p:cNvPr id="1026" name="Picture 2" descr="No alt text provided for this imag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2509" y="789710"/>
            <a:ext cx="8354291" cy="5832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14906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transaction manager</a:t>
            </a:r>
            <a:endParaRPr lang="en-IN" dirty="0"/>
          </a:p>
        </p:txBody>
      </p:sp>
      <p:sp>
        <p:nvSpPr>
          <p:cNvPr id="3" name="Content Placeholder 2"/>
          <p:cNvSpPr>
            <a:spLocks noGrp="1"/>
          </p:cNvSpPr>
          <p:nvPr>
            <p:ph idx="1"/>
          </p:nvPr>
        </p:nvSpPr>
        <p:spPr/>
        <p:txBody>
          <a:bodyPr>
            <a:normAutofit fontScale="70000" lnSpcReduction="20000"/>
          </a:bodyPr>
          <a:lstStyle/>
          <a:p>
            <a:pPr algn="just"/>
            <a:r>
              <a:rPr lang="en-US" dirty="0" smtClean="0"/>
              <a:t>(</a:t>
            </a:r>
            <a:r>
              <a:rPr lang="en-US" dirty="0" err="1"/>
              <a:t>TxM</a:t>
            </a:r>
            <a:r>
              <a:rPr lang="en-US" dirty="0"/>
              <a:t>) is a special resource manager that implements the resource type “transaction.” It handles all the state transitions that a transaction can perform. For simple ACID transactions these are: begin, </a:t>
            </a:r>
            <a:r>
              <a:rPr lang="en-US" dirty="0" err="1"/>
              <a:t>savepoint</a:t>
            </a:r>
            <a:r>
              <a:rPr lang="en-US" dirty="0"/>
              <a:t>, rollback, abort, prepare commit; for more refined transaction models there will be additional states. The resource managers register with the </a:t>
            </a:r>
            <a:r>
              <a:rPr lang="en-US" dirty="0" err="1"/>
              <a:t>TxM</a:t>
            </a:r>
            <a:r>
              <a:rPr lang="en-US" dirty="0"/>
              <a:t> when they get employed by a transaction for the first time. Thus, the </a:t>
            </a:r>
            <a:r>
              <a:rPr lang="en-US" dirty="0" err="1"/>
              <a:t>TxM</a:t>
            </a:r>
            <a:r>
              <a:rPr lang="en-US" dirty="0"/>
              <a:t> keeps a record for each transaction of which resource managers have been involved with it. In the same vein, it stores which sessions each transaction has used in case it has performed operations on other nodes in a distributed system. The </a:t>
            </a:r>
            <a:r>
              <a:rPr lang="en-US" dirty="0" err="1"/>
              <a:t>TxM</a:t>
            </a:r>
            <a:r>
              <a:rPr lang="en-US" dirty="0"/>
              <a:t> closely interacts with the concurrency control manager who can make transaction wait for other transactions in case of access conflicts. It also interacts with the logging and recovery subsystem and the communications manager.</a:t>
            </a:r>
            <a:endParaRPr lang="en-IN" dirty="0"/>
          </a:p>
        </p:txBody>
      </p:sp>
    </p:spTree>
    <p:extLst>
      <p:ext uri="{BB962C8B-B14F-4D97-AF65-F5344CB8AC3E}">
        <p14:creationId xmlns:p14="http://schemas.microsoft.com/office/powerpoint/2010/main" val="39225474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CCM</a:t>
            </a:r>
            <a:endParaRPr lang="en-IN" dirty="0"/>
          </a:p>
        </p:txBody>
      </p:sp>
      <p:sp>
        <p:nvSpPr>
          <p:cNvPr id="3" name="Content Placeholder 2"/>
          <p:cNvSpPr>
            <a:spLocks noGrp="1"/>
          </p:cNvSpPr>
          <p:nvPr>
            <p:ph idx="1"/>
          </p:nvPr>
        </p:nvSpPr>
        <p:spPr/>
        <p:txBody>
          <a:bodyPr>
            <a:normAutofit fontScale="70000" lnSpcReduction="20000"/>
          </a:bodyPr>
          <a:lstStyle/>
          <a:p>
            <a:pPr algn="just"/>
            <a:r>
              <a:rPr lang="en-US" dirty="0"/>
              <a:t>The concurrency control manager (CCM) synchronizes the concurrent access of database transactions to shared objects in the database. It is responsible for maintaining the guarantees regarding the effects of concurrent access to the shared database, i.e., it will protect each transaction from anomalies that can result from the fact that other transactions are accessing the same data at the same time. Ideally, it will make sure that the result of transactions running in parallel is identical to the result of some serial execution of the same transactions. In real applications, however, some transactions may opt for lower levels of synchronization, thus trading protection from side effects of other transactions for performance. The CCM is responsible for orchestrating all access requests issued by the transactions such that each transaction receives the level of protection it has asked for.</a:t>
            </a:r>
            <a:endParaRPr lang="en-IN" dirty="0"/>
          </a:p>
        </p:txBody>
      </p:sp>
    </p:spTree>
    <p:extLst>
      <p:ext uri="{BB962C8B-B14F-4D97-AF65-F5344CB8AC3E}">
        <p14:creationId xmlns:p14="http://schemas.microsoft.com/office/powerpoint/2010/main" val="3823677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62671"/>
          </a:xfrm>
        </p:spPr>
        <p:txBody>
          <a:bodyPr>
            <a:normAutofit fontScale="90000"/>
          </a:bodyPr>
          <a:lstStyle/>
          <a:p>
            <a:endParaRPr lang="en-IN" dirty="0"/>
          </a:p>
        </p:txBody>
      </p:sp>
      <p:sp>
        <p:nvSpPr>
          <p:cNvPr id="3" name="Content Placeholder 2"/>
          <p:cNvSpPr>
            <a:spLocks noGrp="1"/>
          </p:cNvSpPr>
          <p:nvPr>
            <p:ph idx="1"/>
          </p:nvPr>
        </p:nvSpPr>
        <p:spPr>
          <a:xfrm>
            <a:off x="457200" y="637310"/>
            <a:ext cx="8229600" cy="5985163"/>
          </a:xfrm>
        </p:spPr>
        <p:txBody>
          <a:bodyPr>
            <a:normAutofit fontScale="77500" lnSpcReduction="20000"/>
          </a:bodyPr>
          <a:lstStyle/>
          <a:p>
            <a:pPr marL="0" indent="0" algn="just">
              <a:buNone/>
            </a:pPr>
            <a:r>
              <a:rPr lang="en-US" dirty="0">
                <a:solidFill>
                  <a:srgbClr val="FF0000"/>
                </a:solidFill>
              </a:rPr>
              <a:t>How does a CCM work?</a:t>
            </a:r>
          </a:p>
          <a:p>
            <a:pPr algn="just" fontAlgn="ctr"/>
            <a:r>
              <a:rPr lang="en-US" dirty="0"/>
              <a:t>The CCM synchronizes access requests from transactions </a:t>
            </a:r>
          </a:p>
          <a:p>
            <a:pPr algn="just" fontAlgn="ctr"/>
            <a:r>
              <a:rPr lang="en-US" dirty="0"/>
              <a:t>It implements synchronization protocols to ensure that transactions execute correctly </a:t>
            </a:r>
          </a:p>
          <a:p>
            <a:pPr algn="just" fontAlgn="ctr"/>
            <a:r>
              <a:rPr lang="en-US" dirty="0"/>
              <a:t>It protects transactions from anomalies that can occur when multiple transactions access the same data </a:t>
            </a:r>
          </a:p>
          <a:p>
            <a:pPr algn="just" fontAlgn="ctr"/>
            <a:r>
              <a:rPr lang="en-US" dirty="0"/>
              <a:t>It ensures that the result of parallel transactions is the same as if they were executed in a serial fashion </a:t>
            </a:r>
          </a:p>
          <a:p>
            <a:pPr marL="0" indent="0" algn="just" fontAlgn="ctr">
              <a:buNone/>
            </a:pPr>
            <a:r>
              <a:rPr lang="en-US" dirty="0">
                <a:solidFill>
                  <a:srgbClr val="FF0000"/>
                </a:solidFill>
              </a:rPr>
              <a:t>Why is concurrency control important? </a:t>
            </a:r>
          </a:p>
          <a:p>
            <a:pPr algn="just"/>
            <a:r>
              <a:rPr lang="en-US" dirty="0"/>
              <a:t>It helps maintain data consistency and integrity</a:t>
            </a:r>
          </a:p>
          <a:p>
            <a:pPr algn="just"/>
            <a:r>
              <a:rPr lang="en-US" dirty="0"/>
              <a:t>It improves system efficiency and throughput</a:t>
            </a:r>
          </a:p>
          <a:p>
            <a:pPr algn="just"/>
            <a:r>
              <a:rPr lang="en-US" dirty="0"/>
              <a:t>It protects transaction atomicity</a:t>
            </a:r>
          </a:p>
          <a:p>
            <a:pPr algn="just"/>
            <a:r>
              <a:rPr lang="en-US" dirty="0"/>
              <a:t>It prevents dirty reads, where one transaction reads data that another transaction is updating</a:t>
            </a:r>
          </a:p>
          <a:p>
            <a:pPr algn="just"/>
            <a:r>
              <a:rPr lang="en-US" dirty="0"/>
              <a:t>It avoids cascading rollbacks, which occur when one transaction fails and causes others to fail</a:t>
            </a:r>
          </a:p>
          <a:p>
            <a:endParaRPr lang="en-IN" dirty="0"/>
          </a:p>
        </p:txBody>
      </p:sp>
    </p:spTree>
    <p:extLst>
      <p:ext uri="{BB962C8B-B14F-4D97-AF65-F5344CB8AC3E}">
        <p14:creationId xmlns:p14="http://schemas.microsoft.com/office/powerpoint/2010/main" val="2877691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pPr marL="0" indent="0" fontAlgn="auto">
              <a:buNone/>
            </a:pPr>
            <a:r>
              <a:rPr lang="en-US" b="1" dirty="0"/>
              <a:t>Storage Engine</a:t>
            </a:r>
            <a:endParaRPr lang="en-US" dirty="0"/>
          </a:p>
          <a:p>
            <a:pPr marL="0" indent="0" algn="just" fontAlgn="auto">
              <a:buNone/>
            </a:pPr>
            <a:r>
              <a:rPr lang="en-US" dirty="0"/>
              <a:t>The Storage Engine manages how data is stored on disk and accessed. It handles tasks such as data retrieval, insertion, and deletion efficiently. Various data structures, such as B-trees, </a:t>
            </a:r>
            <a:r>
              <a:rPr lang="en-US" dirty="0" err="1"/>
              <a:t>organise</a:t>
            </a:r>
            <a:r>
              <a:rPr lang="en-US" dirty="0"/>
              <a:t> the data, allowing fast access and modification</a:t>
            </a:r>
            <a:r>
              <a:rPr lang="en-US" dirty="0" smtClean="0"/>
              <a:t>.</a:t>
            </a:r>
          </a:p>
          <a:p>
            <a:pPr marL="0" indent="0" fontAlgn="auto">
              <a:buNone/>
            </a:pPr>
            <a:r>
              <a:rPr lang="en-US" b="1" dirty="0"/>
              <a:t>Query Executor</a:t>
            </a:r>
            <a:endParaRPr lang="en-US" dirty="0"/>
          </a:p>
          <a:p>
            <a:pPr marL="0" indent="0" fontAlgn="auto">
              <a:buNone/>
            </a:pPr>
            <a:r>
              <a:rPr lang="en-US" dirty="0"/>
              <a:t>Once the optimal query execution plan is chosen, the Query Executor executes the program and retrieves the requested data. It interacts with the Storage Engine to fetch the data from the physical storage and returns the result to the user.</a:t>
            </a:r>
          </a:p>
          <a:p>
            <a:pPr marL="0" indent="0" algn="just" fontAlgn="auto">
              <a:buNone/>
            </a:pPr>
            <a:endParaRPr lang="en-US" dirty="0"/>
          </a:p>
          <a:p>
            <a:endParaRPr lang="en-IN" dirty="0"/>
          </a:p>
        </p:txBody>
      </p:sp>
    </p:spTree>
    <p:extLst>
      <p:ext uri="{BB962C8B-B14F-4D97-AF65-F5344CB8AC3E}">
        <p14:creationId xmlns:p14="http://schemas.microsoft.com/office/powerpoint/2010/main" val="26926846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48817"/>
          </a:xfrm>
        </p:spPr>
        <p:txBody>
          <a:bodyPr>
            <a:normAutofit fontScale="90000"/>
          </a:bodyPr>
          <a:lstStyle/>
          <a:p>
            <a:r>
              <a:rPr lang="en-US" dirty="0" smtClean="0"/>
              <a:t/>
            </a:r>
            <a:br>
              <a:rPr lang="en-US" dirty="0" smtClean="0"/>
            </a:br>
            <a:r>
              <a:rPr lang="en-US" sz="3600" dirty="0" smtClean="0"/>
              <a:t>Using </a:t>
            </a:r>
            <a:r>
              <a:rPr lang="en-US" sz="3600" dirty="0"/>
              <a:t>the Metadata APIs</a:t>
            </a:r>
            <a:r>
              <a:rPr lang="en-US" dirty="0"/>
              <a:t/>
            </a:r>
            <a:br>
              <a:rPr lang="en-US" dirty="0"/>
            </a:br>
            <a:endParaRPr lang="en-IN" dirty="0"/>
          </a:p>
        </p:txBody>
      </p:sp>
      <p:sp>
        <p:nvSpPr>
          <p:cNvPr id="3" name="Content Placeholder 2"/>
          <p:cNvSpPr>
            <a:spLocks noGrp="1"/>
          </p:cNvSpPr>
          <p:nvPr>
            <p:ph idx="1"/>
          </p:nvPr>
        </p:nvSpPr>
        <p:spPr>
          <a:xfrm>
            <a:off x="595744" y="623455"/>
            <a:ext cx="8091055" cy="6068290"/>
          </a:xfrm>
        </p:spPr>
        <p:txBody>
          <a:bodyPr numCol="2">
            <a:normAutofit fontScale="55000" lnSpcReduction="20000"/>
          </a:bodyPr>
          <a:lstStyle/>
          <a:p>
            <a:pPr marL="0" indent="0" algn="just">
              <a:buNone/>
            </a:pPr>
            <a:r>
              <a:rPr lang="en-US" dirty="0" smtClean="0"/>
              <a:t>The </a:t>
            </a:r>
            <a:r>
              <a:rPr lang="en-US" dirty="0"/>
              <a:t>DBMS_METADATA APIs enable you to check and update object metadata.</a:t>
            </a:r>
          </a:p>
          <a:p>
            <a:pPr marL="0" indent="0" algn="just">
              <a:buNone/>
            </a:pPr>
            <a:endParaRPr lang="en-US" dirty="0"/>
          </a:p>
          <a:p>
            <a:pPr marL="0" indent="0" algn="just">
              <a:buNone/>
            </a:pPr>
            <a:r>
              <a:rPr lang="en-US" dirty="0"/>
              <a:t>The DBMS_METADATA API enables you to do the following:</a:t>
            </a:r>
          </a:p>
          <a:p>
            <a:pPr marL="0" indent="0" algn="just">
              <a:buNone/>
            </a:pPr>
            <a:r>
              <a:rPr lang="en-US" dirty="0" smtClean="0"/>
              <a:t>Retrieve </a:t>
            </a:r>
            <a:r>
              <a:rPr lang="en-US" dirty="0"/>
              <a:t>an object's metadata as XML</a:t>
            </a:r>
          </a:p>
          <a:p>
            <a:pPr marL="0" indent="0" algn="just">
              <a:buNone/>
            </a:pPr>
            <a:r>
              <a:rPr lang="en-US" dirty="0" smtClean="0"/>
              <a:t>Transform </a:t>
            </a:r>
            <a:r>
              <a:rPr lang="en-US" dirty="0"/>
              <a:t>the XML in a variety of ways, including transforming it into SQL DDL</a:t>
            </a:r>
          </a:p>
          <a:p>
            <a:pPr marL="0" indent="0" algn="just">
              <a:buNone/>
            </a:pPr>
            <a:r>
              <a:rPr lang="en-US" dirty="0" smtClean="0"/>
              <a:t>Submit </a:t>
            </a:r>
            <a:r>
              <a:rPr lang="en-US" dirty="0"/>
              <a:t>the XML to re-create the object extracted by the retrieval</a:t>
            </a:r>
          </a:p>
          <a:p>
            <a:pPr marL="0" indent="0" algn="just">
              <a:buNone/>
            </a:pPr>
            <a:endParaRPr lang="en-US" dirty="0"/>
          </a:p>
          <a:p>
            <a:pPr marL="0" indent="0" algn="just">
              <a:buNone/>
            </a:pPr>
            <a:r>
              <a:rPr lang="en-US" dirty="0"/>
              <a:t>The DBMS_METADATA_DIFF API lets you compare objects between databases to identify metadata changes over time in objects of the same type.</a:t>
            </a:r>
          </a:p>
          <a:p>
            <a:pPr marL="0" indent="0" algn="just">
              <a:buNone/>
            </a:pPr>
            <a:r>
              <a:rPr lang="en-US" b="1" dirty="0" smtClean="0">
                <a:solidFill>
                  <a:srgbClr val="FF0000"/>
                </a:solidFill>
              </a:rPr>
              <a:t>Why </a:t>
            </a:r>
            <a:r>
              <a:rPr lang="en-US" b="1" dirty="0">
                <a:solidFill>
                  <a:srgbClr val="FF0000"/>
                </a:solidFill>
              </a:rPr>
              <a:t>Use the DBMS_METADATA API?</a:t>
            </a:r>
          </a:p>
          <a:p>
            <a:pPr algn="just"/>
            <a:r>
              <a:rPr lang="en-US" dirty="0"/>
              <a:t>The DBMS_METADATA API eliminates the need for you to write and maintain your own code for metadata extraction.</a:t>
            </a:r>
          </a:p>
          <a:p>
            <a:pPr algn="just"/>
            <a:r>
              <a:rPr lang="en-US" dirty="0"/>
              <a:t>Overview of the DBMS_METADATA API</a:t>
            </a:r>
          </a:p>
          <a:p>
            <a:pPr algn="just"/>
            <a:r>
              <a:rPr lang="en-US" dirty="0"/>
              <a:t>Learn how to take advantage of the DBMS_METADATA API features.</a:t>
            </a:r>
          </a:p>
          <a:p>
            <a:pPr algn="just"/>
            <a:r>
              <a:rPr lang="en-US" dirty="0"/>
              <a:t>Using the DBMS_METADATA API to Retrieve an Object's Metadata</a:t>
            </a:r>
          </a:p>
          <a:p>
            <a:pPr algn="just"/>
            <a:r>
              <a:rPr lang="en-US" dirty="0"/>
              <a:t>The retrieval interface of the DBMS_METADATA API lets you specify the kind of object to be retrieved.</a:t>
            </a:r>
          </a:p>
          <a:p>
            <a:pPr algn="just"/>
            <a:r>
              <a:rPr lang="en-US" dirty="0"/>
              <a:t>Using the DBMS_METADATA API to Recreate a Retrieved Object</a:t>
            </a:r>
          </a:p>
          <a:p>
            <a:pPr algn="just"/>
            <a:r>
              <a:rPr lang="en-US" dirty="0"/>
              <a:t>When you fetch metadata for an object, you can choose to use it to recreate the object in a different database or schema.</a:t>
            </a:r>
          </a:p>
          <a:p>
            <a:pPr algn="just"/>
            <a:r>
              <a:rPr lang="en-US" dirty="0"/>
              <a:t>Using the DBMS_METADATA API to Retrieve Collections of Different Object Types</a:t>
            </a:r>
          </a:p>
          <a:p>
            <a:pPr algn="just"/>
            <a:r>
              <a:rPr lang="en-US" dirty="0"/>
              <a:t>To retrieve collections of objects in which the objects are of different types, but comprise a logical unit, you can use the heterogeneous object types in the DBMS_METADATA API.</a:t>
            </a:r>
            <a:endParaRPr lang="en-IN" dirty="0"/>
          </a:p>
        </p:txBody>
      </p:sp>
    </p:spTree>
    <p:extLst>
      <p:ext uri="{BB962C8B-B14F-4D97-AF65-F5344CB8AC3E}">
        <p14:creationId xmlns:p14="http://schemas.microsoft.com/office/powerpoint/2010/main" val="12412172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98198"/>
          </a:xfrm>
        </p:spPr>
        <p:txBody>
          <a:bodyPr>
            <a:normAutofit fontScale="90000"/>
          </a:bodyPr>
          <a:lstStyle/>
          <a:p>
            <a:endParaRPr lang="en-IN" dirty="0"/>
          </a:p>
        </p:txBody>
      </p:sp>
      <p:sp>
        <p:nvSpPr>
          <p:cNvPr id="3" name="Content Placeholder 2"/>
          <p:cNvSpPr>
            <a:spLocks noGrp="1"/>
          </p:cNvSpPr>
          <p:nvPr>
            <p:ph idx="1"/>
          </p:nvPr>
        </p:nvSpPr>
        <p:spPr>
          <a:xfrm>
            <a:off x="457200" y="983674"/>
            <a:ext cx="8229600" cy="5514108"/>
          </a:xfrm>
        </p:spPr>
        <p:txBody>
          <a:bodyPr>
            <a:normAutofit fontScale="77500" lnSpcReduction="20000"/>
          </a:bodyPr>
          <a:lstStyle/>
          <a:p>
            <a:pPr algn="just"/>
            <a:r>
              <a:rPr lang="en-US" dirty="0"/>
              <a:t>The DBMS_METADATA API eliminates the need for you to write and maintain your own code for metadata extraction.</a:t>
            </a:r>
          </a:p>
          <a:p>
            <a:pPr algn="just"/>
            <a:r>
              <a:rPr lang="en-US" dirty="0" smtClean="0"/>
              <a:t>If </a:t>
            </a:r>
            <a:r>
              <a:rPr lang="en-US" dirty="0"/>
              <a:t>you have developed your own code for Oracle Database for extracting metadata from the dictionary, or for manipulating the metadata (adding columns, changing column data types, and so on), and converting the metadata to DDL so that you could recreate the object on the same or another database, then maintenance is an issue. Keeping that code updated to support new dictionary features has probably proven to be challenging.</a:t>
            </a:r>
          </a:p>
          <a:p>
            <a:pPr algn="just"/>
            <a:r>
              <a:rPr lang="en-US" dirty="0" smtClean="0"/>
              <a:t>Oracle </a:t>
            </a:r>
            <a:r>
              <a:rPr lang="en-US" dirty="0"/>
              <a:t>Database provides a centralized facility for the extraction, manipulation, and recreation of dictionary metadata. Oracle Database also supports all dictionary objects at their most current level.</a:t>
            </a:r>
            <a:endParaRPr lang="en-IN" dirty="0"/>
          </a:p>
        </p:txBody>
      </p:sp>
    </p:spTree>
    <p:extLst>
      <p:ext uri="{BB962C8B-B14F-4D97-AF65-F5344CB8AC3E}">
        <p14:creationId xmlns:p14="http://schemas.microsoft.com/office/powerpoint/2010/main" val="33441057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Storage Manager</a:t>
            </a:r>
          </a:p>
        </p:txBody>
      </p:sp>
      <p:sp>
        <p:nvSpPr>
          <p:cNvPr id="3" name="Content Placeholder 2"/>
          <p:cNvSpPr>
            <a:spLocks noGrp="1"/>
          </p:cNvSpPr>
          <p:nvPr>
            <p:ph idx="1"/>
          </p:nvPr>
        </p:nvSpPr>
        <p:spPr/>
        <p:txBody>
          <a:bodyPr/>
          <a:lstStyle/>
          <a:p>
            <a:r>
              <a:t>• Manages data storage on disks and memory.</a:t>
            </a:r>
          </a:p>
          <a:p>
            <a:r>
              <a:t>• Uses indexing, partitioning, and file organization techniques.</a:t>
            </a:r>
          </a:p>
          <a:p>
            <a:r>
              <a:t>Example: A B-tree index helps speed up search operations.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descr="Components of DBMS include the storage engine, database language and mor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72836" y="1417638"/>
            <a:ext cx="7606145" cy="51632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41212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10000"/>
          </a:bodyPr>
          <a:lstStyle/>
          <a:p>
            <a:pPr algn="just" fontAlgn="base"/>
            <a:r>
              <a:rPr lang="en-US" dirty="0"/>
              <a:t>Storage engine in a database</a:t>
            </a:r>
          </a:p>
          <a:p>
            <a:pPr algn="just" fontAlgn="base"/>
            <a:r>
              <a:rPr lang="en-US" dirty="0"/>
              <a:t>The database storage engine is the core component of the DBMS that interacts with the file system at an OS level to store data. All SQL queries which interact with the underlying data go through the storage engine.</a:t>
            </a:r>
          </a:p>
          <a:p>
            <a:pPr algn="just" fontAlgn="base"/>
            <a:r>
              <a:rPr lang="en-US" b="1" dirty="0"/>
              <a:t>Which storage engine is the best for a database?</a:t>
            </a:r>
          </a:p>
          <a:p>
            <a:pPr algn="just" fontAlgn="base"/>
            <a:r>
              <a:rPr lang="en-US" dirty="0"/>
              <a:t>The right storage engine depends on your data model. SQL engines supporting transactions work well with relational databases. Non-relational models, especially those that require scalability, work best with MongoDB or Cassandra.</a:t>
            </a:r>
          </a:p>
          <a:p>
            <a:endParaRPr lang="en-IN" dirty="0"/>
          </a:p>
        </p:txBody>
      </p:sp>
    </p:spTree>
    <p:extLst>
      <p:ext uri="{BB962C8B-B14F-4D97-AF65-F5344CB8AC3E}">
        <p14:creationId xmlns:p14="http://schemas.microsoft.com/office/powerpoint/2010/main" val="9086561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04235"/>
          </a:xfrm>
        </p:spPr>
        <p:txBody>
          <a:bodyPr>
            <a:normAutofit fontScale="90000"/>
          </a:bodyPr>
          <a:lstStyle/>
          <a:p>
            <a:endParaRPr lang="en-IN" dirty="0"/>
          </a:p>
        </p:txBody>
      </p:sp>
      <p:sp>
        <p:nvSpPr>
          <p:cNvPr id="3" name="Content Placeholder 2"/>
          <p:cNvSpPr>
            <a:spLocks noGrp="1"/>
          </p:cNvSpPr>
          <p:nvPr>
            <p:ph idx="1"/>
          </p:nvPr>
        </p:nvSpPr>
        <p:spPr>
          <a:xfrm>
            <a:off x="0" y="678874"/>
            <a:ext cx="8686800" cy="5943600"/>
          </a:xfrm>
        </p:spPr>
        <p:txBody>
          <a:bodyPr numCol="2">
            <a:noAutofit/>
          </a:bodyPr>
          <a:lstStyle/>
          <a:p>
            <a:pPr marL="0" indent="0" algn="just" fontAlgn="base">
              <a:buNone/>
            </a:pPr>
            <a:r>
              <a:rPr lang="en-US" sz="2400" b="1" dirty="0"/>
              <a:t>Query processor</a:t>
            </a:r>
          </a:p>
          <a:p>
            <a:pPr algn="just" fontAlgn="base"/>
            <a:r>
              <a:rPr lang="en-US" sz="2400" dirty="0"/>
              <a:t>The query processor is the intermediary between user queries and the database. In DBMS, query processing is the process of interpreting user queries, such as SQL, and making them actionable commands that the database can understand to perform the appropriate functionality.</a:t>
            </a:r>
          </a:p>
          <a:p>
            <a:pPr marL="0" indent="0" algn="just" fontAlgn="base">
              <a:buNone/>
            </a:pPr>
            <a:r>
              <a:rPr lang="en-US" sz="2400" b="1" dirty="0"/>
              <a:t>What are the components of the query processor?</a:t>
            </a:r>
          </a:p>
          <a:p>
            <a:pPr algn="just" fontAlgn="base"/>
            <a:r>
              <a:rPr lang="en-US" sz="2400" dirty="0"/>
              <a:t>The query processor components each work together to extract data.</a:t>
            </a:r>
          </a:p>
          <a:p>
            <a:pPr algn="just" fontAlgn="base"/>
            <a:r>
              <a:rPr lang="en-US" sz="2400" b="1" dirty="0"/>
              <a:t>Parser</a:t>
            </a:r>
            <a:r>
              <a:rPr lang="en-US" sz="2400" dirty="0"/>
              <a:t>. This component translates a user query into a database language such as SQL, parses it for correct syntax, and verifies its logical meaning.</a:t>
            </a:r>
          </a:p>
          <a:p>
            <a:pPr algn="just" fontAlgn="base"/>
            <a:r>
              <a:rPr lang="en-US" sz="2400" b="1" dirty="0"/>
              <a:t>Optimizer</a:t>
            </a:r>
            <a:r>
              <a:rPr lang="en-US" sz="2400" dirty="0"/>
              <a:t>. This component converts the query into logical relational operations, identifies how much time and energy it will take to execute the query, and then specifies the exact operations and sequence for the most efficient execution.</a:t>
            </a:r>
          </a:p>
          <a:p>
            <a:pPr algn="just"/>
            <a:endParaRPr lang="en-IN" sz="2400" dirty="0"/>
          </a:p>
        </p:txBody>
      </p:sp>
    </p:spTree>
    <p:extLst>
      <p:ext uri="{BB962C8B-B14F-4D97-AF65-F5344CB8AC3E}">
        <p14:creationId xmlns:p14="http://schemas.microsoft.com/office/powerpoint/2010/main" val="24838851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algn="just" fontAlgn="base"/>
            <a:r>
              <a:rPr lang="en-US" b="1" dirty="0"/>
              <a:t>Execution engine.</a:t>
            </a:r>
            <a:r>
              <a:rPr lang="en-US" dirty="0"/>
              <a:t> This is the component that carries out the query, implements algorithms and operators according to the optimized plan, and finally retrieves and formats the results.</a:t>
            </a:r>
          </a:p>
          <a:p>
            <a:pPr algn="just" fontAlgn="base"/>
            <a:r>
              <a:rPr lang="en-US" b="1" dirty="0"/>
              <a:t>Query cache.</a:t>
            </a:r>
            <a:r>
              <a:rPr lang="en-US" dirty="0"/>
              <a:t> Some systems include a component that stores frequently executed queries and results to save time and improve performance.</a:t>
            </a:r>
          </a:p>
          <a:p>
            <a:endParaRPr lang="en-IN" dirty="0"/>
          </a:p>
        </p:txBody>
      </p:sp>
    </p:spTree>
    <p:extLst>
      <p:ext uri="{BB962C8B-B14F-4D97-AF65-F5344CB8AC3E}">
        <p14:creationId xmlns:p14="http://schemas.microsoft.com/office/powerpoint/2010/main" val="10490338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Query Processor</a:t>
            </a:r>
          </a:p>
        </p:txBody>
      </p:sp>
      <p:sp>
        <p:nvSpPr>
          <p:cNvPr id="3" name="Content Placeholder 2"/>
          <p:cNvSpPr>
            <a:spLocks noGrp="1"/>
          </p:cNvSpPr>
          <p:nvPr>
            <p:ph idx="1"/>
          </p:nvPr>
        </p:nvSpPr>
        <p:spPr/>
        <p:txBody>
          <a:bodyPr/>
          <a:lstStyle/>
          <a:p>
            <a:r>
              <a:t>• Interprets and optimizes SQL queries.</a:t>
            </a:r>
          </a:p>
          <a:p>
            <a:r>
              <a:t>• Generates an execution plan for efficient data retrieval.</a:t>
            </a:r>
          </a:p>
          <a:p>
            <a:r>
              <a:t>Example: SELECT * FROM Students WHERE Age &gt; 20;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Transaction Manager</a:t>
            </a:r>
          </a:p>
        </p:txBody>
      </p:sp>
      <p:sp>
        <p:nvSpPr>
          <p:cNvPr id="3" name="Content Placeholder 2"/>
          <p:cNvSpPr>
            <a:spLocks noGrp="1"/>
          </p:cNvSpPr>
          <p:nvPr>
            <p:ph idx="1"/>
          </p:nvPr>
        </p:nvSpPr>
        <p:spPr/>
        <p:txBody>
          <a:bodyPr/>
          <a:lstStyle/>
          <a:p>
            <a:r>
              <a:t>• Ensures ACID compliance.</a:t>
            </a:r>
          </a:p>
          <a:p>
            <a:r>
              <a:t>• Manages concurrency and rollback mechanisms.</a:t>
            </a:r>
          </a:p>
          <a:p>
            <a:r>
              <a:t>Example: Handling simultaneous bookings in a train reservation system.</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Metadata Catalog</a:t>
            </a:r>
          </a:p>
        </p:txBody>
      </p:sp>
      <p:sp>
        <p:nvSpPr>
          <p:cNvPr id="3" name="Content Placeholder 2"/>
          <p:cNvSpPr>
            <a:spLocks noGrp="1"/>
          </p:cNvSpPr>
          <p:nvPr>
            <p:ph idx="1"/>
          </p:nvPr>
        </p:nvSpPr>
        <p:spPr/>
        <p:txBody>
          <a:bodyPr/>
          <a:lstStyle/>
          <a:p>
            <a:r>
              <a:t>• Stores schema definitions, constraints, and indexing information.</a:t>
            </a:r>
          </a:p>
          <a:p>
            <a:r>
              <a:t>Example:</a:t>
            </a:r>
          </a:p>
          <a:p>
            <a:r>
              <a:t>SELECT * FROM INFORMATION_SCHEMA.TABLES;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Concurrency Control Manager</a:t>
            </a:r>
          </a:p>
        </p:txBody>
      </p:sp>
      <p:sp>
        <p:nvSpPr>
          <p:cNvPr id="3" name="Content Placeholder 2"/>
          <p:cNvSpPr>
            <a:spLocks noGrp="1"/>
          </p:cNvSpPr>
          <p:nvPr>
            <p:ph idx="1"/>
          </p:nvPr>
        </p:nvSpPr>
        <p:spPr/>
        <p:txBody>
          <a:bodyPr/>
          <a:lstStyle/>
          <a:p>
            <a:r>
              <a:t>• Ensures multiple users can access the database without conflicts.</a:t>
            </a:r>
          </a:p>
          <a:p>
            <a:r>
              <a:t>• Uses Locking and Multiversion Concurrency Control (MVCC).</a:t>
            </a:r>
          </a:p>
          <a:p>
            <a:r>
              <a:t>Example: Handling multiple bank transactions without data loss.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DBMS provides structured data storage, efficient retrieval, and robust security using a well-defined mapping structure and core components.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43</TotalTime>
  <Words>2235</Words>
  <Application>Microsoft Office PowerPoint</Application>
  <PresentationFormat>On-screen Show (4:3)</PresentationFormat>
  <Paragraphs>163</Paragraphs>
  <Slides>34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Mapping Structure, Functions, and Components of DBMS</vt:lpstr>
      <vt:lpstr>Introduction to DBMS</vt:lpstr>
      <vt:lpstr>DBMS Mapping Structure</vt:lpstr>
      <vt:lpstr>Internal Level (Physical Storage)</vt:lpstr>
      <vt:lpstr>Conceptual Level (Logical Schema)</vt:lpstr>
      <vt:lpstr>External Level (User Views)</vt:lpstr>
      <vt:lpstr>Functions of DBMS</vt:lpstr>
      <vt:lpstr>Data Definition (DDL)</vt:lpstr>
      <vt:lpstr>Data Manipulation (DML)</vt:lpstr>
      <vt:lpstr>Transaction Management (ACID)</vt:lpstr>
      <vt:lpstr>Security &amp; Authorization</vt:lpstr>
      <vt:lpstr>Components of DBMS</vt:lpstr>
      <vt:lpstr>Database Engine</vt:lpstr>
      <vt:lpstr> How Relational Database Engines Work </vt:lpstr>
      <vt:lpstr>How NoSQL Database Engines Work</vt:lpstr>
      <vt:lpstr>PowerPoint Presentation</vt:lpstr>
      <vt:lpstr>PowerPoint Presentation</vt:lpstr>
      <vt:lpstr>PowerPoint Presentation</vt:lpstr>
      <vt:lpstr>The transaction manager</vt:lpstr>
      <vt:lpstr>CCM</vt:lpstr>
      <vt:lpstr>PowerPoint Presentation</vt:lpstr>
      <vt:lpstr>PowerPoint Presentation</vt:lpstr>
      <vt:lpstr> Using the Metadata APIs </vt:lpstr>
      <vt:lpstr>PowerPoint Presentation</vt:lpstr>
      <vt:lpstr>Storage Manager</vt:lpstr>
      <vt:lpstr>PowerPoint Presentation</vt:lpstr>
      <vt:lpstr>PowerPoint Presentation</vt:lpstr>
      <vt:lpstr>PowerPoint Presentation</vt:lpstr>
      <vt:lpstr>PowerPoint Presentation</vt:lpstr>
      <vt:lpstr>Query Processor</vt:lpstr>
      <vt:lpstr>Transaction Manager</vt:lpstr>
      <vt:lpstr>Metadata Catalog</vt:lpstr>
      <vt:lpstr>Concurrency Control Manager</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Mapping Structure, Functions, and Components of DBMS</dc:title>
  <dc:subject/>
  <dc:creator/>
  <cp:keywords/>
  <dc:description>generated using python-pptx</dc:description>
  <cp:lastModifiedBy>Subhasish_Mohapatra</cp:lastModifiedBy>
  <cp:revision>10</cp:revision>
  <dcterms:created xsi:type="dcterms:W3CDTF">2013-01-27T09:14:16Z</dcterms:created>
  <dcterms:modified xsi:type="dcterms:W3CDTF">2025-02-12T08:48:01Z</dcterms:modified>
  <cp:category/>
</cp:coreProperties>
</file>