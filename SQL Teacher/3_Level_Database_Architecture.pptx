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7" r:id="rId4"/>
    <p:sldId id="258" r:id="rId5"/>
    <p:sldId id="259" r:id="rId6"/>
    <p:sldId id="260" r:id="rId7"/>
    <p:sldId id="268" r:id="rId8"/>
    <p:sldId id="269" r:id="rId9"/>
    <p:sldId id="270" r:id="rId10"/>
    <p:sldId id="271" r:id="rId11"/>
    <p:sldId id="261" r:id="rId12"/>
    <p:sldId id="262" r:id="rId13"/>
    <p:sldId id="272" r:id="rId14"/>
    <p:sldId id="263" r:id="rId15"/>
    <p:sldId id="264" r:id="rId16"/>
    <p:sldId id="265" r:id="rId17"/>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3-Level Database Architecture</a:t>
            </a:r>
          </a:p>
        </p:txBody>
      </p:sp>
      <p:sp>
        <p:nvSpPr>
          <p:cNvPr id="3" name="Subtitle 2"/>
          <p:cNvSpPr>
            <a:spLocks noGrp="1"/>
          </p:cNvSpPr>
          <p:nvPr>
            <p:ph type="subTitle" idx="1"/>
          </p:nvPr>
        </p:nvSpPr>
        <p:spPr/>
        <p:txBody>
          <a:bodyPr>
            <a:normAutofit/>
          </a:bodyPr>
          <a:lstStyle/>
          <a:p>
            <a:r>
              <a:rPr b="1" i="1" dirty="0">
                <a:solidFill>
                  <a:srgbClr val="0070C0"/>
                </a:solidFill>
              </a:rPr>
              <a:t>Understanding the ANSI/SPARC Model</a:t>
            </a:r>
          </a:p>
          <a:p>
            <a:r>
              <a:rPr lang="en-US" b="1" i="1" dirty="0" err="1" smtClean="0">
                <a:solidFill>
                  <a:srgbClr val="0070C0"/>
                </a:solidFill>
              </a:rPr>
              <a:t>Dr</a:t>
            </a:r>
            <a:r>
              <a:rPr lang="en-US" b="1" i="1" dirty="0" err="1">
                <a:solidFill>
                  <a:srgbClr val="0070C0"/>
                </a:solidFill>
              </a:rPr>
              <a:t>.</a:t>
            </a:r>
            <a:r>
              <a:rPr lang="en-US" b="1" i="1" dirty="0" err="1" smtClean="0">
                <a:solidFill>
                  <a:srgbClr val="0070C0"/>
                </a:solidFill>
              </a:rPr>
              <a:t>Subhasish</a:t>
            </a:r>
            <a:r>
              <a:rPr lang="en-US" b="1" i="1" dirty="0" smtClean="0">
                <a:solidFill>
                  <a:srgbClr val="0070C0"/>
                </a:solidFill>
              </a:rPr>
              <a:t> Mohapatra</a:t>
            </a:r>
            <a:endParaRPr b="1" i="1" dirty="0">
              <a:solidFill>
                <a:srgbClr val="0070C0"/>
              </a:solidFill>
            </a:endParaRPr>
          </a:p>
          <a:p>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Overview of 3-Level Database Architecture</a:t>
            </a:r>
          </a:p>
        </p:txBody>
      </p:sp>
      <p:sp>
        <p:nvSpPr>
          <p:cNvPr id="3" name="Content Placeholder 2"/>
          <p:cNvSpPr>
            <a:spLocks noGrp="1"/>
          </p:cNvSpPr>
          <p:nvPr>
            <p:ph idx="1"/>
          </p:nvPr>
        </p:nvSpPr>
        <p:spPr/>
        <p:txBody>
          <a:bodyPr>
            <a:normAutofit lnSpcReduction="10000"/>
          </a:bodyPr>
          <a:lstStyle/>
          <a:p>
            <a:r>
              <a:t>- Introduced by ANSI/SPARC in 1975.</a:t>
            </a:r>
          </a:p>
          <a:p>
            <a:r>
              <a:t>- A framework to manage and organize databases.</a:t>
            </a:r>
          </a:p>
          <a:p>
            <a:r>
              <a:t>- Ensures data abstraction and independence.</a:t>
            </a:r>
          </a:p>
          <a:p>
            <a:r>
              <a:t>- Consists of:</a:t>
            </a:r>
          </a:p>
          <a:p>
            <a:r>
              <a:t>  1. External Level</a:t>
            </a:r>
          </a:p>
          <a:p>
            <a:r>
              <a:t>  2. Conceptual Level</a:t>
            </a:r>
          </a:p>
          <a:p>
            <a:r>
              <a:t>  3. Internal Level</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2780"/>
          </a:xfrm>
        </p:spPr>
        <p:txBody>
          <a:bodyPr>
            <a:normAutofit fontScale="90000"/>
          </a:bodyPr>
          <a:lstStyle/>
          <a:p>
            <a:endParaRPr lang="en-IN" dirty="0"/>
          </a:p>
        </p:txBody>
      </p:sp>
      <p:pic>
        <p:nvPicPr>
          <p:cNvPr id="1026" name="Picture 2" descr="DBMS Three schema Architec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2727" y="1025236"/>
            <a:ext cx="7994073" cy="5555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57547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External Level</a:t>
            </a:r>
          </a:p>
        </p:txBody>
      </p:sp>
      <p:sp>
        <p:nvSpPr>
          <p:cNvPr id="3" name="Content Placeholder 2"/>
          <p:cNvSpPr>
            <a:spLocks noGrp="1"/>
          </p:cNvSpPr>
          <p:nvPr>
            <p:ph idx="1"/>
          </p:nvPr>
        </p:nvSpPr>
        <p:spPr/>
        <p:txBody>
          <a:bodyPr/>
          <a:lstStyle/>
          <a:p>
            <a:r>
              <a:t>- Closest to the end-users.</a:t>
            </a:r>
          </a:p>
          <a:p>
            <a:r>
              <a:t>- Represents individual user views.</a:t>
            </a:r>
          </a:p>
          <a:p>
            <a:r>
              <a:t>- Focuses on specific data needed by users.</a:t>
            </a:r>
          </a:p>
          <a:p>
            <a:r>
              <a:t>- Example:</a:t>
            </a:r>
          </a:p>
          <a:p>
            <a:r>
              <a:t>  A student sees grades and course details but not financial records.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Conceptual Level</a:t>
            </a:r>
          </a:p>
        </p:txBody>
      </p:sp>
      <p:sp>
        <p:nvSpPr>
          <p:cNvPr id="3" name="Content Placeholder 2"/>
          <p:cNvSpPr>
            <a:spLocks noGrp="1"/>
          </p:cNvSpPr>
          <p:nvPr>
            <p:ph idx="1"/>
          </p:nvPr>
        </p:nvSpPr>
        <p:spPr/>
        <p:txBody>
          <a:bodyPr/>
          <a:lstStyle/>
          <a:p>
            <a:r>
              <a:t>- Represents the entire database structure.</a:t>
            </a:r>
          </a:p>
          <a:p>
            <a:r>
              <a:t>- Independent of physical storage details.</a:t>
            </a:r>
          </a:p>
          <a:p>
            <a:r>
              <a:t>- Defines entities, relationships, and constraints.</a:t>
            </a:r>
          </a:p>
          <a:p>
            <a:r>
              <a:t>- Example:</a:t>
            </a:r>
          </a:p>
          <a:p>
            <a:r>
              <a:t>  The logical schema describing students, courses, and assessments.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Internal Level</a:t>
            </a:r>
          </a:p>
        </p:txBody>
      </p:sp>
      <p:sp>
        <p:nvSpPr>
          <p:cNvPr id="3" name="Content Placeholder 2"/>
          <p:cNvSpPr>
            <a:spLocks noGrp="1"/>
          </p:cNvSpPr>
          <p:nvPr>
            <p:ph idx="1"/>
          </p:nvPr>
        </p:nvSpPr>
        <p:spPr/>
        <p:txBody>
          <a:bodyPr/>
          <a:lstStyle/>
          <a:p>
            <a:r>
              <a:t>- Closest to physical storage.</a:t>
            </a:r>
          </a:p>
          <a:p>
            <a:r>
              <a:t>- Handles data storage, access paths, and indexing.</a:t>
            </a:r>
          </a:p>
          <a:p>
            <a:r>
              <a:t>- Optimizes performance and storage space.</a:t>
            </a:r>
          </a:p>
          <a:p>
            <a:r>
              <a:t>- Example:</a:t>
            </a:r>
          </a:p>
          <a:p>
            <a:r>
              <a:t>  File storage formats, indexes, and data compression techniques.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81326"/>
          </a:xfrm>
        </p:spPr>
        <p:txBody>
          <a:bodyPr>
            <a:normAutofit fontScale="90000"/>
          </a:bodyPr>
          <a:lstStyle/>
          <a:p>
            <a:endParaRPr lang="en-IN"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655" y="1122219"/>
            <a:ext cx="8368145" cy="5403272"/>
          </a:xfrm>
        </p:spPr>
      </p:pic>
    </p:spTree>
    <p:extLst>
      <p:ext uri="{BB962C8B-B14F-4D97-AF65-F5344CB8AC3E}">
        <p14:creationId xmlns:p14="http://schemas.microsoft.com/office/powerpoint/2010/main" val="11914370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5071"/>
          </a:xfrm>
        </p:spPr>
        <p:txBody>
          <a:bodyPr>
            <a:normAutofit fontScale="90000"/>
          </a:bodyPr>
          <a:lstStyle/>
          <a:p>
            <a:endParaRPr lang="en-IN"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108" y="1454729"/>
            <a:ext cx="6289963" cy="5098471"/>
          </a:xfrm>
        </p:spPr>
      </p:pic>
      <p:sp>
        <p:nvSpPr>
          <p:cNvPr id="7" name="Rectangle 6"/>
          <p:cNvSpPr/>
          <p:nvPr/>
        </p:nvSpPr>
        <p:spPr>
          <a:xfrm>
            <a:off x="6470072" y="1997839"/>
            <a:ext cx="2382981" cy="5078313"/>
          </a:xfrm>
          <a:prstGeom prst="rect">
            <a:avLst/>
          </a:prstGeom>
        </p:spPr>
        <p:txBody>
          <a:bodyPr wrap="square">
            <a:spAutoFit/>
          </a:bodyPr>
          <a:lstStyle/>
          <a:p>
            <a:pPr algn="just">
              <a:buFont typeface="Arial" panose="020B0604020202020204" pitchFamily="34" charset="0"/>
              <a:buChar char="•"/>
            </a:pPr>
            <a:r>
              <a:rPr lang="en-US" dirty="0">
                <a:solidFill>
                  <a:srgbClr val="333333"/>
                </a:solidFill>
                <a:latin typeface="Montserrat"/>
              </a:rPr>
              <a:t>The conceptual level describes what data are to be stored in the database and also describes what relationship exists among those data.</a:t>
            </a:r>
          </a:p>
          <a:p>
            <a:pPr algn="just">
              <a:buFont typeface="Arial" panose="020B0604020202020204" pitchFamily="34" charset="0"/>
              <a:buChar char="•"/>
            </a:pPr>
            <a:r>
              <a:rPr lang="en-US" dirty="0">
                <a:solidFill>
                  <a:srgbClr val="333333"/>
                </a:solidFill>
                <a:latin typeface="Montserrat"/>
              </a:rPr>
              <a:t>In the conceptual level, internal details such as an implementation of the data structure are hidden.</a:t>
            </a:r>
          </a:p>
          <a:p>
            <a:pPr algn="just">
              <a:buFont typeface="Arial" panose="020B0604020202020204" pitchFamily="34" charset="0"/>
              <a:buChar char="•"/>
            </a:pPr>
            <a:r>
              <a:rPr lang="en-US" dirty="0">
                <a:solidFill>
                  <a:srgbClr val="333333"/>
                </a:solidFill>
                <a:latin typeface="Montserrat"/>
              </a:rPr>
              <a:t>Programmers and database administrators work at this level.</a:t>
            </a:r>
          </a:p>
          <a:p>
            <a:pPr algn="just">
              <a:buFont typeface="Arial" panose="020B0604020202020204" pitchFamily="34" charset="0"/>
              <a:buChar char="•"/>
            </a:pPr>
            <a:endParaRPr lang="en-US" dirty="0">
              <a:solidFill>
                <a:srgbClr val="333333"/>
              </a:solidFill>
              <a:latin typeface="Montserrat"/>
            </a:endParaRPr>
          </a:p>
        </p:txBody>
      </p:sp>
    </p:spTree>
    <p:extLst>
      <p:ext uri="{BB962C8B-B14F-4D97-AF65-F5344CB8AC3E}">
        <p14:creationId xmlns:p14="http://schemas.microsoft.com/office/powerpoint/2010/main" val="10090351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5527" y="1648691"/>
            <a:ext cx="8451273" cy="4904509"/>
          </a:xfrm>
        </p:spPr>
      </p:pic>
    </p:spTree>
    <p:extLst>
      <p:ext uri="{BB962C8B-B14F-4D97-AF65-F5344CB8AC3E}">
        <p14:creationId xmlns:p14="http://schemas.microsoft.com/office/powerpoint/2010/main" val="5840753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73507"/>
          </a:xfrm>
        </p:spPr>
        <p:txBody>
          <a:bodyPr>
            <a:normAutofit fontScale="90000"/>
          </a:bodyPr>
          <a:lstStyle/>
          <a:p>
            <a:r>
              <a:rPr lang="en-US" dirty="0" smtClean="0"/>
              <a:t/>
            </a:r>
            <a:br>
              <a:rPr lang="en-US" dirty="0" smtClean="0"/>
            </a:br>
            <a:r>
              <a:rPr lang="en-US" dirty="0" smtClean="0"/>
              <a:t>Mapping </a:t>
            </a:r>
            <a:r>
              <a:rPr lang="en-US" dirty="0"/>
              <a:t>between Views</a:t>
            </a:r>
            <a:br>
              <a:rPr lang="en-US" dirty="0"/>
            </a:br>
            <a:endParaRPr lang="en-IN" dirty="0"/>
          </a:p>
        </p:txBody>
      </p:sp>
      <p:sp>
        <p:nvSpPr>
          <p:cNvPr id="3" name="Content Placeholder 2"/>
          <p:cNvSpPr>
            <a:spLocks noGrp="1"/>
          </p:cNvSpPr>
          <p:nvPr>
            <p:ph idx="1"/>
          </p:nvPr>
        </p:nvSpPr>
        <p:spPr>
          <a:xfrm>
            <a:off x="152401" y="748145"/>
            <a:ext cx="8853054" cy="5902037"/>
          </a:xfrm>
        </p:spPr>
        <p:txBody>
          <a:bodyPr>
            <a:normAutofit fontScale="70000" lnSpcReduction="20000"/>
          </a:bodyPr>
          <a:lstStyle/>
          <a:p>
            <a:r>
              <a:rPr lang="en-US" dirty="0" smtClean="0"/>
              <a:t>The </a:t>
            </a:r>
            <a:r>
              <a:rPr lang="en-US" dirty="0"/>
              <a:t>three levels of DBMS architecture don't exist independently of each other. There must be correspondence between the three levels i.e. how they actually correspond with each other. DBMS is responsible for correspondence between the three types of schema. This correspondence is called Mapping.</a:t>
            </a:r>
          </a:p>
          <a:p>
            <a:r>
              <a:rPr lang="en-US" b="1" dirty="0"/>
              <a:t>There are basically two types of mapping in the database architecture:</a:t>
            </a:r>
            <a:endParaRPr lang="en-US" dirty="0"/>
          </a:p>
          <a:p>
            <a:r>
              <a:rPr lang="en-US" dirty="0"/>
              <a:t>Conceptual/ Internal Mapping</a:t>
            </a:r>
          </a:p>
          <a:p>
            <a:r>
              <a:rPr lang="en-US" dirty="0"/>
              <a:t>External / Conceptual Mapping</a:t>
            </a:r>
          </a:p>
          <a:p>
            <a:r>
              <a:rPr lang="en-US" b="1" dirty="0"/>
              <a:t>Conceptual/ Internal Mapping</a:t>
            </a:r>
            <a:endParaRPr lang="en-US" dirty="0"/>
          </a:p>
          <a:p>
            <a:r>
              <a:rPr lang="en-US" dirty="0"/>
              <a:t>The Conceptual/ Internal Mapping lies between the conceptual level and the internal level. Its role is to define the correspondence between the records and fields of the conceptual level and files and data structures of the internal level.</a:t>
            </a:r>
          </a:p>
          <a:p>
            <a:r>
              <a:rPr lang="en-US" b="1" dirty="0"/>
              <a:t>External/ Conceptual Mapping</a:t>
            </a:r>
            <a:endParaRPr lang="en-US" dirty="0"/>
          </a:p>
          <a:p>
            <a:r>
              <a:rPr lang="en-US" dirty="0"/>
              <a:t>The external/Conceptual Mapping lies between the external level and the Conceptual level. Its role is to define the correspondence between a particular external and the conceptual view.</a:t>
            </a:r>
          </a:p>
          <a:p>
            <a:r>
              <a:rPr lang="en-US" dirty="0"/>
              <a:t/>
            </a:r>
            <a:br>
              <a:rPr lang="en-US" dirty="0"/>
            </a:br>
            <a:endParaRPr lang="en-IN" dirty="0"/>
          </a:p>
        </p:txBody>
      </p:sp>
    </p:spTree>
    <p:extLst>
      <p:ext uri="{BB962C8B-B14F-4D97-AF65-F5344CB8AC3E}">
        <p14:creationId xmlns:p14="http://schemas.microsoft.com/office/powerpoint/2010/main" val="38735031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Independence</a:t>
            </a:r>
          </a:p>
        </p:txBody>
      </p:sp>
      <p:sp>
        <p:nvSpPr>
          <p:cNvPr id="3" name="Content Placeholder 2"/>
          <p:cNvSpPr>
            <a:spLocks noGrp="1"/>
          </p:cNvSpPr>
          <p:nvPr>
            <p:ph idx="1"/>
          </p:nvPr>
        </p:nvSpPr>
        <p:spPr/>
        <p:txBody>
          <a:bodyPr/>
          <a:lstStyle/>
          <a:p>
            <a:r>
              <a:t>- **Logical Data Independence**:</a:t>
            </a:r>
          </a:p>
          <a:p>
            <a:r>
              <a:t>  - Changes at the conceptual level do not affect the external level.</a:t>
            </a:r>
          </a:p>
          <a:p>
            <a:r>
              <a:t>- **Physical Data Independence**:</a:t>
            </a:r>
          </a:p>
          <a:p>
            <a:r>
              <a:t>  - Changes at the internal level do not affect the conceptual level.</a:t>
            </a:r>
          </a:p>
          <a:p>
            <a:r>
              <a:t>- Ensures flexibility and adaptability.</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3-Level Architecture</a:t>
            </a:r>
          </a:p>
        </p:txBody>
      </p:sp>
      <p:sp>
        <p:nvSpPr>
          <p:cNvPr id="3" name="Content Placeholder 2"/>
          <p:cNvSpPr>
            <a:spLocks noGrp="1"/>
          </p:cNvSpPr>
          <p:nvPr>
            <p:ph idx="1"/>
          </p:nvPr>
        </p:nvSpPr>
        <p:spPr/>
        <p:txBody>
          <a:bodyPr/>
          <a:lstStyle/>
          <a:p>
            <a:r>
              <a:t>- Promotes data abstraction and independence.</a:t>
            </a:r>
          </a:p>
          <a:p>
            <a:r>
              <a:t>- Simplifies database design and maintenance.</a:t>
            </a:r>
          </a:p>
          <a:p>
            <a:r>
              <a:t>- Provides multiple user views.</a:t>
            </a:r>
          </a:p>
          <a:p>
            <a:r>
              <a:t>- Enhances security by restricting access to specific views.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normAutofit fontScale="90000"/>
          </a:bodyPr>
          <a:lstStyle/>
          <a:p>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36754229"/>
              </p:ext>
            </p:extLst>
          </p:nvPr>
        </p:nvGraphicFramePr>
        <p:xfrm>
          <a:off x="457199" y="1600200"/>
          <a:ext cx="8091057" cy="4525964"/>
        </p:xfrm>
        <a:graphic>
          <a:graphicData uri="http://schemas.openxmlformats.org/drawingml/2006/table">
            <a:tbl>
              <a:tblPr/>
              <a:tblGrid>
                <a:gridCol w="756307">
                  <a:extLst>
                    <a:ext uri="{9D8B030D-6E8A-4147-A177-3AD203B41FA5}">
                      <a16:colId xmlns:a16="http://schemas.microsoft.com/office/drawing/2014/main" val="2138001934"/>
                    </a:ext>
                  </a:extLst>
                </a:gridCol>
                <a:gridCol w="3667375">
                  <a:extLst>
                    <a:ext uri="{9D8B030D-6E8A-4147-A177-3AD203B41FA5}">
                      <a16:colId xmlns:a16="http://schemas.microsoft.com/office/drawing/2014/main" val="1740271850"/>
                    </a:ext>
                  </a:extLst>
                </a:gridCol>
                <a:gridCol w="3667375">
                  <a:extLst>
                    <a:ext uri="{9D8B030D-6E8A-4147-A177-3AD203B41FA5}">
                      <a16:colId xmlns:a16="http://schemas.microsoft.com/office/drawing/2014/main" val="2365096259"/>
                    </a:ext>
                  </a:extLst>
                </a:gridCol>
              </a:tblGrid>
              <a:tr h="263498">
                <a:tc>
                  <a:txBody>
                    <a:bodyPr/>
                    <a:lstStyle/>
                    <a:p>
                      <a:pPr fontAlgn="t"/>
                      <a:r>
                        <a:rPr lang="en-IN" sz="600" b="1">
                          <a:effectLst/>
                        </a:rPr>
                        <a:t>Parameters</a:t>
                      </a:r>
                      <a:endParaRPr lang="en-IN" sz="600">
                        <a:effectLst/>
                      </a:endParaRP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IN" sz="600" b="1">
                          <a:effectLst/>
                        </a:rPr>
                        <a:t>Physical Data Independence</a:t>
                      </a:r>
                      <a:endParaRPr lang="en-IN" sz="600">
                        <a:effectLst/>
                      </a:endParaRP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IN" sz="600" b="1">
                          <a:effectLst/>
                        </a:rPr>
                        <a:t>Logical Data Independence</a:t>
                      </a:r>
                      <a:endParaRPr lang="en-IN" sz="600">
                        <a:effectLst/>
                      </a:endParaRP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36313175"/>
                  </a:ext>
                </a:extLst>
              </a:tr>
              <a:tr h="728494">
                <a:tc>
                  <a:txBody>
                    <a:bodyPr/>
                    <a:lstStyle/>
                    <a:p>
                      <a:pPr fontAlgn="t"/>
                      <a:r>
                        <a:rPr lang="en-IN" sz="600" dirty="0">
                          <a:effectLst/>
                        </a:rPr>
                        <a:t>Basics</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dirty="0">
                          <a:effectLst/>
                        </a:rPr>
                        <a:t>Physical data independence is concerned mainly with how a set of data/ info gets stored in a given system.</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Logical data independence is concerned mainly with the changing definition of the data in a system or its structure as a whole.</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1123487648"/>
                  </a:ext>
                </a:extLst>
              </a:tr>
              <a:tr h="635495">
                <a:tc>
                  <a:txBody>
                    <a:bodyPr/>
                    <a:lstStyle/>
                    <a:p>
                      <a:pPr fontAlgn="t"/>
                      <a:r>
                        <a:rPr lang="en-IN" sz="600">
                          <a:effectLst/>
                        </a:rPr>
                        <a:t>Ease of Retrieving</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We can easily retrieve it.</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Retrieving is very difficult because the data mainly depends on its logical structure and not its physical location.</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3136917443"/>
                  </a:ext>
                </a:extLst>
              </a:tr>
              <a:tr h="635495">
                <a:tc>
                  <a:txBody>
                    <a:bodyPr/>
                    <a:lstStyle/>
                    <a:p>
                      <a:pPr fontAlgn="t"/>
                      <a:r>
                        <a:rPr lang="en-IN" sz="600">
                          <a:effectLst/>
                        </a:rPr>
                        <a:t>Ease of Achieving</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Achieving physical data independence is much easier as compared to logical data independence.</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Achieving logical data independence is more difficult as compared to physical data independence.</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2667336161"/>
                  </a:ext>
                </a:extLst>
              </a:tr>
              <a:tr h="542496">
                <a:tc>
                  <a:txBody>
                    <a:bodyPr/>
                    <a:lstStyle/>
                    <a:p>
                      <a:pPr fontAlgn="t"/>
                      <a:r>
                        <a:rPr lang="en-IN" sz="600">
                          <a:effectLst/>
                        </a:rPr>
                        <a:t>Degree of Changes Required</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The changes made at the physical level need not be made at the application level.</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Any changes made at the physical level need to be made at the application level as well.</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2006590510"/>
                  </a:ext>
                </a:extLst>
              </a:tr>
              <a:tr h="728494">
                <a:tc>
                  <a:txBody>
                    <a:bodyPr/>
                    <a:lstStyle/>
                    <a:p>
                      <a:pPr fontAlgn="t"/>
                      <a:r>
                        <a:rPr lang="en-IN" sz="600">
                          <a:effectLst/>
                        </a:rPr>
                        <a:t>Internal Modification</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We may or may not need the modifications at the internal level for improving the performance of a system’s structure.</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Making modifications at the logical level is a prerequisite whether we want to change the database structure or not.</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1002958583"/>
                  </a:ext>
                </a:extLst>
              </a:tr>
              <a:tr h="356497">
                <a:tc>
                  <a:txBody>
                    <a:bodyPr/>
                    <a:lstStyle/>
                    <a:p>
                      <a:pPr fontAlgn="t"/>
                      <a:r>
                        <a:rPr lang="en-IN" sz="600">
                          <a:effectLst/>
                        </a:rPr>
                        <a:t>Type of Schema</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The internal schema is the primary concern.</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The conceptual schema is the primary concern.</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1388458724"/>
                  </a:ext>
                </a:extLst>
              </a:tr>
              <a:tr h="635495">
                <a:tc>
                  <a:txBody>
                    <a:bodyPr/>
                    <a:lstStyle/>
                    <a:p>
                      <a:pPr fontAlgn="t"/>
                      <a:r>
                        <a:rPr lang="en-IN" sz="600">
                          <a:effectLst/>
                        </a:rPr>
                        <a:t>Examples</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1EDFF"/>
                    </a:solidFill>
                  </a:tcPr>
                </a:tc>
                <a:tc>
                  <a:txBody>
                    <a:bodyPr/>
                    <a:lstStyle/>
                    <a:p>
                      <a:pPr fontAlgn="t"/>
                      <a:r>
                        <a:rPr lang="en-US" sz="600">
                          <a:effectLst/>
                        </a:rPr>
                        <a:t>For example, altering the compression techniques, storage devices changes, and changes in the hashing algorithms.</a:t>
                      </a: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1EDFF"/>
                    </a:solidFill>
                  </a:tcPr>
                </a:tc>
                <a:tc>
                  <a:txBody>
                    <a:bodyPr/>
                    <a:lstStyle/>
                    <a:p>
                      <a:pPr fontAlgn="t"/>
                      <a:r>
                        <a:rPr lang="en-US" sz="600" dirty="0">
                          <a:effectLst/>
                        </a:rPr>
                        <a:t>For example, adding, deleting, or modifying any attribute in a </a:t>
                      </a:r>
                      <a:r>
                        <a:rPr lang="en-US" sz="600" dirty="0" err="1">
                          <a:effectLst/>
                        </a:rPr>
                        <a:t>syste</a:t>
                      </a:r>
                      <a:endParaRPr lang="en-US" sz="600" dirty="0">
                        <a:effectLst/>
                      </a:endParaRPr>
                    </a:p>
                  </a:txBody>
                  <a:tcPr marL="25833" marR="25833" marT="38750" marB="38750">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3431343443"/>
                  </a:ext>
                </a:extLst>
              </a:tr>
            </a:tbl>
          </a:graphicData>
        </a:graphic>
      </p:graphicFrame>
    </p:spTree>
    <p:extLst>
      <p:ext uri="{BB962C8B-B14F-4D97-AF65-F5344CB8AC3E}">
        <p14:creationId xmlns:p14="http://schemas.microsoft.com/office/powerpoint/2010/main" val="7150527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Diagram of 3-Level Database Architecture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 Case Example</a:t>
            </a:r>
          </a:p>
        </p:txBody>
      </p:sp>
      <p:sp>
        <p:nvSpPr>
          <p:cNvPr id="3" name="Content Placeholder 2"/>
          <p:cNvSpPr>
            <a:spLocks noGrp="1"/>
          </p:cNvSpPr>
          <p:nvPr>
            <p:ph idx="1"/>
          </p:nvPr>
        </p:nvSpPr>
        <p:spPr/>
        <p:txBody>
          <a:bodyPr/>
          <a:lstStyle/>
          <a:p>
            <a:r>
              <a:t>- **Scenario**: University Database</a:t>
            </a:r>
          </a:p>
          <a:p>
            <a:r>
              <a:t>  - External Level: Students see grades; faculty sees performance analytics.</a:t>
            </a:r>
          </a:p>
          <a:p>
            <a:r>
              <a:t>  - Conceptual Level: Defines entities like students, courses, and grades.</a:t>
            </a:r>
          </a:p>
          <a:p>
            <a:r>
              <a:t>  - Internal Level: Manages how data is stored and accessed.</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- 3-Level Architecture provides a robust framework for database design.</a:t>
            </a:r>
          </a:p>
          <a:p>
            <a:r>
              <a:t>- Ensures data abstraction, independence, and security.</a:t>
            </a:r>
          </a:p>
          <a:p>
            <a:r>
              <a:t>- Essential for modern database management systems.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Q&amp;A</a:t>
            </a:r>
          </a:p>
        </p:txBody>
      </p:sp>
      <p:sp>
        <p:nvSpPr>
          <p:cNvPr id="3" name="Content Placeholder 2"/>
          <p:cNvSpPr>
            <a:spLocks noGrp="1"/>
          </p:cNvSpPr>
          <p:nvPr>
            <p:ph idx="1"/>
          </p:nvPr>
        </p:nvSpPr>
        <p:spPr/>
        <p:txBody>
          <a:bodyPr/>
          <a:lstStyle/>
          <a:p>
            <a:r>
              <a:t>Questions and Discussion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94</TotalTime>
  <Words>790</Words>
  <Application>Microsoft Office PowerPoint</Application>
  <PresentationFormat>On-screen Show (4:3)</PresentationFormat>
  <Paragraphs>89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Montserrat</vt:lpstr>
      <vt:lpstr>Office Theme</vt:lpstr>
      <vt:lpstr>3-Level Database Architecture</vt:lpstr>
      <vt:lpstr>Overview of 3-Level Database Architecture</vt:lpstr>
      <vt:lpstr>PowerPoint Presentation</vt:lpstr>
      <vt:lpstr>External Level</vt:lpstr>
      <vt:lpstr>Conceptual Level</vt:lpstr>
      <vt:lpstr>Internal Level</vt:lpstr>
      <vt:lpstr>PowerPoint Presentation</vt:lpstr>
      <vt:lpstr>PowerPoint Presentation</vt:lpstr>
      <vt:lpstr>PowerPoint Presentation</vt:lpstr>
      <vt:lpstr> Mapping between Views </vt:lpstr>
      <vt:lpstr>Data Independence</vt:lpstr>
      <vt:lpstr>Advantages of 3-Level Architecture</vt:lpstr>
      <vt:lpstr>PowerPoint Presentation</vt:lpstr>
      <vt:lpstr>Diagram of 3-Level Database Architecture</vt:lpstr>
      <vt:lpstr>Use Case Example</vt:lpstr>
      <vt:lpstr>Conclusion</vt:lpstr>
      <vt:lpstr>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3-Level Database Architecture</dc:title>
  <dc:subject/>
  <dc:creator/>
  <cp:keywords/>
  <dc:description>generated using python-pptx</dc:description>
  <cp:lastModifiedBy>Subhasish_Mohapatra</cp:lastModifiedBy>
  <cp:revision>9</cp:revision>
  <dcterms:created xsi:type="dcterms:W3CDTF">2013-01-27T09:14:16Z</dcterms:created>
  <dcterms:modified xsi:type="dcterms:W3CDTF">2026-01-08T10:20:31Z</dcterms:modified>
  <cp:category/>
</cp:coreProperties>
</file>