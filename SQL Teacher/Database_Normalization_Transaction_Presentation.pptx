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7" r:id="rId27"/>
    <p:sldId id="289" r:id="rId28"/>
    <p:sldId id="288" r:id="rId29"/>
    <p:sldId id="282" r:id="rId30"/>
    <p:sldId id="283" r:id="rId31"/>
    <p:sldId id="284" r:id="rId32"/>
    <p:sldId id="285" r:id="rId33"/>
    <p:sldId id="286"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13" r:id="rId47"/>
    <p:sldId id="312" r:id="rId48"/>
    <p:sldId id="302" r:id="rId49"/>
    <p:sldId id="303" r:id="rId50"/>
    <p:sldId id="304" r:id="rId51"/>
    <p:sldId id="305" r:id="rId52"/>
    <p:sldId id="306" r:id="rId53"/>
    <p:sldId id="307" r:id="rId54"/>
    <p:sldId id="308" r:id="rId55"/>
    <p:sldId id="309" r:id="rId56"/>
    <p:sldId id="310" r:id="rId57"/>
    <p:sldId id="311" r:id="rId58"/>
    <p:sldId id="268" r:id="rId59"/>
    <p:sldId id="314" r:id="rId60"/>
    <p:sldId id="315" r:id="rId61"/>
    <p:sldId id="316" r:id="rId62"/>
    <p:sldId id="317" r:id="rId63"/>
    <p:sldId id="340" r:id="rId64"/>
    <p:sldId id="341" r:id="rId65"/>
    <p:sldId id="342" r:id="rId66"/>
    <p:sldId id="343" r:id="rId67"/>
    <p:sldId id="344" r:id="rId68"/>
    <p:sldId id="345" r:id="rId69"/>
    <p:sldId id="350" r:id="rId70"/>
    <p:sldId id="351" r:id="rId71"/>
    <p:sldId id="352" r:id="rId72"/>
    <p:sldId id="353" r:id="rId73"/>
    <p:sldId id="354" r:id="rId74"/>
    <p:sldId id="355" r:id="rId75"/>
    <p:sldId id="356" r:id="rId76"/>
    <p:sldId id="357" r:id="rId77"/>
    <p:sldId id="358" r:id="rId78"/>
    <p:sldId id="359" r:id="rId79"/>
    <p:sldId id="360" r:id="rId80"/>
    <p:sldId id="361" r:id="rId81"/>
    <p:sldId id="362" r:id="rId82"/>
    <p:sldId id="363" r:id="rId83"/>
    <p:sldId id="364" r:id="rId84"/>
    <p:sldId id="365" r:id="rId85"/>
    <p:sldId id="366" r:id="rId86"/>
    <p:sldId id="367" r:id="rId87"/>
    <p:sldId id="368" r:id="rId88"/>
    <p:sldId id="369" r:id="rId89"/>
    <p:sldId id="371" r:id="rId90"/>
    <p:sldId id="372" r:id="rId91"/>
    <p:sldId id="373" r:id="rId92"/>
    <p:sldId id="374" r:id="rId93"/>
    <p:sldId id="370" r:id="rId94"/>
    <p:sldId id="346" r:id="rId95"/>
    <p:sldId id="347" r:id="rId96"/>
    <p:sldId id="348" r:id="rId97"/>
    <p:sldId id="349" r:id="rId98"/>
    <p:sldId id="318" r:id="rId99"/>
    <p:sldId id="319" r:id="rId100"/>
    <p:sldId id="320" r:id="rId101"/>
    <p:sldId id="321" r:id="rId102"/>
    <p:sldId id="322" r:id="rId103"/>
    <p:sldId id="323" r:id="rId104"/>
    <p:sldId id="324" r:id="rId105"/>
    <p:sldId id="325" r:id="rId106"/>
    <p:sldId id="326" r:id="rId107"/>
    <p:sldId id="327" r:id="rId108"/>
    <p:sldId id="328" r:id="rId109"/>
    <p:sldId id="329" r:id="rId110"/>
    <p:sldId id="330" r:id="rId111"/>
    <p:sldId id="331" r:id="rId112"/>
    <p:sldId id="332" r:id="rId113"/>
    <p:sldId id="333" r:id="rId114"/>
    <p:sldId id="334" r:id="rId115"/>
    <p:sldId id="335" r:id="rId116"/>
    <p:sldId id="336" r:id="rId117"/>
    <p:sldId id="337" r:id="rId118"/>
    <p:sldId id="338" r:id="rId119"/>
    <p:sldId id="339"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091" autoAdjust="0"/>
  </p:normalViewPr>
  <p:slideViewPr>
    <p:cSldViewPr snapToGrid="0" snapToObjects="1">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2C1D0-A110-4E93-98CD-542F4C0CDA7C}" type="datetimeFigureOut">
              <a:rPr lang="en-IN" smtClean="0"/>
              <a:t>08-08-2025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0BC9AD-7780-4298-97DE-ADEC32436332}" type="slidenum">
              <a:rPr lang="en-IN" smtClean="0"/>
              <a:t>‹#›</a:t>
            </a:fld>
            <a:endParaRPr lang="en-IN"/>
          </a:p>
        </p:txBody>
      </p:sp>
    </p:spTree>
    <p:extLst>
      <p:ext uri="{BB962C8B-B14F-4D97-AF65-F5344CB8AC3E}">
        <p14:creationId xmlns:p14="http://schemas.microsoft.com/office/powerpoint/2010/main" val="3952691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40BC9AD-7780-4298-97DE-ADEC32436332}" type="slidenum">
              <a:rPr lang="en-IN" smtClean="0"/>
              <a:t>109</a:t>
            </a:fld>
            <a:endParaRPr lang="en-IN"/>
          </a:p>
        </p:txBody>
      </p:sp>
    </p:spTree>
    <p:extLst>
      <p:ext uri="{BB962C8B-B14F-4D97-AF65-F5344CB8AC3E}">
        <p14:creationId xmlns:p14="http://schemas.microsoft.com/office/powerpoint/2010/main" val="3259081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https://www.gatevidyalay.com/directed-acyclic-graphs/" TargetMode="External"/><Relationship Id="rId2" Type="http://schemas.openxmlformats.org/officeDocument/2006/relationships/hyperlink" Target="https://www.gatevidyalay.com/topological-sort-topological-sorting/" TargetMode="External"/><Relationship Id="rId1" Type="http://schemas.openxmlformats.org/officeDocument/2006/relationships/slideLayout" Target="../slideLayouts/slideLayout2.xml"/><Relationship Id="rId4" Type="http://schemas.openxmlformats.org/officeDocument/2006/relationships/hyperlink" Target="https://www.gatevidyalay.com/serializability-in-dbms-conflict-serializability/" TargetMode="External"/></Relationships>
</file>

<file path=ppt/slides/_rels/slide7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hyperlink" Target="https://www.gatevidyalay.com/cascading-schedule-cascading-rollback-cascadeless-schedule/"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hyperlink" Target="https://www.gatevidyalay.com/recoverable-schedules-irrecoverable-schedules-non-serializable-schedules/"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1.png"/><Relationship Id="rId4" Type="http://schemas.openxmlformats.org/officeDocument/2006/relationships/oleObject" Target="../embeddings/oleObject2.bin"/></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dirty="0"/>
              <a:t>Database Normalization and Functional </a:t>
            </a:r>
            <a:r>
              <a:rPr dirty="0" smtClean="0"/>
              <a:t>Dependency</a:t>
            </a:r>
            <a:r>
              <a:rPr lang="en-US" dirty="0" smtClean="0"/>
              <a:t>/Transaction</a:t>
            </a:r>
            <a:endParaRPr dirty="0"/>
          </a:p>
        </p:txBody>
      </p:sp>
      <p:sp>
        <p:nvSpPr>
          <p:cNvPr id="3" name="Subtitle 2"/>
          <p:cNvSpPr>
            <a:spLocks noGrp="1"/>
          </p:cNvSpPr>
          <p:nvPr>
            <p:ph type="subTitle" idx="1"/>
          </p:nvPr>
        </p:nvSpPr>
        <p:spPr/>
        <p:txBody>
          <a:bodyPr>
            <a:normAutofit/>
          </a:bodyPr>
          <a:lstStyle/>
          <a:p>
            <a:r>
              <a:rPr lang="en-US" dirty="0" smtClean="0">
                <a:solidFill>
                  <a:srgbClr val="FF0000"/>
                </a:solidFill>
              </a:rPr>
              <a:t>Understanding </a:t>
            </a:r>
            <a:r>
              <a:rPr lang="en-US" dirty="0">
                <a:solidFill>
                  <a:srgbClr val="FF0000"/>
                </a:solidFill>
              </a:rPr>
              <a:t>Normalization, Normal Forms, and </a:t>
            </a:r>
            <a:r>
              <a:rPr lang="en-US">
                <a:solidFill>
                  <a:srgbClr val="FF0000"/>
                </a:solidFill>
              </a:rPr>
              <a:t>Real-time </a:t>
            </a:r>
            <a:r>
              <a:rPr lang="en-US" smtClean="0">
                <a:solidFill>
                  <a:srgbClr val="FF0000"/>
                </a:solidFill>
              </a:rPr>
              <a:t>Transaction Applications</a:t>
            </a:r>
            <a:endParaRPr lang="en-US"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Introduction to Functional Dependency</a:t>
            </a:r>
          </a:p>
        </p:txBody>
      </p:sp>
      <p:sp>
        <p:nvSpPr>
          <p:cNvPr id="3" name="Content Placeholder 2"/>
          <p:cNvSpPr>
            <a:spLocks noGrp="1"/>
          </p:cNvSpPr>
          <p:nvPr>
            <p:ph idx="1"/>
          </p:nvPr>
        </p:nvSpPr>
        <p:spPr/>
        <p:txBody>
          <a:bodyPr/>
          <a:lstStyle/>
          <a:p>
            <a:r>
              <a:rPr dirty="0"/>
              <a:t>- A functional dependency (FD) is a relationship between attributes in a relational database.</a:t>
            </a:r>
          </a:p>
          <a:p>
            <a:r>
              <a:rPr dirty="0"/>
              <a:t>- Denoted as X → Y, meaning Y is functionally dependent on X.</a:t>
            </a:r>
          </a:p>
          <a:p>
            <a:r>
              <a:rPr dirty="0"/>
              <a:t>- Used to maintain data integrity and normalization.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Functional Dependencies</a:t>
            </a:r>
          </a:p>
        </p:txBody>
      </p:sp>
      <p:sp>
        <p:nvSpPr>
          <p:cNvPr id="3" name="Content Placeholder 2"/>
          <p:cNvSpPr>
            <a:spLocks noGrp="1"/>
          </p:cNvSpPr>
          <p:nvPr>
            <p:ph idx="1"/>
          </p:nvPr>
        </p:nvSpPr>
        <p:spPr/>
        <p:txBody>
          <a:bodyPr>
            <a:normAutofit fontScale="92500"/>
          </a:bodyPr>
          <a:lstStyle/>
          <a:p>
            <a:r>
              <a:t>1. **Trivial Functional Dependency**</a:t>
            </a:r>
          </a:p>
          <a:p>
            <a:r>
              <a:t>   - Example: A → A or AB → A</a:t>
            </a:r>
          </a:p>
          <a:p>
            <a:r>
              <a:t>   - The right-hand side is a subset of the left-hand side.</a:t>
            </a:r>
          </a:p>
          <a:p>
            <a:endParaRPr/>
          </a:p>
          <a:p>
            <a:r>
              <a:t>2. **Non-Trivial Functional Dependency**</a:t>
            </a:r>
          </a:p>
          <a:p>
            <a:r>
              <a:t>   - Example: A → B (where B is not a subset of A)</a:t>
            </a:r>
          </a:p>
          <a:p>
            <a:r>
              <a:t>   - Helps in database normalization.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Armstrong’s Axioms (Rules of FD)</a:t>
            </a:r>
          </a:p>
        </p:txBody>
      </p:sp>
      <p:sp>
        <p:nvSpPr>
          <p:cNvPr id="3" name="Content Placeholder 2"/>
          <p:cNvSpPr>
            <a:spLocks noGrp="1"/>
          </p:cNvSpPr>
          <p:nvPr>
            <p:ph idx="1"/>
          </p:nvPr>
        </p:nvSpPr>
        <p:spPr/>
        <p:txBody>
          <a:bodyPr>
            <a:normAutofit fontScale="92500" lnSpcReduction="10000"/>
          </a:bodyPr>
          <a:lstStyle/>
          <a:p>
            <a:r>
              <a:t>1. **Reflexivity**: If Y is a subset of X, then X → Y.</a:t>
            </a:r>
          </a:p>
          <a:p>
            <a:r>
              <a:t>2. **Augmentation**: If X → Y, then XZ → YZ.</a:t>
            </a:r>
          </a:p>
          <a:p>
            <a:r>
              <a:t>3. **Transitivity**: If X → Y and Y → Z, then X → Z.</a:t>
            </a:r>
          </a:p>
          <a:p>
            <a:r>
              <a:t>4. **Union**: If X → Y and X → Z, then X → YZ.</a:t>
            </a:r>
          </a:p>
          <a:p>
            <a:r>
              <a:t>5. **Decomposition**: If X → YZ, then X → Y and X → Z.</a:t>
            </a:r>
          </a:p>
          <a:p>
            <a:r>
              <a:t>6. **Pseudotransitivity**: If X → Y and WY → Z, then XW → Z.</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Example of Functional Dependency in a Table</a:t>
            </a:r>
          </a:p>
        </p:txBody>
      </p:sp>
      <p:sp>
        <p:nvSpPr>
          <p:cNvPr id="3" name="Content Placeholder 2"/>
          <p:cNvSpPr>
            <a:spLocks noGrp="1"/>
          </p:cNvSpPr>
          <p:nvPr>
            <p:ph idx="1"/>
          </p:nvPr>
        </p:nvSpPr>
        <p:spPr/>
        <p:txBody>
          <a:bodyPr>
            <a:normAutofit fontScale="85000" lnSpcReduction="20000"/>
          </a:bodyPr>
          <a:lstStyle/>
          <a:p>
            <a:r>
              <a:rPr dirty="0"/>
              <a:t>| </a:t>
            </a:r>
            <a:r>
              <a:rPr dirty="0" err="1"/>
              <a:t>Student_ID</a:t>
            </a:r>
            <a:r>
              <a:rPr dirty="0"/>
              <a:t> | Name    | Course | Department |</a:t>
            </a:r>
          </a:p>
          <a:p>
            <a:r>
              <a:rPr dirty="0"/>
              <a:t>|-----------|--------|--------|------------|</a:t>
            </a:r>
          </a:p>
          <a:p>
            <a:r>
              <a:rPr dirty="0"/>
              <a:t>| 101       | Alice  | DBMS   | CS         |</a:t>
            </a:r>
          </a:p>
          <a:p>
            <a:r>
              <a:rPr dirty="0"/>
              <a:t>| 102       | Bob    | OS     | IT         |</a:t>
            </a:r>
          </a:p>
          <a:p>
            <a:r>
              <a:rPr dirty="0"/>
              <a:t>| 103       | Charlie| DBMS   | CS         |</a:t>
            </a:r>
          </a:p>
          <a:p>
            <a:endParaRPr dirty="0"/>
          </a:p>
          <a:p>
            <a:r>
              <a:rPr dirty="0"/>
              <a:t>Functional Dependencies:</a:t>
            </a:r>
          </a:p>
          <a:p>
            <a:r>
              <a:rPr dirty="0"/>
              <a:t>- **</a:t>
            </a:r>
            <a:r>
              <a:rPr dirty="0" err="1"/>
              <a:t>Student_ID</a:t>
            </a:r>
            <a:r>
              <a:rPr dirty="0"/>
              <a:t> → Name** (Each </a:t>
            </a:r>
            <a:r>
              <a:rPr dirty="0" err="1"/>
              <a:t>Student_ID</a:t>
            </a:r>
            <a:r>
              <a:rPr dirty="0"/>
              <a:t> uniquely identifies a Name)</a:t>
            </a:r>
          </a:p>
          <a:p>
            <a:r>
              <a:rPr dirty="0"/>
              <a:t>- **Course → Department** (Each Course belongs to a single Department)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Identifying Functional Dependencies</a:t>
            </a:r>
          </a:p>
        </p:txBody>
      </p:sp>
      <p:sp>
        <p:nvSpPr>
          <p:cNvPr id="3" name="Content Placeholder 2"/>
          <p:cNvSpPr>
            <a:spLocks noGrp="1"/>
          </p:cNvSpPr>
          <p:nvPr>
            <p:ph idx="1"/>
          </p:nvPr>
        </p:nvSpPr>
        <p:spPr/>
        <p:txBody>
          <a:bodyPr/>
          <a:lstStyle/>
          <a:p>
            <a:r>
              <a:t>- Check uniqueness of an attribute.</a:t>
            </a:r>
          </a:p>
          <a:p>
            <a:r>
              <a:t>- Use real-world constraints (e.g., each student has a unique ID).</a:t>
            </a:r>
          </a:p>
          <a:p>
            <a:r>
              <a:t>- Normalize tables to remove redundancy.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Importance of Functional Dependencies</a:t>
            </a:r>
          </a:p>
        </p:txBody>
      </p:sp>
      <p:sp>
        <p:nvSpPr>
          <p:cNvPr id="3" name="Content Placeholder 2"/>
          <p:cNvSpPr>
            <a:spLocks noGrp="1"/>
          </p:cNvSpPr>
          <p:nvPr>
            <p:ph idx="1"/>
          </p:nvPr>
        </p:nvSpPr>
        <p:spPr/>
        <p:txBody>
          <a:bodyPr/>
          <a:lstStyle/>
          <a:p>
            <a:r>
              <a:t>- Helps in **normalization** (1NF, 2NF, 3NF, BCNF).</a:t>
            </a:r>
          </a:p>
          <a:p>
            <a:r>
              <a:t>- Reduces data redundancy.</a:t>
            </a:r>
          </a:p>
          <a:p>
            <a:r>
              <a:t>- Ensures data consistency and integrity.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Normalization</a:t>
            </a:r>
          </a:p>
        </p:txBody>
      </p:sp>
      <p:sp>
        <p:nvSpPr>
          <p:cNvPr id="3" name="Content Placeholder 2"/>
          <p:cNvSpPr>
            <a:spLocks noGrp="1"/>
          </p:cNvSpPr>
          <p:nvPr>
            <p:ph idx="1"/>
          </p:nvPr>
        </p:nvSpPr>
        <p:spPr/>
        <p:txBody>
          <a:bodyPr/>
          <a:lstStyle/>
          <a:p>
            <a:r>
              <a:t>- Normalization is the process of organizing data in a database.</a:t>
            </a:r>
          </a:p>
          <a:p>
            <a:r>
              <a:t>- Eliminates redundancy and ensures data dependencies are logical.</a:t>
            </a:r>
          </a:p>
          <a:p>
            <a:r>
              <a:t>- Divides a large table into smaller, related tables.</a:t>
            </a:r>
          </a:p>
          <a:p>
            <a:r>
              <a:t>- Follows a stepwise approach using normal forms.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First Normal Form (1NF)</a:t>
            </a:r>
          </a:p>
        </p:txBody>
      </p:sp>
      <p:sp>
        <p:nvSpPr>
          <p:cNvPr id="3" name="Content Placeholder 2"/>
          <p:cNvSpPr>
            <a:spLocks noGrp="1"/>
          </p:cNvSpPr>
          <p:nvPr>
            <p:ph idx="1"/>
          </p:nvPr>
        </p:nvSpPr>
        <p:spPr/>
        <p:txBody>
          <a:bodyPr>
            <a:normAutofit fontScale="47500" lnSpcReduction="20000"/>
          </a:bodyPr>
          <a:lstStyle/>
          <a:p>
            <a:r>
              <a:t>- A table is in 1NF if:</a:t>
            </a:r>
          </a:p>
          <a:p>
            <a:r>
              <a:t>  - All attributes contain atomic (indivisible) values.</a:t>
            </a:r>
          </a:p>
          <a:p>
            <a:r>
              <a:t>  - Each column contains values of a single type.</a:t>
            </a:r>
          </a:p>
          <a:p>
            <a:r>
              <a:t>  - Each row is unique and identified by a primary key.</a:t>
            </a:r>
          </a:p>
          <a:p>
            <a:endParaRPr/>
          </a:p>
          <a:p>
            <a:r>
              <a:t>**Example (Unnormalized Table):**</a:t>
            </a:r>
          </a:p>
          <a:p>
            <a:r>
              <a:t>| Order_ID | Customer | Items         |</a:t>
            </a:r>
          </a:p>
          <a:p>
            <a:r>
              <a:t>|----------|---------|--------------|</a:t>
            </a:r>
          </a:p>
          <a:p>
            <a:r>
              <a:t>| 1        | Alice   | Pen, Pencil  |</a:t>
            </a:r>
          </a:p>
          <a:p>
            <a:r>
              <a:t>| 2        | Bob     | Notebook     |</a:t>
            </a:r>
          </a:p>
          <a:p>
            <a:endParaRPr/>
          </a:p>
          <a:p>
            <a:r>
              <a:t>**Solution (1NF Table):**</a:t>
            </a:r>
          </a:p>
          <a:p>
            <a:r>
              <a:t>| Order_ID | Customer | Item     |</a:t>
            </a:r>
          </a:p>
          <a:p>
            <a:r>
              <a:t>|----------|---------|---------|</a:t>
            </a:r>
          </a:p>
          <a:p>
            <a:r>
              <a:t>| 1        | Alice   | Pen     |</a:t>
            </a:r>
          </a:p>
          <a:p>
            <a:r>
              <a:t>| 1        | Alice   | Pencil  |</a:t>
            </a:r>
          </a:p>
          <a:p>
            <a:r>
              <a:t>| 2        | Bob     | Notebook|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Second Normal Form (2NF)</a:t>
            </a:r>
          </a:p>
        </p:txBody>
      </p:sp>
      <p:sp>
        <p:nvSpPr>
          <p:cNvPr id="3" name="Content Placeholder 2"/>
          <p:cNvSpPr>
            <a:spLocks noGrp="1"/>
          </p:cNvSpPr>
          <p:nvPr>
            <p:ph idx="1"/>
          </p:nvPr>
        </p:nvSpPr>
        <p:spPr/>
        <p:txBody>
          <a:bodyPr numCol="2">
            <a:normAutofit fontScale="55000" lnSpcReduction="20000"/>
          </a:bodyPr>
          <a:lstStyle/>
          <a:p>
            <a:r>
              <a:rPr dirty="0"/>
              <a:t>- A table is in 2NF if:</a:t>
            </a:r>
          </a:p>
          <a:p>
            <a:r>
              <a:rPr dirty="0"/>
              <a:t>  - It is already in 1NF.</a:t>
            </a:r>
          </a:p>
          <a:p>
            <a:r>
              <a:rPr dirty="0"/>
              <a:t>  - It has no partial dependencies (every non-key attribute depends on the whole primary key).</a:t>
            </a:r>
          </a:p>
          <a:p>
            <a:endParaRPr dirty="0"/>
          </a:p>
          <a:p>
            <a:r>
              <a:rPr dirty="0"/>
              <a:t>**Example (1NF Table with Partial Dependency):**</a:t>
            </a:r>
          </a:p>
          <a:p>
            <a:r>
              <a:rPr dirty="0"/>
              <a:t>| </a:t>
            </a:r>
            <a:r>
              <a:rPr dirty="0" err="1"/>
              <a:t>Order_ID</a:t>
            </a:r>
            <a:r>
              <a:rPr dirty="0"/>
              <a:t> | Item     | Supplier | </a:t>
            </a:r>
            <a:r>
              <a:rPr dirty="0" err="1"/>
              <a:t>Supplier_City</a:t>
            </a:r>
            <a:r>
              <a:rPr dirty="0"/>
              <a:t> |</a:t>
            </a:r>
          </a:p>
          <a:p>
            <a:r>
              <a:rPr dirty="0"/>
              <a:t>|----------|---------|----------|--------------|</a:t>
            </a:r>
          </a:p>
          <a:p>
            <a:r>
              <a:rPr dirty="0"/>
              <a:t>| 1        | Pen     | ABC Ltd  | New York     |</a:t>
            </a:r>
          </a:p>
          <a:p>
            <a:r>
              <a:rPr dirty="0"/>
              <a:t>| 2        | Pencil  | ABC Ltd  | New York     |</a:t>
            </a:r>
          </a:p>
          <a:p>
            <a:endParaRPr dirty="0"/>
          </a:p>
          <a:p>
            <a:r>
              <a:rPr dirty="0"/>
              <a:t>**Problem:**</a:t>
            </a:r>
          </a:p>
          <a:p>
            <a:r>
              <a:rPr dirty="0"/>
              <a:t>- </a:t>
            </a:r>
            <a:r>
              <a:rPr dirty="0" err="1"/>
              <a:t>Supplier_City</a:t>
            </a:r>
            <a:r>
              <a:rPr dirty="0"/>
              <a:t> depends only on Supplier, not on </a:t>
            </a:r>
            <a:r>
              <a:rPr dirty="0" err="1"/>
              <a:t>Order_ID</a:t>
            </a:r>
            <a:r>
              <a:rPr dirty="0"/>
              <a:t>.</a:t>
            </a:r>
          </a:p>
          <a:p>
            <a:endParaRPr dirty="0"/>
          </a:p>
          <a:p>
            <a:r>
              <a:rPr dirty="0"/>
              <a:t>**Solution (2NF Table):**</a:t>
            </a:r>
          </a:p>
          <a:p>
            <a:r>
              <a:rPr dirty="0"/>
              <a:t>**Orders Table:**</a:t>
            </a:r>
          </a:p>
          <a:p>
            <a:r>
              <a:rPr dirty="0"/>
              <a:t>| </a:t>
            </a:r>
            <a:r>
              <a:rPr dirty="0" err="1"/>
              <a:t>Order_ID</a:t>
            </a:r>
            <a:r>
              <a:rPr dirty="0"/>
              <a:t> | Item     | Supplier |</a:t>
            </a:r>
          </a:p>
          <a:p>
            <a:r>
              <a:rPr dirty="0"/>
              <a:t>|----------|---------|----------|</a:t>
            </a:r>
          </a:p>
          <a:p>
            <a:r>
              <a:rPr dirty="0"/>
              <a:t>| 1        | Pen     | ABC Ltd  |</a:t>
            </a:r>
          </a:p>
          <a:p>
            <a:r>
              <a:rPr dirty="0"/>
              <a:t>| 2        | Pencil  | ABC Ltd  |</a:t>
            </a:r>
          </a:p>
          <a:p>
            <a:endParaRPr dirty="0"/>
          </a:p>
          <a:p>
            <a:r>
              <a:rPr dirty="0"/>
              <a:t>**Suppliers Table:**</a:t>
            </a:r>
          </a:p>
          <a:p>
            <a:r>
              <a:rPr dirty="0"/>
              <a:t>| Supplier | </a:t>
            </a:r>
            <a:r>
              <a:rPr dirty="0" err="1"/>
              <a:t>Supplier_City</a:t>
            </a:r>
            <a:r>
              <a:rPr dirty="0"/>
              <a:t> |</a:t>
            </a:r>
          </a:p>
          <a:p>
            <a:r>
              <a:rPr dirty="0"/>
              <a:t>|----------|--------------|</a:t>
            </a:r>
          </a:p>
          <a:p>
            <a:r>
              <a:rPr dirty="0"/>
              <a:t>| ABC Ltd  | New York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Real-Time Application of Normalization</a:t>
            </a:r>
          </a:p>
        </p:txBody>
      </p:sp>
      <p:sp>
        <p:nvSpPr>
          <p:cNvPr id="3" name="Content Placeholder 2"/>
          <p:cNvSpPr>
            <a:spLocks noGrp="1"/>
          </p:cNvSpPr>
          <p:nvPr>
            <p:ph idx="1"/>
          </p:nvPr>
        </p:nvSpPr>
        <p:spPr/>
        <p:txBody>
          <a:bodyPr/>
          <a:lstStyle/>
          <a:p>
            <a:r>
              <a:t>- Used in **banking systems** to manage customer transactions.</a:t>
            </a:r>
          </a:p>
          <a:p>
            <a:r>
              <a:t>- Applied in **e-commerce platforms** to organize product listings.</a:t>
            </a:r>
          </a:p>
          <a:p>
            <a:r>
              <a:t>- Ensures **efficient data retrieval** in healthcare databases.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 Normalization organizes data efficiently and avoids redundancy.</a:t>
            </a:r>
          </a:p>
          <a:p>
            <a:r>
              <a:t>- Helps in designing scalable databases with better performance.</a:t>
            </a:r>
          </a:p>
          <a:p>
            <a:r>
              <a:t>- Functional dependencies play a key role in achieving normalization.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Normalization</a:t>
            </a:r>
            <a:endParaRPr lang="en-IN" dirty="0"/>
          </a:p>
        </p:txBody>
      </p:sp>
      <p:sp>
        <p:nvSpPr>
          <p:cNvPr id="3" name="Content Placeholder 2"/>
          <p:cNvSpPr>
            <a:spLocks noGrp="1"/>
          </p:cNvSpPr>
          <p:nvPr>
            <p:ph idx="1"/>
          </p:nvPr>
        </p:nvSpPr>
        <p:spPr>
          <a:xfrm>
            <a:off x="457200" y="1600200"/>
            <a:ext cx="8229600" cy="4911436"/>
          </a:xfrm>
        </p:spPr>
        <p:txBody>
          <a:bodyPr>
            <a:normAutofit fontScale="77500" lnSpcReduction="20000"/>
          </a:bodyPr>
          <a:lstStyle/>
          <a:p>
            <a:pPr algn="just"/>
            <a:r>
              <a:rPr lang="en-US" dirty="0"/>
              <a:t>Normalization in DBMS is a technique using which you can organize the data in the database tables so that:</a:t>
            </a:r>
          </a:p>
          <a:p>
            <a:pPr algn="just"/>
            <a:r>
              <a:rPr lang="en-US" dirty="0"/>
              <a:t>There is less repetition of data,</a:t>
            </a:r>
          </a:p>
          <a:p>
            <a:pPr algn="just"/>
            <a:r>
              <a:rPr lang="en-US" dirty="0"/>
              <a:t>A large set of data is structured into a bunch of smaller tables,</a:t>
            </a:r>
          </a:p>
          <a:p>
            <a:pPr algn="just"/>
            <a:r>
              <a:rPr lang="en-US" dirty="0"/>
              <a:t>and the tables have a proper relationship between them.</a:t>
            </a:r>
          </a:p>
          <a:p>
            <a:pPr algn="just"/>
            <a:r>
              <a:rPr lang="en-US" dirty="0"/>
              <a:t>DBMS Normalization is a systematic approach to </a:t>
            </a:r>
            <a:r>
              <a:rPr lang="en-US" b="1" dirty="0"/>
              <a:t>decompose (break down) tables</a:t>
            </a:r>
            <a:r>
              <a:rPr lang="en-US" dirty="0"/>
              <a:t> to eliminate data redundancy(repetition) and undesirable characteristics like Insertion anomaly in DBMS, Update anomaly in DBMS, and Delete anomaly in DBMS.</a:t>
            </a:r>
          </a:p>
          <a:p>
            <a:pPr algn="just"/>
            <a:r>
              <a:rPr lang="en-US" dirty="0"/>
              <a:t>It is a </a:t>
            </a:r>
            <a:r>
              <a:rPr lang="en-US" b="1" dirty="0"/>
              <a:t>multi-step process</a:t>
            </a:r>
            <a:r>
              <a:rPr lang="en-US" dirty="0"/>
              <a:t> that puts data into tabular form, removes duplicate data, and set up the relationship between tables.</a:t>
            </a:r>
          </a:p>
          <a:p>
            <a:pPr algn="just"/>
            <a:endParaRPr lang="en-IN" dirty="0"/>
          </a:p>
        </p:txBody>
      </p:sp>
    </p:spTree>
    <p:extLst>
      <p:ext uri="{BB962C8B-B14F-4D97-AF65-F5344CB8AC3E}">
        <p14:creationId xmlns:p14="http://schemas.microsoft.com/office/powerpoint/2010/main" val="12593970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we need Normalization in DBMS?</a:t>
            </a:r>
            <a:br>
              <a:rPr lang="en-US" dirty="0"/>
            </a:b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smtClean="0"/>
              <a:t>Normalization </a:t>
            </a:r>
            <a:r>
              <a:rPr lang="en-US" dirty="0"/>
              <a:t>is required </a:t>
            </a:r>
            <a:r>
              <a:rPr lang="en-US" dirty="0" smtClean="0"/>
              <a:t>for, Eliminating redundant(useless</a:t>
            </a:r>
            <a:r>
              <a:rPr lang="en-US" dirty="0"/>
              <a:t>) data, therefore handling </a:t>
            </a:r>
            <a:r>
              <a:rPr lang="en-US" b="1" dirty="0"/>
              <a:t>data integrity</a:t>
            </a:r>
            <a:r>
              <a:rPr lang="en-US" dirty="0"/>
              <a:t>, because if data is repeated it increases the chances of inconsistent data.</a:t>
            </a:r>
          </a:p>
          <a:p>
            <a:pPr algn="just"/>
            <a:r>
              <a:rPr lang="en-US" dirty="0"/>
              <a:t>Normalization helps in keeping </a:t>
            </a:r>
            <a:r>
              <a:rPr lang="en-US" b="1" dirty="0"/>
              <a:t>data consistent</a:t>
            </a:r>
            <a:r>
              <a:rPr lang="en-US" dirty="0"/>
              <a:t> by storing the data in one table and referencing it everywhere else.</a:t>
            </a:r>
          </a:p>
          <a:p>
            <a:pPr algn="just"/>
            <a:r>
              <a:rPr lang="en-US" dirty="0"/>
              <a:t>Storage optimization although that is not an issue these days because Database storage is cheap.</a:t>
            </a:r>
          </a:p>
          <a:p>
            <a:pPr algn="just"/>
            <a:r>
              <a:rPr lang="en-US" dirty="0"/>
              <a:t>Breaking down large tables into smaller tables with relationships, so it makes the database structure more scalable and adaptable.</a:t>
            </a:r>
          </a:p>
          <a:p>
            <a:pPr algn="just"/>
            <a:r>
              <a:rPr lang="en-US" dirty="0"/>
              <a:t>Ensuring data dependencies make sense i.e. data is logically stored.</a:t>
            </a:r>
          </a:p>
          <a:p>
            <a:endParaRPr lang="en-IN" dirty="0"/>
          </a:p>
        </p:txBody>
      </p:sp>
    </p:spTree>
    <p:extLst>
      <p:ext uri="{BB962C8B-B14F-4D97-AF65-F5344CB8AC3E}">
        <p14:creationId xmlns:p14="http://schemas.microsoft.com/office/powerpoint/2010/main" val="17699622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Types </a:t>
            </a:r>
            <a:r>
              <a:rPr lang="en-US" dirty="0"/>
              <a:t>of DBMS Normal forms</a:t>
            </a:r>
            <a:br>
              <a:rPr lang="en-US" dirty="0"/>
            </a:br>
            <a:endParaRPr lang="en-IN" dirty="0"/>
          </a:p>
        </p:txBody>
      </p:sp>
      <p:sp>
        <p:nvSpPr>
          <p:cNvPr id="3" name="Content Placeholder 2"/>
          <p:cNvSpPr>
            <a:spLocks noGrp="1"/>
          </p:cNvSpPr>
          <p:nvPr>
            <p:ph idx="1"/>
          </p:nvPr>
        </p:nvSpPr>
        <p:spPr/>
        <p:txBody>
          <a:bodyPr/>
          <a:lstStyle/>
          <a:p>
            <a:r>
              <a:rPr lang="en-US" dirty="0" smtClean="0"/>
              <a:t>Normalization </a:t>
            </a:r>
            <a:r>
              <a:rPr lang="en-US" dirty="0"/>
              <a:t>rules are divided into the following normal forms:</a:t>
            </a:r>
          </a:p>
          <a:p>
            <a:r>
              <a:rPr lang="en-US" dirty="0"/>
              <a:t>First Normal Form</a:t>
            </a:r>
          </a:p>
          <a:p>
            <a:r>
              <a:rPr lang="en-US" dirty="0"/>
              <a:t>Second Normal Form</a:t>
            </a:r>
          </a:p>
          <a:p>
            <a:r>
              <a:rPr lang="en-US" dirty="0"/>
              <a:t>Third Normal Form</a:t>
            </a:r>
          </a:p>
          <a:p>
            <a:r>
              <a:rPr lang="en-US" dirty="0"/>
              <a:t>BCNF</a:t>
            </a:r>
          </a:p>
          <a:p>
            <a:endParaRPr lang="en-IN" dirty="0"/>
          </a:p>
        </p:txBody>
      </p:sp>
    </p:spTree>
    <p:extLst>
      <p:ext uri="{BB962C8B-B14F-4D97-AF65-F5344CB8AC3E}">
        <p14:creationId xmlns:p14="http://schemas.microsoft.com/office/powerpoint/2010/main" val="23002455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307"/>
          </a:xfrm>
        </p:spPr>
        <p:txBody>
          <a:bodyPr>
            <a:normAutofit fontScale="90000"/>
          </a:bodyPr>
          <a:lstStyle/>
          <a:p>
            <a:r>
              <a:rPr lang="en-US" dirty="0" smtClean="0"/>
              <a:t/>
            </a:r>
            <a:br>
              <a:rPr lang="en-US" dirty="0" smtClean="0"/>
            </a:br>
            <a:r>
              <a:rPr lang="en-US" dirty="0" smtClean="0"/>
              <a:t>1</a:t>
            </a:r>
            <a:r>
              <a:rPr lang="en-US" dirty="0"/>
              <a:t>. First Normal Form (1NF)</a:t>
            </a:r>
            <a:br>
              <a:rPr lang="en-US" dirty="0"/>
            </a:br>
            <a:endParaRPr lang="en-IN" dirty="0"/>
          </a:p>
        </p:txBody>
      </p:sp>
      <p:sp>
        <p:nvSpPr>
          <p:cNvPr id="3" name="Content Placeholder 2"/>
          <p:cNvSpPr>
            <a:spLocks noGrp="1"/>
          </p:cNvSpPr>
          <p:nvPr>
            <p:ph idx="1"/>
          </p:nvPr>
        </p:nvSpPr>
        <p:spPr>
          <a:xfrm>
            <a:off x="457200" y="1233056"/>
            <a:ext cx="8229600" cy="4893108"/>
          </a:xfrm>
        </p:spPr>
        <p:txBody>
          <a:bodyPr>
            <a:normAutofit fontScale="92500" lnSpcReduction="10000"/>
          </a:bodyPr>
          <a:lstStyle/>
          <a:p>
            <a:r>
              <a:rPr lang="en-US" dirty="0" smtClean="0"/>
              <a:t>For </a:t>
            </a:r>
            <a:r>
              <a:rPr lang="en-US" dirty="0"/>
              <a:t>a table to be in the First Normal Form, it should follow the following 4 rules:</a:t>
            </a:r>
          </a:p>
          <a:p>
            <a:r>
              <a:rPr lang="en-US" dirty="0"/>
              <a:t>It should only have single(</a:t>
            </a:r>
            <a:r>
              <a:rPr lang="en-US" b="1" dirty="0"/>
              <a:t>atomic</a:t>
            </a:r>
            <a:r>
              <a:rPr lang="en-US" dirty="0"/>
              <a:t>) valued attributes/columns.</a:t>
            </a:r>
          </a:p>
          <a:p>
            <a:r>
              <a:rPr lang="en-US" dirty="0"/>
              <a:t>Values stored in a column should be of the same domain.</a:t>
            </a:r>
          </a:p>
          <a:p>
            <a:r>
              <a:rPr lang="en-US" dirty="0"/>
              <a:t>All the columns in a table should have unique names.</a:t>
            </a:r>
          </a:p>
          <a:p>
            <a:r>
              <a:rPr lang="en-US" dirty="0"/>
              <a:t>And the order in which data is stored should not matter.</a:t>
            </a:r>
          </a:p>
          <a:p>
            <a:endParaRPr lang="en-IN" dirty="0"/>
          </a:p>
        </p:txBody>
      </p:sp>
    </p:spTree>
    <p:extLst>
      <p:ext uri="{BB962C8B-B14F-4D97-AF65-F5344CB8AC3E}">
        <p14:creationId xmlns:p14="http://schemas.microsoft.com/office/powerpoint/2010/main" val="42104319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364" y="1600200"/>
            <a:ext cx="8340436" cy="4953000"/>
          </a:xfrm>
        </p:spPr>
      </p:pic>
    </p:spTree>
    <p:extLst>
      <p:ext uri="{BB962C8B-B14F-4D97-AF65-F5344CB8AC3E}">
        <p14:creationId xmlns:p14="http://schemas.microsoft.com/office/powerpoint/2010/main" val="738442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r>
              <a:rPr lang="en-US" dirty="0"/>
              <a:t>But the </a:t>
            </a:r>
            <a:r>
              <a:rPr lang="en-US" b="1" dirty="0" err="1"/>
              <a:t>emp_skills</a:t>
            </a:r>
            <a:r>
              <a:rPr lang="en-US" dirty="0"/>
              <a:t> column holds </a:t>
            </a:r>
            <a:r>
              <a:rPr lang="en-US" i="1" dirty="0"/>
              <a:t>multiple comma-separated values</a:t>
            </a:r>
            <a:r>
              <a:rPr lang="en-US" dirty="0"/>
              <a:t>, while as per the First Normal form, each column should have a single value.</a:t>
            </a:r>
          </a:p>
          <a:p>
            <a:r>
              <a:rPr lang="en-US" dirty="0"/>
              <a:t>Hence the above table fails to pass the First Normal form.</a:t>
            </a:r>
          </a:p>
          <a:p>
            <a:r>
              <a:rPr lang="en-US" dirty="0"/>
              <a:t>So how do you fix the above table? There are two ways to do this:</a:t>
            </a:r>
          </a:p>
          <a:p>
            <a:r>
              <a:rPr lang="en-US" dirty="0"/>
              <a:t>Remove the </a:t>
            </a:r>
            <a:r>
              <a:rPr lang="en-US" b="1" dirty="0" err="1"/>
              <a:t>emp_skills</a:t>
            </a:r>
            <a:r>
              <a:rPr lang="en-US" dirty="0"/>
              <a:t> column from the </a:t>
            </a:r>
            <a:r>
              <a:rPr lang="en-US" b="1" dirty="0"/>
              <a:t>Employee</a:t>
            </a:r>
            <a:r>
              <a:rPr lang="en-US" dirty="0"/>
              <a:t> table and keep it in some other table.</a:t>
            </a:r>
          </a:p>
          <a:p>
            <a:r>
              <a:rPr lang="en-US" dirty="0"/>
              <a:t>Or add multiple rows for the employee and each row is linked with one skill.</a:t>
            </a:r>
          </a:p>
          <a:p>
            <a:endParaRPr lang="en-IN" dirty="0"/>
          </a:p>
        </p:txBody>
      </p:sp>
    </p:spTree>
    <p:extLst>
      <p:ext uri="{BB962C8B-B14F-4D97-AF65-F5344CB8AC3E}">
        <p14:creationId xmlns:p14="http://schemas.microsoft.com/office/powerpoint/2010/main" val="31527782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565564"/>
            <a:ext cx="8229600" cy="4599709"/>
          </a:xfrm>
        </p:spPr>
      </p:pic>
    </p:spTree>
    <p:extLst>
      <p:ext uri="{BB962C8B-B14F-4D97-AF65-F5344CB8AC3E}">
        <p14:creationId xmlns:p14="http://schemas.microsoft.com/office/powerpoint/2010/main" val="2571660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364" y="1600200"/>
            <a:ext cx="8340436" cy="5008418"/>
          </a:xfrm>
        </p:spPr>
      </p:pic>
    </p:spTree>
    <p:extLst>
      <p:ext uri="{BB962C8B-B14F-4D97-AF65-F5344CB8AC3E}">
        <p14:creationId xmlns:p14="http://schemas.microsoft.com/office/powerpoint/2010/main" val="24705266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US" sz="2200" dirty="0"/>
              <a:t>You can also </a:t>
            </a:r>
            <a:r>
              <a:rPr lang="en-US" sz="2200" i="1" dirty="0"/>
              <a:t>simply add multiple rows</a:t>
            </a:r>
            <a:r>
              <a:rPr lang="en-US" sz="2200" dirty="0"/>
              <a:t> to add multiple skills. This will lead to repetition of the data, but that can be handled as you further Normalize your data using the </a:t>
            </a:r>
            <a:r>
              <a:rPr lang="en-US" sz="2700" dirty="0"/>
              <a:t>Second Normal form and the Third Normal form.</a:t>
            </a:r>
            <a:endParaRPr lang="en-IN" sz="27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3455" y="1600200"/>
            <a:ext cx="7758545" cy="4525963"/>
          </a:xfrm>
        </p:spPr>
      </p:pic>
    </p:spTree>
    <p:extLst>
      <p:ext uri="{BB962C8B-B14F-4D97-AF65-F5344CB8AC3E}">
        <p14:creationId xmlns:p14="http://schemas.microsoft.com/office/powerpoint/2010/main" val="12027399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2</a:t>
            </a:r>
            <a:r>
              <a:rPr lang="en-US" dirty="0"/>
              <a:t>. Second Normal Form (2NF)</a:t>
            </a:r>
            <a:br>
              <a:rPr lang="en-US" dirty="0"/>
            </a:br>
            <a:endParaRPr lang="en-IN" dirty="0"/>
          </a:p>
        </p:txBody>
      </p:sp>
      <p:sp>
        <p:nvSpPr>
          <p:cNvPr id="3" name="Content Placeholder 2"/>
          <p:cNvSpPr>
            <a:spLocks noGrp="1"/>
          </p:cNvSpPr>
          <p:nvPr>
            <p:ph idx="1"/>
          </p:nvPr>
        </p:nvSpPr>
        <p:spPr>
          <a:xfrm>
            <a:off x="457200" y="1600200"/>
            <a:ext cx="8229600" cy="4997548"/>
          </a:xfrm>
        </p:spPr>
        <p:txBody>
          <a:bodyPr>
            <a:normAutofit fontScale="92500" lnSpcReduction="10000"/>
          </a:bodyPr>
          <a:lstStyle/>
          <a:p>
            <a:pPr algn="just"/>
            <a:r>
              <a:rPr lang="en-US" dirty="0" smtClean="0"/>
              <a:t>For </a:t>
            </a:r>
            <a:r>
              <a:rPr lang="en-US" dirty="0"/>
              <a:t>a table to be in the Second Normal Form,</a:t>
            </a:r>
          </a:p>
          <a:p>
            <a:pPr algn="just"/>
            <a:r>
              <a:rPr lang="en-US" dirty="0"/>
              <a:t>It should be in the First Normal form.</a:t>
            </a:r>
          </a:p>
          <a:p>
            <a:pPr algn="just"/>
            <a:r>
              <a:rPr lang="en-US" dirty="0"/>
              <a:t>And, it should not have </a:t>
            </a:r>
            <a:r>
              <a:rPr lang="en-US" b="1" dirty="0"/>
              <a:t>Partial Dependency</a:t>
            </a:r>
            <a:r>
              <a:rPr lang="en-US" dirty="0" smtClean="0"/>
              <a:t>.</a:t>
            </a:r>
          </a:p>
          <a:p>
            <a:pPr algn="just"/>
            <a:r>
              <a:rPr lang="en-US" b="1" dirty="0">
                <a:solidFill>
                  <a:srgbClr val="FF0000"/>
                </a:solidFill>
              </a:rPr>
              <a:t>What is Partial Dependency?</a:t>
            </a:r>
          </a:p>
          <a:p>
            <a:pPr marL="0" indent="0" algn="just">
              <a:buNone/>
            </a:pPr>
            <a:r>
              <a:rPr lang="en-US" dirty="0"/>
              <a:t>When a table has a primary key that is made up of two or more columns, then all the columns(not included in the primary key) in that table should depend on the entire primary key and not on a part of it. If any column(which is not in the primary key) depends on a part of the primary key then we say we have Partial dependency in the table.</a:t>
            </a:r>
          </a:p>
          <a:p>
            <a:endParaRPr lang="en-US" dirty="0"/>
          </a:p>
          <a:p>
            <a:endParaRPr lang="en-IN" dirty="0"/>
          </a:p>
        </p:txBody>
      </p:sp>
    </p:spTree>
    <p:extLst>
      <p:ext uri="{BB962C8B-B14F-4D97-AF65-F5344CB8AC3E}">
        <p14:creationId xmlns:p14="http://schemas.microsoft.com/office/powerpoint/2010/main" val="31354810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9489" y="1547446"/>
            <a:ext cx="8377311" cy="5022166"/>
          </a:xfrm>
        </p:spPr>
      </p:pic>
    </p:spTree>
    <p:extLst>
      <p:ext uri="{BB962C8B-B14F-4D97-AF65-F5344CB8AC3E}">
        <p14:creationId xmlns:p14="http://schemas.microsoft.com/office/powerpoint/2010/main" val="5766698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00200"/>
            <a:ext cx="8229600" cy="5146964"/>
          </a:xfrm>
        </p:spPr>
      </p:pic>
    </p:spTree>
    <p:extLst>
      <p:ext uri="{BB962C8B-B14F-4D97-AF65-F5344CB8AC3E}">
        <p14:creationId xmlns:p14="http://schemas.microsoft.com/office/powerpoint/2010/main" val="33386335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a:t>Since </a:t>
            </a:r>
            <a:r>
              <a:rPr lang="en-IN" b="1" dirty="0"/>
              <a:t>FD: B → C,</a:t>
            </a:r>
            <a:r>
              <a:rPr lang="en-IN" dirty="0"/>
              <a:t> our table was not in 2NF, let's decompose the table</a:t>
            </a:r>
          </a:p>
          <a:p>
            <a:pPr marL="0" indent="0">
              <a:buNone/>
            </a:pPr>
            <a:r>
              <a:rPr lang="en-IN" b="1" dirty="0"/>
              <a:t>R1(B, C)</a:t>
            </a:r>
            <a:endParaRPr lang="en-IN" dirty="0"/>
          </a:p>
          <a:p>
            <a:r>
              <a:rPr lang="en-IN" dirty="0"/>
              <a:t>Since the key is AB, and from FD AB → CD, we can create R2(A, B, C, D) but this will again have a problem of partial dependency B → C, hence R2(A, B, D).</a:t>
            </a:r>
          </a:p>
          <a:p>
            <a:pPr marL="0" indent="0">
              <a:buNone/>
            </a:pPr>
            <a:r>
              <a:rPr lang="en-IN" b="1" dirty="0">
                <a:solidFill>
                  <a:srgbClr val="0070C0"/>
                </a:solidFill>
              </a:rPr>
              <a:t>Finally, the decomposed table which is in 2NF</a:t>
            </a:r>
          </a:p>
          <a:p>
            <a:r>
              <a:rPr lang="en-IN" i="1" dirty="0">
                <a:solidFill>
                  <a:srgbClr val="FF0000"/>
                </a:solidFill>
              </a:rPr>
              <a:t>a) R1( B, C)</a:t>
            </a:r>
          </a:p>
          <a:p>
            <a:r>
              <a:rPr lang="en-IN" i="1" dirty="0">
                <a:solidFill>
                  <a:srgbClr val="FF0000"/>
                </a:solidFill>
              </a:rPr>
              <a:t>b) R2(A, B, D)</a:t>
            </a:r>
          </a:p>
          <a:p>
            <a:endParaRPr lang="en-IN" dirty="0"/>
          </a:p>
        </p:txBody>
      </p:sp>
    </p:spTree>
    <p:extLst>
      <p:ext uri="{BB962C8B-B14F-4D97-AF65-F5344CB8AC3E}">
        <p14:creationId xmlns:p14="http://schemas.microsoft.com/office/powerpoint/2010/main" val="89756801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b="1" dirty="0"/>
              <a:t>3. Given a relation R( P, Q, R, S, T, U, V, W, X, Y) and Functional Dependency set FD = { PQ → R, PS → VW, QS → TU, P → X, W → Y }, determine whether the given R is in 2NF? If not convert it into 2 NF.</a:t>
            </a:r>
            <a:endParaRPr lang="en-IN" dirty="0"/>
          </a:p>
          <a:p>
            <a:endParaRPr lang="en-IN" dirty="0"/>
          </a:p>
        </p:txBody>
      </p:sp>
    </p:spTree>
    <p:extLst>
      <p:ext uri="{BB962C8B-B14F-4D97-AF65-F5344CB8AC3E}">
        <p14:creationId xmlns:p14="http://schemas.microsoft.com/office/powerpoint/2010/main" val="11119978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a:t>
            </a:r>
            <a:endParaRPr lang="en-IN" dirty="0"/>
          </a:p>
        </p:txBody>
      </p:sp>
      <p:sp>
        <p:nvSpPr>
          <p:cNvPr id="3" name="Content Placeholder 2"/>
          <p:cNvSpPr>
            <a:spLocks noGrp="1"/>
          </p:cNvSpPr>
          <p:nvPr>
            <p:ph idx="1"/>
          </p:nvPr>
        </p:nvSpPr>
        <p:spPr/>
        <p:txBody>
          <a:bodyPr numCol="2">
            <a:normAutofit fontScale="62500" lnSpcReduction="20000"/>
          </a:bodyPr>
          <a:lstStyle/>
          <a:p>
            <a:r>
              <a:rPr lang="en-IN" dirty="0"/>
              <a:t>Since due to FD: PQ → R, PS → VW, QS → TU, P → X our table was not in 2NF, let's decompose the table</a:t>
            </a:r>
          </a:p>
          <a:p>
            <a:r>
              <a:rPr lang="en-IN" b="1" dirty="0"/>
              <a:t>R1(P, Q, R)</a:t>
            </a:r>
            <a:r>
              <a:rPr lang="en-IN" dirty="0"/>
              <a:t> (Now in table R1 FD: PQ → R is Full F D, hence R1 is in 2NF)</a:t>
            </a:r>
          </a:p>
          <a:p>
            <a:r>
              <a:rPr lang="en-IN" b="1" dirty="0"/>
              <a:t>R2( P, S, V, W)</a:t>
            </a:r>
            <a:r>
              <a:rPr lang="en-IN" dirty="0"/>
              <a:t> (Now in table R2 FD: PS → VW is Full F D, hence R2 is in 2NF)</a:t>
            </a:r>
          </a:p>
          <a:p>
            <a:r>
              <a:rPr lang="en-IN" b="1" dirty="0"/>
              <a:t>R3( Q, S, T, U)</a:t>
            </a:r>
            <a:r>
              <a:rPr lang="en-IN" dirty="0"/>
              <a:t> (Now in table R3 FD: QS → TU is Full F D, hence R3 is in 2NF)</a:t>
            </a:r>
          </a:p>
          <a:p>
            <a:r>
              <a:rPr lang="en-IN" b="1" dirty="0"/>
              <a:t>R4( P, X)</a:t>
            </a:r>
            <a:r>
              <a:rPr lang="en-IN" dirty="0"/>
              <a:t> (Now in table R4 FD : P → X is Full F D, hence R4 is in 2NF)</a:t>
            </a:r>
          </a:p>
          <a:p>
            <a:r>
              <a:rPr lang="en-IN" b="1" dirty="0"/>
              <a:t>R5( W, Y)</a:t>
            </a:r>
            <a:r>
              <a:rPr lang="en-IN" dirty="0"/>
              <a:t> (Now in table R5 FD: W → Y is Full F D, hence R2 is in 2NF)</a:t>
            </a:r>
          </a:p>
          <a:p>
            <a:r>
              <a:rPr lang="en-IN" dirty="0"/>
              <a:t>And create one table for the key, since the key is PQS.</a:t>
            </a:r>
          </a:p>
          <a:p>
            <a:r>
              <a:rPr lang="en-IN" b="1" dirty="0"/>
              <a:t>R6(P, Q, S)</a:t>
            </a:r>
            <a:endParaRPr lang="en-IN" dirty="0"/>
          </a:p>
          <a:p>
            <a:r>
              <a:rPr lang="en-IN" b="1" dirty="0"/>
              <a:t>Finally, the decomposed tables which is in 2NF are:</a:t>
            </a:r>
            <a:endParaRPr lang="en-IN" dirty="0"/>
          </a:p>
          <a:p>
            <a:r>
              <a:rPr lang="en-IN" b="1" dirty="0"/>
              <a:t>R1(P, Q, R)</a:t>
            </a:r>
            <a:endParaRPr lang="en-IN" dirty="0"/>
          </a:p>
          <a:p>
            <a:r>
              <a:rPr lang="en-IN" b="1" dirty="0"/>
              <a:t>R2( P, S, V, W)</a:t>
            </a:r>
            <a:endParaRPr lang="en-IN" dirty="0"/>
          </a:p>
          <a:p>
            <a:r>
              <a:rPr lang="en-IN" b="1" dirty="0"/>
              <a:t>R3( Q, S, T, U)</a:t>
            </a:r>
            <a:endParaRPr lang="en-IN" dirty="0"/>
          </a:p>
          <a:p>
            <a:r>
              <a:rPr lang="en-IN" b="1" dirty="0"/>
              <a:t>R4( P, X)</a:t>
            </a:r>
            <a:endParaRPr lang="en-IN" dirty="0"/>
          </a:p>
          <a:p>
            <a:r>
              <a:rPr lang="en-IN" b="1" dirty="0"/>
              <a:t>R5( W, Y)</a:t>
            </a:r>
            <a:endParaRPr lang="en-IN" dirty="0"/>
          </a:p>
          <a:p>
            <a:r>
              <a:rPr lang="en-IN" b="1" dirty="0"/>
              <a:t>R6(P, Q, S)</a:t>
            </a:r>
            <a:endParaRPr lang="en-IN" dirty="0"/>
          </a:p>
          <a:p>
            <a:endParaRPr lang="en-IN" dirty="0"/>
          </a:p>
        </p:txBody>
      </p:sp>
    </p:spTree>
    <p:extLst>
      <p:ext uri="{BB962C8B-B14F-4D97-AF65-F5344CB8AC3E}">
        <p14:creationId xmlns:p14="http://schemas.microsoft.com/office/powerpoint/2010/main" val="370438505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4. Given a relation R( A, B, C, D, E) and Functional Dependency set FD = { A → B, B → E, C → D}, determine whether the given R is in 2NF? If not convert it into 2 NF.</a:t>
            </a:r>
            <a:endParaRPr lang="en-IN" dirty="0"/>
          </a:p>
          <a:p>
            <a:endParaRPr lang="en-IN" dirty="0"/>
          </a:p>
        </p:txBody>
      </p:sp>
    </p:spTree>
    <p:extLst>
      <p:ext uri="{BB962C8B-B14F-4D97-AF65-F5344CB8AC3E}">
        <p14:creationId xmlns:p14="http://schemas.microsoft.com/office/powerpoint/2010/main" val="357976821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3NF</a:t>
            </a:r>
            <a:endParaRPr lang="en-IN" dirty="0"/>
          </a:p>
        </p:txBody>
      </p:sp>
      <p:sp>
        <p:nvSpPr>
          <p:cNvPr id="3" name="Content Placeholder 2"/>
          <p:cNvSpPr>
            <a:spLocks noGrp="1"/>
          </p:cNvSpPr>
          <p:nvPr>
            <p:ph idx="1"/>
          </p:nvPr>
        </p:nvSpPr>
        <p:spPr>
          <a:xfrm>
            <a:off x="457200" y="1083212"/>
            <a:ext cx="8229600" cy="5500468"/>
          </a:xfrm>
        </p:spPr>
        <p:txBody>
          <a:bodyPr>
            <a:normAutofit fontScale="85000" lnSpcReduction="20000"/>
          </a:bodyPr>
          <a:lstStyle/>
          <a:p>
            <a:pPr marL="0" indent="0">
              <a:buNone/>
            </a:pPr>
            <a:r>
              <a:rPr lang="en-IN" dirty="0"/>
              <a:t>To solve the question on 3 NF, we must understand it's both definitions:</a:t>
            </a:r>
          </a:p>
          <a:p>
            <a:r>
              <a:rPr lang="en-IN" b="1" dirty="0"/>
              <a:t>Definition 1:</a:t>
            </a:r>
            <a:r>
              <a:rPr lang="en-IN" dirty="0"/>
              <a:t> A relational schema R is said to be in 3NF, First, it should be in 2NF and, no non-prime attribute should be transitively dependent on the Key of the table.</a:t>
            </a:r>
          </a:p>
          <a:p>
            <a:r>
              <a:rPr lang="en-IN" dirty="0"/>
              <a:t>If X → Y and Y → Z exist then X → Z also exists which is a transitive dependency, and it should not hold.</a:t>
            </a:r>
          </a:p>
          <a:p>
            <a:r>
              <a:rPr lang="en-IN" b="1" dirty="0"/>
              <a:t>Definition 2:</a:t>
            </a:r>
            <a:r>
              <a:rPr lang="en-IN" dirty="0"/>
              <a:t> First it should be in 2NF and if there exists a non-trivial dependency between two sets of attributes X and Y such that X → Y (i.e., Y is not a subset of X) then</a:t>
            </a:r>
          </a:p>
          <a:p>
            <a:pPr lvl="0"/>
            <a:r>
              <a:rPr lang="en-IN" dirty="0"/>
              <a:t>Either X is Super Key</a:t>
            </a:r>
          </a:p>
          <a:p>
            <a:pPr lvl="0"/>
            <a:r>
              <a:rPr lang="en-IN" dirty="0"/>
              <a:t>Or Y is a prime attribute.</a:t>
            </a:r>
          </a:p>
          <a:p>
            <a:endParaRPr lang="en-IN" dirty="0"/>
          </a:p>
        </p:txBody>
      </p:sp>
    </p:spTree>
    <p:extLst>
      <p:ext uri="{BB962C8B-B14F-4D97-AF65-F5344CB8AC3E}">
        <p14:creationId xmlns:p14="http://schemas.microsoft.com/office/powerpoint/2010/main" val="35770848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00200"/>
            <a:ext cx="8132617" cy="4980709"/>
          </a:xfrm>
        </p:spPr>
      </p:pic>
    </p:spTree>
    <p:extLst>
      <p:ext uri="{BB962C8B-B14F-4D97-AF65-F5344CB8AC3E}">
        <p14:creationId xmlns:p14="http://schemas.microsoft.com/office/powerpoint/2010/main" val="162174530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IN" dirty="0"/>
              <a:t>Since all key will have X as an integral part, and we have proved that X is Candidate Key, Therefore, any superset of X will be Super Key but not the Candidate key.</a:t>
            </a:r>
          </a:p>
          <a:p>
            <a:r>
              <a:rPr lang="en-IN" dirty="0"/>
              <a:t>Hence there will be only </a:t>
            </a:r>
            <a:r>
              <a:rPr lang="en-IN" b="1" dirty="0"/>
              <a:t>one candidate key X</a:t>
            </a:r>
            <a:endParaRPr lang="en-IN" dirty="0"/>
          </a:p>
          <a:p>
            <a:r>
              <a:rPr lang="en-IN" b="1" dirty="0"/>
              <a:t>Definition of 3NF:</a:t>
            </a:r>
            <a:r>
              <a:rPr lang="en-IN" dirty="0"/>
              <a:t> A relational schema R is said to be in 3NF, First, it should be in 2NF and, no non-prime attribute should be transitively dependent on the Key of the table.</a:t>
            </a:r>
          </a:p>
          <a:p>
            <a:r>
              <a:rPr lang="en-IN" dirty="0"/>
              <a:t>If X → Y and Y → Z exist then X → Z also exists which is a transitive dependency, and it should not hold.</a:t>
            </a:r>
          </a:p>
          <a:p>
            <a:r>
              <a:rPr lang="en-IN" dirty="0"/>
              <a:t>Since R has 3 attributes: - X, Y, Z, and Candidate Key is X, Therefore, prime attribute (part of candidate key) is X while a non-prime attribute are Y and Z</a:t>
            </a:r>
          </a:p>
          <a:p>
            <a:r>
              <a:rPr lang="en-IN" dirty="0"/>
              <a:t>Given FD are X → Y and Y → Z</a:t>
            </a:r>
          </a:p>
          <a:p>
            <a:r>
              <a:rPr lang="en-IN" dirty="0"/>
              <a:t>So, we can write X → Z (which is a transitive dependency)</a:t>
            </a:r>
          </a:p>
          <a:p>
            <a:endParaRPr lang="en-IN" dirty="0"/>
          </a:p>
        </p:txBody>
      </p:sp>
    </p:spTree>
    <p:extLst>
      <p:ext uri="{BB962C8B-B14F-4D97-AF65-F5344CB8AC3E}">
        <p14:creationId xmlns:p14="http://schemas.microsoft.com/office/powerpoint/2010/main" val="23551936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r>
              <a:rPr lang="en-IN" dirty="0"/>
              <a:t>In above </a:t>
            </a:r>
            <a:r>
              <a:rPr lang="en-IN" b="1" dirty="0"/>
              <a:t>FD X → Z</a:t>
            </a:r>
            <a:r>
              <a:rPr lang="en-IN" dirty="0"/>
              <a:t>, a non-prime attribute( Z) is transitively depending on the key of the table( X ) hence as per the definition of 3NF it is not in 3 NF, </a:t>
            </a:r>
            <a:r>
              <a:rPr lang="en-IN" b="1" dirty="0"/>
              <a:t>because no non-prime attribute should be transitively dependent on the key of the table.</a:t>
            </a:r>
            <a:endParaRPr lang="en-IN" dirty="0"/>
          </a:p>
          <a:p>
            <a:r>
              <a:rPr lang="en-IN" b="1" dirty="0"/>
              <a:t>Now check the above table is in 2 NF.</a:t>
            </a:r>
            <a:endParaRPr lang="en-IN" dirty="0"/>
          </a:p>
          <a:p>
            <a:pPr lvl="0"/>
            <a:r>
              <a:rPr lang="en-IN" dirty="0"/>
              <a:t>FD: X → Y is in 2NF ( as Key is not breaking and its Fully functional dependent )</a:t>
            </a:r>
          </a:p>
          <a:p>
            <a:pPr lvl="0"/>
            <a:r>
              <a:rPr lang="en-IN" dirty="0"/>
              <a:t>FD: Y → Z is also in 2NF( as it does not violate the definition of 2NF)</a:t>
            </a:r>
          </a:p>
          <a:p>
            <a:r>
              <a:rPr lang="en-IN" b="1" dirty="0"/>
              <a:t>Hence above table R( X, Y, Z ) is in 2NF but not in 3NF.</a:t>
            </a:r>
            <a:endParaRPr lang="en-IN" dirty="0"/>
          </a:p>
          <a:p>
            <a:r>
              <a:rPr lang="en-IN" b="1" dirty="0"/>
              <a:t>We can also prove the same from Definition 2:</a:t>
            </a:r>
            <a:r>
              <a:rPr lang="en-IN" dirty="0"/>
              <a:t> First, it should be in 2NF and if there exists a non-trivial dependency between two sets of attributes X and Y such that X → Y (i.e., Y is not a subset of X) then</a:t>
            </a:r>
          </a:p>
          <a:p>
            <a:pPr lvl="0"/>
            <a:r>
              <a:rPr lang="en-IN" dirty="0"/>
              <a:t>Either X is Super Key</a:t>
            </a:r>
          </a:p>
          <a:p>
            <a:pPr lvl="0"/>
            <a:r>
              <a:rPr lang="en-IN" dirty="0"/>
              <a:t>Or Y is a prime attribute.</a:t>
            </a:r>
          </a:p>
          <a:p>
            <a:endParaRPr lang="en-IN" dirty="0"/>
          </a:p>
        </p:txBody>
      </p:sp>
    </p:spTree>
    <p:extLst>
      <p:ext uri="{BB962C8B-B14F-4D97-AF65-F5344CB8AC3E}">
        <p14:creationId xmlns:p14="http://schemas.microsoft.com/office/powerpoint/2010/main" val="98610082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Example</a:t>
            </a:r>
            <a:endParaRPr lang="en-IN" dirty="0"/>
          </a:p>
        </p:txBody>
      </p:sp>
      <p:sp>
        <p:nvSpPr>
          <p:cNvPr id="3" name="Content Placeholder 2"/>
          <p:cNvSpPr>
            <a:spLocks noGrp="1"/>
          </p:cNvSpPr>
          <p:nvPr>
            <p:ph idx="1"/>
          </p:nvPr>
        </p:nvSpPr>
        <p:spPr/>
        <p:txBody>
          <a:bodyPr>
            <a:normAutofit fontScale="70000" lnSpcReduction="20000"/>
          </a:bodyPr>
          <a:lstStyle/>
          <a:p>
            <a:pPr marL="0" indent="0">
              <a:buNone/>
            </a:pPr>
            <a:r>
              <a:rPr lang="en-IN" b="1" dirty="0"/>
              <a:t>Since we have just proved that above table R is in 2 NF. Let's check it for 3NF using definition 2.</a:t>
            </a:r>
            <a:endParaRPr lang="en-IN" dirty="0"/>
          </a:p>
          <a:p>
            <a:pPr lvl="0"/>
            <a:r>
              <a:rPr lang="en-IN" dirty="0"/>
              <a:t>FD: X → Y is in 3NF (as X is a super Key)</a:t>
            </a:r>
          </a:p>
          <a:p>
            <a:pPr lvl="0"/>
            <a:r>
              <a:rPr lang="en-IN" dirty="0"/>
              <a:t>FD: Y → Z is not in 3NF (as neither Y is Key nor Z is a prime attribute)</a:t>
            </a:r>
          </a:p>
          <a:p>
            <a:r>
              <a:rPr lang="en-IN" dirty="0"/>
              <a:t>Hence because of Y → Z using definition 2 of 3NF, we can say that above table R is not in 3NF.</a:t>
            </a:r>
          </a:p>
          <a:p>
            <a:r>
              <a:rPr lang="en-IN" b="1" dirty="0"/>
              <a:t>Convert the table R( X, Y, Z) into 3NF:</a:t>
            </a:r>
            <a:endParaRPr lang="en-IN" dirty="0"/>
          </a:p>
          <a:p>
            <a:r>
              <a:rPr lang="en-IN" dirty="0"/>
              <a:t>Since due to FD: Y → Z, our table was not in 3NF, let's decompose the table</a:t>
            </a:r>
          </a:p>
          <a:p>
            <a:r>
              <a:rPr lang="en-IN" dirty="0"/>
              <a:t>FD: Y → Z was creating issue, hence one table R1(Y, Z)</a:t>
            </a:r>
          </a:p>
          <a:p>
            <a:r>
              <a:rPr lang="en-IN" dirty="0"/>
              <a:t>Create one Table for key X, R2(X, Y), since X → Y</a:t>
            </a:r>
          </a:p>
          <a:p>
            <a:r>
              <a:rPr lang="en-IN" dirty="0"/>
              <a:t>Hence decomposed tables which are in 3NF are:</a:t>
            </a:r>
          </a:p>
          <a:p>
            <a:r>
              <a:rPr lang="en-IN" b="1" dirty="0"/>
              <a:t>R1(X, Y)</a:t>
            </a:r>
            <a:endParaRPr lang="en-IN" dirty="0"/>
          </a:p>
          <a:p>
            <a:r>
              <a:rPr lang="en-IN" b="1" dirty="0"/>
              <a:t>R2(Y, Z)</a:t>
            </a:r>
            <a:endParaRPr lang="en-IN" dirty="0"/>
          </a:p>
          <a:p>
            <a:endParaRPr lang="en-IN" dirty="0"/>
          </a:p>
        </p:txBody>
      </p:sp>
    </p:spTree>
    <p:extLst>
      <p:ext uri="{BB962C8B-B14F-4D97-AF65-F5344CB8AC3E}">
        <p14:creationId xmlns:p14="http://schemas.microsoft.com/office/powerpoint/2010/main" val="423302457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Question 2:</a:t>
            </a:r>
            <a:r>
              <a:rPr lang="en-IN" dirty="0"/>
              <a:t> Given a relation R( X, Y, Z, W, P) and Functional Dependency set FD = { X → Y, Y → P, and Z → W}, determine whether the given R is in 3NF? If not convert it into 3 NF.</a:t>
            </a:r>
          </a:p>
          <a:p>
            <a:endParaRPr lang="en-IN" dirty="0"/>
          </a:p>
        </p:txBody>
      </p:sp>
    </p:spTree>
    <p:extLst>
      <p:ext uri="{BB962C8B-B14F-4D97-AF65-F5344CB8AC3E}">
        <p14:creationId xmlns:p14="http://schemas.microsoft.com/office/powerpoint/2010/main" val="74544178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BCNF</a:t>
            </a:r>
            <a:endParaRPr lang="en-IN" dirty="0"/>
          </a:p>
        </p:txBody>
      </p:sp>
      <p:sp>
        <p:nvSpPr>
          <p:cNvPr id="3" name="Content Placeholder 2"/>
          <p:cNvSpPr>
            <a:spLocks noGrp="1"/>
          </p:cNvSpPr>
          <p:nvPr>
            <p:ph idx="1"/>
          </p:nvPr>
        </p:nvSpPr>
        <p:spPr/>
        <p:txBody>
          <a:bodyPr>
            <a:normAutofit fontScale="92500"/>
          </a:bodyPr>
          <a:lstStyle/>
          <a:p>
            <a:pPr lvl="0"/>
            <a:r>
              <a:rPr lang="en-IN" dirty="0"/>
              <a:t>BCNF is the advance version of 3NF. It is stricter than 3NF.</a:t>
            </a:r>
          </a:p>
          <a:p>
            <a:pPr lvl="0"/>
            <a:r>
              <a:rPr lang="en-IN" dirty="0"/>
              <a:t>A table is in BCNF if every functional dependency X → Y, X is the super key of the table.</a:t>
            </a:r>
          </a:p>
          <a:p>
            <a:pPr lvl="0"/>
            <a:r>
              <a:rPr lang="en-IN" dirty="0"/>
              <a:t>For BCNF, the table should be in 3NF, and for every FD, LHS is super key.</a:t>
            </a:r>
          </a:p>
          <a:p>
            <a:r>
              <a:rPr lang="en-IN" b="1" dirty="0"/>
              <a:t>Example:</a:t>
            </a:r>
            <a:r>
              <a:rPr lang="en-IN" dirty="0"/>
              <a:t> Let's assume there is a company where employees work in more than one department.</a:t>
            </a:r>
          </a:p>
          <a:p>
            <a:endParaRPr lang="en-IN" dirty="0"/>
          </a:p>
        </p:txBody>
      </p:sp>
    </p:spTree>
    <p:extLst>
      <p:ext uri="{BB962C8B-B14F-4D97-AF65-F5344CB8AC3E}">
        <p14:creationId xmlns:p14="http://schemas.microsoft.com/office/powerpoint/2010/main" val="16491317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IN" b="1" dirty="0"/>
              <a:t>EMPLOYEE table:</a:t>
            </a:r>
            <a:endParaRPr lang="en-IN" dirty="0"/>
          </a:p>
          <a:p>
            <a:endParaRPr lang="en-IN" dirty="0"/>
          </a:p>
        </p:txBody>
      </p:sp>
      <p:pic>
        <p:nvPicPr>
          <p:cNvPr id="4" name="Picture 3" descr="C:\Users\Subhasish_Mohapatra\Desktop\Capture.PNG"/>
          <p:cNvPicPr/>
          <p:nvPr/>
        </p:nvPicPr>
        <p:blipFill>
          <a:blip r:embed="rId2">
            <a:extLst>
              <a:ext uri="{28A0092B-C50C-407E-A947-70E740481C1C}">
                <a14:useLocalDpi xmlns:a14="http://schemas.microsoft.com/office/drawing/2010/main" val="0"/>
              </a:ext>
            </a:extLst>
          </a:blip>
          <a:srcRect/>
          <a:stretch>
            <a:fillRect/>
          </a:stretch>
        </p:blipFill>
        <p:spPr bwMode="auto">
          <a:xfrm>
            <a:off x="457200" y="2397442"/>
            <a:ext cx="8229600" cy="3911283"/>
          </a:xfrm>
          <a:prstGeom prst="rect">
            <a:avLst/>
          </a:prstGeom>
          <a:noFill/>
          <a:ln>
            <a:noFill/>
          </a:ln>
        </p:spPr>
      </p:pic>
    </p:spTree>
    <p:extLst>
      <p:ext uri="{BB962C8B-B14F-4D97-AF65-F5344CB8AC3E}">
        <p14:creationId xmlns:p14="http://schemas.microsoft.com/office/powerpoint/2010/main" val="380626828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IN" b="1" dirty="0"/>
              <a:t>In the above table Functional dependencies are as follows:</a:t>
            </a:r>
            <a:endParaRPr lang="en-IN" dirty="0"/>
          </a:p>
          <a:p>
            <a:pPr lvl="0"/>
            <a:r>
              <a:rPr lang="en-IN" dirty="0"/>
              <a:t>EMP_ID  →  EMP_COUNTRY  </a:t>
            </a:r>
          </a:p>
          <a:p>
            <a:pPr lvl="0"/>
            <a:r>
              <a:rPr lang="en-IN" dirty="0"/>
              <a:t>EMP_DEPT  →   {DEPT_TYPE, EMP_DEPT_NO}  </a:t>
            </a:r>
          </a:p>
          <a:p>
            <a:r>
              <a:rPr lang="en-IN" b="1" dirty="0"/>
              <a:t>Candidate key: {EMP-ID, EMP-DEPT}</a:t>
            </a:r>
            <a:endParaRPr lang="en-IN" dirty="0"/>
          </a:p>
          <a:p>
            <a:r>
              <a:rPr lang="en-IN" dirty="0"/>
              <a:t>The table is not in BCNF because neither EMP_DEPT nor EMP_ID alone are keys.</a:t>
            </a:r>
          </a:p>
          <a:p>
            <a:r>
              <a:rPr lang="en-IN" dirty="0"/>
              <a:t>To convert the given table into BCNF, we decompose it into three tables:</a:t>
            </a:r>
          </a:p>
          <a:p>
            <a:endParaRPr lang="en-IN" dirty="0"/>
          </a:p>
        </p:txBody>
      </p:sp>
    </p:spTree>
    <p:extLst>
      <p:ext uri="{BB962C8B-B14F-4D97-AF65-F5344CB8AC3E}">
        <p14:creationId xmlns:p14="http://schemas.microsoft.com/office/powerpoint/2010/main" val="515727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descr="C:\Users\Subhasish_Mohapatra\Desktop\Capture.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648310"/>
            <a:ext cx="8839199" cy="5001872"/>
          </a:xfrm>
          <a:prstGeom prst="rect">
            <a:avLst/>
          </a:prstGeom>
          <a:noFill/>
          <a:ln>
            <a:noFill/>
          </a:ln>
        </p:spPr>
      </p:pic>
    </p:spTree>
    <p:extLst>
      <p:ext uri="{BB962C8B-B14F-4D97-AF65-F5344CB8AC3E}">
        <p14:creationId xmlns:p14="http://schemas.microsoft.com/office/powerpoint/2010/main" val="127287921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descr="C:\Users\Subhasish_Mohapatra\Desktop\Capture.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17418" y="2586653"/>
            <a:ext cx="7716982" cy="3287674"/>
          </a:xfrm>
          <a:prstGeom prst="rect">
            <a:avLst/>
          </a:prstGeom>
          <a:noFill/>
          <a:ln>
            <a:noFill/>
          </a:ln>
        </p:spPr>
      </p:pic>
    </p:spTree>
    <p:extLst>
      <p:ext uri="{BB962C8B-B14F-4D97-AF65-F5344CB8AC3E}">
        <p14:creationId xmlns:p14="http://schemas.microsoft.com/office/powerpoint/2010/main" val="87739788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IN" b="1" dirty="0"/>
              <a:t>Functional dependencies:</a:t>
            </a:r>
            <a:endParaRPr lang="en-IN" dirty="0"/>
          </a:p>
          <a:p>
            <a:pPr lvl="0"/>
            <a:r>
              <a:rPr lang="en-IN" dirty="0"/>
              <a:t>EMP_ID   →    EMP_COUNTRY  </a:t>
            </a:r>
          </a:p>
          <a:p>
            <a:pPr lvl="0"/>
            <a:r>
              <a:rPr lang="en-IN" dirty="0"/>
              <a:t>EMP_DEPT   →   {DEPT_TYPE, EMP_DEPT_NO}  </a:t>
            </a:r>
          </a:p>
          <a:p>
            <a:r>
              <a:rPr lang="en-IN" b="1" dirty="0"/>
              <a:t>Candidate keys:</a:t>
            </a:r>
            <a:endParaRPr lang="en-IN" dirty="0"/>
          </a:p>
          <a:p>
            <a:r>
              <a:rPr lang="en-IN" b="1" dirty="0"/>
              <a:t>For the first table:</a:t>
            </a:r>
            <a:r>
              <a:rPr lang="en-IN" dirty="0"/>
              <a:t> EMP_ID</a:t>
            </a:r>
            <a:br>
              <a:rPr lang="en-IN" dirty="0"/>
            </a:br>
            <a:r>
              <a:rPr lang="en-IN" b="1" dirty="0"/>
              <a:t>For the second table:</a:t>
            </a:r>
            <a:r>
              <a:rPr lang="en-IN" dirty="0"/>
              <a:t> EMP_DEPT</a:t>
            </a:r>
            <a:br>
              <a:rPr lang="en-IN" dirty="0"/>
            </a:br>
            <a:r>
              <a:rPr lang="en-IN" b="1" dirty="0"/>
              <a:t>For the third table:</a:t>
            </a:r>
            <a:r>
              <a:rPr lang="en-IN" dirty="0"/>
              <a:t> {EMP_ID, EMP_DEPT}</a:t>
            </a:r>
          </a:p>
          <a:p>
            <a:r>
              <a:rPr lang="en-IN" dirty="0"/>
              <a:t>Now, this is in BCNF because left side part of both the functional dependencies is a key.</a:t>
            </a:r>
          </a:p>
          <a:p>
            <a:endParaRPr lang="en-IN" dirty="0"/>
          </a:p>
        </p:txBody>
      </p:sp>
    </p:spTree>
    <p:extLst>
      <p:ext uri="{BB962C8B-B14F-4D97-AF65-F5344CB8AC3E}">
        <p14:creationId xmlns:p14="http://schemas.microsoft.com/office/powerpoint/2010/main" val="384376082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r>
              <a:rPr lang="en-US" dirty="0"/>
              <a:t>Fourth Normal Form (4NF) with Example</a:t>
            </a:r>
          </a:p>
          <a:p>
            <a:r>
              <a:rPr lang="en-US" dirty="0"/>
              <a:t>Definition</a:t>
            </a:r>
          </a:p>
          <a:p>
            <a:r>
              <a:rPr lang="en-US" dirty="0"/>
              <a:t>A table is in Fourth Normal Form (4NF) if it is already in Third Normal Form (3NF) and has no multi-valued dependencies. A multi-valued dependency occurs when one attribute in a table is dependent on another, but they are independent of other attributes.</a:t>
            </a:r>
          </a:p>
          <a:p>
            <a:r>
              <a:rPr lang="en-US" dirty="0"/>
              <a:t>Example</a:t>
            </a:r>
          </a:p>
          <a:p>
            <a:r>
              <a:rPr lang="en-US" dirty="0"/>
              <a:t>Consider a table that stores information about students, courses, and sports activities:</a:t>
            </a:r>
          </a:p>
          <a:p>
            <a:pPr marL="0" indent="0">
              <a:buNone/>
            </a:pPr>
            <a:r>
              <a:rPr lang="en-US" b="1" u="sng" dirty="0">
                <a:solidFill>
                  <a:srgbClr val="FF0000"/>
                </a:solidFill>
              </a:rPr>
              <a:t>Student	Course	</a:t>
            </a:r>
            <a:r>
              <a:rPr lang="en-US" b="1" u="sng" dirty="0" smtClean="0">
                <a:solidFill>
                  <a:srgbClr val="FF0000"/>
                </a:solidFill>
              </a:rPr>
              <a:t>     Sport</a:t>
            </a:r>
            <a:endParaRPr lang="en-US" b="1" u="sng" dirty="0">
              <a:solidFill>
                <a:srgbClr val="FF0000"/>
              </a:solidFill>
            </a:endParaRPr>
          </a:p>
          <a:p>
            <a:pPr marL="0" indent="0">
              <a:buNone/>
            </a:pPr>
            <a:r>
              <a:rPr lang="en-US" dirty="0"/>
              <a:t>Alice	Math	</a:t>
            </a:r>
            <a:r>
              <a:rPr lang="en-US" dirty="0" smtClean="0"/>
              <a:t>      Tennis</a:t>
            </a:r>
            <a:endParaRPr lang="en-US" dirty="0"/>
          </a:p>
          <a:p>
            <a:pPr marL="0" indent="0">
              <a:buNone/>
            </a:pPr>
            <a:r>
              <a:rPr lang="en-US" dirty="0"/>
              <a:t>Alice	Math	</a:t>
            </a:r>
            <a:r>
              <a:rPr lang="en-US" dirty="0" smtClean="0"/>
              <a:t>        Swimming</a:t>
            </a:r>
            <a:endParaRPr lang="en-US" dirty="0"/>
          </a:p>
          <a:p>
            <a:pPr marL="0" indent="0">
              <a:buNone/>
            </a:pPr>
            <a:r>
              <a:rPr lang="en-US" dirty="0"/>
              <a:t>Alice	Physics	</a:t>
            </a:r>
            <a:r>
              <a:rPr lang="en-US" dirty="0" smtClean="0"/>
              <a:t>        Tennis</a:t>
            </a:r>
            <a:endParaRPr lang="en-US" dirty="0"/>
          </a:p>
          <a:p>
            <a:pPr marL="0" indent="0">
              <a:buNone/>
            </a:pPr>
            <a:r>
              <a:rPr lang="en-US" dirty="0"/>
              <a:t>Bob	</a:t>
            </a:r>
            <a:r>
              <a:rPr lang="en-US" dirty="0" smtClean="0"/>
              <a:t>        Math</a:t>
            </a:r>
            <a:r>
              <a:rPr lang="en-US" dirty="0"/>
              <a:t>	</a:t>
            </a:r>
            <a:r>
              <a:rPr lang="en-US" dirty="0" smtClean="0"/>
              <a:t>        Tennis</a:t>
            </a:r>
            <a:endParaRPr lang="en-US" dirty="0"/>
          </a:p>
        </p:txBody>
      </p:sp>
    </p:spTree>
    <p:extLst>
      <p:ext uri="{BB962C8B-B14F-4D97-AF65-F5344CB8AC3E}">
        <p14:creationId xmlns:p14="http://schemas.microsoft.com/office/powerpoint/2010/main" val="423021211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229600" cy="5257800"/>
          </a:xfrm>
        </p:spPr>
        <p:txBody>
          <a:bodyPr>
            <a:normAutofit fontScale="70000" lnSpcReduction="20000"/>
          </a:bodyPr>
          <a:lstStyle/>
          <a:p>
            <a:pPr marL="0" indent="0">
              <a:buNone/>
            </a:pPr>
            <a:r>
              <a:rPr lang="en-US" dirty="0"/>
              <a:t>Here, the Course and Sport are independent of each other but depend on Student, creating a multi-valued dependency. To achieve 4NF, we decompose it into two separate tables:</a:t>
            </a:r>
          </a:p>
          <a:p>
            <a:pPr marL="0" indent="0">
              <a:buNone/>
            </a:pPr>
            <a:r>
              <a:rPr lang="en-US" dirty="0"/>
              <a:t>Student-Course Table:</a:t>
            </a:r>
          </a:p>
          <a:p>
            <a:pPr marL="0" indent="0">
              <a:buNone/>
            </a:pPr>
            <a:r>
              <a:rPr lang="en-US" b="1" i="1" dirty="0">
                <a:solidFill>
                  <a:srgbClr val="FF0000"/>
                </a:solidFill>
              </a:rPr>
              <a:t>Student	Course</a:t>
            </a:r>
          </a:p>
          <a:p>
            <a:pPr marL="0" indent="0">
              <a:buNone/>
            </a:pPr>
            <a:r>
              <a:rPr lang="en-US" dirty="0"/>
              <a:t>Alice	Math</a:t>
            </a:r>
          </a:p>
          <a:p>
            <a:pPr marL="0" indent="0">
              <a:buNone/>
            </a:pPr>
            <a:r>
              <a:rPr lang="en-US" dirty="0"/>
              <a:t>Alice	Physics</a:t>
            </a:r>
          </a:p>
          <a:p>
            <a:pPr marL="0" indent="0">
              <a:buNone/>
            </a:pPr>
            <a:r>
              <a:rPr lang="en-US" dirty="0"/>
              <a:t>Bob	Math</a:t>
            </a:r>
          </a:p>
          <a:p>
            <a:pPr marL="0" indent="0">
              <a:buNone/>
            </a:pPr>
            <a:r>
              <a:rPr lang="en-US" b="1" i="1" dirty="0">
                <a:solidFill>
                  <a:srgbClr val="FF0000"/>
                </a:solidFill>
              </a:rPr>
              <a:t>Student-Sport Table:</a:t>
            </a:r>
          </a:p>
          <a:p>
            <a:pPr marL="0" indent="0">
              <a:buNone/>
            </a:pPr>
            <a:r>
              <a:rPr lang="en-US" dirty="0"/>
              <a:t>Student	Sport</a:t>
            </a:r>
          </a:p>
          <a:p>
            <a:pPr marL="0" indent="0">
              <a:buNone/>
            </a:pPr>
            <a:r>
              <a:rPr lang="en-US" dirty="0"/>
              <a:t>Alice	Tennis</a:t>
            </a:r>
          </a:p>
          <a:p>
            <a:pPr marL="0" indent="0">
              <a:buNone/>
            </a:pPr>
            <a:r>
              <a:rPr lang="en-US" dirty="0"/>
              <a:t>Alice	Swimming</a:t>
            </a:r>
          </a:p>
          <a:p>
            <a:pPr marL="0" indent="0">
              <a:buNone/>
            </a:pPr>
            <a:r>
              <a:rPr lang="en-US" dirty="0"/>
              <a:t>Bob	Tennis</a:t>
            </a:r>
          </a:p>
          <a:p>
            <a:pPr marL="0" indent="0">
              <a:buNone/>
            </a:pPr>
            <a:r>
              <a:rPr lang="en-US" dirty="0"/>
              <a:t>Now, each table has no multi-valued dependency, achieving 4NF.</a:t>
            </a:r>
          </a:p>
          <a:p>
            <a:pPr marL="0" indent="0">
              <a:buNone/>
            </a:pPr>
            <a:endParaRPr lang="en-IN" dirty="0"/>
          </a:p>
          <a:p>
            <a:endParaRPr lang="en-IN" dirty="0"/>
          </a:p>
        </p:txBody>
      </p:sp>
    </p:spTree>
    <p:extLst>
      <p:ext uri="{BB962C8B-B14F-4D97-AF65-F5344CB8AC3E}">
        <p14:creationId xmlns:p14="http://schemas.microsoft.com/office/powerpoint/2010/main" val="9658061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US" dirty="0"/>
              <a:t>Fifth Normal Form (5NF) with Example</a:t>
            </a:r>
          </a:p>
          <a:p>
            <a:r>
              <a:rPr lang="en-US" dirty="0"/>
              <a:t>Definition</a:t>
            </a:r>
          </a:p>
          <a:p>
            <a:r>
              <a:rPr lang="en-US" dirty="0"/>
              <a:t>Fifth Normal Form (5NF), also known as Project-Join Normal Form (PJNF), ensures that a database table is free from join dependency anomalies. A table is in 5NF if it is already in 4NF, and it cannot be further decomposed without losing information.</a:t>
            </a:r>
          </a:p>
          <a:p>
            <a:pPr marL="0" indent="0">
              <a:buNone/>
            </a:pPr>
            <a:r>
              <a:rPr lang="en-US" dirty="0"/>
              <a:t>Example</a:t>
            </a:r>
          </a:p>
          <a:p>
            <a:pPr marL="0" indent="0">
              <a:buNone/>
            </a:pPr>
            <a:r>
              <a:rPr lang="en-US" dirty="0"/>
              <a:t>Consider a table storing information about consultants, projects, and skills:</a:t>
            </a:r>
          </a:p>
          <a:p>
            <a:pPr marL="0" indent="0">
              <a:buNone/>
            </a:pPr>
            <a:r>
              <a:rPr lang="en-US" b="1" dirty="0">
                <a:solidFill>
                  <a:srgbClr val="FF0000"/>
                </a:solidFill>
              </a:rPr>
              <a:t>Consultant	Project	</a:t>
            </a:r>
            <a:r>
              <a:rPr lang="en-US" b="1" dirty="0" smtClean="0">
                <a:solidFill>
                  <a:srgbClr val="FF0000"/>
                </a:solidFill>
              </a:rPr>
              <a:t>    Skill</a:t>
            </a:r>
            <a:endParaRPr lang="en-US" b="1" dirty="0">
              <a:solidFill>
                <a:srgbClr val="FF0000"/>
              </a:solidFill>
            </a:endParaRPr>
          </a:p>
          <a:p>
            <a:pPr marL="0" indent="0">
              <a:buNone/>
            </a:pPr>
            <a:r>
              <a:rPr lang="en-US" dirty="0"/>
              <a:t>Alice	</a:t>
            </a:r>
            <a:r>
              <a:rPr lang="en-US" dirty="0" smtClean="0"/>
              <a:t>       P1</a:t>
            </a:r>
            <a:r>
              <a:rPr lang="en-US" dirty="0"/>
              <a:t>	</a:t>
            </a:r>
            <a:r>
              <a:rPr lang="en-US" dirty="0" smtClean="0"/>
              <a:t>            Java</a:t>
            </a:r>
            <a:endParaRPr lang="en-US" dirty="0"/>
          </a:p>
          <a:p>
            <a:pPr marL="0" indent="0">
              <a:buNone/>
            </a:pPr>
            <a:r>
              <a:rPr lang="en-US" dirty="0"/>
              <a:t>Alice	</a:t>
            </a:r>
            <a:r>
              <a:rPr lang="en-US" dirty="0" smtClean="0"/>
              <a:t>      P2</a:t>
            </a:r>
            <a:r>
              <a:rPr lang="en-US" dirty="0"/>
              <a:t>	</a:t>
            </a:r>
            <a:r>
              <a:rPr lang="en-US" dirty="0" smtClean="0"/>
              <a:t>             Python</a:t>
            </a:r>
            <a:endParaRPr lang="en-US" dirty="0"/>
          </a:p>
          <a:p>
            <a:pPr marL="0" indent="0">
              <a:buNone/>
            </a:pPr>
            <a:r>
              <a:rPr lang="en-US" dirty="0"/>
              <a:t>Bob	</a:t>
            </a:r>
            <a:r>
              <a:rPr lang="en-US" dirty="0" smtClean="0"/>
              <a:t>             P1</a:t>
            </a:r>
            <a:r>
              <a:rPr lang="en-US" dirty="0"/>
              <a:t>	</a:t>
            </a:r>
            <a:r>
              <a:rPr lang="en-US" dirty="0" smtClean="0"/>
              <a:t>               Python</a:t>
            </a:r>
            <a:endParaRPr lang="en-US" dirty="0"/>
          </a:p>
          <a:p>
            <a:pPr marL="0" indent="0">
              <a:buNone/>
            </a:pPr>
            <a:r>
              <a:rPr lang="en-US" dirty="0" smtClean="0"/>
              <a:t>Bob  </a:t>
            </a:r>
            <a:r>
              <a:rPr lang="en-US" dirty="0"/>
              <a:t>	</a:t>
            </a:r>
            <a:r>
              <a:rPr lang="en-US" dirty="0" smtClean="0"/>
              <a:t>     P2</a:t>
            </a:r>
            <a:r>
              <a:rPr lang="en-US" dirty="0"/>
              <a:t>	</a:t>
            </a:r>
            <a:r>
              <a:rPr lang="en-US" dirty="0" smtClean="0"/>
              <a:t>                 SQL</a:t>
            </a:r>
            <a:endParaRPr lang="en-US" dirty="0"/>
          </a:p>
          <a:p>
            <a:endParaRPr lang="en-IN" dirty="0"/>
          </a:p>
        </p:txBody>
      </p:sp>
    </p:spTree>
    <p:extLst>
      <p:ext uri="{BB962C8B-B14F-4D97-AF65-F5344CB8AC3E}">
        <p14:creationId xmlns:p14="http://schemas.microsoft.com/office/powerpoint/2010/main" val="116923011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8707"/>
          </a:xfrm>
        </p:spPr>
        <p:txBody>
          <a:bodyPr>
            <a:normAutofit fontScale="90000"/>
          </a:bodyPr>
          <a:lstStyle/>
          <a:p>
            <a:endParaRPr lang="en-IN" dirty="0"/>
          </a:p>
        </p:txBody>
      </p:sp>
      <p:sp>
        <p:nvSpPr>
          <p:cNvPr id="3" name="Content Placeholder 2"/>
          <p:cNvSpPr>
            <a:spLocks noGrp="1"/>
          </p:cNvSpPr>
          <p:nvPr>
            <p:ph idx="1"/>
          </p:nvPr>
        </p:nvSpPr>
        <p:spPr>
          <a:xfrm>
            <a:off x="457200" y="540328"/>
            <a:ext cx="8229600" cy="6317672"/>
          </a:xfrm>
        </p:spPr>
        <p:txBody>
          <a:bodyPr>
            <a:normAutofit fontScale="62500" lnSpcReduction="20000"/>
          </a:bodyPr>
          <a:lstStyle/>
          <a:p>
            <a:r>
              <a:rPr lang="en-US" dirty="0"/>
              <a:t>This table has a join dependency, meaning we cannot split it further without losing data. However, if we find that a consultant’s skills and assigned projects are independent of each other, we can decompose it into two tables:</a:t>
            </a:r>
          </a:p>
          <a:p>
            <a:r>
              <a:rPr lang="en-US" b="1" dirty="0"/>
              <a:t>Consultant-Skill Table</a:t>
            </a:r>
            <a:r>
              <a:rPr lang="en-US" b="1" dirty="0" smtClean="0"/>
              <a:t>:</a:t>
            </a:r>
          </a:p>
          <a:p>
            <a:endParaRPr lang="en-US" dirty="0"/>
          </a:p>
          <a:p>
            <a:pPr marL="0" indent="0">
              <a:buNone/>
            </a:pPr>
            <a:r>
              <a:rPr lang="en-US" b="1" dirty="0"/>
              <a:t>Consultant	Skill</a:t>
            </a:r>
          </a:p>
          <a:p>
            <a:pPr marL="0" indent="0">
              <a:buNone/>
            </a:pPr>
            <a:r>
              <a:rPr lang="en-US" dirty="0"/>
              <a:t>Alice	</a:t>
            </a:r>
            <a:r>
              <a:rPr lang="en-US" dirty="0" smtClean="0"/>
              <a:t>      Java</a:t>
            </a:r>
            <a:endParaRPr lang="en-US" dirty="0"/>
          </a:p>
          <a:p>
            <a:pPr marL="0" indent="0">
              <a:buNone/>
            </a:pPr>
            <a:r>
              <a:rPr lang="en-US" dirty="0"/>
              <a:t>Alice	</a:t>
            </a:r>
            <a:r>
              <a:rPr lang="en-US" dirty="0" smtClean="0"/>
              <a:t>    Python</a:t>
            </a:r>
            <a:endParaRPr lang="en-US" dirty="0"/>
          </a:p>
          <a:p>
            <a:pPr marL="0" indent="0">
              <a:buNone/>
            </a:pPr>
            <a:r>
              <a:rPr lang="en-US" dirty="0"/>
              <a:t>Bob	</a:t>
            </a:r>
            <a:r>
              <a:rPr lang="en-US" dirty="0" smtClean="0"/>
              <a:t>          Python</a:t>
            </a:r>
            <a:endParaRPr lang="en-US" dirty="0"/>
          </a:p>
          <a:p>
            <a:pPr marL="0" indent="0">
              <a:buNone/>
            </a:pPr>
            <a:r>
              <a:rPr lang="en-US" dirty="0"/>
              <a:t>Bob	</a:t>
            </a:r>
            <a:r>
              <a:rPr lang="en-US" dirty="0" smtClean="0"/>
              <a:t>           SQL</a:t>
            </a:r>
            <a:endParaRPr lang="en-US" dirty="0"/>
          </a:p>
          <a:p>
            <a:r>
              <a:rPr lang="en-US" b="1" dirty="0">
                <a:solidFill>
                  <a:srgbClr val="FF0000"/>
                </a:solidFill>
              </a:rPr>
              <a:t>Consultant-Project Table</a:t>
            </a:r>
            <a:r>
              <a:rPr lang="en-US" b="1" dirty="0" smtClean="0">
                <a:solidFill>
                  <a:srgbClr val="FF0000"/>
                </a:solidFill>
              </a:rPr>
              <a:t>:</a:t>
            </a:r>
          </a:p>
          <a:p>
            <a:endParaRPr lang="en-US" b="1" dirty="0">
              <a:solidFill>
                <a:srgbClr val="FF0000"/>
              </a:solidFill>
            </a:endParaRPr>
          </a:p>
          <a:p>
            <a:pPr marL="0" indent="0">
              <a:buNone/>
            </a:pPr>
            <a:r>
              <a:rPr lang="en-US" b="1" i="1" dirty="0">
                <a:solidFill>
                  <a:srgbClr val="C00000"/>
                </a:solidFill>
              </a:rPr>
              <a:t>Consultant	Project</a:t>
            </a:r>
          </a:p>
          <a:p>
            <a:pPr marL="0" indent="0">
              <a:buNone/>
            </a:pPr>
            <a:r>
              <a:rPr lang="en-US" dirty="0"/>
              <a:t>Alice	</a:t>
            </a:r>
            <a:r>
              <a:rPr lang="en-US" dirty="0" smtClean="0"/>
              <a:t>        P1</a:t>
            </a:r>
            <a:endParaRPr lang="en-US" dirty="0"/>
          </a:p>
          <a:p>
            <a:pPr marL="0" indent="0">
              <a:buNone/>
            </a:pPr>
            <a:r>
              <a:rPr lang="en-US" dirty="0"/>
              <a:t>Alice	</a:t>
            </a:r>
            <a:r>
              <a:rPr lang="en-US" dirty="0" smtClean="0"/>
              <a:t>       P2</a:t>
            </a:r>
            <a:endParaRPr lang="en-US" dirty="0"/>
          </a:p>
          <a:p>
            <a:pPr marL="0" indent="0">
              <a:buNone/>
            </a:pPr>
            <a:r>
              <a:rPr lang="en-US" dirty="0"/>
              <a:t>Bob	</a:t>
            </a:r>
            <a:r>
              <a:rPr lang="en-US" dirty="0" smtClean="0"/>
              <a:t>              P1</a:t>
            </a:r>
            <a:endParaRPr lang="en-US" dirty="0"/>
          </a:p>
          <a:p>
            <a:pPr marL="0" indent="0">
              <a:buNone/>
            </a:pPr>
            <a:r>
              <a:rPr lang="en-US" dirty="0"/>
              <a:t>Bob	</a:t>
            </a:r>
            <a:r>
              <a:rPr lang="en-US" dirty="0" smtClean="0"/>
              <a:t>              P2</a:t>
            </a:r>
            <a:endParaRPr lang="en-US" dirty="0"/>
          </a:p>
          <a:p>
            <a:r>
              <a:rPr lang="en-US" b="1" i="1" dirty="0"/>
              <a:t>Now, by joining these two tables, we can recreate the original table without redundancy, achieving 5NF.</a:t>
            </a:r>
          </a:p>
          <a:p>
            <a:endParaRPr lang="en-IN" dirty="0"/>
          </a:p>
        </p:txBody>
      </p:sp>
    </p:spTree>
    <p:extLst>
      <p:ext uri="{BB962C8B-B14F-4D97-AF65-F5344CB8AC3E}">
        <p14:creationId xmlns:p14="http://schemas.microsoft.com/office/powerpoint/2010/main" val="211993664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65689"/>
          </a:xfrm>
        </p:spPr>
        <p:txBody>
          <a:bodyPr>
            <a:normAutofit fontScale="90000"/>
          </a:bodyPr>
          <a:lstStyle/>
          <a:p>
            <a:r>
              <a:rPr lang="en-US" dirty="0" smtClean="0"/>
              <a:t>4NF Ex</a:t>
            </a:r>
            <a:endParaRPr lang="en-IN" dirty="0"/>
          </a:p>
        </p:txBody>
      </p:sp>
      <p:sp>
        <p:nvSpPr>
          <p:cNvPr id="3" name="Content Placeholder 2"/>
          <p:cNvSpPr>
            <a:spLocks noGrp="1"/>
          </p:cNvSpPr>
          <p:nvPr>
            <p:ph idx="1"/>
          </p:nvPr>
        </p:nvSpPr>
        <p:spPr>
          <a:xfrm>
            <a:off x="457200" y="540328"/>
            <a:ext cx="8229600" cy="6317672"/>
          </a:xfrm>
        </p:spPr>
        <p:txBody>
          <a:bodyPr numCol="2">
            <a:normAutofit fontScale="62500" lnSpcReduction="20000"/>
          </a:bodyPr>
          <a:lstStyle/>
          <a:p>
            <a:r>
              <a:rPr lang="en-US" dirty="0"/>
              <a:t>Example 2: Using an Intersection Table to Eliminate MVDs</a:t>
            </a:r>
          </a:p>
          <a:p>
            <a:r>
              <a:rPr lang="en-US" dirty="0"/>
              <a:t>In a scenario where two attributes, say Courses and Instructors, both have multiple values and are multivalued, we can use an intersection table to eliminate the MVDs.</a:t>
            </a:r>
          </a:p>
          <a:p>
            <a:r>
              <a:rPr lang="en-US" dirty="0"/>
              <a:t>For example, consider the following table:</a:t>
            </a:r>
          </a:p>
          <a:p>
            <a:r>
              <a:rPr lang="en-US" b="1" dirty="0" err="1">
                <a:solidFill>
                  <a:srgbClr val="C00000"/>
                </a:solidFill>
              </a:rPr>
              <a:t>CourseID</a:t>
            </a:r>
            <a:r>
              <a:rPr lang="en-US" b="1" dirty="0">
                <a:solidFill>
                  <a:srgbClr val="C00000"/>
                </a:solidFill>
              </a:rPr>
              <a:t>	Instructor	Student</a:t>
            </a:r>
          </a:p>
          <a:p>
            <a:r>
              <a:rPr lang="en-US" dirty="0"/>
              <a:t>CS101	Dr. Smith	Alice</a:t>
            </a:r>
          </a:p>
          <a:p>
            <a:r>
              <a:rPr lang="en-US" dirty="0"/>
              <a:t>CS101	Dr. Smith	Bob</a:t>
            </a:r>
          </a:p>
          <a:p>
            <a:r>
              <a:rPr lang="en-US" dirty="0"/>
              <a:t>CS102	Dr. Brown	Alice</a:t>
            </a:r>
          </a:p>
          <a:p>
            <a:r>
              <a:rPr lang="en-US" dirty="0"/>
              <a:t>CS102	Dr. Brown	Carol</a:t>
            </a:r>
          </a:p>
          <a:p>
            <a:r>
              <a:rPr lang="en-US" dirty="0"/>
              <a:t>In this table, a Course can have multiple Instructors, and an Instructor can teach multiple Courses, which creates a multivalued dependency. To achieve 4NF, we can create an intersection table that eliminates the MVD:</a:t>
            </a:r>
          </a:p>
          <a:p>
            <a:r>
              <a:rPr lang="en-US" dirty="0"/>
              <a:t>1. Courses Table:</a:t>
            </a:r>
          </a:p>
          <a:p>
            <a:r>
              <a:rPr lang="en-US" b="1" dirty="0" err="1">
                <a:solidFill>
                  <a:srgbClr val="C00000"/>
                </a:solidFill>
              </a:rPr>
              <a:t>CourseID</a:t>
            </a:r>
            <a:r>
              <a:rPr lang="en-US" b="1" dirty="0">
                <a:solidFill>
                  <a:srgbClr val="C00000"/>
                </a:solidFill>
              </a:rPr>
              <a:t>	Instructor</a:t>
            </a:r>
          </a:p>
          <a:p>
            <a:r>
              <a:rPr lang="en-US" dirty="0"/>
              <a:t>CS101	Dr. Smith</a:t>
            </a:r>
          </a:p>
          <a:p>
            <a:r>
              <a:rPr lang="en-US" dirty="0"/>
              <a:t>CS102	Dr. Brown</a:t>
            </a:r>
          </a:p>
          <a:p>
            <a:r>
              <a:rPr lang="en-US" dirty="0"/>
              <a:t>2. </a:t>
            </a:r>
            <a:r>
              <a:rPr lang="en-US" dirty="0" err="1"/>
              <a:t>Course_Student</a:t>
            </a:r>
            <a:r>
              <a:rPr lang="en-US" dirty="0"/>
              <a:t> Table:</a:t>
            </a:r>
          </a:p>
          <a:p>
            <a:r>
              <a:rPr lang="en-US" b="1" dirty="0" err="1">
                <a:solidFill>
                  <a:srgbClr val="C00000"/>
                </a:solidFill>
              </a:rPr>
              <a:t>CourseID</a:t>
            </a:r>
            <a:r>
              <a:rPr lang="en-US" b="1" dirty="0">
                <a:solidFill>
                  <a:srgbClr val="C00000"/>
                </a:solidFill>
              </a:rPr>
              <a:t>	Student</a:t>
            </a:r>
          </a:p>
          <a:p>
            <a:r>
              <a:rPr lang="en-US" dirty="0"/>
              <a:t>CS101	Alice</a:t>
            </a:r>
          </a:p>
          <a:p>
            <a:r>
              <a:rPr lang="en-US" dirty="0"/>
              <a:t>CS101	Bob</a:t>
            </a:r>
          </a:p>
          <a:p>
            <a:r>
              <a:rPr lang="en-US" dirty="0"/>
              <a:t>CS102	Alice</a:t>
            </a:r>
          </a:p>
          <a:p>
            <a:r>
              <a:rPr lang="en-US" dirty="0"/>
              <a:t>CS102	Carol</a:t>
            </a:r>
          </a:p>
          <a:p>
            <a:r>
              <a:rPr lang="en-US" dirty="0"/>
              <a:t>By creating separate tables and using the intersection table, we eliminate the multivalued dependency and achieve 4NF.</a:t>
            </a:r>
          </a:p>
          <a:p>
            <a:r>
              <a:rPr lang="en-US" dirty="0"/>
              <a:t>In both examples, 4NF ensures that there are no multivalued dependencies in the database schema, which helps maintain data integrity and reduces redundancy.</a:t>
            </a:r>
          </a:p>
          <a:p>
            <a:endParaRPr lang="en-IN" dirty="0"/>
          </a:p>
        </p:txBody>
      </p:sp>
    </p:spTree>
    <p:extLst>
      <p:ext uri="{BB962C8B-B14F-4D97-AF65-F5344CB8AC3E}">
        <p14:creationId xmlns:p14="http://schemas.microsoft.com/office/powerpoint/2010/main" val="176735503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8175" y="1839119"/>
            <a:ext cx="7867650" cy="4048125"/>
          </a:xfrm>
        </p:spPr>
      </p:pic>
    </p:spTree>
    <p:extLst>
      <p:ext uri="{BB962C8B-B14F-4D97-AF65-F5344CB8AC3E}">
        <p14:creationId xmlns:p14="http://schemas.microsoft.com/office/powerpoint/2010/main" val="397740979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pPr marL="0" indent="0">
              <a:buNone/>
            </a:pPr>
            <a:r>
              <a:rPr lang="en-US" b="1" i="1" u="sng" dirty="0">
                <a:solidFill>
                  <a:srgbClr val="C00000"/>
                </a:solidFill>
              </a:rPr>
              <a:t>SET Operations in SQL</a:t>
            </a:r>
          </a:p>
          <a:p>
            <a:r>
              <a:rPr lang="en-US" dirty="0"/>
              <a:t>SQL supports few Set operations which can be performed on the table data. These are used to get meaningful results from data stored in the table, under different special conditions.</a:t>
            </a:r>
          </a:p>
          <a:p>
            <a:pPr marL="0" indent="0">
              <a:buNone/>
            </a:pPr>
            <a:r>
              <a:rPr lang="en-US" dirty="0" smtClean="0"/>
              <a:t>In </a:t>
            </a:r>
            <a:r>
              <a:rPr lang="en-US" dirty="0"/>
              <a:t>this tutorial, we will cover 4 different types of SET operations, along with example:</a:t>
            </a:r>
          </a:p>
          <a:p>
            <a:r>
              <a:rPr lang="en-US" b="1" i="1" dirty="0">
                <a:solidFill>
                  <a:srgbClr val="00B050"/>
                </a:solidFill>
              </a:rPr>
              <a:t>UNION</a:t>
            </a:r>
          </a:p>
          <a:p>
            <a:r>
              <a:rPr lang="en-US" b="1" i="1" dirty="0">
                <a:solidFill>
                  <a:srgbClr val="00B050"/>
                </a:solidFill>
              </a:rPr>
              <a:t>UNION ALL</a:t>
            </a:r>
          </a:p>
          <a:p>
            <a:r>
              <a:rPr lang="en-US" b="1" i="1" dirty="0">
                <a:solidFill>
                  <a:srgbClr val="00B050"/>
                </a:solidFill>
              </a:rPr>
              <a:t>INTERSECT</a:t>
            </a:r>
          </a:p>
          <a:p>
            <a:r>
              <a:rPr lang="en-US" b="1" i="1" dirty="0">
                <a:solidFill>
                  <a:srgbClr val="00B050"/>
                </a:solidFill>
              </a:rPr>
              <a:t>MINUS</a:t>
            </a:r>
          </a:p>
          <a:p>
            <a:endParaRPr lang="en-IN" dirty="0"/>
          </a:p>
        </p:txBody>
      </p:sp>
    </p:spTree>
    <p:extLst>
      <p:ext uri="{BB962C8B-B14F-4D97-AF65-F5344CB8AC3E}">
        <p14:creationId xmlns:p14="http://schemas.microsoft.com/office/powerpoint/2010/main" val="35867351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a:t>UNION Operation</a:t>
            </a:r>
          </a:p>
          <a:p>
            <a:pPr marL="0" indent="0">
              <a:buNone/>
            </a:pPr>
            <a:r>
              <a:rPr lang="en-US" dirty="0"/>
              <a:t>UNION is used to combine the results of two or more SELECT statements. However it will eliminate duplicate rows from its </a:t>
            </a:r>
            <a:r>
              <a:rPr lang="en-US" dirty="0" err="1"/>
              <a:t>resultset</a:t>
            </a:r>
            <a:r>
              <a:rPr lang="en-US" dirty="0"/>
              <a:t>. In case of union, number of columns and datatype must be same in both the tables, on which UNION operation is being applied.</a:t>
            </a:r>
            <a:endParaRPr lang="en-IN" dirty="0"/>
          </a:p>
        </p:txBody>
      </p:sp>
    </p:spTree>
    <p:extLst>
      <p:ext uri="{BB962C8B-B14F-4D97-AF65-F5344CB8AC3E}">
        <p14:creationId xmlns:p14="http://schemas.microsoft.com/office/powerpoint/2010/main" val="185189546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5710" y="1600200"/>
            <a:ext cx="6512580" cy="4525963"/>
          </a:xfrm>
        </p:spPr>
      </p:pic>
    </p:spTree>
    <p:extLst>
      <p:ext uri="{BB962C8B-B14F-4D97-AF65-F5344CB8AC3E}">
        <p14:creationId xmlns:p14="http://schemas.microsoft.com/office/powerpoint/2010/main" val="195885191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84931" y="1600200"/>
            <a:ext cx="6974138" cy="4525963"/>
          </a:xfrm>
        </p:spPr>
      </p:pic>
    </p:spTree>
    <p:extLst>
      <p:ext uri="{BB962C8B-B14F-4D97-AF65-F5344CB8AC3E}">
        <p14:creationId xmlns:p14="http://schemas.microsoft.com/office/powerpoint/2010/main" val="139722596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0092" y="1600200"/>
            <a:ext cx="6043816" cy="4525963"/>
          </a:xfrm>
        </p:spPr>
      </p:pic>
    </p:spTree>
    <p:extLst>
      <p:ext uri="{BB962C8B-B14F-4D97-AF65-F5344CB8AC3E}">
        <p14:creationId xmlns:p14="http://schemas.microsoft.com/office/powerpoint/2010/main" val="36853311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9818" y="1600200"/>
            <a:ext cx="7144363" cy="4525963"/>
          </a:xfrm>
        </p:spPr>
      </p:pic>
    </p:spTree>
    <p:extLst>
      <p:ext uri="{BB962C8B-B14F-4D97-AF65-F5344CB8AC3E}">
        <p14:creationId xmlns:p14="http://schemas.microsoft.com/office/powerpoint/2010/main" val="9154166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22448" y="1600200"/>
            <a:ext cx="6299104" cy="4525963"/>
          </a:xfrm>
        </p:spPr>
      </p:pic>
    </p:spTree>
    <p:extLst>
      <p:ext uri="{BB962C8B-B14F-4D97-AF65-F5344CB8AC3E}">
        <p14:creationId xmlns:p14="http://schemas.microsoft.com/office/powerpoint/2010/main" val="6448970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7250" y="1915319"/>
            <a:ext cx="7429500" cy="3895725"/>
          </a:xfrm>
        </p:spPr>
      </p:pic>
    </p:spTree>
    <p:extLst>
      <p:ext uri="{BB962C8B-B14F-4D97-AF65-F5344CB8AC3E}">
        <p14:creationId xmlns:p14="http://schemas.microsoft.com/office/powerpoint/2010/main" val="2251262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0312" y="1600200"/>
            <a:ext cx="6483375" cy="4525963"/>
          </a:xfrm>
        </p:spPr>
      </p:pic>
    </p:spTree>
    <p:extLst>
      <p:ext uri="{BB962C8B-B14F-4D97-AF65-F5344CB8AC3E}">
        <p14:creationId xmlns:p14="http://schemas.microsoft.com/office/powerpoint/2010/main" val="39398222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9374" y="1600200"/>
            <a:ext cx="6325251" cy="4525963"/>
          </a:xfrm>
        </p:spPr>
      </p:pic>
    </p:spTree>
    <p:extLst>
      <p:ext uri="{BB962C8B-B14F-4D97-AF65-F5344CB8AC3E}">
        <p14:creationId xmlns:p14="http://schemas.microsoft.com/office/powerpoint/2010/main" val="32128905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3450" y="1972469"/>
            <a:ext cx="7277100" cy="3781425"/>
          </a:xfrm>
        </p:spPr>
      </p:pic>
    </p:spTree>
    <p:extLst>
      <p:ext uri="{BB962C8B-B14F-4D97-AF65-F5344CB8AC3E}">
        <p14:creationId xmlns:p14="http://schemas.microsoft.com/office/powerpoint/2010/main" val="37911335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Q&amp;A</a:t>
            </a:r>
          </a:p>
        </p:txBody>
      </p:sp>
      <p:sp>
        <p:nvSpPr>
          <p:cNvPr id="3" name="Content Placeholder 2"/>
          <p:cNvSpPr>
            <a:spLocks noGrp="1"/>
          </p:cNvSpPr>
          <p:nvPr>
            <p:ph idx="1"/>
          </p:nvPr>
        </p:nvSpPr>
        <p:spPr/>
        <p:txBody>
          <a:bodyPr/>
          <a:lstStyle/>
          <a:p>
            <a:r>
              <a:t>- Any questions?</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lvl="0"/>
            <a:r>
              <a:rPr lang="en-IN" b="1" dirty="0"/>
              <a:t>Atomicity:</a:t>
            </a:r>
            <a:r>
              <a:rPr lang="en-IN" dirty="0"/>
              <a:t> A transaction is either fully completed or not executed at all (all-or-nothing principle).</a:t>
            </a:r>
          </a:p>
          <a:p>
            <a:pPr lvl="0"/>
            <a:r>
              <a:rPr lang="en-IN" b="1" dirty="0"/>
              <a:t>Consistency:</a:t>
            </a:r>
            <a:r>
              <a:rPr lang="en-IN" dirty="0"/>
              <a:t> A transaction maintains database integrity by ensuring data validity before and after execution.</a:t>
            </a:r>
          </a:p>
          <a:p>
            <a:pPr lvl="0"/>
            <a:r>
              <a:rPr lang="en-IN" b="1" dirty="0"/>
              <a:t>Isolation:</a:t>
            </a:r>
            <a:r>
              <a:rPr lang="en-IN" dirty="0"/>
              <a:t> Each transaction executes independently of other transactions, preventing data anomalies.</a:t>
            </a:r>
          </a:p>
          <a:p>
            <a:pPr lvl="0"/>
            <a:r>
              <a:rPr lang="en-IN" b="1" dirty="0"/>
              <a:t>Durability:</a:t>
            </a:r>
            <a:r>
              <a:rPr lang="en-IN" dirty="0"/>
              <a:t> Once a transaction is committed, its changes are permanently stored in the database, even in case of system failures.</a:t>
            </a:r>
          </a:p>
          <a:p>
            <a:endParaRPr lang="en-IN" dirty="0"/>
          </a:p>
        </p:txBody>
      </p:sp>
    </p:spTree>
    <p:extLst>
      <p:ext uri="{BB962C8B-B14F-4D97-AF65-F5344CB8AC3E}">
        <p14:creationId xmlns:p14="http://schemas.microsoft.com/office/powerpoint/2010/main" val="27309204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r>
              <a:rPr lang="en-US" dirty="0"/>
              <a:t>Consider a banking transaction where a user transfers $500 from Account A to Account B:</a:t>
            </a:r>
          </a:p>
          <a:p>
            <a:r>
              <a:rPr lang="en-US" dirty="0"/>
              <a:t>BEGIN TRANSACTION;</a:t>
            </a:r>
          </a:p>
          <a:p>
            <a:r>
              <a:rPr lang="en-US" dirty="0"/>
              <a:t>UPDATE Accounts SET balance = balance - 500 WHERE </a:t>
            </a:r>
            <a:r>
              <a:rPr lang="en-US" dirty="0" err="1"/>
              <a:t>account_id</a:t>
            </a:r>
            <a:r>
              <a:rPr lang="en-US" dirty="0"/>
              <a:t> = 'A';</a:t>
            </a:r>
          </a:p>
          <a:p>
            <a:r>
              <a:rPr lang="en-US" dirty="0"/>
              <a:t>UPDATE Accounts SET balance = balance + 500 WHERE </a:t>
            </a:r>
            <a:r>
              <a:rPr lang="en-US" dirty="0" err="1"/>
              <a:t>account_id</a:t>
            </a:r>
            <a:r>
              <a:rPr lang="en-US" dirty="0"/>
              <a:t> = 'B';</a:t>
            </a:r>
          </a:p>
          <a:p>
            <a:r>
              <a:rPr lang="en-US" dirty="0"/>
              <a:t>COMMIT;</a:t>
            </a:r>
          </a:p>
          <a:p>
            <a:r>
              <a:rPr lang="en-US" dirty="0"/>
              <a:t>If an error occurs between the two updates, the transaction is rolled back, ensuring that money is not deducted from one account without being credited to the other.</a:t>
            </a:r>
          </a:p>
          <a:p>
            <a:endParaRPr lang="en-IN" dirty="0"/>
          </a:p>
        </p:txBody>
      </p:sp>
    </p:spTree>
    <p:extLst>
      <p:ext uri="{BB962C8B-B14F-4D97-AF65-F5344CB8AC3E}">
        <p14:creationId xmlns:p14="http://schemas.microsoft.com/office/powerpoint/2010/main" val="232505635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Concurrency Problems in DBMS-</a:t>
            </a:r>
            <a:endParaRPr lang="en-IN" dirty="0"/>
          </a:p>
          <a:p>
            <a:pPr marL="0" indent="0" algn="just">
              <a:buNone/>
            </a:pPr>
            <a:r>
              <a:rPr lang="en-IN" dirty="0" smtClean="0"/>
              <a:t>When </a:t>
            </a:r>
            <a:r>
              <a:rPr lang="en-IN" dirty="0"/>
              <a:t>multiple transactions execute concurrently in an uncontrolled or unrestricted manner, then it might lead to several problems. Such problems are called as concurrency problems.</a:t>
            </a:r>
          </a:p>
          <a:p>
            <a:endParaRPr lang="en-IN" dirty="0"/>
          </a:p>
        </p:txBody>
      </p:sp>
    </p:spTree>
    <p:extLst>
      <p:ext uri="{BB962C8B-B14F-4D97-AF65-F5344CB8AC3E}">
        <p14:creationId xmlns:p14="http://schemas.microsoft.com/office/powerpoint/2010/main" val="118657998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92728" y="1417639"/>
            <a:ext cx="7813963" cy="5190979"/>
          </a:xfrm>
        </p:spPr>
        <p:txBody>
          <a:bodyPr/>
          <a:lstStyle/>
          <a:p>
            <a:endParaRPr lang="en-IN" dirty="0"/>
          </a:p>
        </p:txBody>
      </p:sp>
      <p:sp>
        <p:nvSpPr>
          <p:cNvPr id="4" name="Rectangle 2"/>
          <p:cNvSpPr>
            <a:spLocks noChangeArrowheads="1"/>
          </p:cNvSpPr>
          <p:nvPr/>
        </p:nvSpPr>
        <p:spPr bwMode="auto">
          <a:xfrm>
            <a:off x="692728" y="12668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p:cNvGraphicFramePr>
            <a:graphicFrameLocks noChangeAspect="1"/>
          </p:cNvGraphicFramePr>
          <p:nvPr>
            <p:extLst>
              <p:ext uri="{D42A27DB-BD31-4B8C-83A1-F6EECF244321}">
                <p14:modId xmlns:p14="http://schemas.microsoft.com/office/powerpoint/2010/main" val="3240888572"/>
              </p:ext>
            </p:extLst>
          </p:nvPr>
        </p:nvGraphicFramePr>
        <p:xfrm>
          <a:off x="1524001" y="3635953"/>
          <a:ext cx="5724525" cy="2533650"/>
        </p:xfrm>
        <a:graphic>
          <a:graphicData uri="http://schemas.openxmlformats.org/presentationml/2006/ole">
            <mc:AlternateContent xmlns:mc="http://schemas.openxmlformats.org/markup-compatibility/2006">
              <mc:Choice xmlns:v="urn:schemas-microsoft-com:vml" Requires="v">
                <p:oleObj spid="_x0000_s2169" name="Bitmap Image" r:id="rId3" imgW="5723810" imgH="2534004" progId="Paint.Picture">
                  <p:embed/>
                </p:oleObj>
              </mc:Choice>
              <mc:Fallback>
                <p:oleObj name="Bitmap Image" r:id="rId3" imgW="5723810" imgH="2534004" progId="Paint.Picture">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1" y="3635953"/>
                        <a:ext cx="5724525" cy="2533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2439820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u="sng" dirty="0"/>
              <a:t>Operations in Transaction-</a:t>
            </a:r>
            <a:r>
              <a:rPr lang="en-IN" dirty="0"/>
              <a:t/>
            </a:r>
            <a:br>
              <a:rPr lang="en-IN" dirty="0"/>
            </a:br>
            <a:endParaRPr lang="en-IN" dirty="0"/>
          </a:p>
        </p:txBody>
      </p:sp>
      <p:sp>
        <p:nvSpPr>
          <p:cNvPr id="3" name="Content Placeholder 2"/>
          <p:cNvSpPr>
            <a:spLocks noGrp="1"/>
          </p:cNvSpPr>
          <p:nvPr>
            <p:ph idx="1"/>
          </p:nvPr>
        </p:nvSpPr>
        <p:spPr>
          <a:xfrm>
            <a:off x="457200" y="900545"/>
            <a:ext cx="8229600" cy="5514109"/>
          </a:xfrm>
        </p:spPr>
        <p:txBody>
          <a:bodyPr>
            <a:normAutofit fontScale="62500" lnSpcReduction="20000"/>
          </a:bodyPr>
          <a:lstStyle/>
          <a:p>
            <a:endParaRPr lang="en-IN" dirty="0"/>
          </a:p>
          <a:p>
            <a:pPr marL="0" indent="0">
              <a:buNone/>
            </a:pPr>
            <a:r>
              <a:rPr lang="en-IN" dirty="0"/>
              <a:t>The main operations in a transaction are-</a:t>
            </a:r>
          </a:p>
          <a:p>
            <a:pPr marL="0" lvl="0" indent="0">
              <a:buNone/>
            </a:pPr>
            <a:r>
              <a:rPr lang="en-IN" b="1" i="1" dirty="0">
                <a:solidFill>
                  <a:srgbClr val="7030A0"/>
                </a:solidFill>
              </a:rPr>
              <a:t>Read Operation</a:t>
            </a:r>
          </a:p>
          <a:p>
            <a:pPr marL="0" lvl="0" indent="0">
              <a:buNone/>
            </a:pPr>
            <a:r>
              <a:rPr lang="en-IN" b="1" i="1" dirty="0">
                <a:solidFill>
                  <a:srgbClr val="7030A0"/>
                </a:solidFill>
              </a:rPr>
              <a:t>Write Operation</a:t>
            </a:r>
          </a:p>
          <a:p>
            <a:pPr marL="0" indent="0">
              <a:buNone/>
            </a:pPr>
            <a:r>
              <a:rPr lang="en-IN" dirty="0"/>
              <a:t> </a:t>
            </a:r>
          </a:p>
          <a:p>
            <a:pPr marL="0" indent="0">
              <a:buNone/>
            </a:pPr>
            <a:r>
              <a:rPr lang="en-IN" b="1" u="sng" dirty="0"/>
              <a:t>1. Read Operation-</a:t>
            </a:r>
            <a:endParaRPr lang="en-IN" dirty="0"/>
          </a:p>
          <a:p>
            <a:pPr marL="0" indent="0">
              <a:buNone/>
            </a:pPr>
            <a:r>
              <a:rPr lang="en-IN" dirty="0"/>
              <a:t> </a:t>
            </a:r>
          </a:p>
          <a:p>
            <a:pPr marL="0" lvl="0" indent="0">
              <a:buNone/>
            </a:pPr>
            <a:r>
              <a:rPr lang="en-IN" dirty="0"/>
              <a:t>Read operation reads the data from the database and then stores it in the buffer in main memory.</a:t>
            </a:r>
          </a:p>
          <a:p>
            <a:pPr marL="0" lvl="0" indent="0">
              <a:buNone/>
            </a:pPr>
            <a:r>
              <a:rPr lang="en-IN" dirty="0"/>
              <a:t>For example- </a:t>
            </a:r>
            <a:r>
              <a:rPr lang="en-IN" b="1" dirty="0"/>
              <a:t>Read(A)</a:t>
            </a:r>
            <a:r>
              <a:rPr lang="en-IN" dirty="0"/>
              <a:t> instruction will read the value of A from the database and will store it in the buffer in main memory.</a:t>
            </a:r>
          </a:p>
          <a:p>
            <a:pPr marL="0" indent="0">
              <a:buNone/>
            </a:pPr>
            <a:r>
              <a:rPr lang="en-IN" dirty="0"/>
              <a:t> </a:t>
            </a:r>
          </a:p>
          <a:p>
            <a:pPr marL="0" indent="0">
              <a:buNone/>
            </a:pPr>
            <a:r>
              <a:rPr lang="en-IN" b="1" u="sng" dirty="0"/>
              <a:t>2. Write Operation-</a:t>
            </a:r>
            <a:endParaRPr lang="en-IN" dirty="0"/>
          </a:p>
          <a:p>
            <a:pPr marL="0" indent="0">
              <a:buNone/>
            </a:pPr>
            <a:r>
              <a:rPr lang="en-IN" dirty="0"/>
              <a:t> </a:t>
            </a:r>
          </a:p>
          <a:p>
            <a:pPr marL="0" lvl="0" indent="0">
              <a:buNone/>
            </a:pPr>
            <a:r>
              <a:rPr lang="en-IN" dirty="0"/>
              <a:t>Write operation writes the updated data value back to the database from the buffer.</a:t>
            </a:r>
          </a:p>
          <a:p>
            <a:pPr marL="0" indent="0">
              <a:buNone/>
            </a:pPr>
            <a:r>
              <a:rPr lang="en-IN" dirty="0"/>
              <a:t>For example- </a:t>
            </a:r>
            <a:r>
              <a:rPr lang="en-IN" b="1" dirty="0"/>
              <a:t>Write(A)</a:t>
            </a:r>
            <a:r>
              <a:rPr lang="en-IN" dirty="0"/>
              <a:t> will write the updated value of A from the buffer to the </a:t>
            </a:r>
          </a:p>
        </p:txBody>
      </p:sp>
    </p:spTree>
    <p:extLst>
      <p:ext uri="{BB962C8B-B14F-4D97-AF65-F5344CB8AC3E}">
        <p14:creationId xmlns:p14="http://schemas.microsoft.com/office/powerpoint/2010/main" val="27351219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u="sng" dirty="0"/>
              <a:t>Transaction States-</a:t>
            </a:r>
            <a:r>
              <a:rPr lang="en-IN" dirty="0"/>
              <a:t/>
            </a:r>
            <a:br>
              <a:rPr lang="en-IN" dirty="0"/>
            </a:br>
            <a:endParaRPr lang="en-IN" dirty="0"/>
          </a:p>
        </p:txBody>
      </p:sp>
      <p:sp>
        <p:nvSpPr>
          <p:cNvPr id="3" name="Content Placeholder 2"/>
          <p:cNvSpPr>
            <a:spLocks noGrp="1"/>
          </p:cNvSpPr>
          <p:nvPr>
            <p:ph idx="1"/>
          </p:nvPr>
        </p:nvSpPr>
        <p:spPr>
          <a:xfrm>
            <a:off x="457200" y="928256"/>
            <a:ext cx="8229600" cy="5763490"/>
          </a:xfrm>
        </p:spPr>
        <p:txBody>
          <a:bodyPr>
            <a:normAutofit fontScale="92500" lnSpcReduction="10000"/>
          </a:bodyPr>
          <a:lstStyle/>
          <a:p>
            <a:endParaRPr lang="en-IN" dirty="0"/>
          </a:p>
          <a:p>
            <a:pPr marL="0" indent="0" algn="just">
              <a:buNone/>
            </a:pPr>
            <a:r>
              <a:rPr lang="en-IN" dirty="0"/>
              <a:t>A transaction goes through many different states throughout its life cycle.</a:t>
            </a:r>
          </a:p>
          <a:p>
            <a:pPr marL="0" indent="0" algn="just">
              <a:buNone/>
            </a:pPr>
            <a:r>
              <a:rPr lang="en-IN" dirty="0"/>
              <a:t>These states are called as </a:t>
            </a:r>
            <a:r>
              <a:rPr lang="en-IN" b="1" dirty="0"/>
              <a:t>transaction states</a:t>
            </a:r>
            <a:r>
              <a:rPr lang="en-IN" dirty="0"/>
              <a:t>.</a:t>
            </a:r>
          </a:p>
          <a:p>
            <a:pPr marL="0" indent="0" algn="just">
              <a:buNone/>
            </a:pPr>
            <a:r>
              <a:rPr lang="en-IN" dirty="0"/>
              <a:t>Transaction states are as follows-</a:t>
            </a:r>
          </a:p>
          <a:p>
            <a:pPr lvl="0" algn="just"/>
            <a:r>
              <a:rPr lang="en-IN" b="1" i="1" dirty="0">
                <a:solidFill>
                  <a:srgbClr val="7030A0"/>
                </a:solidFill>
              </a:rPr>
              <a:t>Active state</a:t>
            </a:r>
          </a:p>
          <a:p>
            <a:pPr lvl="0" algn="just"/>
            <a:r>
              <a:rPr lang="en-IN" b="1" i="1" dirty="0">
                <a:solidFill>
                  <a:srgbClr val="7030A0"/>
                </a:solidFill>
              </a:rPr>
              <a:t>Partially committed state</a:t>
            </a:r>
          </a:p>
          <a:p>
            <a:pPr lvl="0" algn="just"/>
            <a:r>
              <a:rPr lang="en-IN" b="1" i="1" dirty="0">
                <a:solidFill>
                  <a:srgbClr val="7030A0"/>
                </a:solidFill>
              </a:rPr>
              <a:t>Committed state</a:t>
            </a:r>
          </a:p>
          <a:p>
            <a:pPr lvl="0" algn="just"/>
            <a:r>
              <a:rPr lang="en-IN" b="1" i="1" dirty="0">
                <a:solidFill>
                  <a:srgbClr val="7030A0"/>
                </a:solidFill>
              </a:rPr>
              <a:t>Failed state</a:t>
            </a:r>
          </a:p>
          <a:p>
            <a:pPr lvl="0" algn="just"/>
            <a:r>
              <a:rPr lang="en-IN" b="1" i="1" dirty="0">
                <a:solidFill>
                  <a:srgbClr val="7030A0"/>
                </a:solidFill>
              </a:rPr>
              <a:t>Aborted state</a:t>
            </a:r>
          </a:p>
          <a:p>
            <a:pPr lvl="0" algn="just"/>
            <a:r>
              <a:rPr lang="en-IN" b="1" i="1" dirty="0">
                <a:solidFill>
                  <a:srgbClr val="7030A0"/>
                </a:solidFill>
              </a:rPr>
              <a:t>Terminated state</a:t>
            </a:r>
          </a:p>
          <a:p>
            <a:endParaRPr lang="en-IN" dirty="0"/>
          </a:p>
        </p:txBody>
      </p:sp>
    </p:spTree>
    <p:extLst>
      <p:ext uri="{BB962C8B-B14F-4D97-AF65-F5344CB8AC3E}">
        <p14:creationId xmlns:p14="http://schemas.microsoft.com/office/powerpoint/2010/main" val="241136938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90380"/>
          </a:xfrm>
        </p:spPr>
        <p:txBody>
          <a:bodyPr>
            <a:normAutofit fontScale="90000"/>
          </a:bodyPr>
          <a:lstStyle/>
          <a:p>
            <a:endParaRPr lang="en-IN" dirty="0"/>
          </a:p>
        </p:txBody>
      </p:sp>
      <p:sp>
        <p:nvSpPr>
          <p:cNvPr id="3" name="Content Placeholder 2"/>
          <p:cNvSpPr>
            <a:spLocks noGrp="1"/>
          </p:cNvSpPr>
          <p:nvPr>
            <p:ph idx="1"/>
          </p:nvPr>
        </p:nvSpPr>
        <p:spPr>
          <a:xfrm>
            <a:off x="457200" y="665018"/>
            <a:ext cx="8229600" cy="6192982"/>
          </a:xfrm>
        </p:spPr>
        <p:txBody>
          <a:bodyPr numCol="2">
            <a:noAutofit/>
          </a:bodyPr>
          <a:lstStyle/>
          <a:p>
            <a:r>
              <a:rPr lang="en-IN" sz="2000" b="1" u="sng" dirty="0"/>
              <a:t>1. Active State-</a:t>
            </a:r>
            <a:endParaRPr lang="en-IN" sz="2000" b="1" dirty="0"/>
          </a:p>
          <a:p>
            <a:r>
              <a:rPr lang="en-IN" sz="2000" dirty="0"/>
              <a:t> </a:t>
            </a:r>
            <a:r>
              <a:rPr lang="en-IN" sz="2000" dirty="0" smtClean="0"/>
              <a:t>This </a:t>
            </a:r>
            <a:r>
              <a:rPr lang="en-IN" sz="2000" dirty="0"/>
              <a:t>is the first state in the life cycle of a transaction.</a:t>
            </a:r>
          </a:p>
          <a:p>
            <a:pPr lvl="0"/>
            <a:r>
              <a:rPr lang="en-IN" sz="2000" dirty="0"/>
              <a:t>A transaction is called in an </a:t>
            </a:r>
            <a:r>
              <a:rPr lang="en-IN" sz="2000" b="1" dirty="0"/>
              <a:t>active state</a:t>
            </a:r>
            <a:r>
              <a:rPr lang="en-IN" sz="2000" dirty="0"/>
              <a:t> as long as its instructions are getting executed.</a:t>
            </a:r>
          </a:p>
          <a:p>
            <a:pPr lvl="0"/>
            <a:r>
              <a:rPr lang="en-IN" sz="2000" dirty="0"/>
              <a:t>All the changes made by the transaction now are stored in the buffer in main memory.</a:t>
            </a:r>
          </a:p>
          <a:p>
            <a:r>
              <a:rPr lang="en-IN" sz="2000" dirty="0"/>
              <a:t> </a:t>
            </a:r>
            <a:r>
              <a:rPr lang="en-IN" sz="2000" b="1" u="sng" dirty="0" smtClean="0"/>
              <a:t>2</a:t>
            </a:r>
            <a:r>
              <a:rPr lang="en-IN" sz="2000" b="1" u="sng" dirty="0"/>
              <a:t>. Partially Committed State-</a:t>
            </a:r>
            <a:endParaRPr lang="en-IN" sz="2000" b="1" dirty="0"/>
          </a:p>
          <a:p>
            <a:pPr lvl="0"/>
            <a:r>
              <a:rPr lang="en-IN" sz="2000" dirty="0" smtClean="0"/>
              <a:t>After </a:t>
            </a:r>
            <a:r>
              <a:rPr lang="en-IN" sz="2000" dirty="0"/>
              <a:t>the last instruction of transaction has executed, it enters into a </a:t>
            </a:r>
            <a:r>
              <a:rPr lang="en-IN" sz="2000" b="1" dirty="0"/>
              <a:t>partially committed state</a:t>
            </a:r>
            <a:r>
              <a:rPr lang="en-IN" sz="2000" dirty="0"/>
              <a:t>.</a:t>
            </a:r>
          </a:p>
          <a:p>
            <a:pPr lvl="0"/>
            <a:r>
              <a:rPr lang="en-IN" sz="2000" dirty="0"/>
              <a:t>After entering this state, the transaction is considered to be partially committed.</a:t>
            </a:r>
          </a:p>
          <a:p>
            <a:pPr lvl="0"/>
            <a:r>
              <a:rPr lang="en-IN" sz="2000" dirty="0"/>
              <a:t>It is not considered fully committed because all the changes made by the transaction are still stored in the buffer in main memory.</a:t>
            </a:r>
          </a:p>
          <a:p>
            <a:r>
              <a:rPr lang="en-IN" sz="2000" dirty="0"/>
              <a:t> </a:t>
            </a:r>
          </a:p>
          <a:p>
            <a:r>
              <a:rPr lang="en-IN" sz="2000" b="1" u="sng" dirty="0"/>
              <a:t>3. Committed State-</a:t>
            </a:r>
            <a:endParaRPr lang="en-IN" sz="2000" b="1" dirty="0"/>
          </a:p>
          <a:p>
            <a:r>
              <a:rPr lang="en-IN" sz="2000" dirty="0"/>
              <a:t> </a:t>
            </a:r>
          </a:p>
          <a:p>
            <a:pPr lvl="0"/>
            <a:r>
              <a:rPr lang="en-IN" sz="2000" dirty="0"/>
              <a:t>After all the changes made by the transaction have been successfully stored into the database, it enters into a </a:t>
            </a:r>
            <a:r>
              <a:rPr lang="en-IN" sz="2000" b="1" dirty="0"/>
              <a:t>committed state</a:t>
            </a:r>
            <a:r>
              <a:rPr lang="en-IN" sz="2000" dirty="0"/>
              <a:t>.</a:t>
            </a:r>
          </a:p>
          <a:p>
            <a:pPr lvl="0"/>
            <a:r>
              <a:rPr lang="en-IN" sz="2000" dirty="0"/>
              <a:t>Now, the transaction is considered to be fully committed.</a:t>
            </a:r>
          </a:p>
          <a:p>
            <a:r>
              <a:rPr lang="en-IN" sz="2000" dirty="0"/>
              <a:t> </a:t>
            </a:r>
          </a:p>
          <a:p>
            <a:r>
              <a:rPr lang="en-IN" sz="2000" b="1" u="sng" dirty="0"/>
              <a:t>NOTE-</a:t>
            </a:r>
            <a:endParaRPr lang="en-IN" sz="2000" b="1" dirty="0"/>
          </a:p>
          <a:p>
            <a:r>
              <a:rPr lang="en-IN" sz="2000" dirty="0"/>
              <a:t> </a:t>
            </a:r>
          </a:p>
          <a:p>
            <a:pPr lvl="0"/>
            <a:r>
              <a:rPr lang="en-IN" sz="2000" dirty="0"/>
              <a:t>After a transaction has entered the committed state, it is not possible to roll back the transaction.</a:t>
            </a:r>
          </a:p>
          <a:p>
            <a:pPr lvl="0"/>
            <a:r>
              <a:rPr lang="en-IN" sz="2000" dirty="0"/>
              <a:t>In other words, it is not possible to undo the changes that has been made by the transaction.</a:t>
            </a:r>
          </a:p>
          <a:p>
            <a:pPr lvl="0"/>
            <a:r>
              <a:rPr lang="en-IN" sz="2000" dirty="0"/>
              <a:t>This is because the system is updated into a new consistent state.</a:t>
            </a:r>
          </a:p>
          <a:p>
            <a:pPr lvl="0"/>
            <a:r>
              <a:rPr lang="en-IN" sz="2000" dirty="0"/>
              <a:t>The only way to undo the changes is by carrying out another transaction called as </a:t>
            </a:r>
            <a:r>
              <a:rPr lang="en-IN" sz="2000" b="1" dirty="0"/>
              <a:t>compensating transaction</a:t>
            </a:r>
            <a:r>
              <a:rPr lang="en-IN" sz="2000" dirty="0"/>
              <a:t> that performs the reverse operations.</a:t>
            </a:r>
          </a:p>
          <a:p>
            <a:r>
              <a:rPr lang="en-IN" sz="2000" dirty="0"/>
              <a:t> </a:t>
            </a:r>
          </a:p>
        </p:txBody>
      </p:sp>
    </p:spTree>
    <p:extLst>
      <p:ext uri="{BB962C8B-B14F-4D97-AF65-F5344CB8AC3E}">
        <p14:creationId xmlns:p14="http://schemas.microsoft.com/office/powerpoint/2010/main" val="104550314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98198"/>
          </a:xfrm>
        </p:spPr>
        <p:txBody>
          <a:bodyPr>
            <a:normAutofit fontScale="90000"/>
          </a:bodyPr>
          <a:lstStyle/>
          <a:p>
            <a:endParaRPr lang="en-IN" dirty="0"/>
          </a:p>
        </p:txBody>
      </p:sp>
      <p:sp>
        <p:nvSpPr>
          <p:cNvPr id="3" name="Content Placeholder 2"/>
          <p:cNvSpPr>
            <a:spLocks noGrp="1"/>
          </p:cNvSpPr>
          <p:nvPr>
            <p:ph idx="1"/>
          </p:nvPr>
        </p:nvSpPr>
        <p:spPr>
          <a:xfrm>
            <a:off x="457200" y="1052945"/>
            <a:ext cx="8229600" cy="5597237"/>
          </a:xfrm>
        </p:spPr>
        <p:txBody>
          <a:bodyPr>
            <a:normAutofit fontScale="70000" lnSpcReduction="20000"/>
          </a:bodyPr>
          <a:lstStyle/>
          <a:p>
            <a:pPr marL="0" indent="0" algn="just">
              <a:buNone/>
            </a:pPr>
            <a:r>
              <a:rPr lang="en-IN" dirty="0"/>
              <a:t> </a:t>
            </a:r>
            <a:r>
              <a:rPr lang="en-IN" b="1" u="sng" dirty="0"/>
              <a:t>4. Failed State-</a:t>
            </a:r>
            <a:endParaRPr lang="en-IN" b="1" dirty="0"/>
          </a:p>
          <a:p>
            <a:pPr algn="just"/>
            <a:r>
              <a:rPr lang="en-IN" dirty="0"/>
              <a:t> When a transaction is getting executed in the active state or partially committed state and some failure occurs due to which it becomes impossible to continue the execution, it enters into a </a:t>
            </a:r>
            <a:r>
              <a:rPr lang="en-IN" b="1" dirty="0"/>
              <a:t>failed state</a:t>
            </a:r>
            <a:r>
              <a:rPr lang="en-IN" dirty="0"/>
              <a:t>.</a:t>
            </a:r>
          </a:p>
          <a:p>
            <a:pPr marL="0" indent="0" algn="just">
              <a:buNone/>
            </a:pPr>
            <a:r>
              <a:rPr lang="en-IN" b="1" u="sng" dirty="0" smtClean="0"/>
              <a:t>5</a:t>
            </a:r>
            <a:r>
              <a:rPr lang="en-IN" b="1" u="sng" dirty="0"/>
              <a:t>. Aborted State-</a:t>
            </a:r>
            <a:endParaRPr lang="en-IN" b="1" dirty="0"/>
          </a:p>
          <a:p>
            <a:pPr algn="just"/>
            <a:r>
              <a:rPr lang="en-IN" dirty="0"/>
              <a:t> After the transaction has failed and entered into a failed state, all the changes made by it have to be undone.</a:t>
            </a:r>
          </a:p>
          <a:p>
            <a:pPr lvl="0" algn="just"/>
            <a:r>
              <a:rPr lang="en-IN" dirty="0"/>
              <a:t>To undo the changes made by the transaction, it becomes necessary to roll back the transaction.</a:t>
            </a:r>
          </a:p>
          <a:p>
            <a:pPr lvl="0" algn="just"/>
            <a:r>
              <a:rPr lang="en-IN" dirty="0"/>
              <a:t>After the transaction has rolled back completely, it enters into an </a:t>
            </a:r>
            <a:r>
              <a:rPr lang="en-IN" b="1" dirty="0"/>
              <a:t>aborted state</a:t>
            </a:r>
            <a:r>
              <a:rPr lang="en-IN" dirty="0"/>
              <a:t>.</a:t>
            </a:r>
          </a:p>
          <a:p>
            <a:pPr marL="0" indent="0" algn="just">
              <a:buNone/>
            </a:pPr>
            <a:r>
              <a:rPr lang="en-IN" dirty="0"/>
              <a:t> </a:t>
            </a:r>
            <a:r>
              <a:rPr lang="en-IN" b="1" u="sng" dirty="0" smtClean="0"/>
              <a:t>6</a:t>
            </a:r>
            <a:r>
              <a:rPr lang="en-IN" b="1" u="sng" dirty="0"/>
              <a:t>. Terminated State-</a:t>
            </a:r>
            <a:endParaRPr lang="en-IN" b="1" dirty="0"/>
          </a:p>
          <a:p>
            <a:pPr algn="just"/>
            <a:r>
              <a:rPr lang="en-IN" dirty="0"/>
              <a:t> </a:t>
            </a:r>
            <a:r>
              <a:rPr lang="en-IN" dirty="0" smtClean="0"/>
              <a:t>This </a:t>
            </a:r>
            <a:r>
              <a:rPr lang="en-IN" dirty="0"/>
              <a:t>is the last state in the life cycle of a transaction.</a:t>
            </a:r>
          </a:p>
          <a:p>
            <a:pPr lvl="0" algn="just"/>
            <a:r>
              <a:rPr lang="en-IN" dirty="0"/>
              <a:t>After entering the committed state or aborted state, the transaction finally enters into a </a:t>
            </a:r>
            <a:r>
              <a:rPr lang="en-IN" b="1" dirty="0"/>
              <a:t>terminated state</a:t>
            </a:r>
            <a:r>
              <a:rPr lang="en-IN" dirty="0"/>
              <a:t> where its life cycle finally comes to an end.</a:t>
            </a:r>
          </a:p>
          <a:p>
            <a:endParaRPr lang="en-IN" dirty="0"/>
          </a:p>
          <a:p>
            <a:endParaRPr lang="en-IN" dirty="0"/>
          </a:p>
        </p:txBody>
      </p:sp>
    </p:spTree>
    <p:extLst>
      <p:ext uri="{BB962C8B-B14F-4D97-AF65-F5344CB8AC3E}">
        <p14:creationId xmlns:p14="http://schemas.microsoft.com/office/powerpoint/2010/main" val="391681091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Write-Read Conflict :-Dirty Read Problem</a:t>
            </a:r>
          </a:p>
          <a:p>
            <a:r>
              <a:rPr lang="en-US" dirty="0" smtClean="0"/>
              <a:t>Read-write Conflict:-Un repeatable problem</a:t>
            </a:r>
            <a:endParaRPr lang="en-IN" dirty="0"/>
          </a:p>
        </p:txBody>
      </p:sp>
    </p:spTree>
    <p:extLst>
      <p:ext uri="{BB962C8B-B14F-4D97-AF65-F5344CB8AC3E}">
        <p14:creationId xmlns:p14="http://schemas.microsoft.com/office/powerpoint/2010/main" val="184549680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Conflict Pair</a:t>
            </a:r>
            <a:endParaRPr lang="en-IN" dirty="0"/>
          </a:p>
        </p:txBody>
      </p:sp>
      <p:sp>
        <p:nvSpPr>
          <p:cNvPr id="3" name="Content Placeholder 2"/>
          <p:cNvSpPr>
            <a:spLocks noGrp="1"/>
          </p:cNvSpPr>
          <p:nvPr>
            <p:ph idx="1"/>
          </p:nvPr>
        </p:nvSpPr>
        <p:spPr>
          <a:xfrm>
            <a:off x="457200" y="1219200"/>
            <a:ext cx="8229600" cy="5638800"/>
          </a:xfrm>
        </p:spPr>
        <p:txBody>
          <a:bodyPr numCol="2">
            <a:normAutofit fontScale="55000" lnSpcReduction="20000"/>
          </a:bodyPr>
          <a:lstStyle/>
          <a:p>
            <a:pPr marL="0" indent="0" algn="just">
              <a:buNone/>
            </a:pPr>
            <a:r>
              <a:rPr lang="en-US" b="1" i="1" dirty="0" smtClean="0">
                <a:solidFill>
                  <a:srgbClr val="FF0000"/>
                </a:solidFill>
              </a:rPr>
              <a:t>RAR Is not a Conflict Pair</a:t>
            </a:r>
          </a:p>
          <a:p>
            <a:pPr marL="0" indent="0" algn="just">
              <a:buNone/>
            </a:pPr>
            <a:r>
              <a:rPr lang="en-US" b="1" i="1" dirty="0" smtClean="0">
                <a:solidFill>
                  <a:srgbClr val="7030A0"/>
                </a:solidFill>
              </a:rPr>
              <a:t>RAW </a:t>
            </a:r>
            <a:r>
              <a:rPr lang="en-US" b="1" i="1" dirty="0">
                <a:solidFill>
                  <a:srgbClr val="7030A0"/>
                </a:solidFill>
              </a:rPr>
              <a:t>(Read After Write) / True Data Dependency:</a:t>
            </a:r>
          </a:p>
          <a:p>
            <a:pPr algn="just"/>
            <a:r>
              <a:rPr lang="en-US" dirty="0"/>
              <a:t>This occurs when an instruction needs to read a value that a previous instruction is about to write. It's a true data dependency because the later instruction's execution depends on the result of the earlier instruction.</a:t>
            </a:r>
          </a:p>
          <a:p>
            <a:pPr algn="just"/>
            <a:r>
              <a:rPr lang="en-US" dirty="0"/>
              <a:t>Example:</a:t>
            </a:r>
          </a:p>
          <a:p>
            <a:pPr algn="just"/>
            <a:r>
              <a:rPr lang="en-US" dirty="0"/>
              <a:t>Instruction 1: ADD R1, R2, R3 (Writes R1)</a:t>
            </a:r>
          </a:p>
          <a:p>
            <a:pPr algn="just"/>
            <a:r>
              <a:rPr lang="en-US" dirty="0"/>
              <a:t>Instruction 2: SUB R4, R1, R5 (Reads R1)</a:t>
            </a:r>
          </a:p>
          <a:p>
            <a:pPr marL="0" indent="0" algn="just">
              <a:buNone/>
            </a:pPr>
            <a:r>
              <a:rPr lang="en-US" b="1" i="1" dirty="0">
                <a:solidFill>
                  <a:srgbClr val="7030A0"/>
                </a:solidFill>
              </a:rPr>
              <a:t>WAR (Write After Read) / Anti-Dependency:</a:t>
            </a:r>
          </a:p>
          <a:p>
            <a:pPr algn="just"/>
            <a:r>
              <a:rPr lang="en-US" dirty="0"/>
              <a:t>This happens when an instruction tries to write to a register that another instruction is about to read, before the read instruction has completed. It's an anti-dependency because the later write could potentially overwrite a value that the first read instruction is waiting for.</a:t>
            </a:r>
          </a:p>
          <a:p>
            <a:pPr algn="just"/>
            <a:r>
              <a:rPr lang="en-US" dirty="0"/>
              <a:t>Example:</a:t>
            </a:r>
          </a:p>
          <a:p>
            <a:pPr algn="just"/>
            <a:r>
              <a:rPr lang="en-US" dirty="0"/>
              <a:t>Instruction 1: ADD R1, R2, R3 (Reads R2)</a:t>
            </a:r>
          </a:p>
          <a:p>
            <a:pPr algn="just"/>
            <a:r>
              <a:rPr lang="en-US" dirty="0"/>
              <a:t>Instruction 2: SUB R2, R4, R5 (Writes R2)</a:t>
            </a:r>
          </a:p>
          <a:p>
            <a:pPr marL="0" indent="0" algn="just">
              <a:buNone/>
            </a:pPr>
            <a:r>
              <a:rPr lang="en-US" b="1" i="1" dirty="0">
                <a:solidFill>
                  <a:srgbClr val="7030A0"/>
                </a:solidFill>
              </a:rPr>
              <a:t>WAW (Write After Write) / Output Dependency:</a:t>
            </a:r>
          </a:p>
          <a:p>
            <a:pPr algn="just"/>
            <a:r>
              <a:rPr lang="en-US" dirty="0"/>
              <a:t>This arises when two instructions attempt to write to the same register, but in a different order than they were issued. It's an output dependency because the final result of one instruction might be overwritten by the other.</a:t>
            </a:r>
          </a:p>
          <a:p>
            <a:pPr algn="just"/>
            <a:r>
              <a:rPr lang="en-US" dirty="0"/>
              <a:t>Example:</a:t>
            </a:r>
          </a:p>
          <a:p>
            <a:pPr algn="just"/>
            <a:r>
              <a:rPr lang="en-US" dirty="0"/>
              <a:t>Instruction 1: ADD R1, R2, R3 (Writes R1)</a:t>
            </a:r>
          </a:p>
          <a:p>
            <a:pPr algn="just"/>
            <a:r>
              <a:rPr lang="en-US" dirty="0"/>
              <a:t>Instruction 2: SUB R1, R4, R5 (Writes R1) </a:t>
            </a:r>
            <a:endParaRPr lang="en-IN" dirty="0"/>
          </a:p>
        </p:txBody>
      </p:sp>
    </p:spTree>
    <p:extLst>
      <p:ext uri="{BB962C8B-B14F-4D97-AF65-F5344CB8AC3E}">
        <p14:creationId xmlns:p14="http://schemas.microsoft.com/office/powerpoint/2010/main" val="63329530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2053"/>
          </a:xfrm>
        </p:spPr>
        <p:txBody>
          <a:bodyPr>
            <a:normAutofit fontScale="90000"/>
          </a:bodyPr>
          <a:lstStyle/>
          <a:p>
            <a:endParaRPr lang="en-IN" dirty="0"/>
          </a:p>
        </p:txBody>
      </p:sp>
      <p:sp>
        <p:nvSpPr>
          <p:cNvPr id="3" name="Content Placeholder 2"/>
          <p:cNvSpPr>
            <a:spLocks noGrp="1"/>
          </p:cNvSpPr>
          <p:nvPr>
            <p:ph idx="1"/>
          </p:nvPr>
        </p:nvSpPr>
        <p:spPr>
          <a:xfrm>
            <a:off x="457200" y="886692"/>
            <a:ext cx="8229600" cy="5708072"/>
          </a:xfrm>
        </p:spPr>
        <p:txBody>
          <a:bodyPr numCol="2">
            <a:normAutofit fontScale="55000" lnSpcReduction="20000"/>
          </a:bodyPr>
          <a:lstStyle/>
          <a:p>
            <a:pPr marL="0" indent="0" algn="just">
              <a:buNone/>
            </a:pPr>
            <a:r>
              <a:rPr lang="en-IN" b="1" i="1" u="sng" dirty="0">
                <a:solidFill>
                  <a:srgbClr val="00B050"/>
                </a:solidFill>
              </a:rPr>
              <a:t>Checking Whether a Schedule is Conflict Serializable Or Not-</a:t>
            </a:r>
            <a:endParaRPr lang="en-IN" b="1" i="1" dirty="0">
              <a:solidFill>
                <a:srgbClr val="00B050"/>
              </a:solidFill>
            </a:endParaRPr>
          </a:p>
          <a:p>
            <a:pPr marL="0" indent="0" algn="just">
              <a:buNone/>
            </a:pPr>
            <a:r>
              <a:rPr lang="en-IN" dirty="0"/>
              <a:t> </a:t>
            </a:r>
          </a:p>
          <a:p>
            <a:pPr marL="0" indent="0" algn="just">
              <a:buNone/>
            </a:pPr>
            <a:r>
              <a:rPr lang="en-IN" dirty="0"/>
              <a:t>Follow the following steps to check whether a given non-serial schedule is conflict serializable or not-</a:t>
            </a:r>
          </a:p>
          <a:p>
            <a:pPr marL="0" indent="0" algn="just">
              <a:buNone/>
            </a:pPr>
            <a:r>
              <a:rPr lang="en-IN" dirty="0"/>
              <a:t> </a:t>
            </a:r>
            <a:r>
              <a:rPr lang="en-IN" b="1" u="sng" dirty="0" smtClean="0"/>
              <a:t>Step-01</a:t>
            </a:r>
            <a:r>
              <a:rPr lang="en-IN" b="1" u="sng" dirty="0"/>
              <a:t>:</a:t>
            </a:r>
            <a:endParaRPr lang="en-IN" b="1" dirty="0"/>
          </a:p>
          <a:p>
            <a:pPr marL="0" indent="0" algn="just">
              <a:buNone/>
            </a:pPr>
            <a:r>
              <a:rPr lang="en-IN" dirty="0" smtClean="0"/>
              <a:t>Find </a:t>
            </a:r>
            <a:r>
              <a:rPr lang="en-IN" dirty="0"/>
              <a:t>and list all the conflicting operations.</a:t>
            </a:r>
          </a:p>
          <a:p>
            <a:pPr marL="0" indent="0" algn="just">
              <a:buNone/>
            </a:pPr>
            <a:r>
              <a:rPr lang="en-IN" dirty="0"/>
              <a:t> </a:t>
            </a:r>
            <a:r>
              <a:rPr lang="en-IN" b="1" u="sng" dirty="0" smtClean="0"/>
              <a:t>Step-02</a:t>
            </a:r>
            <a:r>
              <a:rPr lang="en-IN" b="1" u="sng" dirty="0"/>
              <a:t>:</a:t>
            </a:r>
            <a:endParaRPr lang="en-IN" b="1" dirty="0"/>
          </a:p>
          <a:p>
            <a:pPr marL="0" indent="0" algn="just">
              <a:buNone/>
            </a:pPr>
            <a:r>
              <a:rPr lang="en-IN" dirty="0"/>
              <a:t> </a:t>
            </a:r>
          </a:p>
          <a:p>
            <a:pPr marL="0" indent="0" algn="just">
              <a:buNone/>
            </a:pPr>
            <a:r>
              <a:rPr lang="en-IN" dirty="0"/>
              <a:t>Start creating a precedence graph by drawing one node for each transaction.</a:t>
            </a:r>
          </a:p>
          <a:p>
            <a:pPr algn="just"/>
            <a:endParaRPr lang="en-IN" dirty="0"/>
          </a:p>
          <a:p>
            <a:pPr marL="0" indent="0" algn="just">
              <a:buNone/>
            </a:pPr>
            <a:r>
              <a:rPr lang="en-IN" b="1" u="sng" dirty="0"/>
              <a:t>Step-03:</a:t>
            </a:r>
            <a:endParaRPr lang="en-IN" b="1" dirty="0"/>
          </a:p>
          <a:p>
            <a:pPr algn="just"/>
            <a:endParaRPr lang="en-IN" dirty="0"/>
          </a:p>
          <a:p>
            <a:pPr marL="0" lvl="0" indent="0" algn="just">
              <a:buNone/>
            </a:pPr>
            <a:r>
              <a:rPr lang="en-IN" dirty="0"/>
              <a:t>Draw an edge for each conflict pair such that if X</a:t>
            </a:r>
            <a:r>
              <a:rPr lang="en-IN" baseline="-25000" dirty="0"/>
              <a:t>i</a:t>
            </a:r>
            <a:r>
              <a:rPr lang="en-IN" dirty="0"/>
              <a:t> (V) and </a:t>
            </a:r>
            <a:r>
              <a:rPr lang="en-IN" dirty="0" err="1"/>
              <a:t>Y</a:t>
            </a:r>
            <a:r>
              <a:rPr lang="en-IN" baseline="-25000" dirty="0" err="1"/>
              <a:t>j</a:t>
            </a:r>
            <a:r>
              <a:rPr lang="en-IN" dirty="0"/>
              <a:t> (V) forms a conflict pair then draw an edge from </a:t>
            </a:r>
            <a:r>
              <a:rPr lang="en-IN" dirty="0" err="1"/>
              <a:t>T</a:t>
            </a:r>
            <a:r>
              <a:rPr lang="en-IN" baseline="-25000" dirty="0" err="1"/>
              <a:t>i</a:t>
            </a:r>
            <a:r>
              <a:rPr lang="en-IN" dirty="0"/>
              <a:t> to </a:t>
            </a:r>
            <a:r>
              <a:rPr lang="en-IN" dirty="0" err="1"/>
              <a:t>T</a:t>
            </a:r>
            <a:r>
              <a:rPr lang="en-IN" baseline="-25000" dirty="0" err="1"/>
              <a:t>j</a:t>
            </a:r>
            <a:r>
              <a:rPr lang="en-IN" dirty="0"/>
              <a:t>.</a:t>
            </a:r>
          </a:p>
          <a:p>
            <a:pPr lvl="0" algn="just"/>
            <a:r>
              <a:rPr lang="en-IN" dirty="0"/>
              <a:t>This ensures that </a:t>
            </a:r>
            <a:r>
              <a:rPr lang="en-IN" dirty="0" err="1"/>
              <a:t>T</a:t>
            </a:r>
            <a:r>
              <a:rPr lang="en-IN" baseline="-25000" dirty="0" err="1"/>
              <a:t>i</a:t>
            </a:r>
            <a:r>
              <a:rPr lang="en-IN" dirty="0"/>
              <a:t> gets executed before </a:t>
            </a:r>
            <a:r>
              <a:rPr lang="en-IN" dirty="0" err="1"/>
              <a:t>T</a:t>
            </a:r>
            <a:r>
              <a:rPr lang="en-IN" baseline="-25000" dirty="0" err="1"/>
              <a:t>j</a:t>
            </a:r>
            <a:r>
              <a:rPr lang="en-IN" dirty="0"/>
              <a:t>.</a:t>
            </a:r>
          </a:p>
          <a:p>
            <a:pPr algn="just"/>
            <a:r>
              <a:rPr lang="en-IN" dirty="0"/>
              <a:t> </a:t>
            </a:r>
            <a:r>
              <a:rPr lang="en-IN" b="1" u="sng" dirty="0" smtClean="0"/>
              <a:t>Step-04</a:t>
            </a:r>
            <a:r>
              <a:rPr lang="en-IN" b="1" u="sng" dirty="0"/>
              <a:t>:</a:t>
            </a:r>
            <a:endParaRPr lang="en-IN" b="1" dirty="0"/>
          </a:p>
          <a:p>
            <a:pPr algn="just"/>
            <a:r>
              <a:rPr lang="en-IN" dirty="0"/>
              <a:t> </a:t>
            </a:r>
            <a:r>
              <a:rPr lang="en-IN" dirty="0" smtClean="0"/>
              <a:t>Check </a:t>
            </a:r>
            <a:r>
              <a:rPr lang="en-IN" dirty="0"/>
              <a:t>if there is any cycle formed in the graph.</a:t>
            </a:r>
          </a:p>
          <a:p>
            <a:pPr lvl="0" algn="just"/>
            <a:r>
              <a:rPr lang="en-IN" dirty="0"/>
              <a:t>If there is no cycle found, then the schedule is conflict serializable otherwise not.</a:t>
            </a:r>
          </a:p>
          <a:p>
            <a:pPr algn="just"/>
            <a:r>
              <a:rPr lang="en-IN" b="1" i="1" dirty="0">
                <a:solidFill>
                  <a:srgbClr val="00B050"/>
                </a:solidFill>
              </a:rPr>
              <a:t> </a:t>
            </a:r>
            <a:r>
              <a:rPr lang="en-IN" b="1" i="1" u="sng" dirty="0" smtClean="0">
                <a:solidFill>
                  <a:srgbClr val="00B050"/>
                </a:solidFill>
              </a:rPr>
              <a:t>NOTE-</a:t>
            </a:r>
            <a:endParaRPr lang="en-IN" b="1" i="1" dirty="0">
              <a:solidFill>
                <a:srgbClr val="00B050"/>
              </a:solidFill>
            </a:endParaRPr>
          </a:p>
          <a:p>
            <a:pPr algn="just"/>
            <a:r>
              <a:rPr lang="en-IN" dirty="0"/>
              <a:t> </a:t>
            </a:r>
            <a:r>
              <a:rPr lang="en-IN" dirty="0" smtClean="0"/>
              <a:t>By </a:t>
            </a:r>
            <a:r>
              <a:rPr lang="en-IN" dirty="0"/>
              <a:t>performing the </a:t>
            </a:r>
            <a:r>
              <a:rPr lang="en-IN" b="1" u="sng" dirty="0">
                <a:hlinkClick r:id="rId2"/>
              </a:rPr>
              <a:t>Topological Sort</a:t>
            </a:r>
            <a:r>
              <a:rPr lang="en-IN" dirty="0"/>
              <a:t> of the </a:t>
            </a:r>
            <a:r>
              <a:rPr lang="en-IN" b="1" u="sng" dirty="0">
                <a:hlinkClick r:id="rId3"/>
              </a:rPr>
              <a:t>Directed Acyclic Graph</a:t>
            </a:r>
            <a:r>
              <a:rPr lang="en-IN" dirty="0"/>
              <a:t> so obtained, the corresponding serial schedule(s) can be found.</a:t>
            </a:r>
          </a:p>
          <a:p>
            <a:pPr lvl="0" algn="just"/>
            <a:r>
              <a:rPr lang="en-IN" dirty="0"/>
              <a:t>Such schedules can be more than 1.</a:t>
            </a:r>
          </a:p>
          <a:p>
            <a:pPr algn="just"/>
            <a:r>
              <a:rPr lang="en-IN" u="sng" dirty="0"/>
              <a:t>Conflict Serializability-</a:t>
            </a:r>
            <a:endParaRPr lang="en-IN" b="1" dirty="0"/>
          </a:p>
          <a:p>
            <a:pPr algn="just"/>
            <a:r>
              <a:rPr lang="en-IN" dirty="0"/>
              <a:t> </a:t>
            </a:r>
          </a:p>
          <a:p>
            <a:pPr algn="just"/>
            <a:r>
              <a:rPr lang="en-IN" dirty="0"/>
              <a:t>Before you go through this article, make sure that you have gone through the previous article on </a:t>
            </a:r>
            <a:r>
              <a:rPr lang="en-IN" b="1" u="sng" dirty="0">
                <a:hlinkClick r:id="rId4"/>
              </a:rPr>
              <a:t>Conflict Serializability</a:t>
            </a:r>
            <a:r>
              <a:rPr lang="en-IN" dirty="0"/>
              <a:t>.</a:t>
            </a:r>
          </a:p>
          <a:p>
            <a:pPr algn="just"/>
            <a:r>
              <a:rPr lang="en-IN" dirty="0"/>
              <a:t> </a:t>
            </a:r>
          </a:p>
          <a:p>
            <a:pPr algn="just"/>
            <a:r>
              <a:rPr lang="en-IN" dirty="0"/>
              <a:t>We have discussed-</a:t>
            </a:r>
          </a:p>
          <a:p>
            <a:pPr lvl="0" algn="just"/>
            <a:r>
              <a:rPr lang="en-IN" dirty="0"/>
              <a:t>The concept of </a:t>
            </a:r>
            <a:r>
              <a:rPr lang="en-IN" dirty="0" err="1"/>
              <a:t>serializability</a:t>
            </a:r>
            <a:r>
              <a:rPr lang="en-IN" dirty="0"/>
              <a:t> helps to identify the correct non-serial schedules that will maintain the consistency of the database.</a:t>
            </a:r>
          </a:p>
          <a:p>
            <a:endParaRPr lang="en-IN" dirty="0"/>
          </a:p>
        </p:txBody>
      </p:sp>
    </p:spTree>
    <p:extLst>
      <p:ext uri="{BB962C8B-B14F-4D97-AF65-F5344CB8AC3E}">
        <p14:creationId xmlns:p14="http://schemas.microsoft.com/office/powerpoint/2010/main" val="255955817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p:cNvPicPr>
            <a:picLocks noChangeAspect="1"/>
          </p:cNvPicPr>
          <p:nvPr/>
        </p:nvPicPr>
        <p:blipFill>
          <a:blip r:embed="rId2"/>
          <a:stretch>
            <a:fillRect/>
          </a:stretch>
        </p:blipFill>
        <p:spPr>
          <a:xfrm>
            <a:off x="457200" y="1692275"/>
            <a:ext cx="7897091" cy="3600161"/>
          </a:xfrm>
          <a:prstGeom prst="rect">
            <a:avLst/>
          </a:prstGeom>
        </p:spPr>
      </p:pic>
    </p:spTree>
    <p:extLst>
      <p:ext uri="{BB962C8B-B14F-4D97-AF65-F5344CB8AC3E}">
        <p14:creationId xmlns:p14="http://schemas.microsoft.com/office/powerpoint/2010/main" val="97547214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673" y="0"/>
            <a:ext cx="8728363" cy="1600200"/>
          </a:xfrm>
        </p:spPr>
        <p:txBody>
          <a:bodyPr>
            <a:normAutofit/>
          </a:bodyPr>
          <a:lstStyle/>
          <a:p>
            <a:r>
              <a:rPr lang="en-IN" sz="3100" b="1" u="sng" dirty="0" smtClean="0">
                <a:solidFill>
                  <a:srgbClr val="002060"/>
                </a:solidFill>
              </a:rPr>
              <a:t>Problem-01</a:t>
            </a:r>
            <a:r>
              <a:rPr lang="en-IN" sz="3100" b="1" u="sng" dirty="0">
                <a:solidFill>
                  <a:srgbClr val="002060"/>
                </a:solidFill>
              </a:rPr>
              <a:t>:</a:t>
            </a:r>
            <a:r>
              <a:rPr lang="en-IN" sz="3100" b="1" dirty="0">
                <a:solidFill>
                  <a:srgbClr val="002060"/>
                </a:solidFill>
              </a:rPr>
              <a:t/>
            </a:r>
            <a:br>
              <a:rPr lang="en-IN" sz="3100" b="1" dirty="0">
                <a:solidFill>
                  <a:srgbClr val="002060"/>
                </a:solidFill>
              </a:rPr>
            </a:br>
            <a:r>
              <a:rPr lang="en-IN" sz="1800" b="1" dirty="0" smtClean="0">
                <a:solidFill>
                  <a:srgbClr val="002060"/>
                </a:solidFill>
              </a:rPr>
              <a:t>Check </a:t>
            </a:r>
            <a:r>
              <a:rPr lang="en-IN" sz="1800" b="1" dirty="0">
                <a:solidFill>
                  <a:srgbClr val="002060"/>
                </a:solidFill>
              </a:rPr>
              <a:t>whether the given schedule S is conflict serializable or not-</a:t>
            </a:r>
            <a:br>
              <a:rPr lang="en-IN" sz="1800" b="1" dirty="0">
                <a:solidFill>
                  <a:srgbClr val="002060"/>
                </a:solidFill>
              </a:rPr>
            </a:br>
            <a:r>
              <a:rPr lang="en-IN" sz="1800" b="1" dirty="0">
                <a:solidFill>
                  <a:srgbClr val="002060"/>
                </a:solidFill>
              </a:rPr>
              <a:t>S : R</a:t>
            </a:r>
            <a:r>
              <a:rPr lang="en-IN" sz="1800" b="1" baseline="-25000" dirty="0">
                <a:solidFill>
                  <a:srgbClr val="002060"/>
                </a:solidFill>
              </a:rPr>
              <a:t>1</a:t>
            </a:r>
            <a:r>
              <a:rPr lang="en-IN" sz="1800" b="1" dirty="0">
                <a:solidFill>
                  <a:srgbClr val="002060"/>
                </a:solidFill>
              </a:rPr>
              <a:t>(A) , R</a:t>
            </a:r>
            <a:r>
              <a:rPr lang="en-IN" sz="1800" b="1" baseline="-25000" dirty="0">
                <a:solidFill>
                  <a:srgbClr val="002060"/>
                </a:solidFill>
              </a:rPr>
              <a:t>2</a:t>
            </a:r>
            <a:r>
              <a:rPr lang="en-IN" sz="1800" b="1" dirty="0">
                <a:solidFill>
                  <a:srgbClr val="002060"/>
                </a:solidFill>
              </a:rPr>
              <a:t>(A) , R</a:t>
            </a:r>
            <a:r>
              <a:rPr lang="en-IN" sz="1800" b="1" baseline="-25000" dirty="0">
                <a:solidFill>
                  <a:srgbClr val="002060"/>
                </a:solidFill>
              </a:rPr>
              <a:t>1</a:t>
            </a:r>
            <a:r>
              <a:rPr lang="en-IN" sz="1800" b="1" dirty="0">
                <a:solidFill>
                  <a:srgbClr val="002060"/>
                </a:solidFill>
              </a:rPr>
              <a:t>(B) , R</a:t>
            </a:r>
            <a:r>
              <a:rPr lang="en-IN" sz="1800" b="1" baseline="-25000" dirty="0">
                <a:solidFill>
                  <a:srgbClr val="002060"/>
                </a:solidFill>
              </a:rPr>
              <a:t>2</a:t>
            </a:r>
            <a:r>
              <a:rPr lang="en-IN" sz="1800" b="1" dirty="0">
                <a:solidFill>
                  <a:srgbClr val="002060"/>
                </a:solidFill>
              </a:rPr>
              <a:t>(B) , R</a:t>
            </a:r>
            <a:r>
              <a:rPr lang="en-IN" sz="1800" b="1" baseline="-25000" dirty="0">
                <a:solidFill>
                  <a:srgbClr val="002060"/>
                </a:solidFill>
              </a:rPr>
              <a:t>3</a:t>
            </a:r>
            <a:r>
              <a:rPr lang="en-IN" sz="1800" b="1" dirty="0">
                <a:solidFill>
                  <a:srgbClr val="002060"/>
                </a:solidFill>
              </a:rPr>
              <a:t>(B) , W</a:t>
            </a:r>
            <a:r>
              <a:rPr lang="en-IN" sz="1800" b="1" baseline="-25000" dirty="0">
                <a:solidFill>
                  <a:srgbClr val="002060"/>
                </a:solidFill>
              </a:rPr>
              <a:t>1</a:t>
            </a:r>
            <a:r>
              <a:rPr lang="en-IN" sz="1800" b="1" dirty="0">
                <a:solidFill>
                  <a:srgbClr val="002060"/>
                </a:solidFill>
              </a:rPr>
              <a:t>(A) , W</a:t>
            </a:r>
            <a:r>
              <a:rPr lang="en-IN" sz="1800" b="1" baseline="-25000" dirty="0">
                <a:solidFill>
                  <a:srgbClr val="002060"/>
                </a:solidFill>
              </a:rPr>
              <a:t>2</a:t>
            </a:r>
            <a:r>
              <a:rPr lang="en-IN" sz="1800" b="1" dirty="0">
                <a:solidFill>
                  <a:srgbClr val="002060"/>
                </a:solidFill>
              </a:rPr>
              <a:t>(B)</a:t>
            </a:r>
            <a:br>
              <a:rPr lang="en-IN" sz="1800" b="1" dirty="0">
                <a:solidFill>
                  <a:srgbClr val="002060"/>
                </a:solidFill>
              </a:rPr>
            </a:br>
            <a:endParaRPr lang="en-IN" sz="1800" b="1" dirty="0">
              <a:solidFill>
                <a:srgbClr val="002060"/>
              </a:solidFill>
            </a:endParaRPr>
          </a:p>
        </p:txBody>
      </p:sp>
      <p:sp>
        <p:nvSpPr>
          <p:cNvPr id="3" name="Content Placeholder 2"/>
          <p:cNvSpPr>
            <a:spLocks noGrp="1"/>
          </p:cNvSpPr>
          <p:nvPr>
            <p:ph idx="1"/>
          </p:nvPr>
        </p:nvSpPr>
        <p:spPr/>
        <p:txBody>
          <a:bodyPr>
            <a:normAutofit fontScale="92500" lnSpcReduction="10000"/>
          </a:bodyPr>
          <a:lstStyle/>
          <a:p>
            <a:pPr marL="0" indent="0">
              <a:buNone/>
            </a:pPr>
            <a:r>
              <a:rPr lang="en-IN" u="sng" dirty="0" smtClean="0"/>
              <a:t>Solution-</a:t>
            </a:r>
            <a:endParaRPr lang="en-IN" b="1" dirty="0" smtClean="0"/>
          </a:p>
          <a:p>
            <a:pPr marL="0" indent="0">
              <a:buNone/>
            </a:pPr>
            <a:r>
              <a:rPr lang="en-IN" b="1" u="sng" dirty="0" smtClean="0"/>
              <a:t>Step-01:</a:t>
            </a:r>
            <a:endParaRPr lang="en-IN" b="1" dirty="0" smtClean="0"/>
          </a:p>
          <a:p>
            <a:pPr marL="0" indent="0">
              <a:buNone/>
            </a:pPr>
            <a:r>
              <a:rPr lang="en-IN" dirty="0" smtClean="0"/>
              <a:t> List all the conflicting operations and determine the dependency between the transactions-</a:t>
            </a:r>
          </a:p>
          <a:p>
            <a:pPr lvl="0"/>
            <a:r>
              <a:rPr lang="en-IN" dirty="0" smtClean="0"/>
              <a:t>R</a:t>
            </a:r>
            <a:r>
              <a:rPr lang="en-IN" baseline="-25000" dirty="0" smtClean="0"/>
              <a:t>2</a:t>
            </a:r>
            <a:r>
              <a:rPr lang="en-IN" dirty="0" smtClean="0"/>
              <a:t>(A) , W</a:t>
            </a:r>
            <a:r>
              <a:rPr lang="en-IN" baseline="-25000" dirty="0" smtClean="0"/>
              <a:t>1</a:t>
            </a:r>
            <a:r>
              <a:rPr lang="en-IN" dirty="0" smtClean="0"/>
              <a:t>(A)              (T</a:t>
            </a:r>
            <a:r>
              <a:rPr lang="en-IN" baseline="-25000" dirty="0" smtClean="0"/>
              <a:t>2</a:t>
            </a:r>
            <a:r>
              <a:rPr lang="en-IN" dirty="0" smtClean="0"/>
              <a:t> → T</a:t>
            </a:r>
            <a:r>
              <a:rPr lang="en-IN" baseline="-25000" dirty="0" smtClean="0"/>
              <a:t>1</a:t>
            </a:r>
            <a:r>
              <a:rPr lang="en-IN" dirty="0" smtClean="0"/>
              <a:t>)</a:t>
            </a:r>
          </a:p>
          <a:p>
            <a:pPr lvl="0"/>
            <a:r>
              <a:rPr lang="en-IN" dirty="0" smtClean="0"/>
              <a:t>R</a:t>
            </a:r>
            <a:r>
              <a:rPr lang="en-IN" baseline="-25000" dirty="0" smtClean="0"/>
              <a:t>1</a:t>
            </a:r>
            <a:r>
              <a:rPr lang="en-IN" dirty="0" smtClean="0"/>
              <a:t>(B) , W</a:t>
            </a:r>
            <a:r>
              <a:rPr lang="en-IN" baseline="-25000" dirty="0" smtClean="0"/>
              <a:t>2</a:t>
            </a:r>
            <a:r>
              <a:rPr lang="en-IN" dirty="0" smtClean="0"/>
              <a:t>(B)              (T</a:t>
            </a:r>
            <a:r>
              <a:rPr lang="en-IN" baseline="-25000" dirty="0" smtClean="0"/>
              <a:t>1</a:t>
            </a:r>
            <a:r>
              <a:rPr lang="en-IN" dirty="0" smtClean="0"/>
              <a:t> → T</a:t>
            </a:r>
            <a:r>
              <a:rPr lang="en-IN" baseline="-25000" dirty="0" smtClean="0"/>
              <a:t>2</a:t>
            </a:r>
            <a:r>
              <a:rPr lang="en-IN" dirty="0" smtClean="0"/>
              <a:t>)</a:t>
            </a:r>
          </a:p>
          <a:p>
            <a:pPr lvl="0"/>
            <a:r>
              <a:rPr lang="en-IN" dirty="0" smtClean="0"/>
              <a:t>R</a:t>
            </a:r>
            <a:r>
              <a:rPr lang="en-IN" baseline="-25000" dirty="0" smtClean="0"/>
              <a:t>3</a:t>
            </a:r>
            <a:r>
              <a:rPr lang="en-IN" dirty="0" smtClean="0"/>
              <a:t>(B) , W</a:t>
            </a:r>
            <a:r>
              <a:rPr lang="en-IN" baseline="-25000" dirty="0" smtClean="0"/>
              <a:t>2</a:t>
            </a:r>
            <a:r>
              <a:rPr lang="en-IN" dirty="0" smtClean="0"/>
              <a:t>(B)              (T</a:t>
            </a:r>
            <a:r>
              <a:rPr lang="en-IN" baseline="-25000" dirty="0" smtClean="0"/>
              <a:t>3</a:t>
            </a:r>
            <a:r>
              <a:rPr lang="en-IN" dirty="0" smtClean="0"/>
              <a:t> → T</a:t>
            </a:r>
            <a:r>
              <a:rPr lang="en-IN" baseline="-25000" dirty="0" smtClean="0"/>
              <a:t>2</a:t>
            </a:r>
            <a:r>
              <a:rPr lang="en-IN" dirty="0" smtClean="0"/>
              <a:t>)</a:t>
            </a:r>
          </a:p>
          <a:p>
            <a:pPr marL="0" indent="0">
              <a:buNone/>
            </a:pPr>
            <a:r>
              <a:rPr lang="en-IN" dirty="0" smtClean="0"/>
              <a:t> </a:t>
            </a:r>
            <a:r>
              <a:rPr lang="en-IN" b="1" u="sng" dirty="0" smtClean="0"/>
              <a:t>Step-02:</a:t>
            </a:r>
            <a:endParaRPr lang="en-IN" b="1" dirty="0" smtClean="0"/>
          </a:p>
          <a:p>
            <a:r>
              <a:rPr lang="en-IN" dirty="0" smtClean="0"/>
              <a:t>Draw the precedence graph-</a:t>
            </a:r>
          </a:p>
          <a:p>
            <a:endParaRPr lang="en-IN" dirty="0"/>
          </a:p>
        </p:txBody>
      </p:sp>
    </p:spTree>
    <p:extLst>
      <p:ext uri="{BB962C8B-B14F-4D97-AF65-F5344CB8AC3E}">
        <p14:creationId xmlns:p14="http://schemas.microsoft.com/office/powerpoint/2010/main" val="312167440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lvl="0"/>
            <a:r>
              <a:rPr lang="en-IN" dirty="0"/>
              <a:t>Clearly, there exists a cycle in the precedence graph.</a:t>
            </a:r>
          </a:p>
          <a:p>
            <a:pPr lvl="0"/>
            <a:r>
              <a:rPr lang="en-IN" dirty="0"/>
              <a:t>Therefore, the given schedule S is not conflict serializable.</a:t>
            </a:r>
          </a:p>
          <a:p>
            <a:endParaRPr lang="en-IN"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p:cNvPicPr>
            <a:picLocks noChangeAspect="1"/>
          </p:cNvPicPr>
          <p:nvPr/>
        </p:nvPicPr>
        <p:blipFill>
          <a:blip r:embed="rId2"/>
          <a:stretch>
            <a:fillRect/>
          </a:stretch>
        </p:blipFill>
        <p:spPr>
          <a:xfrm>
            <a:off x="3139510" y="3613553"/>
            <a:ext cx="2504762" cy="1847619"/>
          </a:xfrm>
          <a:prstGeom prst="rect">
            <a:avLst/>
          </a:prstGeom>
        </p:spPr>
      </p:pic>
    </p:spTree>
    <p:extLst>
      <p:ext uri="{BB962C8B-B14F-4D97-AF65-F5344CB8AC3E}">
        <p14:creationId xmlns:p14="http://schemas.microsoft.com/office/powerpoint/2010/main" val="118522647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5636"/>
            <a:ext cx="8229600" cy="1002002"/>
          </a:xfrm>
        </p:spPr>
        <p:txBody>
          <a:bodyPr>
            <a:noAutofit/>
          </a:bodyPr>
          <a:lstStyle/>
          <a:p>
            <a:pPr marL="0" indent="0"/>
            <a:r>
              <a:rPr lang="en-IN" sz="2400" b="1" u="sng" dirty="0" smtClean="0"/>
              <a:t/>
            </a:r>
            <a:br>
              <a:rPr lang="en-IN" sz="2400" b="1" u="sng" dirty="0" smtClean="0"/>
            </a:br>
            <a:r>
              <a:rPr lang="en-IN" sz="2400" b="1" u="sng" dirty="0" smtClean="0"/>
              <a:t>Problem-02</a:t>
            </a:r>
            <a:r>
              <a:rPr lang="en-IN" sz="2400" b="1" u="sng" dirty="0"/>
              <a:t>:</a:t>
            </a:r>
            <a:r>
              <a:rPr lang="en-IN" sz="2400" b="1" dirty="0"/>
              <a:t/>
            </a:r>
            <a:br>
              <a:rPr lang="en-IN" sz="2400" b="1" dirty="0"/>
            </a:br>
            <a:r>
              <a:rPr lang="en-IN" sz="2400" dirty="0"/>
              <a:t>Check whether the given schedule S is conflict serializable and recoverable or not-</a:t>
            </a:r>
            <a:br>
              <a:rPr lang="en-IN" sz="2400" dirty="0"/>
            </a:br>
            <a:endParaRPr lang="en-IN" sz="2400" dirty="0"/>
          </a:p>
        </p:txBody>
      </p:sp>
      <p:sp>
        <p:nvSpPr>
          <p:cNvPr id="3" name="Content Placeholder 2"/>
          <p:cNvSpPr>
            <a:spLocks noGrp="1"/>
          </p:cNvSpPr>
          <p:nvPr>
            <p:ph idx="1"/>
          </p:nvPr>
        </p:nvSpPr>
        <p:spPr>
          <a:xfrm>
            <a:off x="457200" y="1600200"/>
            <a:ext cx="8229600" cy="5036127"/>
          </a:xfrm>
        </p:spPr>
        <p:txBody>
          <a:bodyPr/>
          <a:lstStyle/>
          <a:p>
            <a:endParaRPr lang="en-IN"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p:cNvPicPr>
            <a:picLocks noChangeAspect="1"/>
          </p:cNvPicPr>
          <p:nvPr/>
        </p:nvPicPr>
        <p:blipFill>
          <a:blip r:embed="rId2"/>
          <a:stretch>
            <a:fillRect/>
          </a:stretch>
        </p:blipFill>
        <p:spPr>
          <a:xfrm>
            <a:off x="457200" y="1717964"/>
            <a:ext cx="8229600" cy="4918363"/>
          </a:xfrm>
          <a:prstGeom prst="rect">
            <a:avLst/>
          </a:prstGeom>
        </p:spPr>
      </p:pic>
    </p:spTree>
    <p:extLst>
      <p:ext uri="{BB962C8B-B14F-4D97-AF65-F5344CB8AC3E}">
        <p14:creationId xmlns:p14="http://schemas.microsoft.com/office/powerpoint/2010/main" val="143427947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55000" lnSpcReduction="20000"/>
          </a:bodyPr>
          <a:lstStyle/>
          <a:p>
            <a:r>
              <a:rPr lang="en-IN" u="sng" dirty="0"/>
              <a:t>Solution-</a:t>
            </a:r>
            <a:endParaRPr lang="en-IN" b="1" dirty="0"/>
          </a:p>
          <a:p>
            <a:pPr marL="0" indent="0">
              <a:buNone/>
            </a:pPr>
            <a:r>
              <a:rPr lang="en-IN" b="1" u="sng" dirty="0" smtClean="0"/>
              <a:t>Checking </a:t>
            </a:r>
            <a:r>
              <a:rPr lang="en-IN" b="1" u="sng" dirty="0"/>
              <a:t>Whether S is Conflict Serializable Or Not-</a:t>
            </a:r>
            <a:endParaRPr lang="en-IN" b="1" dirty="0"/>
          </a:p>
          <a:p>
            <a:pPr marL="0" indent="0">
              <a:buNone/>
            </a:pPr>
            <a:r>
              <a:rPr lang="en-IN" b="1" u="sng" dirty="0"/>
              <a:t>Step-01:</a:t>
            </a:r>
            <a:endParaRPr lang="en-IN" b="1" dirty="0"/>
          </a:p>
          <a:p>
            <a:endParaRPr lang="en-IN" dirty="0" smtClean="0"/>
          </a:p>
          <a:p>
            <a:pPr marL="0" indent="0">
              <a:buNone/>
            </a:pPr>
            <a:r>
              <a:rPr lang="en-IN" dirty="0" smtClean="0"/>
              <a:t>List </a:t>
            </a:r>
            <a:r>
              <a:rPr lang="en-IN" dirty="0"/>
              <a:t>all the conflicting operations and determine the dependency between the transactions-</a:t>
            </a:r>
          </a:p>
          <a:p>
            <a:pPr lvl="0"/>
            <a:r>
              <a:rPr lang="en-IN" dirty="0"/>
              <a:t>R</a:t>
            </a:r>
            <a:r>
              <a:rPr lang="en-IN" baseline="-25000" dirty="0"/>
              <a:t>2</a:t>
            </a:r>
            <a:r>
              <a:rPr lang="en-IN" dirty="0"/>
              <a:t>(X) , W</a:t>
            </a:r>
            <a:r>
              <a:rPr lang="en-IN" baseline="-25000" dirty="0"/>
              <a:t>3</a:t>
            </a:r>
            <a:r>
              <a:rPr lang="en-IN" dirty="0"/>
              <a:t>(X)              (T</a:t>
            </a:r>
            <a:r>
              <a:rPr lang="en-IN" baseline="-25000" dirty="0"/>
              <a:t>2</a:t>
            </a:r>
            <a:r>
              <a:rPr lang="en-IN" dirty="0"/>
              <a:t> → T</a:t>
            </a:r>
            <a:r>
              <a:rPr lang="en-IN" baseline="-25000" dirty="0"/>
              <a:t>3</a:t>
            </a:r>
            <a:r>
              <a:rPr lang="en-IN" dirty="0"/>
              <a:t>)</a:t>
            </a:r>
          </a:p>
          <a:p>
            <a:pPr lvl="0"/>
            <a:r>
              <a:rPr lang="en-IN" dirty="0"/>
              <a:t>R</a:t>
            </a:r>
            <a:r>
              <a:rPr lang="en-IN" baseline="-25000" dirty="0"/>
              <a:t>2</a:t>
            </a:r>
            <a:r>
              <a:rPr lang="en-IN" dirty="0"/>
              <a:t>(X) , W</a:t>
            </a:r>
            <a:r>
              <a:rPr lang="en-IN" baseline="-25000" dirty="0"/>
              <a:t>1</a:t>
            </a:r>
            <a:r>
              <a:rPr lang="en-IN" dirty="0"/>
              <a:t>(X)              (T</a:t>
            </a:r>
            <a:r>
              <a:rPr lang="en-IN" baseline="-25000" dirty="0"/>
              <a:t>2</a:t>
            </a:r>
            <a:r>
              <a:rPr lang="en-IN" dirty="0"/>
              <a:t> → T</a:t>
            </a:r>
            <a:r>
              <a:rPr lang="en-IN" baseline="-25000" dirty="0"/>
              <a:t>1</a:t>
            </a:r>
            <a:r>
              <a:rPr lang="en-IN" dirty="0"/>
              <a:t>)</a:t>
            </a:r>
          </a:p>
          <a:p>
            <a:pPr lvl="0"/>
            <a:r>
              <a:rPr lang="en-IN" dirty="0"/>
              <a:t>W</a:t>
            </a:r>
            <a:r>
              <a:rPr lang="en-IN" baseline="-25000" dirty="0"/>
              <a:t>3</a:t>
            </a:r>
            <a:r>
              <a:rPr lang="en-IN" dirty="0"/>
              <a:t>(X) , W</a:t>
            </a:r>
            <a:r>
              <a:rPr lang="en-IN" baseline="-25000" dirty="0"/>
              <a:t>1</a:t>
            </a:r>
            <a:r>
              <a:rPr lang="en-IN" dirty="0"/>
              <a:t>(X)             (T</a:t>
            </a:r>
            <a:r>
              <a:rPr lang="en-IN" baseline="-25000" dirty="0"/>
              <a:t>3</a:t>
            </a:r>
            <a:r>
              <a:rPr lang="en-IN" dirty="0"/>
              <a:t> → T</a:t>
            </a:r>
            <a:r>
              <a:rPr lang="en-IN" baseline="-25000" dirty="0"/>
              <a:t>1</a:t>
            </a:r>
            <a:r>
              <a:rPr lang="en-IN" dirty="0"/>
              <a:t>)</a:t>
            </a:r>
          </a:p>
          <a:p>
            <a:pPr lvl="0"/>
            <a:r>
              <a:rPr lang="en-IN" dirty="0"/>
              <a:t>W</a:t>
            </a:r>
            <a:r>
              <a:rPr lang="en-IN" baseline="-25000" dirty="0"/>
              <a:t>3</a:t>
            </a:r>
            <a:r>
              <a:rPr lang="en-IN" dirty="0"/>
              <a:t>(X) , R</a:t>
            </a:r>
            <a:r>
              <a:rPr lang="en-IN" baseline="-25000" dirty="0"/>
              <a:t>4</a:t>
            </a:r>
            <a:r>
              <a:rPr lang="en-IN" dirty="0"/>
              <a:t>(X)              (T</a:t>
            </a:r>
            <a:r>
              <a:rPr lang="en-IN" baseline="-25000" dirty="0"/>
              <a:t>3</a:t>
            </a:r>
            <a:r>
              <a:rPr lang="en-IN" dirty="0"/>
              <a:t> → T</a:t>
            </a:r>
            <a:r>
              <a:rPr lang="en-IN" baseline="-25000" dirty="0"/>
              <a:t>4</a:t>
            </a:r>
            <a:r>
              <a:rPr lang="en-IN" dirty="0"/>
              <a:t>)</a:t>
            </a:r>
          </a:p>
          <a:p>
            <a:pPr lvl="0"/>
            <a:r>
              <a:rPr lang="en-IN" dirty="0"/>
              <a:t>W</a:t>
            </a:r>
            <a:r>
              <a:rPr lang="en-IN" baseline="-25000" dirty="0"/>
              <a:t>1</a:t>
            </a:r>
            <a:r>
              <a:rPr lang="en-IN" dirty="0"/>
              <a:t>(X) , R</a:t>
            </a:r>
            <a:r>
              <a:rPr lang="en-IN" baseline="-25000" dirty="0"/>
              <a:t>4</a:t>
            </a:r>
            <a:r>
              <a:rPr lang="en-IN" dirty="0"/>
              <a:t>(X)              (T</a:t>
            </a:r>
            <a:r>
              <a:rPr lang="en-IN" baseline="-25000" dirty="0"/>
              <a:t>1</a:t>
            </a:r>
            <a:r>
              <a:rPr lang="en-IN" dirty="0"/>
              <a:t> → T</a:t>
            </a:r>
            <a:r>
              <a:rPr lang="en-IN" baseline="-25000" dirty="0"/>
              <a:t>4</a:t>
            </a:r>
            <a:r>
              <a:rPr lang="en-IN" dirty="0"/>
              <a:t>)</a:t>
            </a:r>
          </a:p>
          <a:p>
            <a:pPr lvl="0"/>
            <a:r>
              <a:rPr lang="en-IN" dirty="0"/>
              <a:t>W</a:t>
            </a:r>
            <a:r>
              <a:rPr lang="en-IN" baseline="-25000" dirty="0"/>
              <a:t>2</a:t>
            </a:r>
            <a:r>
              <a:rPr lang="en-IN" dirty="0"/>
              <a:t>(Y) , R</a:t>
            </a:r>
            <a:r>
              <a:rPr lang="en-IN" baseline="-25000" dirty="0"/>
              <a:t>4</a:t>
            </a:r>
            <a:r>
              <a:rPr lang="en-IN" dirty="0"/>
              <a:t>(Y)              (T</a:t>
            </a:r>
            <a:r>
              <a:rPr lang="en-IN" baseline="-25000" dirty="0"/>
              <a:t>2</a:t>
            </a:r>
            <a:r>
              <a:rPr lang="en-IN" dirty="0"/>
              <a:t> → T</a:t>
            </a:r>
            <a:r>
              <a:rPr lang="en-IN" baseline="-25000" dirty="0"/>
              <a:t>4</a:t>
            </a:r>
            <a:r>
              <a:rPr lang="en-IN" dirty="0"/>
              <a:t>)</a:t>
            </a:r>
          </a:p>
          <a:p>
            <a:pPr marL="0" indent="0">
              <a:buNone/>
            </a:pPr>
            <a:r>
              <a:rPr lang="en-IN" dirty="0"/>
              <a:t> </a:t>
            </a:r>
          </a:p>
          <a:p>
            <a:pPr marL="0" indent="0">
              <a:buNone/>
            </a:pPr>
            <a:r>
              <a:rPr lang="en-IN" b="1" u="sng" dirty="0"/>
              <a:t>Step-02:</a:t>
            </a:r>
            <a:endParaRPr lang="en-IN" b="1" dirty="0"/>
          </a:p>
          <a:p>
            <a:endParaRPr lang="en-IN" dirty="0"/>
          </a:p>
          <a:p>
            <a:r>
              <a:rPr lang="en-IN" dirty="0"/>
              <a:t>Draw the precedence graph-</a:t>
            </a:r>
          </a:p>
          <a:p>
            <a:endParaRPr lang="en-IN" dirty="0"/>
          </a:p>
        </p:txBody>
      </p:sp>
    </p:spTree>
    <p:extLst>
      <p:ext uri="{BB962C8B-B14F-4D97-AF65-F5344CB8AC3E}">
        <p14:creationId xmlns:p14="http://schemas.microsoft.com/office/powerpoint/2010/main" val="134123340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p:cNvPicPr>
            <a:picLocks noChangeAspect="1"/>
          </p:cNvPicPr>
          <p:nvPr/>
        </p:nvPicPr>
        <p:blipFill>
          <a:blip r:embed="rId2"/>
          <a:stretch>
            <a:fillRect/>
          </a:stretch>
        </p:blipFill>
        <p:spPr>
          <a:xfrm>
            <a:off x="614590" y="1692274"/>
            <a:ext cx="7753555" cy="4057361"/>
          </a:xfrm>
          <a:prstGeom prst="rect">
            <a:avLst/>
          </a:prstGeom>
        </p:spPr>
      </p:pic>
    </p:spTree>
    <p:extLst>
      <p:ext uri="{BB962C8B-B14F-4D97-AF65-F5344CB8AC3E}">
        <p14:creationId xmlns:p14="http://schemas.microsoft.com/office/powerpoint/2010/main" val="16905113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lvl="0"/>
            <a:r>
              <a:rPr lang="en-IN" dirty="0"/>
              <a:t>Clearly, there exists no cycle in the precedence graph.</a:t>
            </a:r>
          </a:p>
          <a:p>
            <a:pPr lvl="0"/>
            <a:r>
              <a:rPr lang="en-IN" dirty="0"/>
              <a:t>Therefore, the given schedule S is conflict serializable.</a:t>
            </a:r>
          </a:p>
          <a:p>
            <a:r>
              <a:rPr lang="en-IN" u="sng" dirty="0"/>
              <a:t>Checking Whether S is Recoverable Or Not-</a:t>
            </a:r>
            <a:endParaRPr lang="en-IN" b="1" dirty="0"/>
          </a:p>
          <a:p>
            <a:pPr marL="0" indent="0">
              <a:buNone/>
            </a:pPr>
            <a:r>
              <a:rPr lang="en-IN" dirty="0"/>
              <a:t> </a:t>
            </a:r>
          </a:p>
          <a:p>
            <a:pPr lvl="0"/>
            <a:r>
              <a:rPr lang="en-IN" dirty="0"/>
              <a:t>Conflict serializable schedules are always recoverable.</a:t>
            </a:r>
          </a:p>
          <a:p>
            <a:pPr lvl="0"/>
            <a:r>
              <a:rPr lang="en-IN" dirty="0"/>
              <a:t>Therefore, the given schedule S is recoverable.</a:t>
            </a:r>
          </a:p>
          <a:p>
            <a:endParaRPr lang="en-IN" dirty="0"/>
          </a:p>
          <a:p>
            <a:r>
              <a:rPr lang="en-IN" b="1" dirty="0"/>
              <a:t>Alternatively</a:t>
            </a:r>
            <a:r>
              <a:rPr lang="en-IN" dirty="0"/>
              <a:t>,</a:t>
            </a:r>
          </a:p>
          <a:p>
            <a:pPr lvl="0"/>
            <a:r>
              <a:rPr lang="en-IN" dirty="0"/>
              <a:t>There exists no dirty read operation.</a:t>
            </a:r>
          </a:p>
          <a:p>
            <a:pPr lvl="0"/>
            <a:r>
              <a:rPr lang="en-IN" dirty="0"/>
              <a:t>This is because all the transactions which update the values commits immediately.</a:t>
            </a:r>
          </a:p>
          <a:p>
            <a:pPr lvl="0"/>
            <a:r>
              <a:rPr lang="en-IN" dirty="0"/>
              <a:t>Therefore, the given schedule S is recoverable.</a:t>
            </a:r>
          </a:p>
          <a:p>
            <a:pPr lvl="0"/>
            <a:r>
              <a:rPr lang="en-IN" dirty="0"/>
              <a:t>Also, S is a </a:t>
            </a:r>
            <a:r>
              <a:rPr lang="en-IN" b="1" u="sng" dirty="0" err="1">
                <a:hlinkClick r:id="rId2"/>
              </a:rPr>
              <a:t>Cascadeless</a:t>
            </a:r>
            <a:r>
              <a:rPr lang="en-IN" b="1" u="sng" dirty="0">
                <a:hlinkClick r:id="rId2"/>
              </a:rPr>
              <a:t> Schedule</a:t>
            </a:r>
            <a:r>
              <a:rPr lang="en-IN" dirty="0"/>
              <a:t>.</a:t>
            </a:r>
          </a:p>
          <a:p>
            <a:endParaRPr lang="en-IN" dirty="0"/>
          </a:p>
        </p:txBody>
      </p:sp>
    </p:spTree>
    <p:extLst>
      <p:ext uri="{BB962C8B-B14F-4D97-AF65-F5344CB8AC3E}">
        <p14:creationId xmlns:p14="http://schemas.microsoft.com/office/powerpoint/2010/main" val="378089553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73507"/>
          </a:xfrm>
        </p:spPr>
        <p:txBody>
          <a:bodyPr>
            <a:normAutofit fontScale="90000"/>
          </a:bodyPr>
          <a:lstStyle/>
          <a:p>
            <a:endParaRPr lang="en-IN" dirty="0"/>
          </a:p>
        </p:txBody>
      </p:sp>
      <p:sp>
        <p:nvSpPr>
          <p:cNvPr id="3" name="Content Placeholder 2"/>
          <p:cNvSpPr>
            <a:spLocks noGrp="1"/>
          </p:cNvSpPr>
          <p:nvPr>
            <p:ph idx="1"/>
          </p:nvPr>
        </p:nvSpPr>
        <p:spPr>
          <a:xfrm>
            <a:off x="457200" y="748146"/>
            <a:ext cx="8229600" cy="5597236"/>
          </a:xfrm>
        </p:spPr>
        <p:txBody>
          <a:bodyPr numCol="2">
            <a:normAutofit fontScale="77500" lnSpcReduction="20000"/>
          </a:bodyPr>
          <a:lstStyle/>
          <a:p>
            <a:pPr marL="0" indent="0" algn="just">
              <a:buNone/>
            </a:pPr>
            <a:r>
              <a:rPr lang="en-US" b="1" u="sng" dirty="0" smtClean="0"/>
              <a:t>Non-Serializable </a:t>
            </a:r>
            <a:r>
              <a:rPr lang="en-US" b="1" u="sng" dirty="0"/>
              <a:t>Schedules-</a:t>
            </a:r>
            <a:endParaRPr lang="en-US" b="1" dirty="0"/>
          </a:p>
          <a:p>
            <a:pPr algn="just"/>
            <a:r>
              <a:rPr lang="en-US" dirty="0"/>
              <a:t> </a:t>
            </a:r>
            <a:r>
              <a:rPr lang="en-US" dirty="0" smtClean="0"/>
              <a:t>A </a:t>
            </a:r>
            <a:r>
              <a:rPr lang="en-US" dirty="0"/>
              <a:t>non-serial schedule which is not serializable is called as a non-serializable schedule.</a:t>
            </a:r>
          </a:p>
          <a:p>
            <a:pPr algn="just"/>
            <a:r>
              <a:rPr lang="en-US" dirty="0"/>
              <a:t>A non-serializable schedule is not guaranteed to produce the </a:t>
            </a:r>
            <a:r>
              <a:rPr lang="en-US" dirty="0" err="1"/>
              <a:t>the</a:t>
            </a:r>
            <a:r>
              <a:rPr lang="en-US" dirty="0"/>
              <a:t> same effect as produced by some serial schedule on any consistent database.</a:t>
            </a:r>
          </a:p>
          <a:p>
            <a:pPr marL="0" indent="0" algn="just">
              <a:buNone/>
            </a:pPr>
            <a:r>
              <a:rPr lang="en-US" b="1" u="sng" dirty="0" smtClean="0"/>
              <a:t>Characteristics-</a:t>
            </a:r>
            <a:endParaRPr lang="en-US" b="1" dirty="0"/>
          </a:p>
          <a:p>
            <a:pPr algn="just"/>
            <a:r>
              <a:rPr lang="en-US" dirty="0"/>
              <a:t> </a:t>
            </a:r>
            <a:r>
              <a:rPr lang="en-US" dirty="0" smtClean="0"/>
              <a:t>Non-serializable </a:t>
            </a:r>
            <a:r>
              <a:rPr lang="en-US" dirty="0"/>
              <a:t>schedules-</a:t>
            </a:r>
          </a:p>
          <a:p>
            <a:pPr algn="just"/>
            <a:r>
              <a:rPr lang="en-US" dirty="0"/>
              <a:t>may or may not be consistent</a:t>
            </a:r>
          </a:p>
          <a:p>
            <a:pPr algn="just"/>
            <a:r>
              <a:rPr lang="en-US" dirty="0"/>
              <a:t>may or may not be recoverable</a:t>
            </a:r>
          </a:p>
          <a:p>
            <a:pPr marL="0" indent="0" algn="just">
              <a:buNone/>
            </a:pPr>
            <a:r>
              <a:rPr lang="en-US" b="1" u="sng" dirty="0" smtClean="0"/>
              <a:t>Irrecoverable </a:t>
            </a:r>
            <a:r>
              <a:rPr lang="en-US" b="1" u="sng" dirty="0"/>
              <a:t>Schedules-</a:t>
            </a:r>
            <a:endParaRPr lang="en-US" b="1" dirty="0"/>
          </a:p>
          <a:p>
            <a:pPr algn="just"/>
            <a:r>
              <a:rPr lang="en-US" dirty="0"/>
              <a:t> </a:t>
            </a:r>
            <a:r>
              <a:rPr lang="en-US" dirty="0" smtClean="0"/>
              <a:t>If </a:t>
            </a:r>
            <a:r>
              <a:rPr lang="en-US" dirty="0"/>
              <a:t>in a schedule,</a:t>
            </a:r>
          </a:p>
          <a:p>
            <a:pPr algn="just"/>
            <a:r>
              <a:rPr lang="en-US" dirty="0"/>
              <a:t>A transaction performs a dirty read operation from an uncommitted transaction</a:t>
            </a:r>
          </a:p>
          <a:p>
            <a:pPr algn="just"/>
            <a:r>
              <a:rPr lang="en-US" dirty="0"/>
              <a:t>And commits before the transaction from which it has read the value</a:t>
            </a:r>
          </a:p>
          <a:p>
            <a:pPr algn="just"/>
            <a:r>
              <a:rPr lang="en-US" dirty="0"/>
              <a:t>then such a schedule is known as an </a:t>
            </a:r>
            <a:r>
              <a:rPr lang="en-US" b="1" dirty="0"/>
              <a:t>Irrecoverable Schedule</a:t>
            </a:r>
            <a:r>
              <a:rPr lang="en-US" dirty="0"/>
              <a:t>.</a:t>
            </a:r>
          </a:p>
          <a:p>
            <a:endParaRPr lang="en-IN" dirty="0"/>
          </a:p>
        </p:txBody>
      </p:sp>
    </p:spTree>
    <p:extLst>
      <p:ext uri="{BB962C8B-B14F-4D97-AF65-F5344CB8AC3E}">
        <p14:creationId xmlns:p14="http://schemas.microsoft.com/office/powerpoint/2010/main" val="258573986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u="sng" dirty="0" smtClean="0"/>
              <a:t/>
            </a:r>
            <a:br>
              <a:rPr lang="en-US" sz="2800" b="1" u="sng" dirty="0" smtClean="0"/>
            </a:br>
            <a:r>
              <a:rPr lang="en-US" sz="2800" b="1" i="1" u="sng" dirty="0" smtClean="0">
                <a:solidFill>
                  <a:srgbClr val="FF0000"/>
                </a:solidFill>
              </a:rPr>
              <a:t>Example-</a:t>
            </a:r>
            <a:r>
              <a:rPr lang="en-US" sz="2800" b="1" i="1" dirty="0">
                <a:solidFill>
                  <a:srgbClr val="FF0000"/>
                </a:solidFill>
              </a:rPr>
              <a:t/>
            </a:r>
            <a:br>
              <a:rPr lang="en-US" sz="2800" b="1" i="1" dirty="0">
                <a:solidFill>
                  <a:srgbClr val="FF0000"/>
                </a:solidFill>
              </a:rPr>
            </a:br>
            <a:r>
              <a:rPr lang="en-US" sz="2800" b="1" i="1" dirty="0" smtClean="0">
                <a:solidFill>
                  <a:srgbClr val="FF0000"/>
                </a:solidFill>
              </a:rPr>
              <a:t>Consider </a:t>
            </a:r>
            <a:r>
              <a:rPr lang="en-US" sz="2800" b="1" i="1" dirty="0">
                <a:solidFill>
                  <a:srgbClr val="FF0000"/>
                </a:solidFill>
              </a:rPr>
              <a:t>the following schedule-</a:t>
            </a:r>
            <a:br>
              <a:rPr lang="en-US" sz="2800" b="1" i="1" dirty="0">
                <a:solidFill>
                  <a:srgbClr val="FF0000"/>
                </a:solidFill>
              </a:rPr>
            </a:br>
            <a:endParaRPr lang="en-IN" sz="2800" b="1" i="1" dirty="0">
              <a:solidFill>
                <a:srgbClr val="FF0000"/>
              </a:solidFill>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1891" y="2120106"/>
            <a:ext cx="8312727" cy="4183712"/>
          </a:xfrm>
        </p:spPr>
      </p:pic>
    </p:spTree>
    <p:extLst>
      <p:ext uri="{BB962C8B-B14F-4D97-AF65-F5344CB8AC3E}">
        <p14:creationId xmlns:p14="http://schemas.microsoft.com/office/powerpoint/2010/main" val="153606632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42780"/>
          </a:xfrm>
        </p:spPr>
        <p:txBody>
          <a:bodyPr>
            <a:normAutofit fontScale="90000"/>
          </a:bodyPr>
          <a:lstStyle/>
          <a:p>
            <a:endParaRPr lang="en-IN" dirty="0"/>
          </a:p>
        </p:txBody>
      </p:sp>
      <p:sp>
        <p:nvSpPr>
          <p:cNvPr id="3" name="Content Placeholder 2"/>
          <p:cNvSpPr>
            <a:spLocks noGrp="1"/>
          </p:cNvSpPr>
          <p:nvPr>
            <p:ph idx="1"/>
          </p:nvPr>
        </p:nvSpPr>
        <p:spPr>
          <a:xfrm>
            <a:off x="457200" y="969818"/>
            <a:ext cx="8229600" cy="5156345"/>
          </a:xfrm>
        </p:spPr>
        <p:txBody>
          <a:bodyPr numCol="2">
            <a:normAutofit fontScale="70000" lnSpcReduction="20000"/>
          </a:bodyPr>
          <a:lstStyle/>
          <a:p>
            <a:pPr marL="0" indent="0" algn="just">
              <a:buNone/>
            </a:pPr>
            <a:r>
              <a:rPr lang="en-US" dirty="0"/>
              <a:t>Here,</a:t>
            </a:r>
          </a:p>
          <a:p>
            <a:pPr marL="0" indent="0" algn="just">
              <a:buNone/>
            </a:pPr>
            <a:r>
              <a:rPr lang="en-US" dirty="0"/>
              <a:t>T2 performs a dirty read operation.</a:t>
            </a:r>
          </a:p>
          <a:p>
            <a:pPr marL="0" indent="0" algn="just">
              <a:buNone/>
            </a:pPr>
            <a:r>
              <a:rPr lang="en-US" dirty="0"/>
              <a:t>T2 commits before T1.</a:t>
            </a:r>
          </a:p>
          <a:p>
            <a:pPr marL="0" indent="0" algn="just">
              <a:buNone/>
            </a:pPr>
            <a:r>
              <a:rPr lang="en-US" dirty="0"/>
              <a:t>T1 fails later and roll backs.</a:t>
            </a:r>
          </a:p>
          <a:p>
            <a:pPr marL="0" indent="0" algn="just">
              <a:buNone/>
            </a:pPr>
            <a:r>
              <a:rPr lang="en-US" dirty="0"/>
              <a:t>The value that T2 read now stands to be incorrect.</a:t>
            </a:r>
          </a:p>
          <a:p>
            <a:pPr marL="0" indent="0" algn="just">
              <a:buNone/>
            </a:pPr>
            <a:r>
              <a:rPr lang="en-US" dirty="0"/>
              <a:t>T2 can not recover since it has already committed.</a:t>
            </a:r>
          </a:p>
          <a:p>
            <a:pPr marL="0" indent="0" algn="just">
              <a:buNone/>
            </a:pPr>
            <a:r>
              <a:rPr lang="en-US" b="1" u="sng" dirty="0"/>
              <a:t>Recoverable Schedules-</a:t>
            </a:r>
            <a:endParaRPr lang="en-US" b="1" dirty="0"/>
          </a:p>
          <a:p>
            <a:pPr marL="0" indent="0" algn="just">
              <a:buNone/>
            </a:pPr>
            <a:r>
              <a:rPr lang="en-US" dirty="0"/>
              <a:t> </a:t>
            </a:r>
            <a:r>
              <a:rPr lang="en-US" dirty="0" smtClean="0"/>
              <a:t>If </a:t>
            </a:r>
            <a:r>
              <a:rPr lang="en-US" dirty="0"/>
              <a:t>in a schedule,</a:t>
            </a:r>
          </a:p>
          <a:p>
            <a:pPr marL="0" indent="0" algn="just">
              <a:buNone/>
            </a:pPr>
            <a:r>
              <a:rPr lang="en-US" dirty="0"/>
              <a:t>A transaction performs a dirty read operation from an uncommitted transaction</a:t>
            </a:r>
          </a:p>
          <a:p>
            <a:pPr marL="0" indent="0" algn="just">
              <a:buNone/>
            </a:pPr>
            <a:r>
              <a:rPr lang="en-US" dirty="0"/>
              <a:t>And its commit operation is delayed till the uncommitted transaction either commits or roll backs</a:t>
            </a:r>
          </a:p>
          <a:p>
            <a:pPr marL="0" indent="0" algn="just">
              <a:buNone/>
            </a:pPr>
            <a:r>
              <a:rPr lang="en-US" dirty="0"/>
              <a:t>then such a schedule is known as a </a:t>
            </a:r>
            <a:r>
              <a:rPr lang="en-US" b="1" dirty="0"/>
              <a:t>Recoverable Schedule</a:t>
            </a:r>
            <a:r>
              <a:rPr lang="en-US" dirty="0"/>
              <a:t>.</a:t>
            </a:r>
          </a:p>
          <a:p>
            <a:pPr algn="just"/>
            <a:r>
              <a:rPr lang="en-US" dirty="0"/>
              <a:t> Here,</a:t>
            </a:r>
          </a:p>
          <a:p>
            <a:pPr algn="just"/>
            <a:r>
              <a:rPr lang="en-US" dirty="0"/>
              <a:t>The commit operation of the transaction that performs the dirty read is delayed.</a:t>
            </a:r>
          </a:p>
          <a:p>
            <a:pPr algn="just"/>
            <a:r>
              <a:rPr lang="en-US" dirty="0"/>
              <a:t>This ensures that it still has a chance to recover if the uncommitted transaction fails later.</a:t>
            </a:r>
          </a:p>
          <a:p>
            <a:pPr marL="0" indent="0" algn="just">
              <a:buNone/>
            </a:pPr>
            <a:endParaRPr lang="en-US" dirty="0"/>
          </a:p>
          <a:p>
            <a:endParaRPr lang="en-IN" dirty="0"/>
          </a:p>
        </p:txBody>
      </p:sp>
    </p:spTree>
    <p:extLst>
      <p:ext uri="{BB962C8B-B14F-4D97-AF65-F5344CB8AC3E}">
        <p14:creationId xmlns:p14="http://schemas.microsoft.com/office/powerpoint/2010/main" val="145966782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u="sng" dirty="0"/>
              <a:t>Example-</a:t>
            </a:r>
            <a:r>
              <a:rPr lang="en-IN" b="1" dirty="0"/>
              <a:t/>
            </a:r>
            <a:br>
              <a:rPr lang="en-IN" b="1" dirty="0"/>
            </a:b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4875" y="1600200"/>
            <a:ext cx="5834249" cy="4525963"/>
          </a:xfrm>
        </p:spPr>
      </p:pic>
    </p:spTree>
    <p:extLst>
      <p:ext uri="{BB962C8B-B14F-4D97-AF65-F5344CB8AC3E}">
        <p14:creationId xmlns:p14="http://schemas.microsoft.com/office/powerpoint/2010/main" val="348923065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40000" lnSpcReduction="20000"/>
          </a:bodyPr>
          <a:lstStyle/>
          <a:p>
            <a:r>
              <a:rPr lang="en-US" dirty="0"/>
              <a:t>Here,</a:t>
            </a:r>
          </a:p>
          <a:p>
            <a:r>
              <a:rPr lang="en-US" dirty="0"/>
              <a:t>T2 performs a dirty read operation.</a:t>
            </a:r>
          </a:p>
          <a:p>
            <a:r>
              <a:rPr lang="en-US" dirty="0"/>
              <a:t>The commit operation of T2 is delayed till T1 commits or roll backs.</a:t>
            </a:r>
          </a:p>
          <a:p>
            <a:r>
              <a:rPr lang="en-US" dirty="0"/>
              <a:t>T1 commits later.</a:t>
            </a:r>
          </a:p>
          <a:p>
            <a:r>
              <a:rPr lang="en-US" dirty="0"/>
              <a:t>T2 is now allowed to commit.</a:t>
            </a:r>
          </a:p>
          <a:p>
            <a:r>
              <a:rPr lang="en-US" dirty="0"/>
              <a:t>In case, T1 would have failed, T2 has a chance to recover by rolling back.</a:t>
            </a:r>
          </a:p>
          <a:p>
            <a:r>
              <a:rPr lang="en-US" dirty="0"/>
              <a:t> </a:t>
            </a:r>
          </a:p>
          <a:p>
            <a:r>
              <a:rPr lang="en-US" b="1" u="sng" dirty="0"/>
              <a:t>Checking Whether a Schedule is Recoverable or Irrecoverable-</a:t>
            </a:r>
            <a:endParaRPr lang="en-US" b="1" dirty="0"/>
          </a:p>
          <a:p>
            <a:r>
              <a:rPr lang="en-US" dirty="0"/>
              <a:t> </a:t>
            </a:r>
          </a:p>
          <a:p>
            <a:r>
              <a:rPr lang="en-US" b="1" u="sng" dirty="0"/>
              <a:t>Method-01:</a:t>
            </a:r>
            <a:endParaRPr lang="en-US" b="1" dirty="0"/>
          </a:p>
          <a:p>
            <a:r>
              <a:rPr lang="en-US" dirty="0"/>
              <a:t> </a:t>
            </a:r>
          </a:p>
          <a:p>
            <a:r>
              <a:rPr lang="en-US" dirty="0"/>
              <a:t>Check whether the given schedule is conflict serializable or not.</a:t>
            </a:r>
          </a:p>
          <a:p>
            <a:r>
              <a:rPr lang="en-US" dirty="0"/>
              <a:t>If the given schedule is conflict serializable, then it is surely recoverable. Stop and report your answer.</a:t>
            </a:r>
          </a:p>
          <a:p>
            <a:r>
              <a:rPr lang="en-US" dirty="0"/>
              <a:t>If the given schedule is not conflict serializable, then it may or may not be recoverable. Go and check using other methods.</a:t>
            </a:r>
          </a:p>
          <a:p>
            <a:r>
              <a:rPr lang="en-US" b="1" u="sng" dirty="0"/>
              <a:t>Thumb Rules</a:t>
            </a:r>
            <a:endParaRPr lang="en-US" b="1" dirty="0"/>
          </a:p>
          <a:p>
            <a:r>
              <a:rPr lang="en-US" dirty="0"/>
              <a:t>All conflict serializable schedules are recoverable.</a:t>
            </a:r>
          </a:p>
          <a:p>
            <a:r>
              <a:rPr lang="en-US" dirty="0"/>
              <a:t>All recoverable schedules may or may not be conflict serializable.</a:t>
            </a:r>
          </a:p>
          <a:p>
            <a:r>
              <a:rPr lang="en-US" dirty="0"/>
              <a:t> </a:t>
            </a:r>
          </a:p>
          <a:p>
            <a:endParaRPr lang="en-IN" dirty="0"/>
          </a:p>
        </p:txBody>
      </p:sp>
    </p:spTree>
    <p:extLst>
      <p:ext uri="{BB962C8B-B14F-4D97-AF65-F5344CB8AC3E}">
        <p14:creationId xmlns:p14="http://schemas.microsoft.com/office/powerpoint/2010/main" val="263250132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1944"/>
          </a:xfrm>
        </p:spPr>
        <p:txBody>
          <a:bodyPr>
            <a:normAutofit fontScale="90000"/>
          </a:bodyPr>
          <a:lstStyle/>
          <a:p>
            <a:endParaRPr lang="en-IN" dirty="0"/>
          </a:p>
        </p:txBody>
      </p:sp>
      <p:sp>
        <p:nvSpPr>
          <p:cNvPr id="3" name="Content Placeholder 2"/>
          <p:cNvSpPr>
            <a:spLocks noGrp="1"/>
          </p:cNvSpPr>
          <p:nvPr>
            <p:ph idx="1"/>
          </p:nvPr>
        </p:nvSpPr>
        <p:spPr>
          <a:xfrm>
            <a:off x="457200" y="858982"/>
            <a:ext cx="8229600" cy="5267181"/>
          </a:xfrm>
        </p:spPr>
        <p:txBody>
          <a:bodyPr>
            <a:normAutofit fontScale="62500" lnSpcReduction="20000"/>
          </a:bodyPr>
          <a:lstStyle/>
          <a:p>
            <a:pPr marL="0" indent="0">
              <a:buNone/>
            </a:pPr>
            <a:r>
              <a:rPr lang="en-US" b="1" u="sng" dirty="0"/>
              <a:t>Method-02:</a:t>
            </a:r>
            <a:endParaRPr lang="en-US" b="1" dirty="0"/>
          </a:p>
          <a:p>
            <a:r>
              <a:rPr lang="en-US" dirty="0"/>
              <a:t> </a:t>
            </a:r>
            <a:r>
              <a:rPr lang="en-US" dirty="0" smtClean="0"/>
              <a:t>Check </a:t>
            </a:r>
            <a:r>
              <a:rPr lang="en-US" dirty="0"/>
              <a:t>if there exists any dirty read operation.</a:t>
            </a:r>
          </a:p>
          <a:p>
            <a:r>
              <a:rPr lang="en-US" dirty="0"/>
              <a:t>(Reading from an uncommitted transaction is called as a dirty read)</a:t>
            </a:r>
          </a:p>
          <a:p>
            <a:r>
              <a:rPr lang="en-US" dirty="0"/>
              <a:t>If there does not exist any dirty read operation, then the schedule is surely recoverable. Stop and report your answer.</a:t>
            </a:r>
          </a:p>
          <a:p>
            <a:r>
              <a:rPr lang="en-US" dirty="0"/>
              <a:t>If there exists any dirty read operation, then the schedule may or may not be recoverable.</a:t>
            </a:r>
          </a:p>
          <a:p>
            <a:r>
              <a:rPr lang="en-US" dirty="0"/>
              <a:t> </a:t>
            </a:r>
            <a:r>
              <a:rPr lang="en-US" dirty="0" smtClean="0"/>
              <a:t>If </a:t>
            </a:r>
            <a:r>
              <a:rPr lang="en-US" dirty="0"/>
              <a:t>there exists a dirty read operation, then follow the following cases-</a:t>
            </a:r>
          </a:p>
          <a:p>
            <a:pPr marL="0" indent="0">
              <a:buNone/>
            </a:pPr>
            <a:r>
              <a:rPr lang="en-US" b="1" u="sng" dirty="0" smtClean="0"/>
              <a:t>Case-01</a:t>
            </a:r>
            <a:r>
              <a:rPr lang="en-US" b="1" u="sng" dirty="0"/>
              <a:t>:</a:t>
            </a:r>
            <a:endParaRPr lang="en-US" b="1" dirty="0"/>
          </a:p>
          <a:p>
            <a:r>
              <a:rPr lang="en-US" dirty="0"/>
              <a:t>If the commit operation of the transaction performing the dirty read occurs before the commit or abort operation of the transaction which updated the value, then the schedule is irrecoverable.</a:t>
            </a:r>
          </a:p>
          <a:p>
            <a:pPr marL="0" indent="0">
              <a:buNone/>
            </a:pPr>
            <a:r>
              <a:rPr lang="en-US" b="1" u="sng" dirty="0" smtClean="0"/>
              <a:t>Case-02</a:t>
            </a:r>
            <a:r>
              <a:rPr lang="en-US" b="1" u="sng" dirty="0"/>
              <a:t>:</a:t>
            </a:r>
            <a:endParaRPr lang="en-US" b="1" dirty="0"/>
          </a:p>
          <a:p>
            <a:r>
              <a:rPr lang="en-US" dirty="0"/>
              <a:t>If the commit operation of the transaction performing the dirty read is delayed till the commit or abort operation of the transaction which updated the value, then the schedule is recoverable</a:t>
            </a:r>
            <a:r>
              <a:rPr lang="en-US" dirty="0" smtClean="0"/>
              <a:t>.</a:t>
            </a:r>
          </a:p>
          <a:p>
            <a:pPr marL="0" indent="0">
              <a:buNone/>
            </a:pPr>
            <a:r>
              <a:rPr lang="en-US" b="1" u="sng" dirty="0"/>
              <a:t>Thumb Rule</a:t>
            </a:r>
            <a:endParaRPr lang="en-US" b="1" dirty="0"/>
          </a:p>
          <a:p>
            <a:pPr marL="0" indent="0">
              <a:buNone/>
            </a:pPr>
            <a:r>
              <a:rPr lang="en-US" dirty="0"/>
              <a:t>No dirty read means a recoverable schedule.</a:t>
            </a:r>
          </a:p>
          <a:p>
            <a:endParaRPr lang="en-IN" dirty="0"/>
          </a:p>
        </p:txBody>
      </p:sp>
    </p:spTree>
    <p:extLst>
      <p:ext uri="{BB962C8B-B14F-4D97-AF65-F5344CB8AC3E}">
        <p14:creationId xmlns:p14="http://schemas.microsoft.com/office/powerpoint/2010/main" val="65528739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Recoverability-</a:t>
            </a:r>
            <a:r>
              <a:rPr lang="en-US" b="1" dirty="0"/>
              <a:t/>
            </a:r>
            <a:br>
              <a:rPr lang="en-US" b="1" dirty="0"/>
            </a:br>
            <a:endParaRPr lang="en-IN" dirty="0"/>
          </a:p>
        </p:txBody>
      </p:sp>
      <p:sp>
        <p:nvSpPr>
          <p:cNvPr id="3" name="Content Placeholder 2"/>
          <p:cNvSpPr>
            <a:spLocks noGrp="1"/>
          </p:cNvSpPr>
          <p:nvPr>
            <p:ph idx="1"/>
          </p:nvPr>
        </p:nvSpPr>
        <p:spPr/>
        <p:txBody>
          <a:bodyPr>
            <a:normAutofit fontScale="47500" lnSpcReduction="20000"/>
          </a:bodyPr>
          <a:lstStyle/>
          <a:p>
            <a:r>
              <a:rPr lang="en-US" dirty="0"/>
              <a:t> </a:t>
            </a:r>
          </a:p>
          <a:p>
            <a:r>
              <a:rPr lang="en-US" dirty="0"/>
              <a:t>Before you go through this article, make sure that you have gone through the previous article on </a:t>
            </a:r>
            <a:r>
              <a:rPr lang="en-US" b="1" u="sng" dirty="0">
                <a:hlinkClick r:id="rId2"/>
              </a:rPr>
              <a:t>Recoverability in DBMS</a:t>
            </a:r>
            <a:r>
              <a:rPr lang="en-US" dirty="0"/>
              <a:t>.</a:t>
            </a:r>
          </a:p>
          <a:p>
            <a:r>
              <a:rPr lang="en-US" dirty="0"/>
              <a:t> </a:t>
            </a:r>
          </a:p>
          <a:p>
            <a:r>
              <a:rPr lang="en-US" dirty="0"/>
              <a:t>We have discussed-</a:t>
            </a:r>
          </a:p>
          <a:p>
            <a:r>
              <a:rPr lang="en-US" dirty="0"/>
              <a:t>Non-serial schedules which are not serializable are called as non-serializable schedules.</a:t>
            </a:r>
          </a:p>
          <a:p>
            <a:r>
              <a:rPr lang="en-US" dirty="0"/>
              <a:t>Non-serializable schedules may be recoverable or irrecoverable.</a:t>
            </a:r>
          </a:p>
          <a:p>
            <a:r>
              <a:rPr lang="en-US" dirty="0"/>
              <a:t> </a:t>
            </a:r>
          </a:p>
          <a:p>
            <a:r>
              <a:rPr lang="en-US" b="1" u="sng" dirty="0"/>
              <a:t>Recoverable Schedules-</a:t>
            </a:r>
            <a:endParaRPr lang="en-US" b="1" dirty="0"/>
          </a:p>
          <a:p>
            <a:r>
              <a:rPr lang="en-US" dirty="0"/>
              <a:t> </a:t>
            </a:r>
          </a:p>
          <a:p>
            <a:r>
              <a:rPr lang="en-US" dirty="0"/>
              <a:t>If in a schedule,</a:t>
            </a:r>
          </a:p>
          <a:p>
            <a:r>
              <a:rPr lang="en-US" dirty="0"/>
              <a:t>A transaction performs a dirty read operation from an uncommitted transaction</a:t>
            </a:r>
          </a:p>
          <a:p>
            <a:r>
              <a:rPr lang="en-US" dirty="0"/>
              <a:t>And its commit operation is delayed till the uncommitted transaction either commits or roll backs</a:t>
            </a:r>
          </a:p>
          <a:p>
            <a:r>
              <a:rPr lang="en-US" dirty="0"/>
              <a:t>then such a schedule is called as a </a:t>
            </a:r>
            <a:r>
              <a:rPr lang="en-US" b="1" dirty="0"/>
              <a:t>Recoverable Schedule</a:t>
            </a:r>
            <a:r>
              <a:rPr lang="en-US" dirty="0"/>
              <a:t>.</a:t>
            </a:r>
          </a:p>
          <a:p>
            <a:r>
              <a:rPr lang="en-US" dirty="0"/>
              <a:t> </a:t>
            </a:r>
          </a:p>
          <a:p>
            <a:r>
              <a:rPr lang="en-US" b="1" u="sng" dirty="0"/>
              <a:t>Types of Recoverable Schedules-</a:t>
            </a:r>
            <a:endParaRPr lang="en-US" b="1" dirty="0"/>
          </a:p>
          <a:p>
            <a:r>
              <a:rPr lang="en-US" dirty="0"/>
              <a:t> </a:t>
            </a:r>
          </a:p>
          <a:p>
            <a:r>
              <a:rPr lang="en-US" dirty="0"/>
              <a:t>A recoverable schedule may be any one of these kinds-</a:t>
            </a:r>
          </a:p>
          <a:p>
            <a:endParaRPr lang="en-IN" dirty="0"/>
          </a:p>
        </p:txBody>
      </p:sp>
    </p:spTree>
    <p:extLst>
      <p:ext uri="{BB962C8B-B14F-4D97-AF65-F5344CB8AC3E}">
        <p14:creationId xmlns:p14="http://schemas.microsoft.com/office/powerpoint/2010/main" val="88869644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2562" y="1910556"/>
            <a:ext cx="6238875" cy="3905250"/>
          </a:xfrm>
        </p:spPr>
      </p:pic>
    </p:spTree>
    <p:extLst>
      <p:ext uri="{BB962C8B-B14F-4D97-AF65-F5344CB8AC3E}">
        <p14:creationId xmlns:p14="http://schemas.microsoft.com/office/powerpoint/2010/main" val="296513720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Cascading Schedule-</a:t>
            </a:r>
            <a:r>
              <a:rPr lang="en-US" b="1" dirty="0"/>
              <a:t/>
            </a:r>
            <a:br>
              <a:rPr lang="en-US" b="1" dirty="0"/>
            </a:br>
            <a:endParaRPr lang="en-IN" dirty="0"/>
          </a:p>
        </p:txBody>
      </p:sp>
      <p:sp>
        <p:nvSpPr>
          <p:cNvPr id="3" name="Content Placeholder 2"/>
          <p:cNvSpPr>
            <a:spLocks noGrp="1"/>
          </p:cNvSpPr>
          <p:nvPr>
            <p:ph idx="1"/>
          </p:nvPr>
        </p:nvSpPr>
        <p:spPr/>
        <p:txBody>
          <a:bodyPr>
            <a:normAutofit/>
          </a:bodyPr>
          <a:lstStyle/>
          <a:p>
            <a:pPr marL="0" indent="0">
              <a:buNone/>
            </a:pPr>
            <a:r>
              <a:rPr lang="en-US" dirty="0" smtClean="0"/>
              <a:t>If </a:t>
            </a:r>
            <a:r>
              <a:rPr lang="en-US" dirty="0"/>
              <a:t>in a schedule, failure of one transaction causes several other dependent transactions to rollback or abort, then such a schedule is called as a </a:t>
            </a:r>
            <a:r>
              <a:rPr lang="en-US" b="1" dirty="0"/>
              <a:t>Cascading Schedule</a:t>
            </a:r>
            <a:r>
              <a:rPr lang="en-US" dirty="0"/>
              <a:t> or </a:t>
            </a:r>
            <a:r>
              <a:rPr lang="en-US" b="1" dirty="0"/>
              <a:t>Cascading Rollback</a:t>
            </a:r>
            <a:r>
              <a:rPr lang="en-US" dirty="0"/>
              <a:t> or </a:t>
            </a:r>
            <a:r>
              <a:rPr lang="en-US" b="1" dirty="0"/>
              <a:t>Cascading Abort</a:t>
            </a:r>
            <a:r>
              <a:rPr lang="en-US" dirty="0"/>
              <a:t>.</a:t>
            </a:r>
          </a:p>
          <a:p>
            <a:pPr marL="0" indent="0">
              <a:buNone/>
            </a:pPr>
            <a:r>
              <a:rPr lang="en-US" dirty="0"/>
              <a:t>It simply leads to the wastage of CPU time.</a:t>
            </a:r>
          </a:p>
          <a:p>
            <a:pPr marL="0" indent="0">
              <a:buNone/>
            </a:pPr>
            <a:r>
              <a:rPr lang="en-US" b="1" u="sng" dirty="0" smtClean="0"/>
              <a:t>Example-</a:t>
            </a:r>
            <a:endParaRPr lang="en-US" b="1" dirty="0"/>
          </a:p>
          <a:p>
            <a:pPr marL="0" indent="0">
              <a:buNone/>
            </a:pPr>
            <a:endParaRPr lang="en-US" dirty="0"/>
          </a:p>
          <a:p>
            <a:endParaRPr lang="en-IN" dirty="0"/>
          </a:p>
        </p:txBody>
      </p:sp>
    </p:spTree>
    <p:extLst>
      <p:ext uri="{BB962C8B-B14F-4D97-AF65-F5344CB8AC3E}">
        <p14:creationId xmlns:p14="http://schemas.microsoft.com/office/powerpoint/2010/main" val="251865271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5952" y="1600200"/>
            <a:ext cx="5852095" cy="4525963"/>
          </a:xfrm>
        </p:spPr>
      </p:pic>
    </p:spTree>
    <p:extLst>
      <p:ext uri="{BB962C8B-B14F-4D97-AF65-F5344CB8AC3E}">
        <p14:creationId xmlns:p14="http://schemas.microsoft.com/office/powerpoint/2010/main" val="181187905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fr-FR" dirty="0" err="1"/>
              <a:t>Here</a:t>
            </a:r>
            <a:r>
              <a:rPr lang="fr-FR" dirty="0"/>
              <a:t>,</a:t>
            </a:r>
          </a:p>
          <a:p>
            <a:r>
              <a:rPr lang="fr-FR" dirty="0"/>
              <a:t>Transaction T2 </a:t>
            </a:r>
            <a:r>
              <a:rPr lang="fr-FR" dirty="0" err="1"/>
              <a:t>depends</a:t>
            </a:r>
            <a:r>
              <a:rPr lang="fr-FR" dirty="0"/>
              <a:t> on transaction T1.</a:t>
            </a:r>
          </a:p>
          <a:p>
            <a:r>
              <a:rPr lang="fr-FR" dirty="0"/>
              <a:t>Transaction T3 </a:t>
            </a:r>
            <a:r>
              <a:rPr lang="fr-FR" dirty="0" err="1"/>
              <a:t>depends</a:t>
            </a:r>
            <a:r>
              <a:rPr lang="fr-FR" dirty="0"/>
              <a:t> on transaction T2.</a:t>
            </a:r>
          </a:p>
          <a:p>
            <a:r>
              <a:rPr lang="fr-FR" dirty="0"/>
              <a:t>Transaction T4 </a:t>
            </a:r>
            <a:r>
              <a:rPr lang="fr-FR" dirty="0" err="1"/>
              <a:t>depends</a:t>
            </a:r>
            <a:r>
              <a:rPr lang="fr-FR" dirty="0"/>
              <a:t> on transaction T3.</a:t>
            </a:r>
          </a:p>
          <a:p>
            <a:endParaRPr lang="en-IN" dirty="0"/>
          </a:p>
        </p:txBody>
      </p:sp>
    </p:spTree>
    <p:extLst>
      <p:ext uri="{BB962C8B-B14F-4D97-AF65-F5344CB8AC3E}">
        <p14:creationId xmlns:p14="http://schemas.microsoft.com/office/powerpoint/2010/main" val="124029177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numCol="2">
            <a:normAutofit fontScale="55000" lnSpcReduction="20000"/>
          </a:bodyPr>
          <a:lstStyle/>
          <a:p>
            <a:pPr algn="just"/>
            <a:r>
              <a:rPr lang="en-US" dirty="0"/>
              <a:t>In this schedule,</a:t>
            </a:r>
          </a:p>
          <a:p>
            <a:pPr algn="just"/>
            <a:r>
              <a:rPr lang="en-US" dirty="0"/>
              <a:t>The failure of transaction T1 causes the transaction T2 to rollback.</a:t>
            </a:r>
          </a:p>
          <a:p>
            <a:pPr algn="just"/>
            <a:r>
              <a:rPr lang="en-US" dirty="0"/>
              <a:t>The rollback of transaction T2 causes the transaction T3 to rollback.</a:t>
            </a:r>
          </a:p>
          <a:p>
            <a:pPr algn="just"/>
            <a:r>
              <a:rPr lang="en-US" dirty="0"/>
              <a:t>The rollback of transaction T3 causes the transaction T4 to rollback.</a:t>
            </a:r>
          </a:p>
          <a:p>
            <a:pPr algn="just"/>
            <a:r>
              <a:rPr lang="en-US" dirty="0"/>
              <a:t>Such a rollback is called as a </a:t>
            </a:r>
            <a:r>
              <a:rPr lang="en-US" b="1" dirty="0"/>
              <a:t>Cascading Rollback</a:t>
            </a:r>
            <a:r>
              <a:rPr lang="en-US" dirty="0"/>
              <a:t>.</a:t>
            </a:r>
          </a:p>
          <a:p>
            <a:pPr algn="just"/>
            <a:r>
              <a:rPr lang="en-US" dirty="0"/>
              <a:t> </a:t>
            </a:r>
          </a:p>
          <a:p>
            <a:pPr algn="just"/>
            <a:r>
              <a:rPr lang="en-US" b="1" u="sng" dirty="0"/>
              <a:t>NOTE-</a:t>
            </a:r>
            <a:endParaRPr lang="en-US" b="1" dirty="0"/>
          </a:p>
          <a:p>
            <a:pPr algn="just"/>
            <a:r>
              <a:rPr lang="en-US" dirty="0"/>
              <a:t> </a:t>
            </a:r>
          </a:p>
          <a:p>
            <a:pPr algn="just"/>
            <a:r>
              <a:rPr lang="en-US" dirty="0"/>
              <a:t>If the transactions T2, T3 and T4 would have committed before the failure of transaction T1, then the schedule would have been irrecoverable.</a:t>
            </a:r>
          </a:p>
          <a:p>
            <a:pPr algn="just"/>
            <a:r>
              <a:rPr lang="en-US" dirty="0"/>
              <a:t> </a:t>
            </a:r>
          </a:p>
          <a:p>
            <a:pPr algn="just"/>
            <a:r>
              <a:rPr lang="en-US" b="1" u="sng" dirty="0" err="1"/>
              <a:t>Cascadeless</a:t>
            </a:r>
            <a:r>
              <a:rPr lang="en-US" b="1" u="sng" dirty="0"/>
              <a:t> Schedule-</a:t>
            </a:r>
            <a:endParaRPr lang="en-US" b="1" dirty="0"/>
          </a:p>
          <a:p>
            <a:pPr algn="just"/>
            <a:r>
              <a:rPr lang="en-US" dirty="0"/>
              <a:t> </a:t>
            </a:r>
          </a:p>
          <a:p>
            <a:pPr algn="just"/>
            <a:r>
              <a:rPr lang="en-US" dirty="0"/>
              <a:t>If in a schedule, a transaction is not allowed to read a data item until the last transaction that has written it is committed or aborted, then such a schedule is called as a </a:t>
            </a:r>
            <a:r>
              <a:rPr lang="en-US" b="1" dirty="0" err="1"/>
              <a:t>Cascadeless</a:t>
            </a:r>
            <a:r>
              <a:rPr lang="en-US" b="1" dirty="0"/>
              <a:t> Schedule</a:t>
            </a:r>
            <a:r>
              <a:rPr lang="en-US" dirty="0"/>
              <a:t>.</a:t>
            </a:r>
          </a:p>
          <a:p>
            <a:r>
              <a:rPr lang="en-US" dirty="0"/>
              <a:t>In other words</a:t>
            </a:r>
            <a:r>
              <a:rPr lang="en-US" dirty="0" smtClean="0"/>
              <a:t>,</a:t>
            </a:r>
            <a:r>
              <a:rPr lang="en-US" dirty="0"/>
              <a:t> </a:t>
            </a:r>
            <a:r>
              <a:rPr lang="en-US" dirty="0" err="1"/>
              <a:t>Cascadeless</a:t>
            </a:r>
            <a:r>
              <a:rPr lang="en-US" dirty="0"/>
              <a:t> schedule allows only committed read operations.</a:t>
            </a:r>
          </a:p>
          <a:p>
            <a:r>
              <a:rPr lang="en-US" dirty="0"/>
              <a:t>Therefore, it avoids cascading roll back and thus saves CPU time.</a:t>
            </a:r>
          </a:p>
          <a:p>
            <a:r>
              <a:rPr lang="en-US" dirty="0"/>
              <a:t> </a:t>
            </a:r>
          </a:p>
          <a:p>
            <a:pPr algn="just"/>
            <a:endParaRPr lang="en-US" dirty="0"/>
          </a:p>
        </p:txBody>
      </p:sp>
    </p:spTree>
    <p:extLst>
      <p:ext uri="{BB962C8B-B14F-4D97-AF65-F5344CB8AC3E}">
        <p14:creationId xmlns:p14="http://schemas.microsoft.com/office/powerpoint/2010/main" val="786714968"/>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9547" y="1600200"/>
            <a:ext cx="4844906" cy="4525963"/>
          </a:xfrm>
        </p:spPr>
      </p:pic>
    </p:spTree>
    <p:extLst>
      <p:ext uri="{BB962C8B-B14F-4D97-AF65-F5344CB8AC3E}">
        <p14:creationId xmlns:p14="http://schemas.microsoft.com/office/powerpoint/2010/main" val="319982118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229600" cy="5091545"/>
          </a:xfrm>
        </p:spPr>
        <p:txBody>
          <a:bodyPr/>
          <a:lstStyle/>
          <a:p>
            <a:r>
              <a:rPr lang="en-US" b="1" u="sng" dirty="0"/>
              <a:t>NOTE-</a:t>
            </a:r>
            <a:endParaRPr lang="en-US" b="1" dirty="0"/>
          </a:p>
          <a:p>
            <a:r>
              <a:rPr lang="en-US" dirty="0"/>
              <a:t> </a:t>
            </a:r>
            <a:r>
              <a:rPr lang="en-US" dirty="0" err="1" smtClean="0"/>
              <a:t>Cascadeless</a:t>
            </a:r>
            <a:r>
              <a:rPr lang="en-US" dirty="0" smtClean="0"/>
              <a:t> </a:t>
            </a:r>
            <a:r>
              <a:rPr lang="en-US" dirty="0"/>
              <a:t>schedule allows only committed read operations.</a:t>
            </a:r>
          </a:p>
          <a:p>
            <a:r>
              <a:rPr lang="en-US" dirty="0"/>
              <a:t>However, it allows uncommitted write operations.</a:t>
            </a:r>
          </a:p>
          <a:p>
            <a:r>
              <a:rPr lang="en-US" dirty="0"/>
              <a:t> </a:t>
            </a:r>
            <a:r>
              <a:rPr lang="en-US" b="1" u="sng" dirty="0" smtClean="0"/>
              <a:t>Example-</a:t>
            </a:r>
            <a:endParaRPr lang="en-US" b="1" dirty="0"/>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7171" y="3863181"/>
            <a:ext cx="4638675" cy="2676525"/>
          </a:xfrm>
          <a:prstGeom prst="rect">
            <a:avLst/>
          </a:prstGeom>
        </p:spPr>
      </p:pic>
    </p:spTree>
    <p:extLst>
      <p:ext uri="{BB962C8B-B14F-4D97-AF65-F5344CB8AC3E}">
        <p14:creationId xmlns:p14="http://schemas.microsoft.com/office/powerpoint/2010/main" val="241479958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74637"/>
          </a:xfrm>
        </p:spPr>
        <p:txBody>
          <a:bodyPr>
            <a:normAutofit fontScale="90000"/>
          </a:bodyPr>
          <a:lstStyle/>
          <a:p>
            <a:endParaRPr lang="en-IN"/>
          </a:p>
        </p:txBody>
      </p:sp>
      <p:sp>
        <p:nvSpPr>
          <p:cNvPr id="3" name="Content Placeholder 2"/>
          <p:cNvSpPr>
            <a:spLocks noGrp="1"/>
          </p:cNvSpPr>
          <p:nvPr>
            <p:ph idx="1"/>
          </p:nvPr>
        </p:nvSpPr>
        <p:spPr>
          <a:xfrm>
            <a:off x="457200" y="729385"/>
            <a:ext cx="8229600" cy="6009040"/>
          </a:xfrm>
        </p:spPr>
        <p:txBody>
          <a:bodyPr numCol="2">
            <a:normAutofit/>
          </a:bodyPr>
          <a:lstStyle/>
          <a:p>
            <a:pPr marL="0" indent="0" algn="just">
              <a:buNone/>
            </a:pPr>
            <a:r>
              <a:rPr lang="en-US" b="1" u="sng" dirty="0"/>
              <a:t>Strict </a:t>
            </a:r>
            <a:r>
              <a:rPr lang="en-US" b="1" u="sng" dirty="0" smtClean="0"/>
              <a:t>Schedule-</a:t>
            </a:r>
            <a:r>
              <a:rPr lang="en-US" dirty="0" smtClean="0"/>
              <a:t>If </a:t>
            </a:r>
            <a:r>
              <a:rPr lang="en-US" dirty="0"/>
              <a:t>in a schedule, a transaction is neither allowed to read nor write a data item until the last transaction that has written it is committed or aborted, then such a schedule is called as a </a:t>
            </a:r>
            <a:r>
              <a:rPr lang="en-US" b="1" dirty="0"/>
              <a:t>Strict Schedule</a:t>
            </a:r>
            <a:r>
              <a:rPr lang="en-US" dirty="0"/>
              <a:t>.</a:t>
            </a:r>
          </a:p>
          <a:p>
            <a:pPr marL="0" indent="0" algn="just">
              <a:buNone/>
            </a:pPr>
            <a:r>
              <a:rPr lang="en-US" dirty="0"/>
              <a:t>In other words,</a:t>
            </a:r>
          </a:p>
          <a:p>
            <a:pPr algn="just"/>
            <a:r>
              <a:rPr lang="en-US" dirty="0"/>
              <a:t>Strict schedule allows only committed read and write operations.</a:t>
            </a:r>
          </a:p>
          <a:p>
            <a:pPr algn="just"/>
            <a:r>
              <a:rPr lang="en-US" dirty="0"/>
              <a:t>Clearly, strict schedule implements more restrictions than </a:t>
            </a:r>
            <a:r>
              <a:rPr lang="en-US" dirty="0" err="1"/>
              <a:t>cascadeless</a:t>
            </a:r>
            <a:r>
              <a:rPr lang="en-US" dirty="0"/>
              <a:t> schedule.</a:t>
            </a:r>
          </a:p>
          <a:p>
            <a:pPr algn="just"/>
            <a:r>
              <a:rPr lang="en-US" dirty="0"/>
              <a:t> </a:t>
            </a:r>
            <a:r>
              <a:rPr lang="en-US" b="1" u="sng" dirty="0" smtClean="0"/>
              <a:t>Example-</a:t>
            </a:r>
          </a:p>
          <a:p>
            <a:pPr algn="just"/>
            <a:endParaRPr lang="en-US" b="1" dirty="0"/>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5300" y="4811151"/>
            <a:ext cx="3514637" cy="1927274"/>
          </a:xfrm>
          <a:prstGeom prst="rect">
            <a:avLst/>
          </a:prstGeom>
        </p:spPr>
      </p:pic>
    </p:spTree>
    <p:extLst>
      <p:ext uri="{BB962C8B-B14F-4D97-AF65-F5344CB8AC3E}">
        <p14:creationId xmlns:p14="http://schemas.microsoft.com/office/powerpoint/2010/main" val="2634753541"/>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9064" y="274638"/>
            <a:ext cx="8229600" cy="569424"/>
          </a:xfrm>
        </p:spPr>
        <p:txBody>
          <a:bodyPr>
            <a:normAutofit fontScale="90000"/>
          </a:bodyPr>
          <a:lstStyle/>
          <a:p>
            <a:r>
              <a:rPr lang="en-US" b="1" u="sng" dirty="0" smtClean="0"/>
              <a:t/>
            </a:r>
            <a:br>
              <a:rPr lang="en-US" b="1" u="sng" dirty="0" smtClean="0"/>
            </a:br>
            <a:r>
              <a:rPr lang="en-US" b="1" u="sng" dirty="0" smtClean="0"/>
              <a:t>Remember-</a:t>
            </a:r>
            <a:r>
              <a:rPr lang="en-US" b="1" dirty="0"/>
              <a:t/>
            </a:r>
            <a:br>
              <a:rPr lang="en-US" b="1" dirty="0"/>
            </a:br>
            <a:endParaRPr lang="en-IN" dirty="0"/>
          </a:p>
        </p:txBody>
      </p:sp>
      <p:sp>
        <p:nvSpPr>
          <p:cNvPr id="3" name="Content Placeholder 2"/>
          <p:cNvSpPr>
            <a:spLocks noGrp="1"/>
          </p:cNvSpPr>
          <p:nvPr>
            <p:ph idx="1"/>
          </p:nvPr>
        </p:nvSpPr>
        <p:spPr>
          <a:xfrm>
            <a:off x="457200" y="844062"/>
            <a:ext cx="8229600" cy="5711483"/>
          </a:xfrm>
        </p:spPr>
        <p:txBody>
          <a:bodyPr/>
          <a:lstStyle/>
          <a:p>
            <a:r>
              <a:rPr lang="en-US" dirty="0"/>
              <a:t> </a:t>
            </a:r>
            <a:r>
              <a:rPr lang="en-US" dirty="0" smtClean="0"/>
              <a:t>Strict </a:t>
            </a:r>
            <a:r>
              <a:rPr lang="en-US" dirty="0"/>
              <a:t>schedules are more strict than </a:t>
            </a:r>
            <a:r>
              <a:rPr lang="en-US" dirty="0" err="1"/>
              <a:t>cascadeless</a:t>
            </a:r>
            <a:r>
              <a:rPr lang="en-US" dirty="0"/>
              <a:t> schedules.</a:t>
            </a:r>
          </a:p>
          <a:p>
            <a:r>
              <a:rPr lang="en-US" dirty="0"/>
              <a:t>All strict schedules are </a:t>
            </a:r>
            <a:r>
              <a:rPr lang="en-US" dirty="0" err="1"/>
              <a:t>cascadeless</a:t>
            </a:r>
            <a:r>
              <a:rPr lang="en-US" dirty="0"/>
              <a:t> schedules.</a:t>
            </a:r>
          </a:p>
          <a:p>
            <a:r>
              <a:rPr lang="en-US" dirty="0"/>
              <a:t>All </a:t>
            </a:r>
            <a:r>
              <a:rPr lang="en-US" dirty="0" err="1"/>
              <a:t>cascadeless</a:t>
            </a:r>
            <a:r>
              <a:rPr lang="en-US" dirty="0"/>
              <a:t> schedules are not strict schedules.</a:t>
            </a:r>
          </a:p>
          <a:p>
            <a:r>
              <a:rPr lang="en-US" dirty="0"/>
              <a:t> </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5120" y="3154899"/>
            <a:ext cx="4972050" cy="2714625"/>
          </a:xfrm>
          <a:prstGeom prst="rect">
            <a:avLst/>
          </a:prstGeom>
        </p:spPr>
      </p:pic>
    </p:spTree>
    <p:extLst>
      <p:ext uri="{BB962C8B-B14F-4D97-AF65-F5344CB8AC3E}">
        <p14:creationId xmlns:p14="http://schemas.microsoft.com/office/powerpoint/2010/main" val="173914237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41329174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200" dirty="0" smtClean="0"/>
              <a:t/>
            </a:r>
            <a:br>
              <a:rPr lang="en-IN" sz="3200" dirty="0" smtClean="0"/>
            </a:br>
            <a:r>
              <a:rPr lang="en-IN" sz="3200" dirty="0" smtClean="0"/>
              <a:t>Serially </a:t>
            </a:r>
            <a:r>
              <a:rPr lang="en-IN" sz="3200" dirty="0"/>
              <a:t>check one by by one in order every Transaction</a:t>
            </a:r>
            <a:br>
              <a:rPr lang="en-IN" sz="3200" dirty="0"/>
            </a:br>
            <a:endParaRPr lang="en-IN" sz="32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20982"/>
            <a:ext cx="8118764" cy="4876800"/>
          </a:xfrm>
        </p:spPr>
      </p:pic>
    </p:spTree>
    <p:extLst>
      <p:ext uri="{BB962C8B-B14F-4D97-AF65-F5344CB8AC3E}">
        <p14:creationId xmlns:p14="http://schemas.microsoft.com/office/powerpoint/2010/main" val="323319501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229600" cy="5091545"/>
          </a:xfrm>
        </p:spPr>
        <p:txBody>
          <a:bodyPr/>
          <a:lstStyle/>
          <a:p>
            <a:r>
              <a:rPr lang="en-US" dirty="0" smtClean="0"/>
              <a:t>Once we find </a:t>
            </a:r>
            <a:r>
              <a:rPr lang="en-US" b="1" i="1" dirty="0" smtClean="0">
                <a:solidFill>
                  <a:srgbClr val="00B050"/>
                </a:solidFill>
              </a:rPr>
              <a:t>No Loop Or Cycle </a:t>
            </a:r>
            <a:r>
              <a:rPr lang="en-US" dirty="0" smtClean="0"/>
              <a:t>then it is </a:t>
            </a:r>
            <a:r>
              <a:rPr lang="en-US" i="1" dirty="0" smtClean="0">
                <a:solidFill>
                  <a:srgbClr val="FF0000"/>
                </a:solidFill>
              </a:rPr>
              <a:t>conflict serializable</a:t>
            </a:r>
            <a:endParaRPr lang="en-IN" i="1" dirty="0">
              <a:solidFill>
                <a:srgbClr val="FF0000"/>
              </a:solidFill>
            </a:endParaRPr>
          </a:p>
        </p:txBody>
      </p:sp>
      <p:sp>
        <p:nvSpPr>
          <p:cNvPr id="4" name="Right Arrow 3"/>
          <p:cNvSpPr/>
          <p:nvPr/>
        </p:nvSpPr>
        <p:spPr>
          <a:xfrm rot="5400000">
            <a:off x="2292027" y="2700875"/>
            <a:ext cx="708382"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 name="Rectangle 4"/>
          <p:cNvSpPr/>
          <p:nvPr/>
        </p:nvSpPr>
        <p:spPr>
          <a:xfrm>
            <a:off x="1717965" y="3296413"/>
            <a:ext cx="1995054" cy="79164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b="1" dirty="0" smtClean="0">
              <a:solidFill>
                <a:srgbClr val="FF0000"/>
              </a:solidFill>
            </a:endParaRPr>
          </a:p>
          <a:p>
            <a:pPr algn="ctr"/>
            <a:r>
              <a:rPr lang="en-US" sz="2800" b="1" dirty="0" smtClean="0">
                <a:solidFill>
                  <a:srgbClr val="FF0000"/>
                </a:solidFill>
              </a:rPr>
              <a:t>Serializable</a:t>
            </a:r>
            <a:endParaRPr lang="en-IN" sz="2800" b="1" dirty="0">
              <a:solidFill>
                <a:srgbClr val="FF0000"/>
              </a:solidFill>
            </a:endParaRPr>
          </a:p>
        </p:txBody>
      </p:sp>
      <p:sp>
        <p:nvSpPr>
          <p:cNvPr id="6" name="Right Arrow 5"/>
          <p:cNvSpPr/>
          <p:nvPr/>
        </p:nvSpPr>
        <p:spPr>
          <a:xfrm rot="5400000">
            <a:off x="2157014" y="4332244"/>
            <a:ext cx="978408"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 name="Rectangle 6"/>
          <p:cNvSpPr/>
          <p:nvPr/>
        </p:nvSpPr>
        <p:spPr>
          <a:xfrm>
            <a:off x="1246909" y="5050841"/>
            <a:ext cx="3020291" cy="46239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i="1" dirty="0" smtClean="0">
                <a:solidFill>
                  <a:srgbClr val="FF0000"/>
                </a:solidFill>
              </a:rPr>
              <a:t>Consistent</a:t>
            </a:r>
            <a:endParaRPr lang="en-IN" sz="2800" b="1" i="1" dirty="0">
              <a:solidFill>
                <a:srgbClr val="FF0000"/>
              </a:solidFill>
            </a:endParaRPr>
          </a:p>
        </p:txBody>
      </p:sp>
    </p:spTree>
    <p:extLst>
      <p:ext uri="{BB962C8B-B14F-4D97-AF65-F5344CB8AC3E}">
        <p14:creationId xmlns:p14="http://schemas.microsoft.com/office/powerpoint/2010/main" val="2669097872"/>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dirty="0" smtClean="0"/>
              <a:t>Example:-</a:t>
            </a:r>
            <a:r>
              <a:rPr lang="en-US" sz="3200" b="1" dirty="0" smtClean="0">
                <a:solidFill>
                  <a:srgbClr val="00B050"/>
                </a:solidFill>
              </a:rPr>
              <a:t>Check whether a schedule is Conflict serializable(CS) or Non conflict Serializable(NCS)</a:t>
            </a:r>
            <a:endParaRPr lang="en-IN" sz="3200" b="1" dirty="0">
              <a:solidFill>
                <a:srgbClr val="00B050"/>
              </a:solidFill>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73928" y="1967345"/>
            <a:ext cx="3532908" cy="4350328"/>
          </a:xfrm>
        </p:spPr>
      </p:pic>
    </p:spTree>
    <p:extLst>
      <p:ext uri="{BB962C8B-B14F-4D97-AF65-F5344CB8AC3E}">
        <p14:creationId xmlns:p14="http://schemas.microsoft.com/office/powerpoint/2010/main" val="1183572609"/>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09580"/>
          </a:xfrm>
        </p:spPr>
        <p:txBody>
          <a:bodyPr>
            <a:normAutofit/>
          </a:bodyPr>
          <a:lstStyle/>
          <a:p>
            <a:r>
              <a:rPr lang="en-IN" sz="2000" dirty="0" smtClean="0"/>
              <a:t>As </a:t>
            </a:r>
            <a:r>
              <a:rPr lang="en-IN" sz="2000" dirty="0"/>
              <a:t>there is loop so </a:t>
            </a:r>
            <a:r>
              <a:rPr lang="en-IN" sz="2000" b="1" dirty="0">
                <a:solidFill>
                  <a:srgbClr val="00B050"/>
                </a:solidFill>
              </a:rPr>
              <a:t>NCS,</a:t>
            </a:r>
            <a:r>
              <a:rPr lang="en-IN" sz="2000" dirty="0"/>
              <a:t>And we can’t predict is there any serial schedule present for this or not so we can check for </a:t>
            </a:r>
            <a:r>
              <a:rPr lang="en-IN" sz="2000" b="1" i="1" dirty="0">
                <a:solidFill>
                  <a:srgbClr val="00B050"/>
                </a:solidFill>
              </a:rPr>
              <a:t>View serilizability</a:t>
            </a:r>
            <a:r>
              <a:rPr lang="en-IN" sz="2000" dirty="0"/>
              <a:t>.</a:t>
            </a:r>
            <a:br>
              <a:rPr lang="en-IN" sz="2000" dirty="0"/>
            </a:br>
            <a:endParaRPr lang="en-IN" sz="20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5455" y="2382982"/>
            <a:ext cx="5874327" cy="3034145"/>
          </a:xfrm>
        </p:spPr>
      </p:pic>
    </p:spTree>
    <p:extLst>
      <p:ext uri="{BB962C8B-B14F-4D97-AF65-F5344CB8AC3E}">
        <p14:creationId xmlns:p14="http://schemas.microsoft.com/office/powerpoint/2010/main" val="335746340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IN" b="1" i="1" dirty="0">
                <a:solidFill>
                  <a:srgbClr val="FF0000"/>
                </a:solidFill>
              </a:rPr>
              <a:t>Dirty Read Problem</a:t>
            </a:r>
            <a:br>
              <a:rPr lang="en-IN" b="1" i="1" dirty="0">
                <a:solidFill>
                  <a:srgbClr val="FF0000"/>
                </a:solidFill>
              </a:rPr>
            </a:br>
            <a:endParaRPr lang="en-IN" dirty="0"/>
          </a:p>
        </p:txBody>
      </p:sp>
      <p:sp>
        <p:nvSpPr>
          <p:cNvPr id="3" name="Content Placeholder 2"/>
          <p:cNvSpPr>
            <a:spLocks noGrp="1"/>
          </p:cNvSpPr>
          <p:nvPr>
            <p:ph idx="1"/>
          </p:nvPr>
        </p:nvSpPr>
        <p:spPr/>
        <p:txBody>
          <a:bodyPr>
            <a:normAutofit fontScale="85000" lnSpcReduction="10000"/>
          </a:bodyPr>
          <a:lstStyle/>
          <a:p>
            <a:pPr marL="0" indent="0" algn="just">
              <a:buNone/>
            </a:pPr>
            <a:r>
              <a:rPr lang="en-IN" dirty="0" smtClean="0"/>
              <a:t>This </a:t>
            </a:r>
            <a:r>
              <a:rPr lang="en-IN" dirty="0"/>
              <a:t>read is called as dirty read because-</a:t>
            </a:r>
          </a:p>
          <a:p>
            <a:pPr marL="0" lvl="0" indent="0" algn="just">
              <a:buNone/>
            </a:pPr>
            <a:r>
              <a:rPr lang="en-IN" dirty="0"/>
              <a:t>There is always a chance that the uncommitted transaction might roll back </a:t>
            </a:r>
            <a:r>
              <a:rPr lang="en-IN" dirty="0" err="1" smtClean="0"/>
              <a:t>later.Thus</a:t>
            </a:r>
            <a:r>
              <a:rPr lang="en-IN" dirty="0"/>
              <a:t>, uncommitted transaction might make other transactions read a value that does not even exist.</a:t>
            </a:r>
          </a:p>
          <a:p>
            <a:pPr marL="0" lvl="0" indent="0" algn="just">
              <a:buNone/>
            </a:pPr>
            <a:r>
              <a:rPr lang="en-IN" dirty="0"/>
              <a:t>This leads to inconsistency of the database.</a:t>
            </a:r>
          </a:p>
          <a:p>
            <a:pPr marL="0" indent="0">
              <a:buNone/>
            </a:pPr>
            <a:r>
              <a:rPr lang="en-IN" dirty="0"/>
              <a:t> </a:t>
            </a:r>
            <a:r>
              <a:rPr lang="en-IN" b="1" u="sng" dirty="0" smtClean="0"/>
              <a:t>NOTE-</a:t>
            </a:r>
            <a:endParaRPr lang="en-IN" b="1" dirty="0"/>
          </a:p>
          <a:p>
            <a:pPr marL="0" lvl="0" indent="0">
              <a:buNone/>
            </a:pPr>
            <a:r>
              <a:rPr lang="en-IN" dirty="0"/>
              <a:t>Dirty read does not lead to inconsistency always.</a:t>
            </a:r>
          </a:p>
          <a:p>
            <a:pPr marL="0" lvl="0" indent="0">
              <a:buNone/>
            </a:pPr>
            <a:r>
              <a:rPr lang="en-IN" dirty="0"/>
              <a:t>It becomes problematic only when the uncommitted transaction fails and roll backs later due to some reason.</a:t>
            </a:r>
          </a:p>
          <a:p>
            <a:pPr lvl="0"/>
            <a:endParaRPr lang="en-IN" dirty="0"/>
          </a:p>
          <a:p>
            <a:endParaRPr lang="en-IN" dirty="0"/>
          </a:p>
        </p:txBody>
      </p:sp>
    </p:spTree>
    <p:extLst>
      <p:ext uri="{BB962C8B-B14F-4D97-AF65-F5344CB8AC3E}">
        <p14:creationId xmlns:p14="http://schemas.microsoft.com/office/powerpoint/2010/main" val="200711743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stretch>
            <a:fillRect/>
          </a:stretch>
        </p:blipFill>
        <p:spPr>
          <a:xfrm>
            <a:off x="457200" y="1571625"/>
            <a:ext cx="8329613" cy="5072063"/>
          </a:xfrm>
          <a:prstGeom prst="rect">
            <a:avLst/>
          </a:prstGeom>
        </p:spPr>
      </p:pic>
      <p:sp>
        <p:nvSpPr>
          <p:cNvPr id="2" name="Title 1"/>
          <p:cNvSpPr>
            <a:spLocks noGrp="1"/>
          </p:cNvSpPr>
          <p:nvPr>
            <p:ph type="title"/>
          </p:nvPr>
        </p:nvSpPr>
        <p:spPr/>
        <p:txBody>
          <a:bodyPr/>
          <a:lstStyle/>
          <a:p>
            <a:endParaRPr lang="en-IN" dirty="0"/>
          </a:p>
        </p:txBody>
      </p:sp>
    </p:spTree>
    <p:extLst>
      <p:ext uri="{BB962C8B-B14F-4D97-AF65-F5344CB8AC3E}">
        <p14:creationId xmlns:p14="http://schemas.microsoft.com/office/powerpoint/2010/main" val="352990061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pPr marL="0" indent="0">
              <a:buNone/>
            </a:pPr>
            <a:r>
              <a:rPr lang="en-IN" dirty="0"/>
              <a:t>Here,</a:t>
            </a:r>
          </a:p>
          <a:p>
            <a:pPr marL="0" lvl="0" indent="0">
              <a:buNone/>
            </a:pPr>
            <a:r>
              <a:rPr lang="en-IN" dirty="0"/>
              <a:t>T1 reads the value of A.</a:t>
            </a:r>
          </a:p>
          <a:p>
            <a:pPr marL="0" lvl="0" indent="0">
              <a:buNone/>
            </a:pPr>
            <a:r>
              <a:rPr lang="en-IN" dirty="0"/>
              <a:t>T1 updates the value of A in the buffer.</a:t>
            </a:r>
          </a:p>
          <a:p>
            <a:pPr marL="0" lvl="0" indent="0">
              <a:buNone/>
            </a:pPr>
            <a:r>
              <a:rPr lang="en-IN" dirty="0"/>
              <a:t>T2 reads the value of A from the buffer.</a:t>
            </a:r>
          </a:p>
          <a:p>
            <a:pPr marL="0" lvl="0" indent="0">
              <a:buNone/>
            </a:pPr>
            <a:r>
              <a:rPr lang="en-IN" dirty="0"/>
              <a:t>T2 writes the updated the value of A.</a:t>
            </a:r>
          </a:p>
          <a:p>
            <a:pPr marL="0" lvl="0" indent="0">
              <a:buNone/>
            </a:pPr>
            <a:r>
              <a:rPr lang="en-IN" dirty="0"/>
              <a:t>T2 commits.</a:t>
            </a:r>
          </a:p>
          <a:p>
            <a:pPr marL="0" lvl="0" indent="0">
              <a:buNone/>
            </a:pPr>
            <a:r>
              <a:rPr lang="en-IN" dirty="0" smtClean="0"/>
              <a:t>T1 </a:t>
            </a:r>
            <a:r>
              <a:rPr lang="en-IN" dirty="0"/>
              <a:t>fails in later stages and rolls back.</a:t>
            </a:r>
          </a:p>
          <a:p>
            <a:pPr marL="0" indent="0">
              <a:buNone/>
            </a:pPr>
            <a:r>
              <a:rPr lang="en-IN" dirty="0"/>
              <a:t> </a:t>
            </a:r>
          </a:p>
          <a:p>
            <a:pPr marL="0" indent="0">
              <a:buNone/>
            </a:pPr>
            <a:r>
              <a:rPr lang="en-IN" dirty="0"/>
              <a:t>In this example,</a:t>
            </a:r>
          </a:p>
          <a:p>
            <a:pPr marL="0" lvl="0" indent="0">
              <a:buNone/>
            </a:pPr>
            <a:r>
              <a:rPr lang="en-IN" dirty="0"/>
              <a:t>T2 reads the dirty value of A written by the uncommitted transaction T1.</a:t>
            </a:r>
          </a:p>
          <a:p>
            <a:pPr marL="0" lvl="0" indent="0">
              <a:buNone/>
            </a:pPr>
            <a:r>
              <a:rPr lang="en-IN" dirty="0"/>
              <a:t>T1 fails in later stages and roll backs.</a:t>
            </a:r>
          </a:p>
          <a:p>
            <a:pPr marL="0" lvl="0" indent="0">
              <a:buNone/>
            </a:pPr>
            <a:r>
              <a:rPr lang="en-IN" dirty="0"/>
              <a:t>Thus, the value that T2 read now stands to be incorrect.</a:t>
            </a:r>
          </a:p>
          <a:p>
            <a:pPr marL="0" lvl="0" indent="0">
              <a:buNone/>
            </a:pPr>
            <a:r>
              <a:rPr lang="en-IN" dirty="0"/>
              <a:t>Therefore, database becomes inconsistent.</a:t>
            </a:r>
          </a:p>
          <a:p>
            <a:endParaRPr lang="en-IN" dirty="0"/>
          </a:p>
        </p:txBody>
      </p:sp>
    </p:spTree>
    <p:extLst>
      <p:ext uri="{BB962C8B-B14F-4D97-AF65-F5344CB8AC3E}">
        <p14:creationId xmlns:p14="http://schemas.microsoft.com/office/powerpoint/2010/main" val="14337857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IN" i="1" dirty="0">
                <a:solidFill>
                  <a:srgbClr val="FF0000"/>
                </a:solidFill>
              </a:rPr>
              <a:t>Unrepeatable Read Problem</a:t>
            </a:r>
            <a:br>
              <a:rPr lang="en-IN" i="1" dirty="0">
                <a:solidFill>
                  <a:srgbClr val="FF0000"/>
                </a:solidFill>
              </a:rPr>
            </a:br>
            <a:endParaRPr lang="en-IN" i="1" dirty="0">
              <a:solidFill>
                <a:srgbClr val="FF0000"/>
              </a:solidFill>
            </a:endParaRPr>
          </a:p>
        </p:txBody>
      </p:sp>
      <p:sp>
        <p:nvSpPr>
          <p:cNvPr id="3" name="Content Placeholder 2"/>
          <p:cNvSpPr>
            <a:spLocks noGrp="1"/>
          </p:cNvSpPr>
          <p:nvPr>
            <p:ph idx="1"/>
          </p:nvPr>
        </p:nvSpPr>
        <p:spPr>
          <a:xfrm>
            <a:off x="457200" y="1600200"/>
            <a:ext cx="8423564" cy="4980709"/>
          </a:xfrm>
        </p:spPr>
        <p:txBody>
          <a:bodyPr numCol="2">
            <a:noAutofit/>
          </a:bodyPr>
          <a:lstStyle/>
          <a:p>
            <a:pPr marL="0" indent="0">
              <a:buNone/>
            </a:pPr>
            <a:r>
              <a:rPr lang="en-IN" sz="1600" dirty="0"/>
              <a:t>This problem occurs when a transaction gets to read unrepeated i.e. different values of the same variable in its different read operations even when it has not updated its value.</a:t>
            </a:r>
          </a:p>
          <a:p>
            <a:pPr marL="0" indent="0">
              <a:buNone/>
            </a:pPr>
            <a:r>
              <a:rPr lang="en-IN" sz="1600" dirty="0"/>
              <a:t> </a:t>
            </a:r>
          </a:p>
          <a:p>
            <a:pPr marL="0" indent="0">
              <a:buNone/>
            </a:pPr>
            <a:r>
              <a:rPr lang="en-IN" sz="1600" u="sng" dirty="0"/>
              <a:t>Example-</a:t>
            </a:r>
            <a:endParaRPr lang="en-IN" sz="1600" b="1" dirty="0"/>
          </a:p>
          <a:p>
            <a:r>
              <a:rPr lang="en-IN" sz="1600" dirty="0"/>
              <a:t> </a:t>
            </a:r>
          </a:p>
          <a:p>
            <a:pPr marL="0" indent="0">
              <a:buNone/>
            </a:pPr>
            <a:r>
              <a:rPr lang="en-IN" sz="1600" dirty="0"/>
              <a:t>Here,</a:t>
            </a:r>
          </a:p>
          <a:p>
            <a:pPr marL="0" lvl="0" indent="0">
              <a:buNone/>
            </a:pPr>
            <a:r>
              <a:rPr lang="en-IN" sz="1600" dirty="0"/>
              <a:t>T1 reads the value of A.</a:t>
            </a:r>
          </a:p>
          <a:p>
            <a:pPr marL="0" lvl="0" indent="0">
              <a:buNone/>
            </a:pPr>
            <a:r>
              <a:rPr lang="en-IN" sz="1600" dirty="0"/>
              <a:t>T1 updates the value of A in the buffer.</a:t>
            </a:r>
          </a:p>
          <a:p>
            <a:pPr marL="0" lvl="0" indent="0">
              <a:buNone/>
            </a:pPr>
            <a:r>
              <a:rPr lang="en-IN" sz="1600" dirty="0"/>
              <a:t>T2 reads the value of A from the buffer.</a:t>
            </a:r>
          </a:p>
          <a:p>
            <a:pPr marL="0" lvl="0" indent="0">
              <a:buNone/>
            </a:pPr>
            <a:r>
              <a:rPr lang="en-IN" sz="1600" dirty="0"/>
              <a:t>T2 writes the updated the value of A.</a:t>
            </a:r>
          </a:p>
          <a:p>
            <a:pPr marL="0" lvl="0" indent="0">
              <a:buNone/>
            </a:pPr>
            <a:r>
              <a:rPr lang="en-IN" sz="1600" dirty="0"/>
              <a:t>T2 commits.</a:t>
            </a:r>
          </a:p>
          <a:p>
            <a:pPr marL="0" lvl="0" indent="0">
              <a:buNone/>
            </a:pPr>
            <a:r>
              <a:rPr lang="en-IN" sz="1600" dirty="0"/>
              <a:t>T1 fails in later stages and rolls back.</a:t>
            </a:r>
          </a:p>
          <a:p>
            <a:pPr marL="0" indent="0">
              <a:buNone/>
            </a:pPr>
            <a:r>
              <a:rPr lang="en-IN" sz="1600" dirty="0"/>
              <a:t> </a:t>
            </a:r>
          </a:p>
          <a:p>
            <a:pPr marL="0" indent="0">
              <a:buNone/>
            </a:pPr>
            <a:r>
              <a:rPr lang="en-IN" sz="1600" dirty="0"/>
              <a:t>In this example,</a:t>
            </a:r>
          </a:p>
          <a:p>
            <a:pPr marL="0" lvl="0" indent="0">
              <a:buNone/>
            </a:pPr>
            <a:r>
              <a:rPr lang="en-IN" sz="1600" dirty="0"/>
              <a:t>T2 reads the dirty value of A written by the uncommitted transaction T1.</a:t>
            </a:r>
          </a:p>
          <a:p>
            <a:pPr marL="0" lvl="0" indent="0">
              <a:buNone/>
            </a:pPr>
            <a:r>
              <a:rPr lang="en-IN" sz="1600" dirty="0"/>
              <a:t>T1 fails in later stages and roll backs.</a:t>
            </a:r>
          </a:p>
          <a:p>
            <a:pPr marL="0" lvl="0" indent="0">
              <a:buNone/>
            </a:pPr>
            <a:r>
              <a:rPr lang="en-IN" sz="1600" dirty="0"/>
              <a:t>Thus, the value that T2 read now stands to be incorrect.</a:t>
            </a:r>
          </a:p>
          <a:p>
            <a:pPr marL="0" lvl="0" indent="0">
              <a:buNone/>
            </a:pPr>
            <a:r>
              <a:rPr lang="en-IN" sz="1600" dirty="0"/>
              <a:t>Therefore, database becomes inconsistent.</a:t>
            </a:r>
          </a:p>
          <a:p>
            <a:pPr lvl="0"/>
            <a:endParaRPr lang="en-IN" sz="1600" dirty="0" smtClean="0"/>
          </a:p>
          <a:p>
            <a:pPr lvl="0"/>
            <a:endParaRPr lang="en-IN" sz="1600" dirty="0"/>
          </a:p>
          <a:p>
            <a:pPr lvl="0"/>
            <a:endParaRPr lang="en-IN" sz="1600" dirty="0" smtClean="0"/>
          </a:p>
          <a:p>
            <a:pPr marL="0" lvl="0" indent="0">
              <a:buNone/>
            </a:pPr>
            <a:r>
              <a:rPr lang="en-IN" sz="1600" dirty="0" smtClean="0"/>
              <a:t>Lost </a:t>
            </a:r>
            <a:r>
              <a:rPr lang="en-IN" sz="1600" dirty="0"/>
              <a:t>Update Problem</a:t>
            </a:r>
          </a:p>
          <a:p>
            <a:pPr marL="0" lvl="0" indent="0">
              <a:buNone/>
            </a:pPr>
            <a:r>
              <a:rPr lang="en-IN" sz="1600" dirty="0"/>
              <a:t>Phantom Read Problem</a:t>
            </a:r>
          </a:p>
          <a:p>
            <a:endParaRPr lang="en-IN" sz="1600" dirty="0"/>
          </a:p>
        </p:txBody>
      </p:sp>
    </p:spTree>
    <p:extLst>
      <p:ext uri="{BB962C8B-B14F-4D97-AF65-F5344CB8AC3E}">
        <p14:creationId xmlns:p14="http://schemas.microsoft.com/office/powerpoint/2010/main" val="164367871"/>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IN" dirty="0"/>
          </a:p>
        </p:txBody>
      </p:sp>
      <p:sp>
        <p:nvSpPr>
          <p:cNvPr id="3" name="Content Placeholder 2"/>
          <p:cNvSpPr>
            <a:spLocks noGrp="1"/>
          </p:cNvSpPr>
          <p:nvPr>
            <p:ph idx="1"/>
          </p:nvPr>
        </p:nvSpPr>
        <p:spPr>
          <a:xfrm>
            <a:off x="568036" y="1796185"/>
            <a:ext cx="8229600" cy="4525963"/>
          </a:xfrm>
        </p:spPr>
        <p:txBody>
          <a:bodyPr/>
          <a:lstStyle/>
          <a:p>
            <a:pPr marL="0" indent="0">
              <a:buNone/>
            </a:pPr>
            <a:r>
              <a:rPr lang="en-IN" dirty="0"/>
              <a:t>This problem occurs when a transaction gets to read unrepeated i.e. different values of the same variable in its different read operations even when it has not updated its value.</a:t>
            </a:r>
          </a:p>
          <a:p>
            <a:endParaRPr lang="en-IN" dirty="0"/>
          </a:p>
          <a:p>
            <a:endParaRPr lang="en-IN" dirty="0"/>
          </a:p>
        </p:txBody>
      </p:sp>
      <p:sp>
        <p:nvSpPr>
          <p:cNvPr id="4" name="Rectangle 2"/>
          <p:cNvSpPr>
            <a:spLocks noChangeArrowheads="1"/>
          </p:cNvSpPr>
          <p:nvPr/>
        </p:nvSpPr>
        <p:spPr bwMode="auto">
          <a:xfrm>
            <a:off x="110836" y="19598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p:cNvPicPr>
            <a:picLocks noChangeAspect="1"/>
          </p:cNvPicPr>
          <p:nvPr/>
        </p:nvPicPr>
        <p:blipFill>
          <a:blip r:embed="rId2"/>
          <a:stretch>
            <a:fillRect/>
          </a:stretch>
        </p:blipFill>
        <p:spPr>
          <a:xfrm>
            <a:off x="1938666" y="3832658"/>
            <a:ext cx="5266667" cy="2323809"/>
          </a:xfrm>
          <a:prstGeom prst="rect">
            <a:avLst/>
          </a:prstGeom>
        </p:spPr>
      </p:pic>
    </p:spTree>
    <p:extLst>
      <p:ext uri="{BB962C8B-B14F-4D97-AF65-F5344CB8AC3E}">
        <p14:creationId xmlns:p14="http://schemas.microsoft.com/office/powerpoint/2010/main" val="2340150217"/>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IN" dirty="0"/>
          </a:p>
        </p:txBody>
      </p:sp>
      <p:sp>
        <p:nvSpPr>
          <p:cNvPr id="3" name="Content Placeholder 2"/>
          <p:cNvSpPr>
            <a:spLocks noGrp="1"/>
          </p:cNvSpPr>
          <p:nvPr>
            <p:ph idx="1"/>
          </p:nvPr>
        </p:nvSpPr>
        <p:spPr>
          <a:xfrm>
            <a:off x="457200" y="1600200"/>
            <a:ext cx="8229600" cy="5036127"/>
          </a:xfrm>
        </p:spPr>
        <p:txBody>
          <a:bodyPr>
            <a:normAutofit fontScale="85000" lnSpcReduction="20000"/>
          </a:bodyPr>
          <a:lstStyle/>
          <a:p>
            <a:pPr marL="0" indent="0">
              <a:buNone/>
            </a:pPr>
            <a:r>
              <a:rPr lang="en-IN" dirty="0"/>
              <a:t>Here,</a:t>
            </a:r>
          </a:p>
          <a:p>
            <a:pPr lvl="0"/>
            <a:r>
              <a:rPr lang="en-IN" i="1" dirty="0" smtClean="0">
                <a:solidFill>
                  <a:srgbClr val="FF0000"/>
                </a:solidFill>
              </a:rPr>
              <a:t>T1 </a:t>
            </a:r>
            <a:r>
              <a:rPr lang="en-IN" i="1" dirty="0">
                <a:solidFill>
                  <a:srgbClr val="FF0000"/>
                </a:solidFill>
              </a:rPr>
              <a:t>reads the value of X (= 10 say).</a:t>
            </a:r>
          </a:p>
          <a:p>
            <a:pPr lvl="0"/>
            <a:r>
              <a:rPr lang="en-IN" i="1" dirty="0">
                <a:solidFill>
                  <a:srgbClr val="FF0000"/>
                </a:solidFill>
              </a:rPr>
              <a:t>T2 reads the value of X (= 10).</a:t>
            </a:r>
          </a:p>
          <a:p>
            <a:pPr lvl="0"/>
            <a:r>
              <a:rPr lang="en-IN" i="1" dirty="0">
                <a:solidFill>
                  <a:srgbClr val="FF0000"/>
                </a:solidFill>
              </a:rPr>
              <a:t>T1 updates the value of X (from 10 to 15 say) in the buffer.</a:t>
            </a:r>
          </a:p>
          <a:p>
            <a:pPr lvl="0"/>
            <a:r>
              <a:rPr lang="en-IN" i="1" dirty="0">
                <a:solidFill>
                  <a:srgbClr val="FF0000"/>
                </a:solidFill>
              </a:rPr>
              <a:t>T2 again reads the value of X (but = 15).</a:t>
            </a:r>
          </a:p>
          <a:p>
            <a:r>
              <a:rPr lang="en-IN" i="1" dirty="0">
                <a:solidFill>
                  <a:srgbClr val="FF0000"/>
                </a:solidFill>
              </a:rPr>
              <a:t> </a:t>
            </a:r>
          </a:p>
          <a:p>
            <a:pPr marL="0" indent="0">
              <a:buNone/>
            </a:pPr>
            <a:r>
              <a:rPr lang="en-IN" dirty="0"/>
              <a:t>In this example,</a:t>
            </a:r>
          </a:p>
          <a:p>
            <a:pPr lvl="0"/>
            <a:r>
              <a:rPr lang="en-IN" dirty="0">
                <a:solidFill>
                  <a:srgbClr val="7030A0"/>
                </a:solidFill>
              </a:rPr>
              <a:t>T2 gets to read a different value of X in its second reading.</a:t>
            </a:r>
          </a:p>
          <a:p>
            <a:pPr lvl="0"/>
            <a:r>
              <a:rPr lang="en-IN" dirty="0">
                <a:solidFill>
                  <a:srgbClr val="7030A0"/>
                </a:solidFill>
              </a:rPr>
              <a:t>T2 wonders how the value of X got changed because according to it, it is running in isolation.</a:t>
            </a:r>
          </a:p>
          <a:p>
            <a:endParaRPr lang="en-IN" dirty="0">
              <a:solidFill>
                <a:srgbClr val="7030A0"/>
              </a:solidFill>
            </a:endParaRPr>
          </a:p>
        </p:txBody>
      </p:sp>
    </p:spTree>
    <p:extLst>
      <p:ext uri="{BB962C8B-B14F-4D97-AF65-F5344CB8AC3E}">
        <p14:creationId xmlns:p14="http://schemas.microsoft.com/office/powerpoint/2010/main" val="3799864294"/>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u="sng" dirty="0" smtClean="0"/>
              <a:t/>
            </a:r>
            <a:br>
              <a:rPr lang="en-IN" b="1" u="sng" dirty="0" smtClean="0"/>
            </a:br>
            <a:r>
              <a:rPr lang="en-IN" b="1" u="sng" dirty="0" smtClean="0"/>
              <a:t>Lost </a:t>
            </a:r>
            <a:r>
              <a:rPr lang="en-IN" b="1" u="sng" dirty="0"/>
              <a:t>Update Problem-</a:t>
            </a:r>
            <a:r>
              <a:rPr lang="en-IN" b="1" dirty="0"/>
              <a:t/>
            </a:r>
            <a:br>
              <a:rPr lang="en-IN" b="1" dirty="0"/>
            </a:br>
            <a:endParaRPr lang="en-IN" dirty="0"/>
          </a:p>
        </p:txBody>
      </p:sp>
      <p:sp>
        <p:nvSpPr>
          <p:cNvPr id="3" name="Content Placeholder 2"/>
          <p:cNvSpPr>
            <a:spLocks noGrp="1"/>
          </p:cNvSpPr>
          <p:nvPr>
            <p:ph idx="1"/>
          </p:nvPr>
        </p:nvSpPr>
        <p:spPr/>
        <p:txBody>
          <a:bodyPr/>
          <a:lstStyle/>
          <a:p>
            <a:r>
              <a:rPr lang="en-IN" dirty="0"/>
              <a:t>This problem occurs when multiple transactions execute concurrently and updates from one or more transactions get lost.</a:t>
            </a:r>
          </a:p>
          <a:p>
            <a:endParaRPr lang="en-IN" dirty="0"/>
          </a:p>
        </p:txBody>
      </p:sp>
    </p:spTree>
    <p:extLst>
      <p:ext uri="{BB962C8B-B14F-4D97-AF65-F5344CB8AC3E}">
        <p14:creationId xmlns:p14="http://schemas.microsoft.com/office/powerpoint/2010/main" val="174496245"/>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943"/>
          </a:xfrm>
        </p:spPr>
        <p:txBody>
          <a:bodyPr>
            <a:normAutofit fontScale="90000"/>
          </a:bodyPr>
          <a:lstStyle/>
          <a:p>
            <a:endParaRPr lang="en-IN" dirty="0"/>
          </a:p>
        </p:txBody>
      </p:sp>
      <p:sp>
        <p:nvSpPr>
          <p:cNvPr id="3" name="Content Placeholder 2"/>
          <p:cNvSpPr>
            <a:spLocks noGrp="1"/>
          </p:cNvSpPr>
          <p:nvPr>
            <p:ph idx="1"/>
          </p:nvPr>
        </p:nvSpPr>
        <p:spPr>
          <a:xfrm>
            <a:off x="457200" y="1061219"/>
            <a:ext cx="8229600" cy="5616671"/>
          </a:xfrm>
        </p:spPr>
        <p:txBody>
          <a:bodyPr numCol="2">
            <a:normAutofit fontScale="85000" lnSpcReduction="10000"/>
          </a:bodyPr>
          <a:lstStyle/>
          <a:p>
            <a:pPr marL="0" indent="0" algn="just">
              <a:buNone/>
            </a:pPr>
            <a:r>
              <a:rPr lang="en-IN" dirty="0"/>
              <a:t>Here,</a:t>
            </a:r>
          </a:p>
          <a:p>
            <a:pPr marL="0" lvl="0" indent="0" algn="just">
              <a:buNone/>
            </a:pPr>
            <a:r>
              <a:rPr lang="en-IN" dirty="0"/>
              <a:t>T1 reads the value of A (= 10 say).</a:t>
            </a:r>
          </a:p>
          <a:p>
            <a:pPr marL="0" lvl="0" indent="0" algn="just">
              <a:buNone/>
            </a:pPr>
            <a:r>
              <a:rPr lang="en-IN" dirty="0" smtClean="0"/>
              <a:t>T2 </a:t>
            </a:r>
            <a:r>
              <a:rPr lang="en-IN" dirty="0"/>
              <a:t>updates the value to A (= 15 say) in the buffer.</a:t>
            </a:r>
          </a:p>
          <a:p>
            <a:pPr marL="0" lvl="0" indent="0" algn="just">
              <a:buNone/>
            </a:pPr>
            <a:r>
              <a:rPr lang="en-IN" dirty="0"/>
              <a:t>T2 does blind write A = 25 (write without read) in the buffer.</a:t>
            </a:r>
          </a:p>
          <a:p>
            <a:pPr marL="0" lvl="0" indent="0" algn="just">
              <a:buNone/>
            </a:pPr>
            <a:r>
              <a:rPr lang="en-IN" dirty="0"/>
              <a:t>T2 commits.</a:t>
            </a:r>
          </a:p>
          <a:p>
            <a:pPr marL="0" lvl="0" indent="0" algn="just">
              <a:buNone/>
            </a:pPr>
            <a:r>
              <a:rPr lang="en-IN" dirty="0"/>
              <a:t>When T1 commits, it writes A = 25 in the database.</a:t>
            </a:r>
          </a:p>
          <a:p>
            <a:pPr marL="0" indent="0" algn="just">
              <a:buNone/>
            </a:pPr>
            <a:r>
              <a:rPr lang="en-IN" dirty="0" smtClean="0"/>
              <a:t>In </a:t>
            </a:r>
            <a:r>
              <a:rPr lang="en-IN" dirty="0"/>
              <a:t>this example,</a:t>
            </a:r>
          </a:p>
          <a:p>
            <a:pPr marL="0" lvl="0" indent="0" algn="just">
              <a:buNone/>
            </a:pPr>
            <a:r>
              <a:rPr lang="en-IN" dirty="0"/>
              <a:t>T1 writes the over written value of X in the database.</a:t>
            </a:r>
          </a:p>
          <a:p>
            <a:pPr marL="0" lvl="0" indent="0" algn="just">
              <a:buNone/>
            </a:pPr>
            <a:r>
              <a:rPr lang="en-IN" dirty="0"/>
              <a:t>Thus, update from T1 gets lost.</a:t>
            </a:r>
          </a:p>
          <a:p>
            <a:pPr marL="0" indent="0" algn="just">
              <a:buNone/>
            </a:pPr>
            <a:r>
              <a:rPr lang="en-IN" u="sng" dirty="0" smtClean="0"/>
              <a:t>NOTE-</a:t>
            </a:r>
            <a:endParaRPr lang="en-IN" b="1" dirty="0"/>
          </a:p>
          <a:p>
            <a:pPr marL="0" lvl="0" indent="0" algn="just">
              <a:buNone/>
            </a:pPr>
            <a:r>
              <a:rPr lang="en-IN" dirty="0" smtClean="0"/>
              <a:t>This </a:t>
            </a:r>
            <a:r>
              <a:rPr lang="en-IN" dirty="0"/>
              <a:t>problem occurs whenever there is a write-write conflict.</a:t>
            </a:r>
          </a:p>
          <a:p>
            <a:pPr marL="0" lvl="0" indent="0" algn="just">
              <a:buNone/>
            </a:pPr>
            <a:r>
              <a:rPr lang="en-IN" dirty="0"/>
              <a:t>In write-write conflict, there are two writes one by each transaction on the same data item without any read in the middle.</a:t>
            </a:r>
          </a:p>
          <a:p>
            <a:endParaRPr lang="en-IN" dirty="0"/>
          </a:p>
        </p:txBody>
      </p:sp>
      <p:sp>
        <p:nvSpPr>
          <p:cNvPr id="4"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602767869"/>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050473" y="2509752"/>
            <a:ext cx="4225636" cy="2706859"/>
          </a:xfrm>
          <a:prstGeom prst="rect">
            <a:avLst/>
          </a:prstGeom>
        </p:spPr>
      </p:pic>
    </p:spTree>
    <p:extLst>
      <p:ext uri="{BB962C8B-B14F-4D97-AF65-F5344CB8AC3E}">
        <p14:creationId xmlns:p14="http://schemas.microsoft.com/office/powerpoint/2010/main" val="1141425526"/>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4. Phantom Read Problem-</a:t>
            </a:r>
            <a:br>
              <a:rPr lang="en-IN" b="1" dirty="0"/>
            </a:br>
            <a:endParaRPr lang="en-IN" dirty="0"/>
          </a:p>
        </p:txBody>
      </p:sp>
      <p:sp>
        <p:nvSpPr>
          <p:cNvPr id="3" name="Content Placeholder 2"/>
          <p:cNvSpPr>
            <a:spLocks noGrp="1"/>
          </p:cNvSpPr>
          <p:nvPr>
            <p:ph idx="1"/>
          </p:nvPr>
        </p:nvSpPr>
        <p:spPr>
          <a:xfrm>
            <a:off x="138545" y="2057400"/>
            <a:ext cx="7952510" cy="4525963"/>
          </a:xfrm>
        </p:spPr>
        <p:txBody>
          <a:bodyPr/>
          <a:lstStyle/>
          <a:p>
            <a:pPr marL="0" indent="0" algn="just">
              <a:buNone/>
            </a:pPr>
            <a:r>
              <a:rPr lang="en-IN" dirty="0" smtClean="0"/>
              <a:t>This </a:t>
            </a:r>
            <a:r>
              <a:rPr lang="en-IN" dirty="0"/>
              <a:t>problem occurs when a transaction reads some variable from the buffer and when it reads the same variable later, it finds that the variable does not exist.</a:t>
            </a:r>
          </a:p>
          <a:p>
            <a:endParaRPr lang="en-IN" dirty="0"/>
          </a:p>
          <a:p>
            <a:endParaRPr lang="en-IN" dirty="0"/>
          </a:p>
        </p:txBody>
      </p:sp>
      <p:sp>
        <p:nvSpPr>
          <p:cNvPr id="4" name="Rectangle 2"/>
          <p:cNvSpPr>
            <a:spLocks noChangeArrowheads="1"/>
          </p:cNvSpPr>
          <p:nvPr/>
        </p:nvSpPr>
        <p:spPr bwMode="auto">
          <a:xfrm>
            <a:off x="-595745" y="457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p:cNvPicPr>
            <a:picLocks noChangeAspect="1"/>
          </p:cNvPicPr>
          <p:nvPr/>
        </p:nvPicPr>
        <p:blipFill>
          <a:blip r:embed="rId2"/>
          <a:stretch>
            <a:fillRect/>
          </a:stretch>
        </p:blipFill>
        <p:spPr>
          <a:xfrm>
            <a:off x="3579932" y="4000355"/>
            <a:ext cx="4228571" cy="2704762"/>
          </a:xfrm>
          <a:prstGeom prst="rect">
            <a:avLst/>
          </a:prstGeom>
        </p:spPr>
      </p:pic>
    </p:spTree>
    <p:extLst>
      <p:ext uri="{BB962C8B-B14F-4D97-AF65-F5344CB8AC3E}">
        <p14:creationId xmlns:p14="http://schemas.microsoft.com/office/powerpoint/2010/main" val="1691483972"/>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numCol="2">
            <a:normAutofit lnSpcReduction="10000"/>
          </a:bodyPr>
          <a:lstStyle/>
          <a:p>
            <a:pPr algn="just"/>
            <a:r>
              <a:rPr lang="en-IN" dirty="0"/>
              <a:t>Here,</a:t>
            </a:r>
          </a:p>
          <a:p>
            <a:pPr marL="0" lvl="0" indent="0" algn="just">
              <a:buNone/>
            </a:pPr>
            <a:r>
              <a:rPr lang="en-IN" dirty="0"/>
              <a:t>T1 reads X.</a:t>
            </a:r>
          </a:p>
          <a:p>
            <a:pPr marL="0" lvl="0" indent="0" algn="just">
              <a:buNone/>
            </a:pPr>
            <a:r>
              <a:rPr lang="en-IN" dirty="0"/>
              <a:t>T2 reads X.</a:t>
            </a:r>
          </a:p>
          <a:p>
            <a:pPr marL="0" lvl="0" indent="0" algn="just">
              <a:buNone/>
            </a:pPr>
            <a:r>
              <a:rPr lang="en-IN" dirty="0"/>
              <a:t>T1 deletes X.</a:t>
            </a:r>
          </a:p>
          <a:p>
            <a:pPr marL="0" lvl="0" indent="0" algn="just">
              <a:buNone/>
            </a:pPr>
            <a:r>
              <a:rPr lang="en-IN" dirty="0"/>
              <a:t>T2 tries reading X but does not find it.</a:t>
            </a:r>
          </a:p>
          <a:p>
            <a:pPr algn="just"/>
            <a:r>
              <a:rPr lang="en-IN" dirty="0" smtClean="0"/>
              <a:t>In </a:t>
            </a:r>
            <a:r>
              <a:rPr lang="en-IN" dirty="0"/>
              <a:t>this example,</a:t>
            </a:r>
          </a:p>
          <a:p>
            <a:pPr lvl="0" algn="just"/>
            <a:r>
              <a:rPr lang="en-IN" dirty="0"/>
              <a:t>T2 finds that there does not exist any variable X when it tries reading X again.</a:t>
            </a:r>
          </a:p>
          <a:p>
            <a:pPr lvl="0" algn="just"/>
            <a:r>
              <a:rPr lang="en-IN" dirty="0"/>
              <a:t>T2 wonders who deleted the variable X because according to it, it is running in isolation.</a:t>
            </a:r>
          </a:p>
          <a:p>
            <a:pPr algn="just"/>
            <a:endParaRPr lang="en-IN" dirty="0"/>
          </a:p>
        </p:txBody>
      </p:sp>
    </p:spTree>
    <p:extLst>
      <p:ext uri="{BB962C8B-B14F-4D97-AF65-F5344CB8AC3E}">
        <p14:creationId xmlns:p14="http://schemas.microsoft.com/office/powerpoint/2010/main" val="1669593335"/>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0707"/>
          </a:xfrm>
        </p:spPr>
        <p:txBody>
          <a:bodyPr/>
          <a:lstStyle/>
          <a:p>
            <a:endParaRPr lang="en-IN" dirty="0"/>
          </a:p>
        </p:txBody>
      </p:sp>
      <p:sp>
        <p:nvSpPr>
          <p:cNvPr id="3" name="Content Placeholder 2"/>
          <p:cNvSpPr>
            <a:spLocks noGrp="1"/>
          </p:cNvSpPr>
          <p:nvPr>
            <p:ph idx="1"/>
          </p:nvPr>
        </p:nvSpPr>
        <p:spPr>
          <a:xfrm>
            <a:off x="457200" y="1205345"/>
            <a:ext cx="8229600" cy="5375564"/>
          </a:xfrm>
        </p:spPr>
        <p:txBody>
          <a:bodyPr/>
          <a:lstStyle/>
          <a:p>
            <a:endParaRPr lang="en-IN"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p:cNvGraphicFramePr>
            <a:graphicFrameLocks noChangeAspect="1"/>
          </p:cNvGraphicFramePr>
          <p:nvPr>
            <p:extLst>
              <p:ext uri="{D42A27DB-BD31-4B8C-83A1-F6EECF244321}">
                <p14:modId xmlns:p14="http://schemas.microsoft.com/office/powerpoint/2010/main" val="3978053486"/>
              </p:ext>
            </p:extLst>
          </p:nvPr>
        </p:nvGraphicFramePr>
        <p:xfrm>
          <a:off x="457200" y="1205345"/>
          <a:ext cx="8132618" cy="5375563"/>
        </p:xfrm>
        <a:graphic>
          <a:graphicData uri="http://schemas.openxmlformats.org/presentationml/2006/ole">
            <mc:AlternateContent xmlns:mc="http://schemas.openxmlformats.org/markup-compatibility/2006">
              <mc:Choice xmlns:v="urn:schemas-microsoft-com:vml" Requires="v">
                <p:oleObj spid="_x0000_s8306" name="Bitmap Image" r:id="rId4" imgW="6342857" imgH="5830114" progId="Paint.Picture">
                  <p:embed/>
                </p:oleObj>
              </mc:Choice>
              <mc:Fallback>
                <p:oleObj name="Bitmap Image" r:id="rId4" imgW="6342857" imgH="5830114" progId="Paint.Picture">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1205345"/>
                        <a:ext cx="8132618" cy="5375563"/>
                      </a:xfrm>
                      <a:prstGeom prst="rect">
                        <a:avLst/>
                      </a:prstGeom>
                      <a:noFill/>
                    </p:spPr>
                  </p:pic>
                </p:oleObj>
              </mc:Fallback>
            </mc:AlternateContent>
          </a:graphicData>
        </a:graphic>
      </p:graphicFrame>
    </p:spTree>
    <p:extLst>
      <p:ext uri="{BB962C8B-B14F-4D97-AF65-F5344CB8AC3E}">
        <p14:creationId xmlns:p14="http://schemas.microsoft.com/office/powerpoint/2010/main" val="31103791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pPr marL="0" indent="0">
              <a:buNone/>
            </a:pPr>
            <a:r>
              <a:rPr lang="en-IN" b="1" u="sng" dirty="0"/>
              <a:t>Serial Schedules-</a:t>
            </a:r>
            <a:endParaRPr lang="en-IN" b="1" dirty="0"/>
          </a:p>
          <a:p>
            <a:r>
              <a:rPr lang="en-IN" dirty="0"/>
              <a:t> In serial schedules,</a:t>
            </a:r>
          </a:p>
          <a:p>
            <a:pPr lvl="0"/>
            <a:r>
              <a:rPr lang="en-IN" dirty="0"/>
              <a:t>All the transactions execute serially one after the other.</a:t>
            </a:r>
          </a:p>
          <a:p>
            <a:pPr lvl="0"/>
            <a:r>
              <a:rPr lang="en-IN" dirty="0"/>
              <a:t>When one transaction executes, no other transaction is allowed to execute.</a:t>
            </a:r>
          </a:p>
          <a:p>
            <a:pPr marL="0" indent="0">
              <a:buNone/>
            </a:pPr>
            <a:r>
              <a:rPr lang="en-IN" b="1" u="sng" dirty="0" smtClean="0"/>
              <a:t>Characteristics-</a:t>
            </a:r>
            <a:endParaRPr lang="en-IN" b="1" dirty="0"/>
          </a:p>
          <a:p>
            <a:pPr lvl="0"/>
            <a:r>
              <a:rPr lang="en-IN" dirty="0"/>
              <a:t> Serial schedules are always- Consistent</a:t>
            </a:r>
          </a:p>
          <a:p>
            <a:pPr lvl="0"/>
            <a:r>
              <a:rPr lang="en-IN" dirty="0"/>
              <a:t>Recoverable</a:t>
            </a:r>
          </a:p>
          <a:p>
            <a:pPr lvl="0"/>
            <a:r>
              <a:rPr lang="en-IN" dirty="0" err="1"/>
              <a:t>Cascadeless</a:t>
            </a:r>
            <a:endParaRPr lang="en-IN" dirty="0"/>
          </a:p>
          <a:p>
            <a:pPr lvl="0"/>
            <a:r>
              <a:rPr lang="en-IN" dirty="0"/>
              <a:t>Strict</a:t>
            </a:r>
          </a:p>
          <a:p>
            <a:endParaRPr lang="en-IN" dirty="0"/>
          </a:p>
          <a:p>
            <a:endParaRPr lang="en-IN" dirty="0"/>
          </a:p>
        </p:txBody>
      </p:sp>
    </p:spTree>
    <p:extLst>
      <p:ext uri="{BB962C8B-B14F-4D97-AF65-F5344CB8AC3E}">
        <p14:creationId xmlns:p14="http://schemas.microsoft.com/office/powerpoint/2010/main" val="402329853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Serial Schedule</a:t>
            </a:r>
            <a:endParaRPr lang="en-IN" dirty="0"/>
          </a:p>
        </p:txBody>
      </p:sp>
      <p:sp>
        <p:nvSpPr>
          <p:cNvPr id="3" name="Content Placeholder 2"/>
          <p:cNvSpPr>
            <a:spLocks noGrp="1"/>
          </p:cNvSpPr>
          <p:nvPr>
            <p:ph idx="1"/>
          </p:nvPr>
        </p:nvSpPr>
        <p:spPr/>
        <p:txBody>
          <a:bodyPr/>
          <a:lstStyle/>
          <a:p>
            <a:endParaRPr lang="en-IN"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p:cNvPicPr>
            <a:picLocks noChangeAspect="1"/>
          </p:cNvPicPr>
          <p:nvPr/>
        </p:nvPicPr>
        <p:blipFill>
          <a:blip r:embed="rId2"/>
          <a:stretch>
            <a:fillRect/>
          </a:stretch>
        </p:blipFill>
        <p:spPr>
          <a:xfrm>
            <a:off x="457200" y="1600427"/>
            <a:ext cx="7897091" cy="4525735"/>
          </a:xfrm>
          <a:prstGeom prst="rect">
            <a:avLst/>
          </a:prstGeom>
        </p:spPr>
      </p:pic>
    </p:spTree>
    <p:extLst>
      <p:ext uri="{BB962C8B-B14F-4D97-AF65-F5344CB8AC3E}">
        <p14:creationId xmlns:p14="http://schemas.microsoft.com/office/powerpoint/2010/main" val="298472487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t>In this schedule,</a:t>
            </a:r>
          </a:p>
          <a:p>
            <a:pPr lvl="0"/>
            <a:r>
              <a:rPr lang="en-IN" dirty="0"/>
              <a:t>There are two transactions T1 and T2 executing serially one after the other.</a:t>
            </a:r>
          </a:p>
          <a:p>
            <a:pPr lvl="0"/>
            <a:r>
              <a:rPr lang="en-IN" dirty="0"/>
              <a:t>Transaction T1 executes first.</a:t>
            </a:r>
          </a:p>
          <a:p>
            <a:pPr marL="0" lvl="0" indent="0">
              <a:buNone/>
            </a:pPr>
            <a:r>
              <a:rPr lang="en-IN" dirty="0"/>
              <a:t>After T1 completes its execution, transaction T2 executes.</a:t>
            </a:r>
          </a:p>
          <a:p>
            <a:pPr marL="0" lvl="0" indent="0">
              <a:buNone/>
            </a:pPr>
            <a:r>
              <a:rPr lang="en-IN" dirty="0"/>
              <a:t>So, this schedule is an example of a </a:t>
            </a:r>
            <a:r>
              <a:rPr lang="en-IN" b="1" dirty="0"/>
              <a:t>Serial Schedule</a:t>
            </a:r>
            <a:r>
              <a:rPr lang="en-IN" dirty="0"/>
              <a:t>.</a:t>
            </a:r>
          </a:p>
          <a:p>
            <a:endParaRPr lang="en-IN" dirty="0"/>
          </a:p>
        </p:txBody>
      </p:sp>
    </p:spTree>
    <p:extLst>
      <p:ext uri="{BB962C8B-B14F-4D97-AF65-F5344CB8AC3E}">
        <p14:creationId xmlns:p14="http://schemas.microsoft.com/office/powerpoint/2010/main" val="189579098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p:cNvPicPr>
            <a:picLocks noChangeAspect="1"/>
          </p:cNvPicPr>
          <p:nvPr/>
        </p:nvPicPr>
        <p:blipFill>
          <a:blip r:embed="rId2"/>
          <a:stretch>
            <a:fillRect/>
          </a:stretch>
        </p:blipFill>
        <p:spPr>
          <a:xfrm>
            <a:off x="457200" y="1600428"/>
            <a:ext cx="8229600" cy="4980481"/>
          </a:xfrm>
          <a:prstGeom prst="rect">
            <a:avLst/>
          </a:prstGeom>
        </p:spPr>
      </p:pic>
    </p:spTree>
    <p:extLst>
      <p:ext uri="{BB962C8B-B14F-4D97-AF65-F5344CB8AC3E}">
        <p14:creationId xmlns:p14="http://schemas.microsoft.com/office/powerpoint/2010/main" val="13077207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t>In this schedule,</a:t>
            </a:r>
          </a:p>
          <a:p>
            <a:pPr lvl="0"/>
            <a:r>
              <a:rPr lang="en-IN" dirty="0"/>
              <a:t>There are two transactions T1 and T2 executing serially one after the other.</a:t>
            </a:r>
          </a:p>
          <a:p>
            <a:pPr lvl="0"/>
            <a:r>
              <a:rPr lang="en-IN" dirty="0"/>
              <a:t>Transaction T2 executes first.</a:t>
            </a:r>
          </a:p>
          <a:p>
            <a:pPr marL="0" lvl="0" indent="0">
              <a:buNone/>
            </a:pPr>
            <a:r>
              <a:rPr lang="en-IN" dirty="0"/>
              <a:t>After T2 completes its execution, transaction T1 executes.</a:t>
            </a:r>
          </a:p>
          <a:p>
            <a:pPr marL="0" lvl="0" indent="0">
              <a:buNone/>
            </a:pPr>
            <a:r>
              <a:rPr lang="en-IN" dirty="0"/>
              <a:t>So, this schedule is an example of a </a:t>
            </a:r>
            <a:r>
              <a:rPr lang="en-IN" b="1" dirty="0"/>
              <a:t>Serial Schedule</a:t>
            </a:r>
            <a:r>
              <a:rPr lang="en-IN" dirty="0"/>
              <a:t>.</a:t>
            </a:r>
          </a:p>
          <a:p>
            <a:endParaRPr lang="en-IN" dirty="0"/>
          </a:p>
        </p:txBody>
      </p:sp>
    </p:spTree>
    <p:extLst>
      <p:ext uri="{BB962C8B-B14F-4D97-AF65-F5344CB8AC3E}">
        <p14:creationId xmlns:p14="http://schemas.microsoft.com/office/powerpoint/2010/main" val="48568635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u="sng" dirty="0"/>
              <a:t>Non-Serial Schedules-</a:t>
            </a:r>
            <a:r>
              <a:rPr lang="en-IN" b="1" dirty="0"/>
              <a:t/>
            </a:r>
            <a:br>
              <a:rPr lang="en-IN" b="1" dirty="0"/>
            </a:b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r>
              <a:rPr lang="en-IN" dirty="0" smtClean="0"/>
              <a:t>In </a:t>
            </a:r>
            <a:r>
              <a:rPr lang="en-IN" dirty="0"/>
              <a:t>non-serial schedules,</a:t>
            </a:r>
          </a:p>
          <a:p>
            <a:pPr marL="0" lvl="0" indent="0">
              <a:buNone/>
            </a:pPr>
            <a:r>
              <a:rPr lang="en-IN" dirty="0"/>
              <a:t>Multiple transactions execute concurrently.</a:t>
            </a:r>
          </a:p>
          <a:p>
            <a:pPr marL="0" lvl="0" indent="0">
              <a:buNone/>
            </a:pPr>
            <a:r>
              <a:rPr lang="en-IN" dirty="0"/>
              <a:t>Operations of all the transactions are inter leaved or mixed with each other.</a:t>
            </a:r>
          </a:p>
          <a:p>
            <a:pPr marL="0" indent="0">
              <a:buNone/>
            </a:pPr>
            <a:r>
              <a:rPr lang="en-IN" b="1" u="sng" dirty="0" smtClean="0"/>
              <a:t>Characteristics-</a:t>
            </a:r>
            <a:endParaRPr lang="en-IN" b="1" dirty="0"/>
          </a:p>
          <a:p>
            <a:pPr marL="0" indent="0">
              <a:buNone/>
            </a:pPr>
            <a:r>
              <a:rPr lang="en-IN" dirty="0" smtClean="0"/>
              <a:t>Non-serial </a:t>
            </a:r>
            <a:r>
              <a:rPr lang="en-IN" dirty="0"/>
              <a:t>schedules are </a:t>
            </a:r>
            <a:r>
              <a:rPr lang="en-IN" b="1" dirty="0"/>
              <a:t>NOT</a:t>
            </a:r>
            <a:r>
              <a:rPr lang="en-IN" dirty="0"/>
              <a:t> always-</a:t>
            </a:r>
          </a:p>
          <a:p>
            <a:pPr marL="0" lvl="0" indent="0">
              <a:buNone/>
            </a:pPr>
            <a:r>
              <a:rPr lang="en-IN" dirty="0"/>
              <a:t>Consistent</a:t>
            </a:r>
          </a:p>
          <a:p>
            <a:pPr marL="0" lvl="0" indent="0">
              <a:buNone/>
            </a:pPr>
            <a:r>
              <a:rPr lang="en-IN" dirty="0"/>
              <a:t>Recoverable</a:t>
            </a:r>
          </a:p>
          <a:p>
            <a:pPr marL="0" lvl="0" indent="0">
              <a:buNone/>
            </a:pPr>
            <a:r>
              <a:rPr lang="en-IN" dirty="0" smtClean="0"/>
              <a:t>Cascade less</a:t>
            </a:r>
            <a:endParaRPr lang="en-IN" dirty="0"/>
          </a:p>
          <a:p>
            <a:pPr marL="0" lvl="0" indent="0">
              <a:buNone/>
            </a:pPr>
            <a:r>
              <a:rPr lang="en-IN" dirty="0"/>
              <a:t>Strict</a:t>
            </a:r>
          </a:p>
          <a:p>
            <a:endParaRPr lang="en-IN" dirty="0"/>
          </a:p>
        </p:txBody>
      </p:sp>
    </p:spTree>
    <p:extLst>
      <p:ext uri="{BB962C8B-B14F-4D97-AF65-F5344CB8AC3E}">
        <p14:creationId xmlns:p14="http://schemas.microsoft.com/office/powerpoint/2010/main" val="382366316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8545"/>
            <a:ext cx="8229600" cy="1279093"/>
          </a:xfrm>
        </p:spPr>
        <p:txBody>
          <a:bodyPr>
            <a:normAutofit fontScale="90000"/>
          </a:bodyPr>
          <a:lstStyle/>
          <a:p>
            <a:pPr lvl="0" algn="l"/>
            <a:r>
              <a:rPr lang="en-IN" sz="1800" dirty="0" smtClean="0"/>
              <a:t/>
            </a:r>
            <a:br>
              <a:rPr lang="en-IN" sz="1800" dirty="0" smtClean="0"/>
            </a:br>
            <a:r>
              <a:rPr lang="en-IN" sz="1800" dirty="0"/>
              <a:t/>
            </a:r>
            <a:br>
              <a:rPr lang="en-IN" sz="1800" dirty="0"/>
            </a:br>
            <a:r>
              <a:rPr lang="en-IN" sz="1800" dirty="0" smtClean="0"/>
              <a:t/>
            </a:r>
            <a:br>
              <a:rPr lang="en-IN" sz="1800" dirty="0" smtClean="0"/>
            </a:br>
            <a:r>
              <a:rPr lang="en-IN" sz="1800" dirty="0" smtClean="0"/>
              <a:t>In </a:t>
            </a:r>
            <a:r>
              <a:rPr lang="en-IN" sz="1800" dirty="0"/>
              <a:t>this schedule, There are two transactions T1 and T2 executing </a:t>
            </a:r>
            <a:r>
              <a:rPr lang="en-IN" sz="1800" dirty="0" smtClean="0"/>
              <a:t>concurrently. The </a:t>
            </a:r>
            <a:r>
              <a:rPr lang="en-IN" sz="1800" dirty="0"/>
              <a:t>operations of T1 and T2 are </a:t>
            </a:r>
            <a:r>
              <a:rPr lang="en-IN" sz="1800" dirty="0" smtClean="0"/>
              <a:t>interleaved. So, </a:t>
            </a:r>
            <a:r>
              <a:rPr lang="en-IN" sz="1800" dirty="0"/>
              <a:t>this schedule is an example of a </a:t>
            </a:r>
            <a:r>
              <a:rPr lang="en-IN" sz="1800" b="1" dirty="0"/>
              <a:t>Non-Serial </a:t>
            </a:r>
            <a:r>
              <a:rPr lang="en-IN" sz="1800" b="1" dirty="0" smtClean="0"/>
              <a:t>Schedule</a:t>
            </a:r>
            <a:r>
              <a:rPr lang="en-IN" dirty="0"/>
              <a:t>.</a:t>
            </a:r>
            <a:br>
              <a:rPr lang="en-IN" dirty="0"/>
            </a:br>
            <a:endParaRPr lang="en-IN" dirty="0"/>
          </a:p>
        </p:txBody>
      </p:sp>
      <p:sp>
        <p:nvSpPr>
          <p:cNvPr id="3" name="Content Placeholder 2"/>
          <p:cNvSpPr>
            <a:spLocks noGrp="1"/>
          </p:cNvSpPr>
          <p:nvPr>
            <p:ph idx="1"/>
          </p:nvPr>
        </p:nvSpPr>
        <p:spPr/>
        <p:txBody>
          <a:bodyPr/>
          <a:lstStyle/>
          <a:p>
            <a:endParaRPr lang="en-IN"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p:cNvPicPr>
            <a:picLocks noChangeAspect="1"/>
          </p:cNvPicPr>
          <p:nvPr/>
        </p:nvPicPr>
        <p:blipFill>
          <a:blip r:embed="rId2"/>
          <a:stretch>
            <a:fillRect/>
          </a:stretch>
        </p:blipFill>
        <p:spPr>
          <a:xfrm>
            <a:off x="692727" y="1600428"/>
            <a:ext cx="7578437" cy="4525735"/>
          </a:xfrm>
          <a:prstGeom prst="rect">
            <a:avLst/>
          </a:prstGeom>
        </p:spPr>
      </p:pic>
    </p:spTree>
    <p:extLst>
      <p:ext uri="{BB962C8B-B14F-4D97-AF65-F5344CB8AC3E}">
        <p14:creationId xmlns:p14="http://schemas.microsoft.com/office/powerpoint/2010/main" val="3986997299"/>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1435"/>
          </a:xfrm>
        </p:spPr>
        <p:txBody>
          <a:bodyPr>
            <a:normAutofit fontScale="90000"/>
          </a:bodyPr>
          <a:lstStyle/>
          <a:p>
            <a:r>
              <a:rPr lang="en-IN" b="1" u="sng" dirty="0" smtClean="0"/>
              <a:t/>
            </a:r>
            <a:br>
              <a:rPr lang="en-IN" b="1" u="sng" dirty="0" smtClean="0"/>
            </a:br>
            <a:r>
              <a:rPr lang="en-IN" b="1" u="sng" dirty="0" smtClean="0"/>
              <a:t>Conflict </a:t>
            </a:r>
            <a:r>
              <a:rPr lang="en-IN" b="1" u="sng" dirty="0"/>
              <a:t>Serializability-</a:t>
            </a:r>
            <a:r>
              <a:rPr lang="en-IN" b="1" dirty="0"/>
              <a:t/>
            </a:r>
            <a:br>
              <a:rPr lang="en-IN" b="1" dirty="0"/>
            </a:br>
            <a:endParaRPr lang="en-IN" dirty="0"/>
          </a:p>
        </p:txBody>
      </p:sp>
      <p:sp>
        <p:nvSpPr>
          <p:cNvPr id="3" name="Content Placeholder 2"/>
          <p:cNvSpPr>
            <a:spLocks noGrp="1"/>
          </p:cNvSpPr>
          <p:nvPr>
            <p:ph idx="1"/>
          </p:nvPr>
        </p:nvSpPr>
        <p:spPr>
          <a:xfrm>
            <a:off x="457200" y="1136074"/>
            <a:ext cx="8229600" cy="4990090"/>
          </a:xfrm>
        </p:spPr>
        <p:txBody>
          <a:bodyPr>
            <a:normAutofit fontScale="92500" lnSpcReduction="20000"/>
          </a:bodyPr>
          <a:lstStyle/>
          <a:p>
            <a:pPr marL="0" indent="0" algn="just">
              <a:buNone/>
            </a:pPr>
            <a:r>
              <a:rPr lang="en-IN" dirty="0" smtClean="0"/>
              <a:t>If </a:t>
            </a:r>
            <a:r>
              <a:rPr lang="en-IN" dirty="0"/>
              <a:t>a given non-serial schedule can be converted into a serial schedule by swapping its non-conflicting operations, then it is called as a </a:t>
            </a:r>
            <a:r>
              <a:rPr lang="en-IN" b="1" dirty="0"/>
              <a:t>conflict serializable schedule</a:t>
            </a:r>
            <a:r>
              <a:rPr lang="en-IN" dirty="0"/>
              <a:t>.</a:t>
            </a:r>
          </a:p>
          <a:p>
            <a:pPr marL="0" indent="0" algn="just">
              <a:buNone/>
            </a:pPr>
            <a:r>
              <a:rPr lang="en-IN" b="1" u="sng" dirty="0"/>
              <a:t>Conflicting Operations-</a:t>
            </a:r>
            <a:endParaRPr lang="en-IN" b="1" dirty="0"/>
          </a:p>
          <a:p>
            <a:pPr marL="0" indent="0" algn="just">
              <a:buNone/>
            </a:pPr>
            <a:r>
              <a:rPr lang="en-IN" dirty="0" smtClean="0"/>
              <a:t>Two </a:t>
            </a:r>
            <a:r>
              <a:rPr lang="en-IN" dirty="0"/>
              <a:t>operations are called as </a:t>
            </a:r>
            <a:r>
              <a:rPr lang="en-IN" b="1" dirty="0"/>
              <a:t>conflicting operations</a:t>
            </a:r>
            <a:r>
              <a:rPr lang="en-IN" dirty="0"/>
              <a:t> if all the following conditions hold true for them-</a:t>
            </a:r>
          </a:p>
          <a:p>
            <a:pPr marL="0" lvl="0" indent="0" algn="just">
              <a:buNone/>
            </a:pPr>
            <a:r>
              <a:rPr lang="en-IN" dirty="0"/>
              <a:t>Both the operations belong to different transactions</a:t>
            </a:r>
          </a:p>
          <a:p>
            <a:pPr marL="0" lvl="0" indent="0" algn="just">
              <a:buNone/>
            </a:pPr>
            <a:r>
              <a:rPr lang="en-IN" dirty="0"/>
              <a:t>Both the operations are on the same data item</a:t>
            </a:r>
          </a:p>
          <a:p>
            <a:pPr marL="0" lvl="0" indent="0" algn="just">
              <a:buNone/>
            </a:pPr>
            <a:r>
              <a:rPr lang="en-IN" dirty="0"/>
              <a:t>At least one of the two operations is a write operation</a:t>
            </a:r>
          </a:p>
          <a:p>
            <a:pPr algn="just"/>
            <a:endParaRPr lang="en-IN" dirty="0"/>
          </a:p>
        </p:txBody>
      </p:sp>
    </p:spTree>
    <p:extLst>
      <p:ext uri="{BB962C8B-B14F-4D97-AF65-F5344CB8AC3E}">
        <p14:creationId xmlns:p14="http://schemas.microsoft.com/office/powerpoint/2010/main" val="87754933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p:cNvPicPr>
            <a:picLocks noChangeAspect="1"/>
          </p:cNvPicPr>
          <p:nvPr/>
        </p:nvPicPr>
        <p:blipFill>
          <a:blip r:embed="rId2"/>
          <a:stretch>
            <a:fillRect/>
          </a:stretch>
        </p:blipFill>
        <p:spPr>
          <a:xfrm>
            <a:off x="457200" y="1692275"/>
            <a:ext cx="8229600" cy="4433888"/>
          </a:xfrm>
          <a:prstGeom prst="rect">
            <a:avLst/>
          </a:prstGeom>
        </p:spPr>
      </p:pic>
    </p:spTree>
    <p:extLst>
      <p:ext uri="{BB962C8B-B14F-4D97-AF65-F5344CB8AC3E}">
        <p14:creationId xmlns:p14="http://schemas.microsoft.com/office/powerpoint/2010/main" val="2090546131"/>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In this schedule,</a:t>
            </a:r>
          </a:p>
          <a:p>
            <a:pPr marL="0" lvl="0" indent="0">
              <a:buNone/>
            </a:pPr>
            <a:r>
              <a:rPr lang="en-IN" dirty="0"/>
              <a:t>W1 (A) and R2 (A) are called as conflicting operations.</a:t>
            </a:r>
          </a:p>
          <a:p>
            <a:pPr marL="0" lvl="0" indent="0">
              <a:buNone/>
            </a:pPr>
            <a:r>
              <a:rPr lang="en-IN" dirty="0"/>
              <a:t>This is because all the above conditions hold true for them.</a:t>
            </a:r>
          </a:p>
          <a:p>
            <a:endParaRPr lang="en-IN" dirty="0"/>
          </a:p>
        </p:txBody>
      </p:sp>
    </p:spTree>
    <p:extLst>
      <p:ext uri="{BB962C8B-B14F-4D97-AF65-F5344CB8AC3E}">
        <p14:creationId xmlns:p14="http://schemas.microsoft.com/office/powerpoint/2010/main" val="234966624"/>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DB Decomposition</a:t>
            </a:r>
            <a:endParaRPr lang="en-IN" dirty="0"/>
          </a:p>
        </p:txBody>
      </p:sp>
      <p:sp>
        <p:nvSpPr>
          <p:cNvPr id="3" name="Content Placeholder 2"/>
          <p:cNvSpPr>
            <a:spLocks noGrp="1"/>
          </p:cNvSpPr>
          <p:nvPr>
            <p:ph idx="1"/>
          </p:nvPr>
        </p:nvSpPr>
        <p:spPr/>
        <p:txBody>
          <a:bodyPr/>
          <a:lstStyle/>
          <a:p>
            <a:r>
              <a:rPr lang="en-US" dirty="0"/>
              <a:t>Decomposition is a process of dividing a single relation into two or more sub relations.</a:t>
            </a:r>
          </a:p>
          <a:p>
            <a:r>
              <a:rPr lang="en-US" dirty="0"/>
              <a:t>Decomposition of a relation can be completed in the following two ways-</a:t>
            </a:r>
          </a:p>
          <a:p>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9151" y="4278313"/>
            <a:ext cx="5191125" cy="1847850"/>
          </a:xfrm>
          <a:prstGeom prst="rect">
            <a:avLst/>
          </a:prstGeom>
        </p:spPr>
      </p:pic>
    </p:spTree>
    <p:extLst>
      <p:ext uri="{BB962C8B-B14F-4D97-AF65-F5344CB8AC3E}">
        <p14:creationId xmlns:p14="http://schemas.microsoft.com/office/powerpoint/2010/main" val="4280661594"/>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FF0000"/>
                </a:solidFill>
              </a:rPr>
              <a:t/>
            </a:r>
            <a:br>
              <a:rPr lang="en-US" b="1" i="1" dirty="0" smtClean="0">
                <a:solidFill>
                  <a:srgbClr val="FF0000"/>
                </a:solidFill>
              </a:rPr>
            </a:br>
            <a:r>
              <a:rPr lang="en-US" b="1" i="1" dirty="0" smtClean="0">
                <a:solidFill>
                  <a:srgbClr val="FF0000"/>
                </a:solidFill>
              </a:rPr>
              <a:t>Lossless </a:t>
            </a:r>
            <a:r>
              <a:rPr lang="en-US" b="1" i="1" dirty="0">
                <a:solidFill>
                  <a:srgbClr val="FF0000"/>
                </a:solidFill>
              </a:rPr>
              <a:t>Join Decomposition</a:t>
            </a:r>
            <a:br>
              <a:rPr lang="en-US" b="1" i="1" dirty="0">
                <a:solidFill>
                  <a:srgbClr val="FF0000"/>
                </a:solidFill>
              </a:rPr>
            </a:br>
            <a:r>
              <a:rPr lang="en-US" b="1" i="1" dirty="0" err="1">
                <a:solidFill>
                  <a:srgbClr val="FF0000"/>
                </a:solidFill>
              </a:rPr>
              <a:t>Lossy</a:t>
            </a:r>
            <a:r>
              <a:rPr lang="en-US" b="1" i="1" dirty="0">
                <a:solidFill>
                  <a:srgbClr val="FF0000"/>
                </a:solidFill>
              </a:rPr>
              <a:t> Join Decomposition</a:t>
            </a:r>
            <a:br>
              <a:rPr lang="en-US" b="1" i="1" dirty="0">
                <a:solidFill>
                  <a:srgbClr val="FF0000"/>
                </a:solidFill>
              </a:rPr>
            </a:br>
            <a:endParaRPr lang="en-IN" dirty="0"/>
          </a:p>
        </p:txBody>
      </p:sp>
      <p:sp>
        <p:nvSpPr>
          <p:cNvPr id="3" name="Content Placeholder 2"/>
          <p:cNvSpPr>
            <a:spLocks noGrp="1"/>
          </p:cNvSpPr>
          <p:nvPr>
            <p:ph idx="1"/>
          </p:nvPr>
        </p:nvSpPr>
        <p:spPr/>
        <p:txBody>
          <a:bodyPr>
            <a:normAutofit fontScale="55000" lnSpcReduction="20000"/>
          </a:bodyPr>
          <a:lstStyle/>
          <a:p>
            <a:r>
              <a:rPr lang="en-US" b="1" i="1" dirty="0">
                <a:solidFill>
                  <a:srgbClr val="FF0000"/>
                </a:solidFill>
              </a:rPr>
              <a:t> </a:t>
            </a:r>
            <a:r>
              <a:rPr lang="en-US" dirty="0" smtClean="0"/>
              <a:t>In </a:t>
            </a:r>
            <a:r>
              <a:rPr lang="en-US" dirty="0"/>
              <a:t>this </a:t>
            </a:r>
            <a:r>
              <a:rPr lang="en-US" dirty="0" err="1" smtClean="0"/>
              <a:t>ppt</a:t>
            </a:r>
            <a:r>
              <a:rPr lang="en-US" dirty="0" smtClean="0"/>
              <a:t>, </a:t>
            </a:r>
            <a:r>
              <a:rPr lang="en-US" dirty="0"/>
              <a:t>we will learn how to determine whether the decomposition is lossless or </a:t>
            </a:r>
            <a:r>
              <a:rPr lang="en-US" dirty="0" err="1"/>
              <a:t>lossy</a:t>
            </a:r>
            <a:r>
              <a:rPr lang="en-US" dirty="0"/>
              <a:t>.</a:t>
            </a:r>
          </a:p>
          <a:p>
            <a:r>
              <a:rPr lang="en-US" dirty="0"/>
              <a:t> </a:t>
            </a:r>
          </a:p>
          <a:p>
            <a:r>
              <a:rPr lang="en-US" b="1" u="sng" dirty="0"/>
              <a:t>Determining Whether Decomposition Is Lossless Or </a:t>
            </a:r>
            <a:r>
              <a:rPr lang="en-US" b="1" u="sng" dirty="0" err="1"/>
              <a:t>Lossy</a:t>
            </a:r>
            <a:r>
              <a:rPr lang="en-US" b="1" u="sng" dirty="0"/>
              <a:t>-</a:t>
            </a:r>
            <a:endParaRPr lang="en-US" b="1" dirty="0"/>
          </a:p>
          <a:p>
            <a:r>
              <a:rPr lang="en-US" dirty="0"/>
              <a:t> </a:t>
            </a:r>
          </a:p>
          <a:p>
            <a:r>
              <a:rPr lang="en-US" dirty="0"/>
              <a:t>Consider a relation R is decomposed into two sub relations R</a:t>
            </a:r>
            <a:r>
              <a:rPr lang="en-US" baseline="-25000" dirty="0"/>
              <a:t>1</a:t>
            </a:r>
            <a:r>
              <a:rPr lang="en-US" dirty="0"/>
              <a:t> and R</a:t>
            </a:r>
            <a:r>
              <a:rPr lang="en-US" baseline="-25000" dirty="0"/>
              <a:t>2</a:t>
            </a:r>
            <a:r>
              <a:rPr lang="en-US" dirty="0"/>
              <a:t>.</a:t>
            </a:r>
          </a:p>
          <a:p>
            <a:r>
              <a:rPr lang="en-US" dirty="0"/>
              <a:t>Then,</a:t>
            </a:r>
          </a:p>
          <a:p>
            <a:r>
              <a:rPr lang="en-US" dirty="0"/>
              <a:t>If all the following conditions satisfy, then the decomposition is lossless.</a:t>
            </a:r>
          </a:p>
          <a:p>
            <a:r>
              <a:rPr lang="en-US" dirty="0"/>
              <a:t>If any of these conditions fail, then the decomposition is </a:t>
            </a:r>
            <a:r>
              <a:rPr lang="en-US" dirty="0" err="1"/>
              <a:t>lossy</a:t>
            </a:r>
            <a:r>
              <a:rPr lang="en-US" dirty="0"/>
              <a:t>.</a:t>
            </a:r>
          </a:p>
          <a:p>
            <a:r>
              <a:rPr lang="en-US" dirty="0"/>
              <a:t> </a:t>
            </a:r>
          </a:p>
          <a:p>
            <a:r>
              <a:rPr lang="en-US" b="1" u="sng" dirty="0"/>
              <a:t>Condition-01:</a:t>
            </a:r>
            <a:endParaRPr lang="en-US" b="1" dirty="0"/>
          </a:p>
          <a:p>
            <a:r>
              <a:rPr lang="en-US" dirty="0"/>
              <a:t> </a:t>
            </a:r>
          </a:p>
          <a:p>
            <a:r>
              <a:rPr lang="en-US" dirty="0"/>
              <a:t>Union of both the sub relations must contain all the attributes that are present in the original relation R.</a:t>
            </a:r>
          </a:p>
          <a:p>
            <a:r>
              <a:rPr lang="en-US" dirty="0"/>
              <a:t>Thus,</a:t>
            </a:r>
          </a:p>
          <a:p>
            <a:r>
              <a:rPr lang="en-IN" b="1" dirty="0"/>
              <a:t>R</a:t>
            </a:r>
            <a:r>
              <a:rPr lang="en-IN" b="1" baseline="-25000" dirty="0"/>
              <a:t>1</a:t>
            </a:r>
            <a:r>
              <a:rPr lang="en-IN" b="1" dirty="0"/>
              <a:t> ∪ R</a:t>
            </a:r>
            <a:r>
              <a:rPr lang="en-IN" b="1" baseline="-25000" dirty="0"/>
              <a:t>2</a:t>
            </a:r>
            <a:r>
              <a:rPr lang="en-IN" b="1" dirty="0"/>
              <a:t> = R</a:t>
            </a:r>
            <a:endParaRPr lang="en-IN" dirty="0"/>
          </a:p>
        </p:txBody>
      </p:sp>
    </p:spTree>
    <p:extLst>
      <p:ext uri="{BB962C8B-B14F-4D97-AF65-F5344CB8AC3E}">
        <p14:creationId xmlns:p14="http://schemas.microsoft.com/office/powerpoint/2010/main" val="1574794880"/>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u="sng" dirty="0"/>
              <a:t>Condition-02</a:t>
            </a:r>
            <a:r>
              <a:rPr lang="en-IN" b="1" u="sng" dirty="0" smtClean="0"/>
              <a:t>:</a:t>
            </a:r>
          </a:p>
          <a:p>
            <a:r>
              <a:rPr lang="en-US" dirty="0"/>
              <a:t>Intersection of both the sub relations must not be null.</a:t>
            </a:r>
          </a:p>
          <a:p>
            <a:r>
              <a:rPr lang="en-US" dirty="0"/>
              <a:t>In other words, there must be some common attribute which is present in both the sub relations.</a:t>
            </a:r>
          </a:p>
          <a:p>
            <a:r>
              <a:rPr lang="en-US" dirty="0"/>
              <a:t>Thus,</a:t>
            </a:r>
          </a:p>
          <a:p>
            <a:r>
              <a:rPr lang="en-IN" b="1" dirty="0"/>
              <a:t>R1 ∩ R2 ≠ ∅</a:t>
            </a:r>
          </a:p>
          <a:p>
            <a:endParaRPr lang="en-IN" dirty="0"/>
          </a:p>
        </p:txBody>
      </p:sp>
    </p:spTree>
    <p:extLst>
      <p:ext uri="{BB962C8B-B14F-4D97-AF65-F5344CB8AC3E}">
        <p14:creationId xmlns:p14="http://schemas.microsoft.com/office/powerpoint/2010/main" val="2858823432"/>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u="sng" dirty="0"/>
              <a:t>Condition-03:</a:t>
            </a:r>
            <a:endParaRPr lang="en-IN" b="1" dirty="0"/>
          </a:p>
          <a:p>
            <a:r>
              <a:rPr lang="en-IN" dirty="0"/>
              <a:t> </a:t>
            </a:r>
            <a:r>
              <a:rPr lang="en-US" dirty="0" smtClean="0"/>
              <a:t>Intersection </a:t>
            </a:r>
            <a:r>
              <a:rPr lang="en-US" dirty="0"/>
              <a:t>of both the sub relations must be a super key of either R</a:t>
            </a:r>
            <a:r>
              <a:rPr lang="en-US" baseline="-25000" dirty="0"/>
              <a:t>1</a:t>
            </a:r>
            <a:r>
              <a:rPr lang="en-US" dirty="0"/>
              <a:t> or R</a:t>
            </a:r>
            <a:r>
              <a:rPr lang="en-US" baseline="-25000" dirty="0"/>
              <a:t>2</a:t>
            </a:r>
            <a:r>
              <a:rPr lang="en-US" dirty="0"/>
              <a:t> or both.</a:t>
            </a:r>
          </a:p>
          <a:p>
            <a:r>
              <a:rPr lang="en-US" dirty="0"/>
              <a:t>Thus,</a:t>
            </a:r>
          </a:p>
          <a:p>
            <a:r>
              <a:rPr lang="en-IN" b="1" dirty="0"/>
              <a:t>R</a:t>
            </a:r>
            <a:r>
              <a:rPr lang="en-IN" b="1" baseline="-25000" dirty="0"/>
              <a:t>1</a:t>
            </a:r>
            <a:r>
              <a:rPr lang="en-IN" b="1" dirty="0"/>
              <a:t> ∩ R</a:t>
            </a:r>
            <a:r>
              <a:rPr lang="en-IN" b="1" baseline="-25000" dirty="0"/>
              <a:t>2</a:t>
            </a:r>
            <a:r>
              <a:rPr lang="en-IN" b="1" dirty="0"/>
              <a:t> = Super key of R</a:t>
            </a:r>
            <a:r>
              <a:rPr lang="en-IN" b="1" baseline="-25000" dirty="0"/>
              <a:t>1</a:t>
            </a:r>
            <a:r>
              <a:rPr lang="en-IN" b="1" dirty="0"/>
              <a:t> or R</a:t>
            </a:r>
            <a:r>
              <a:rPr lang="en-IN" b="1" baseline="-25000" dirty="0"/>
              <a:t>2</a:t>
            </a:r>
            <a:endParaRPr lang="en-IN" dirty="0"/>
          </a:p>
        </p:txBody>
      </p:sp>
    </p:spTree>
    <p:extLst>
      <p:ext uri="{BB962C8B-B14F-4D97-AF65-F5344CB8AC3E}">
        <p14:creationId xmlns:p14="http://schemas.microsoft.com/office/powerpoint/2010/main" val="3276602325"/>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700" b="1" u="sng" dirty="0" smtClean="0"/>
              <a:t/>
            </a:r>
            <a:br>
              <a:rPr lang="en-US" sz="2700" b="1" u="sng" dirty="0" smtClean="0"/>
            </a:br>
            <a:r>
              <a:rPr lang="en-US" sz="2700" b="1" u="sng" dirty="0"/>
              <a:t/>
            </a:r>
            <a:br>
              <a:rPr lang="en-US" sz="2700" b="1" u="sng" dirty="0"/>
            </a:br>
            <a:r>
              <a:rPr lang="en-US" sz="2700" b="1" u="sng" dirty="0" smtClean="0"/>
              <a:t/>
            </a:r>
            <a:br>
              <a:rPr lang="en-US" sz="2700" b="1" u="sng" dirty="0" smtClean="0"/>
            </a:br>
            <a:r>
              <a:rPr lang="en-US" sz="2700" b="1" u="sng" dirty="0" smtClean="0"/>
              <a:t>PRACTICE </a:t>
            </a:r>
            <a:r>
              <a:rPr lang="en-US" sz="2700" b="1" u="sng" dirty="0"/>
              <a:t>PROBLEMS BASED ON DETERMINING WHETHER DECOMPOSITION IS LOSSLESS OR LOSSY-</a:t>
            </a:r>
            <a:r>
              <a:rPr lang="en-US" sz="2700" b="1" dirty="0"/>
              <a:t/>
            </a:r>
            <a:br>
              <a:rPr lang="en-US" sz="2700" b="1" dirty="0"/>
            </a:br>
            <a:r>
              <a:rPr lang="en-US" dirty="0"/>
              <a:t> </a:t>
            </a:r>
            <a:br>
              <a:rPr lang="en-US" dirty="0"/>
            </a:br>
            <a:endParaRPr lang="en-IN" dirty="0"/>
          </a:p>
        </p:txBody>
      </p:sp>
      <p:sp>
        <p:nvSpPr>
          <p:cNvPr id="3" name="Content Placeholder 2"/>
          <p:cNvSpPr>
            <a:spLocks noGrp="1"/>
          </p:cNvSpPr>
          <p:nvPr>
            <p:ph idx="1"/>
          </p:nvPr>
        </p:nvSpPr>
        <p:spPr>
          <a:xfrm>
            <a:off x="457200" y="1600200"/>
            <a:ext cx="8229600" cy="4969412"/>
          </a:xfrm>
        </p:spPr>
        <p:txBody>
          <a:bodyPr>
            <a:normAutofit fontScale="85000" lnSpcReduction="20000"/>
          </a:bodyPr>
          <a:lstStyle/>
          <a:p>
            <a:r>
              <a:rPr lang="en-US" b="1" u="sng" dirty="0" smtClean="0"/>
              <a:t>Problem-01</a:t>
            </a:r>
            <a:r>
              <a:rPr lang="en-US" b="1" u="sng" dirty="0"/>
              <a:t>:</a:t>
            </a:r>
            <a:endParaRPr lang="en-US" b="1" dirty="0"/>
          </a:p>
          <a:p>
            <a:r>
              <a:rPr lang="en-US" dirty="0"/>
              <a:t> </a:t>
            </a:r>
            <a:r>
              <a:rPr lang="en-US" dirty="0" smtClean="0"/>
              <a:t>Consider </a:t>
            </a:r>
            <a:r>
              <a:rPr lang="en-US" dirty="0"/>
              <a:t>a relation schema R ( A , B , C , D ) with the functional dependencies A → B and C → D. Determine whether the decomposition of R into R</a:t>
            </a:r>
            <a:r>
              <a:rPr lang="en-US" baseline="-25000" dirty="0"/>
              <a:t>1</a:t>
            </a:r>
            <a:r>
              <a:rPr lang="en-US" dirty="0"/>
              <a:t> ( A , B ) and R</a:t>
            </a:r>
            <a:r>
              <a:rPr lang="en-US" baseline="-25000" dirty="0"/>
              <a:t>2</a:t>
            </a:r>
            <a:r>
              <a:rPr lang="en-US" dirty="0"/>
              <a:t> ( C , D ) is lossless or </a:t>
            </a:r>
            <a:r>
              <a:rPr lang="en-US" dirty="0" err="1"/>
              <a:t>lossy</a:t>
            </a:r>
            <a:r>
              <a:rPr lang="en-US" dirty="0"/>
              <a:t>.</a:t>
            </a:r>
          </a:p>
          <a:p>
            <a:r>
              <a:rPr lang="en-US" dirty="0"/>
              <a:t> </a:t>
            </a:r>
            <a:r>
              <a:rPr lang="en-US" b="1" u="sng" dirty="0" smtClean="0"/>
              <a:t>Solution-</a:t>
            </a:r>
            <a:endParaRPr lang="en-US" b="1" dirty="0"/>
          </a:p>
          <a:p>
            <a:r>
              <a:rPr lang="en-US" dirty="0"/>
              <a:t> </a:t>
            </a:r>
            <a:r>
              <a:rPr lang="en-US" dirty="0" smtClean="0"/>
              <a:t>To </a:t>
            </a:r>
            <a:r>
              <a:rPr lang="en-US" dirty="0"/>
              <a:t>determine whether the decomposition is lossless or </a:t>
            </a:r>
            <a:r>
              <a:rPr lang="en-US" dirty="0" err="1"/>
              <a:t>lossy</a:t>
            </a:r>
            <a:r>
              <a:rPr lang="en-US" dirty="0" smtClean="0"/>
              <a:t>,</a:t>
            </a:r>
            <a:r>
              <a:rPr lang="en-US" dirty="0"/>
              <a:t> We will check all the conditions one by one.</a:t>
            </a:r>
          </a:p>
          <a:p>
            <a:r>
              <a:rPr lang="en-US" dirty="0"/>
              <a:t>If any of the conditions fail, then the decomposition is </a:t>
            </a:r>
            <a:r>
              <a:rPr lang="en-US" dirty="0" err="1"/>
              <a:t>lossy</a:t>
            </a:r>
            <a:r>
              <a:rPr lang="en-US" dirty="0"/>
              <a:t> otherwise lossless.</a:t>
            </a:r>
          </a:p>
          <a:p>
            <a:r>
              <a:rPr lang="en-US" b="1" u="sng" dirty="0" smtClean="0"/>
              <a:t>Condition-01</a:t>
            </a:r>
            <a:r>
              <a:rPr lang="en-US" b="1" u="sng" dirty="0"/>
              <a:t>:</a:t>
            </a:r>
            <a:endParaRPr lang="en-US" b="1" dirty="0"/>
          </a:p>
          <a:p>
            <a:r>
              <a:rPr lang="en-US" dirty="0"/>
              <a:t> </a:t>
            </a:r>
            <a:r>
              <a:rPr lang="en-US" dirty="0" smtClean="0"/>
              <a:t>According </a:t>
            </a:r>
            <a:r>
              <a:rPr lang="en-US" dirty="0"/>
              <a:t>to condition-01, union of both the sub relations must contain all the attributes of relation R.</a:t>
            </a:r>
          </a:p>
          <a:p>
            <a:endParaRPr lang="en-US" dirty="0"/>
          </a:p>
          <a:p>
            <a:endParaRPr lang="en-IN" dirty="0"/>
          </a:p>
        </p:txBody>
      </p:sp>
    </p:spTree>
    <p:extLst>
      <p:ext uri="{BB962C8B-B14F-4D97-AF65-F5344CB8AC3E}">
        <p14:creationId xmlns:p14="http://schemas.microsoft.com/office/powerpoint/2010/main" val="2001972436"/>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r>
              <a:rPr lang="en-US" dirty="0"/>
              <a:t>So, we have-</a:t>
            </a:r>
          </a:p>
          <a:p>
            <a:r>
              <a:rPr lang="en-US" dirty="0"/>
              <a:t> R</a:t>
            </a:r>
            <a:r>
              <a:rPr lang="en-US" baseline="-25000" dirty="0"/>
              <a:t>1</a:t>
            </a:r>
            <a:r>
              <a:rPr lang="en-US" dirty="0"/>
              <a:t> ( A , B ) ∪ R</a:t>
            </a:r>
            <a:r>
              <a:rPr lang="en-US" baseline="-25000" dirty="0"/>
              <a:t>2</a:t>
            </a:r>
            <a:r>
              <a:rPr lang="en-US" dirty="0"/>
              <a:t> ( C , D )</a:t>
            </a:r>
          </a:p>
          <a:p>
            <a:r>
              <a:rPr lang="en-US" dirty="0"/>
              <a:t>= R ( A , B , C , D )</a:t>
            </a:r>
          </a:p>
          <a:p>
            <a:r>
              <a:rPr lang="en-US" dirty="0"/>
              <a:t>Clearly, union of the sub relations contain all the attributes of relation R.</a:t>
            </a:r>
          </a:p>
          <a:p>
            <a:r>
              <a:rPr lang="en-US" dirty="0"/>
              <a:t>Thus, condition-01 satisfies.</a:t>
            </a:r>
          </a:p>
          <a:p>
            <a:r>
              <a:rPr lang="en-US" dirty="0"/>
              <a:t> </a:t>
            </a:r>
            <a:r>
              <a:rPr lang="en-US" b="1" u="sng" dirty="0" smtClean="0"/>
              <a:t>Condition-02</a:t>
            </a:r>
            <a:r>
              <a:rPr lang="en-US" b="1" u="sng" dirty="0"/>
              <a:t>:</a:t>
            </a:r>
            <a:endParaRPr lang="en-US" b="1" dirty="0"/>
          </a:p>
          <a:p>
            <a:r>
              <a:rPr lang="en-US" dirty="0"/>
              <a:t> </a:t>
            </a:r>
            <a:r>
              <a:rPr lang="en-US" dirty="0" smtClean="0"/>
              <a:t>According </a:t>
            </a:r>
            <a:r>
              <a:rPr lang="en-US" dirty="0"/>
              <a:t>to condition-02, intersection of both the sub relations must not be null.</a:t>
            </a:r>
          </a:p>
          <a:p>
            <a:r>
              <a:rPr lang="en-US" dirty="0"/>
              <a:t>So, we </a:t>
            </a:r>
            <a:r>
              <a:rPr lang="en-US" dirty="0" smtClean="0"/>
              <a:t>have-</a:t>
            </a:r>
            <a:r>
              <a:rPr lang="en-US" dirty="0"/>
              <a:t>R</a:t>
            </a:r>
            <a:r>
              <a:rPr lang="en-US" baseline="-25000" dirty="0"/>
              <a:t>1</a:t>
            </a:r>
            <a:r>
              <a:rPr lang="en-US" dirty="0"/>
              <a:t> ( A , B ) ∩ R</a:t>
            </a:r>
            <a:r>
              <a:rPr lang="en-US" baseline="-25000" dirty="0"/>
              <a:t>2</a:t>
            </a:r>
            <a:r>
              <a:rPr lang="en-US" dirty="0"/>
              <a:t> ( C , D )</a:t>
            </a:r>
          </a:p>
          <a:p>
            <a:r>
              <a:rPr lang="en-US" dirty="0"/>
              <a:t>= Φ</a:t>
            </a:r>
          </a:p>
          <a:p>
            <a:r>
              <a:rPr lang="en-US" dirty="0"/>
              <a:t>Clearly, intersection of the sub relations is null.</a:t>
            </a:r>
          </a:p>
          <a:p>
            <a:r>
              <a:rPr lang="en-US" dirty="0"/>
              <a:t>So, condition-02 fails.</a:t>
            </a:r>
          </a:p>
          <a:p>
            <a:r>
              <a:rPr lang="en-US" dirty="0"/>
              <a:t>Thus, we conclude that the decomposition is </a:t>
            </a:r>
            <a:r>
              <a:rPr lang="en-US" dirty="0" err="1"/>
              <a:t>lossy</a:t>
            </a:r>
            <a:r>
              <a:rPr lang="en-US" dirty="0"/>
              <a:t>.</a:t>
            </a:r>
          </a:p>
          <a:p>
            <a:endParaRPr lang="en-US" dirty="0"/>
          </a:p>
          <a:p>
            <a:endParaRPr lang="en-IN" dirty="0"/>
          </a:p>
        </p:txBody>
      </p:sp>
    </p:spTree>
    <p:extLst>
      <p:ext uri="{BB962C8B-B14F-4D97-AF65-F5344CB8AC3E}">
        <p14:creationId xmlns:p14="http://schemas.microsoft.com/office/powerpoint/2010/main" val="827183230"/>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Problem-02:</a:t>
            </a:r>
            <a:r>
              <a:rPr lang="en-US" b="1" dirty="0"/>
              <a:t/>
            </a:r>
            <a:br>
              <a:rPr lang="en-US" b="1" dirty="0"/>
            </a:br>
            <a:endParaRPr lang="en-IN" dirty="0"/>
          </a:p>
        </p:txBody>
      </p:sp>
      <p:sp>
        <p:nvSpPr>
          <p:cNvPr id="3" name="Content Placeholder 2"/>
          <p:cNvSpPr>
            <a:spLocks noGrp="1"/>
          </p:cNvSpPr>
          <p:nvPr>
            <p:ph idx="1"/>
          </p:nvPr>
        </p:nvSpPr>
        <p:spPr/>
        <p:txBody>
          <a:bodyPr>
            <a:normAutofit fontScale="85000" lnSpcReduction="10000"/>
          </a:bodyPr>
          <a:lstStyle/>
          <a:p>
            <a:r>
              <a:rPr lang="en-US" dirty="0"/>
              <a:t> </a:t>
            </a:r>
            <a:r>
              <a:rPr lang="en-US" dirty="0" smtClean="0"/>
              <a:t>Consider </a:t>
            </a:r>
            <a:r>
              <a:rPr lang="en-US" dirty="0"/>
              <a:t>a relation schema R ( A , B , C , D ) with the following functional dependencies-</a:t>
            </a:r>
          </a:p>
          <a:p>
            <a:r>
              <a:rPr lang="en-US" dirty="0"/>
              <a:t>A → B</a:t>
            </a:r>
          </a:p>
          <a:p>
            <a:r>
              <a:rPr lang="en-US" dirty="0"/>
              <a:t>B → C</a:t>
            </a:r>
          </a:p>
          <a:p>
            <a:r>
              <a:rPr lang="en-US" dirty="0"/>
              <a:t>C → D</a:t>
            </a:r>
          </a:p>
          <a:p>
            <a:r>
              <a:rPr lang="en-US" dirty="0"/>
              <a:t>D → B</a:t>
            </a:r>
          </a:p>
          <a:p>
            <a:r>
              <a:rPr lang="en-US" dirty="0"/>
              <a:t>Determine whether the decomposition of R into R</a:t>
            </a:r>
            <a:r>
              <a:rPr lang="en-US" baseline="-25000" dirty="0"/>
              <a:t>1 </a:t>
            </a:r>
            <a:r>
              <a:rPr lang="en-US" dirty="0"/>
              <a:t>( A , B ) , R</a:t>
            </a:r>
            <a:r>
              <a:rPr lang="en-US" baseline="-25000" dirty="0"/>
              <a:t>2</a:t>
            </a:r>
            <a:r>
              <a:rPr lang="en-US" dirty="0"/>
              <a:t> ( B , C ) and R</a:t>
            </a:r>
            <a:r>
              <a:rPr lang="en-US" baseline="-25000" dirty="0"/>
              <a:t>3</a:t>
            </a:r>
            <a:r>
              <a:rPr lang="en-US" dirty="0"/>
              <a:t> ( B , D ) is lossless or </a:t>
            </a:r>
            <a:r>
              <a:rPr lang="en-US" dirty="0" err="1"/>
              <a:t>lossy</a:t>
            </a:r>
            <a:r>
              <a:rPr lang="en-US" dirty="0"/>
              <a:t>.</a:t>
            </a:r>
          </a:p>
          <a:p>
            <a:r>
              <a:rPr lang="en-US" dirty="0"/>
              <a:t> </a:t>
            </a:r>
            <a:r>
              <a:rPr lang="en-US" b="1" u="sng" dirty="0" smtClean="0"/>
              <a:t>Solution-</a:t>
            </a:r>
            <a:r>
              <a:rPr lang="en-US" dirty="0"/>
              <a:t>Consider the original relation R was decomposed into the given sub relations as shown-</a:t>
            </a:r>
            <a:endParaRPr lang="en-US" b="1" dirty="0"/>
          </a:p>
          <a:p>
            <a:endParaRPr lang="en-IN" dirty="0"/>
          </a:p>
        </p:txBody>
      </p:sp>
    </p:spTree>
    <p:extLst>
      <p:ext uri="{BB962C8B-B14F-4D97-AF65-F5344CB8AC3E}">
        <p14:creationId xmlns:p14="http://schemas.microsoft.com/office/powerpoint/2010/main" val="2469779607"/>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4612" y="2796381"/>
            <a:ext cx="3914775" cy="2133600"/>
          </a:xfrm>
        </p:spPr>
      </p:pic>
    </p:spTree>
    <p:extLst>
      <p:ext uri="{BB962C8B-B14F-4D97-AF65-F5344CB8AC3E}">
        <p14:creationId xmlns:p14="http://schemas.microsoft.com/office/powerpoint/2010/main" val="1289960162"/>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31799"/>
          </a:xfrm>
        </p:spPr>
        <p:txBody>
          <a:bodyPr>
            <a:normAutofit fontScale="90000"/>
          </a:bodyPr>
          <a:lstStyle/>
          <a:p>
            <a:endParaRPr lang="en-IN" dirty="0"/>
          </a:p>
        </p:txBody>
      </p:sp>
      <p:sp>
        <p:nvSpPr>
          <p:cNvPr id="3" name="Content Placeholder 2"/>
          <p:cNvSpPr>
            <a:spLocks noGrp="1"/>
          </p:cNvSpPr>
          <p:nvPr>
            <p:ph idx="1"/>
          </p:nvPr>
        </p:nvSpPr>
        <p:spPr>
          <a:xfrm>
            <a:off x="457200" y="689317"/>
            <a:ext cx="8229600" cy="6168683"/>
          </a:xfrm>
        </p:spPr>
        <p:txBody>
          <a:bodyPr>
            <a:normAutofit fontScale="55000" lnSpcReduction="20000"/>
          </a:bodyPr>
          <a:lstStyle/>
          <a:p>
            <a:pPr marL="0" indent="0">
              <a:buNone/>
            </a:pPr>
            <a:r>
              <a:rPr lang="en-US" b="1" u="sng" dirty="0"/>
              <a:t>Decomposition of R(A, B, C, D) into R'(A, B, C) and R</a:t>
            </a:r>
            <a:r>
              <a:rPr lang="en-US" b="1" u="sng" baseline="-25000" dirty="0"/>
              <a:t>3</a:t>
            </a:r>
            <a:r>
              <a:rPr lang="en-US" b="1" u="sng" dirty="0"/>
              <a:t>(B, D)-</a:t>
            </a:r>
            <a:endParaRPr lang="en-US" b="1" dirty="0"/>
          </a:p>
          <a:p>
            <a:pPr marL="0" indent="0">
              <a:buNone/>
            </a:pPr>
            <a:r>
              <a:rPr lang="en-US" dirty="0"/>
              <a:t> </a:t>
            </a:r>
            <a:r>
              <a:rPr lang="en-US" dirty="0" smtClean="0"/>
              <a:t>To </a:t>
            </a:r>
            <a:r>
              <a:rPr lang="en-US" dirty="0"/>
              <a:t>determine whether the decomposition is lossless or </a:t>
            </a:r>
            <a:r>
              <a:rPr lang="en-US" dirty="0" err="1"/>
              <a:t>lossy</a:t>
            </a:r>
            <a:r>
              <a:rPr lang="en-US" dirty="0"/>
              <a:t>,</a:t>
            </a:r>
          </a:p>
          <a:p>
            <a:pPr marL="0" indent="0">
              <a:buNone/>
            </a:pPr>
            <a:r>
              <a:rPr lang="en-US" dirty="0"/>
              <a:t>We will check all the conditions one by one.</a:t>
            </a:r>
          </a:p>
          <a:p>
            <a:pPr marL="0" indent="0">
              <a:buNone/>
            </a:pPr>
            <a:r>
              <a:rPr lang="en-US" dirty="0"/>
              <a:t>If any of the conditions fail, then the decomposition is </a:t>
            </a:r>
            <a:r>
              <a:rPr lang="en-US" dirty="0" err="1"/>
              <a:t>lossy</a:t>
            </a:r>
            <a:r>
              <a:rPr lang="en-US" dirty="0"/>
              <a:t> otherwise lossless.</a:t>
            </a:r>
          </a:p>
          <a:p>
            <a:pPr marL="0" indent="0">
              <a:buNone/>
            </a:pPr>
            <a:r>
              <a:rPr lang="en-US" dirty="0"/>
              <a:t> </a:t>
            </a:r>
            <a:r>
              <a:rPr lang="en-US" b="1" u="sng" dirty="0" smtClean="0"/>
              <a:t>Condition-01</a:t>
            </a:r>
            <a:r>
              <a:rPr lang="en-US" b="1" u="sng" dirty="0"/>
              <a:t>:</a:t>
            </a:r>
            <a:endParaRPr lang="en-US" b="1" dirty="0"/>
          </a:p>
          <a:p>
            <a:pPr marL="0" indent="0">
              <a:buNone/>
            </a:pPr>
            <a:r>
              <a:rPr lang="en-US" dirty="0"/>
              <a:t> </a:t>
            </a:r>
            <a:r>
              <a:rPr lang="en-US" dirty="0" smtClean="0"/>
              <a:t>According </a:t>
            </a:r>
            <a:r>
              <a:rPr lang="en-US" dirty="0"/>
              <a:t>to condition-01, union of both the sub relations must contain all the attributes of relation R.</a:t>
            </a:r>
          </a:p>
          <a:p>
            <a:pPr marL="0" indent="0">
              <a:buNone/>
            </a:pPr>
            <a:r>
              <a:rPr lang="en-US" dirty="0"/>
              <a:t>So, we have-</a:t>
            </a:r>
          </a:p>
          <a:p>
            <a:pPr marL="0" indent="0">
              <a:buNone/>
            </a:pPr>
            <a:r>
              <a:rPr lang="en-US" dirty="0"/>
              <a:t> R‘ ( A , B , C ) ∪ R</a:t>
            </a:r>
            <a:r>
              <a:rPr lang="en-US" baseline="-25000" dirty="0"/>
              <a:t>3</a:t>
            </a:r>
            <a:r>
              <a:rPr lang="en-US" dirty="0"/>
              <a:t> ( B , D )</a:t>
            </a:r>
          </a:p>
          <a:p>
            <a:pPr marL="0" indent="0">
              <a:buNone/>
            </a:pPr>
            <a:r>
              <a:rPr lang="en-US" dirty="0"/>
              <a:t>= R ( A , B , C , D )</a:t>
            </a:r>
          </a:p>
          <a:p>
            <a:pPr marL="0" indent="0">
              <a:buNone/>
            </a:pPr>
            <a:r>
              <a:rPr lang="en-US" dirty="0"/>
              <a:t>Clearly, union of the sub relations contain all the attributes of relation R.</a:t>
            </a:r>
          </a:p>
          <a:p>
            <a:pPr marL="0" indent="0">
              <a:buNone/>
            </a:pPr>
            <a:r>
              <a:rPr lang="en-US" dirty="0"/>
              <a:t>Thus, condition-01 satisfies.</a:t>
            </a:r>
          </a:p>
          <a:p>
            <a:pPr marL="0" indent="0">
              <a:buNone/>
            </a:pPr>
            <a:r>
              <a:rPr lang="en-US" dirty="0"/>
              <a:t> </a:t>
            </a:r>
            <a:r>
              <a:rPr lang="en-US" b="1" u="sng" dirty="0" smtClean="0"/>
              <a:t>Condition-02</a:t>
            </a:r>
            <a:r>
              <a:rPr lang="en-US" b="1" u="sng" dirty="0"/>
              <a:t>:</a:t>
            </a:r>
            <a:endParaRPr lang="en-US" b="1" dirty="0"/>
          </a:p>
          <a:p>
            <a:pPr marL="0" indent="0">
              <a:buNone/>
            </a:pPr>
            <a:r>
              <a:rPr lang="en-US" dirty="0"/>
              <a:t> </a:t>
            </a:r>
            <a:r>
              <a:rPr lang="en-US" dirty="0" smtClean="0"/>
              <a:t>According </a:t>
            </a:r>
            <a:r>
              <a:rPr lang="en-US" dirty="0"/>
              <a:t>to condition-02, intersection of both the sub relations must not be null.</a:t>
            </a:r>
          </a:p>
          <a:p>
            <a:pPr marL="0" indent="0">
              <a:buNone/>
            </a:pPr>
            <a:r>
              <a:rPr lang="en-US" dirty="0"/>
              <a:t>So, we have-</a:t>
            </a:r>
          </a:p>
          <a:p>
            <a:pPr marL="0" indent="0">
              <a:buNone/>
            </a:pPr>
            <a:r>
              <a:rPr lang="en-US" dirty="0"/>
              <a:t> R‘ ( A , B , C ) ∩ R</a:t>
            </a:r>
            <a:r>
              <a:rPr lang="en-US" baseline="-25000" dirty="0"/>
              <a:t>3</a:t>
            </a:r>
            <a:r>
              <a:rPr lang="en-US" dirty="0"/>
              <a:t> ( B , D )</a:t>
            </a:r>
          </a:p>
          <a:p>
            <a:pPr marL="0" indent="0">
              <a:buNone/>
            </a:pPr>
            <a:r>
              <a:rPr lang="en-US" dirty="0"/>
              <a:t>= B</a:t>
            </a:r>
          </a:p>
          <a:p>
            <a:pPr marL="0" indent="0">
              <a:buNone/>
            </a:pPr>
            <a:r>
              <a:rPr lang="en-US" dirty="0"/>
              <a:t>Clearly, intersection of the sub relations is not null.</a:t>
            </a:r>
          </a:p>
          <a:p>
            <a:pPr marL="0" indent="0">
              <a:buNone/>
            </a:pPr>
            <a:r>
              <a:rPr lang="en-US" dirty="0"/>
              <a:t>Thus, condition-02 satisfies.</a:t>
            </a:r>
          </a:p>
          <a:p>
            <a:pPr marL="0" indent="0">
              <a:buNone/>
            </a:pPr>
            <a:r>
              <a:rPr lang="en-US" dirty="0"/>
              <a:t> </a:t>
            </a:r>
          </a:p>
          <a:p>
            <a:pPr marL="0" indent="0">
              <a:buNone/>
            </a:pPr>
            <a:endParaRPr lang="en-IN" dirty="0"/>
          </a:p>
        </p:txBody>
      </p:sp>
    </p:spTree>
    <p:extLst>
      <p:ext uri="{BB962C8B-B14F-4D97-AF65-F5344CB8AC3E}">
        <p14:creationId xmlns:p14="http://schemas.microsoft.com/office/powerpoint/2010/main" val="2198821433"/>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28747"/>
          </a:xfrm>
        </p:spPr>
        <p:txBody>
          <a:bodyPr>
            <a:normAutofit fontScale="90000"/>
          </a:bodyPr>
          <a:lstStyle/>
          <a:p>
            <a:endParaRPr lang="en-IN" dirty="0"/>
          </a:p>
        </p:txBody>
      </p:sp>
      <p:sp>
        <p:nvSpPr>
          <p:cNvPr id="3" name="Content Placeholder 2"/>
          <p:cNvSpPr>
            <a:spLocks noGrp="1"/>
          </p:cNvSpPr>
          <p:nvPr>
            <p:ph idx="1"/>
          </p:nvPr>
        </p:nvSpPr>
        <p:spPr>
          <a:xfrm>
            <a:off x="457200" y="703385"/>
            <a:ext cx="8229600" cy="5866227"/>
          </a:xfrm>
        </p:spPr>
        <p:txBody>
          <a:bodyPr numCol="2">
            <a:normAutofit fontScale="40000" lnSpcReduction="20000"/>
          </a:bodyPr>
          <a:lstStyle/>
          <a:p>
            <a:r>
              <a:rPr lang="en-US" b="1" u="sng" dirty="0"/>
              <a:t>Condition-03:</a:t>
            </a:r>
            <a:endParaRPr lang="en-US" b="1" dirty="0"/>
          </a:p>
          <a:p>
            <a:r>
              <a:rPr lang="en-US" sz="3400" dirty="0" smtClean="0"/>
              <a:t>According </a:t>
            </a:r>
            <a:r>
              <a:rPr lang="en-US" sz="3400" dirty="0"/>
              <a:t>to condition-03, intersection of both the sub relations must be the super key of one of the two sub relations or both.</a:t>
            </a:r>
          </a:p>
          <a:p>
            <a:r>
              <a:rPr lang="en-US" sz="3400" dirty="0"/>
              <a:t>So, we </a:t>
            </a:r>
            <a:r>
              <a:rPr lang="en-US" sz="3400" dirty="0" smtClean="0"/>
              <a:t>have-</a:t>
            </a:r>
            <a:r>
              <a:rPr lang="en-US" sz="3400" dirty="0"/>
              <a:t>R‘ ( A , B , C ) ∩ R</a:t>
            </a:r>
            <a:r>
              <a:rPr lang="en-US" sz="3400" baseline="-25000" dirty="0"/>
              <a:t>3</a:t>
            </a:r>
            <a:r>
              <a:rPr lang="en-US" sz="3400" dirty="0"/>
              <a:t> ( B , D )</a:t>
            </a:r>
          </a:p>
          <a:p>
            <a:r>
              <a:rPr lang="en-US" sz="3400" dirty="0"/>
              <a:t>= B</a:t>
            </a:r>
          </a:p>
          <a:p>
            <a:r>
              <a:rPr lang="en-US" sz="3400" dirty="0"/>
              <a:t>Now, the closure of attribute B is-</a:t>
            </a:r>
          </a:p>
          <a:p>
            <a:r>
              <a:rPr lang="en-US" sz="3400" dirty="0"/>
              <a:t>B</a:t>
            </a:r>
            <a:r>
              <a:rPr lang="en-US" sz="3400" baseline="30000" dirty="0"/>
              <a:t>+</a:t>
            </a:r>
            <a:r>
              <a:rPr lang="en-US" sz="3400" dirty="0"/>
              <a:t> = { B , C , D }</a:t>
            </a:r>
          </a:p>
          <a:p>
            <a:r>
              <a:rPr lang="en-US" sz="3400" dirty="0"/>
              <a:t>Now, we see-</a:t>
            </a:r>
          </a:p>
          <a:p>
            <a:r>
              <a:rPr lang="en-US" sz="3400" dirty="0"/>
              <a:t>Attribute ‘B’ can not determine attribute ‘A’ of sub relation R’.</a:t>
            </a:r>
          </a:p>
          <a:p>
            <a:r>
              <a:rPr lang="en-US" sz="3400" dirty="0"/>
              <a:t>Thus, it is not a super key of the sub relation R’.</a:t>
            </a:r>
          </a:p>
          <a:p>
            <a:r>
              <a:rPr lang="en-US" sz="3400" dirty="0"/>
              <a:t>Attribute ‘B’ can determine all the attributes of sub relation R</a:t>
            </a:r>
            <a:r>
              <a:rPr lang="en-US" sz="3400" baseline="-25000" dirty="0"/>
              <a:t>3</a:t>
            </a:r>
            <a:r>
              <a:rPr lang="en-US" sz="3400" dirty="0"/>
              <a:t>.</a:t>
            </a:r>
          </a:p>
          <a:p>
            <a:r>
              <a:rPr lang="en-US" sz="3400" dirty="0"/>
              <a:t>Thus, it is a super key of the sub relation R</a:t>
            </a:r>
            <a:r>
              <a:rPr lang="en-US" sz="3400" baseline="-25000" dirty="0"/>
              <a:t>3</a:t>
            </a:r>
            <a:r>
              <a:rPr lang="en-US" sz="3400" dirty="0"/>
              <a:t>.</a:t>
            </a:r>
          </a:p>
          <a:p>
            <a:r>
              <a:rPr lang="en-US" sz="3400" dirty="0"/>
              <a:t> </a:t>
            </a:r>
          </a:p>
          <a:p>
            <a:r>
              <a:rPr lang="en-US" sz="3400" dirty="0"/>
              <a:t>Clearly, intersection of the sub relations is a super key of one of the sub relations.</a:t>
            </a:r>
          </a:p>
          <a:p>
            <a:r>
              <a:rPr lang="en-US" sz="3400" dirty="0"/>
              <a:t>So, condition-03 satisfies.</a:t>
            </a:r>
          </a:p>
          <a:p>
            <a:r>
              <a:rPr lang="en-US" sz="3400" dirty="0"/>
              <a:t>Thus, we conclude that the decomposition is lossless.</a:t>
            </a:r>
          </a:p>
          <a:p>
            <a:r>
              <a:rPr lang="en-US" sz="3400" dirty="0"/>
              <a:t> </a:t>
            </a:r>
            <a:r>
              <a:rPr lang="en-US" sz="3400" b="1" u="sng" dirty="0" smtClean="0"/>
              <a:t>Decomposition </a:t>
            </a:r>
            <a:r>
              <a:rPr lang="en-US" sz="3400" b="1" u="sng" dirty="0"/>
              <a:t>of R'(A, B, C) into R</a:t>
            </a:r>
            <a:r>
              <a:rPr lang="en-US" sz="3400" b="1" u="sng" baseline="-25000" dirty="0"/>
              <a:t>1</a:t>
            </a:r>
            <a:r>
              <a:rPr lang="en-US" sz="3400" b="1" u="sng" dirty="0"/>
              <a:t>(A, B) and R</a:t>
            </a:r>
            <a:r>
              <a:rPr lang="en-US" sz="3400" b="1" u="sng" baseline="-25000" dirty="0"/>
              <a:t>2</a:t>
            </a:r>
            <a:r>
              <a:rPr lang="en-US" sz="3400" b="1" u="sng" dirty="0"/>
              <a:t>(B, C)-</a:t>
            </a:r>
            <a:endParaRPr lang="en-US" sz="3400" b="1" dirty="0"/>
          </a:p>
          <a:p>
            <a:r>
              <a:rPr lang="en-US" sz="3400" dirty="0"/>
              <a:t> </a:t>
            </a:r>
          </a:p>
          <a:p>
            <a:r>
              <a:rPr lang="en-US" sz="3400" dirty="0"/>
              <a:t>To determine whether the decomposition is lossless or </a:t>
            </a:r>
            <a:r>
              <a:rPr lang="en-US" sz="3400" dirty="0" err="1"/>
              <a:t>lossy</a:t>
            </a:r>
            <a:r>
              <a:rPr lang="en-US" sz="3400" dirty="0"/>
              <a:t>,</a:t>
            </a:r>
          </a:p>
          <a:p>
            <a:r>
              <a:rPr lang="en-US" sz="3400" dirty="0"/>
              <a:t>We will check all the conditions one by one.</a:t>
            </a:r>
          </a:p>
          <a:p>
            <a:r>
              <a:rPr lang="en-US" sz="3400" dirty="0"/>
              <a:t>If any of the conditions fail, then the decomposition is </a:t>
            </a:r>
            <a:r>
              <a:rPr lang="en-US" sz="3400" dirty="0" err="1"/>
              <a:t>lossy</a:t>
            </a:r>
            <a:r>
              <a:rPr lang="en-US" sz="3400" dirty="0"/>
              <a:t> otherwise lossless.</a:t>
            </a:r>
          </a:p>
          <a:p>
            <a:r>
              <a:rPr lang="en-US" sz="3400" dirty="0"/>
              <a:t> </a:t>
            </a:r>
            <a:r>
              <a:rPr lang="en-US" sz="3400" b="1" u="sng" dirty="0" smtClean="0"/>
              <a:t>Condition-01</a:t>
            </a:r>
            <a:r>
              <a:rPr lang="en-US" sz="3400" b="1" u="sng" dirty="0"/>
              <a:t>:</a:t>
            </a:r>
            <a:endParaRPr lang="en-US" sz="3400" b="1" dirty="0"/>
          </a:p>
          <a:p>
            <a:r>
              <a:rPr lang="en-US" sz="3400" dirty="0"/>
              <a:t> </a:t>
            </a:r>
            <a:r>
              <a:rPr lang="en-US" sz="3400" dirty="0" smtClean="0"/>
              <a:t>According </a:t>
            </a:r>
            <a:r>
              <a:rPr lang="en-US" sz="3400" dirty="0"/>
              <a:t>to condition-01, union of both the sub relations must contain all the attributes of relation R’.</a:t>
            </a:r>
          </a:p>
          <a:p>
            <a:r>
              <a:rPr lang="en-US" sz="3400" dirty="0"/>
              <a:t>So, we have-</a:t>
            </a:r>
          </a:p>
          <a:p>
            <a:r>
              <a:rPr lang="en-US" sz="3400" dirty="0"/>
              <a:t> R</a:t>
            </a:r>
            <a:r>
              <a:rPr lang="en-US" sz="3400" baseline="-25000" dirty="0"/>
              <a:t>1 </a:t>
            </a:r>
            <a:r>
              <a:rPr lang="en-US" sz="3400" dirty="0"/>
              <a:t>( A , B ) ∪ R</a:t>
            </a:r>
            <a:r>
              <a:rPr lang="en-US" sz="3400" baseline="-25000" dirty="0"/>
              <a:t>2</a:t>
            </a:r>
            <a:r>
              <a:rPr lang="en-US" sz="3400" dirty="0"/>
              <a:t> ( B , C )</a:t>
            </a:r>
          </a:p>
          <a:p>
            <a:r>
              <a:rPr lang="en-US" sz="3400" dirty="0"/>
              <a:t>= R’ ( A , B , C )</a:t>
            </a:r>
          </a:p>
          <a:p>
            <a:r>
              <a:rPr lang="en-US" sz="3400" dirty="0"/>
              <a:t>Clearly, union of the sub relations contain all the attributes of relation R’.</a:t>
            </a:r>
          </a:p>
          <a:p>
            <a:r>
              <a:rPr lang="en-US" sz="3400" dirty="0"/>
              <a:t>Thus, condition-01 satisfies.</a:t>
            </a:r>
          </a:p>
          <a:p>
            <a:r>
              <a:rPr lang="en-US" sz="3400" dirty="0"/>
              <a:t> </a:t>
            </a:r>
          </a:p>
          <a:p>
            <a:r>
              <a:rPr lang="en-US" sz="3400" b="1" u="sng" dirty="0"/>
              <a:t>Condition-02:</a:t>
            </a:r>
            <a:endParaRPr lang="en-US" sz="3400" b="1" dirty="0"/>
          </a:p>
          <a:p>
            <a:r>
              <a:rPr lang="en-US" sz="3400" dirty="0"/>
              <a:t> </a:t>
            </a:r>
          </a:p>
          <a:p>
            <a:r>
              <a:rPr lang="en-US" sz="3400" dirty="0"/>
              <a:t>According to condition-02, intersection of both the sub relations must not be null.</a:t>
            </a:r>
          </a:p>
          <a:p>
            <a:r>
              <a:rPr lang="en-US" sz="3400" dirty="0"/>
              <a:t>So, we have-</a:t>
            </a:r>
          </a:p>
          <a:p>
            <a:r>
              <a:rPr lang="en-US" sz="3400" dirty="0"/>
              <a:t> R</a:t>
            </a:r>
            <a:r>
              <a:rPr lang="en-US" sz="3400" baseline="-25000" dirty="0"/>
              <a:t>1</a:t>
            </a:r>
            <a:r>
              <a:rPr lang="en-US" sz="3400" dirty="0"/>
              <a:t> ( A , B ) ∩ R</a:t>
            </a:r>
            <a:r>
              <a:rPr lang="en-US" sz="3400" baseline="-25000" dirty="0"/>
              <a:t>2</a:t>
            </a:r>
            <a:r>
              <a:rPr lang="en-US" sz="3400" dirty="0"/>
              <a:t> ( B , C )</a:t>
            </a:r>
          </a:p>
          <a:p>
            <a:r>
              <a:rPr lang="en-US" sz="3400" dirty="0"/>
              <a:t>= B</a:t>
            </a:r>
          </a:p>
          <a:p>
            <a:r>
              <a:rPr lang="en-US" sz="3400" dirty="0"/>
              <a:t>Clearly, intersection of the sub relations is not null.</a:t>
            </a:r>
          </a:p>
          <a:p>
            <a:r>
              <a:rPr lang="en-US" sz="3400" dirty="0"/>
              <a:t>Thus, condition-02 satisfies.</a:t>
            </a:r>
          </a:p>
          <a:p>
            <a:r>
              <a:rPr lang="en-US" sz="3400" dirty="0"/>
              <a:t> </a:t>
            </a:r>
          </a:p>
          <a:p>
            <a:endParaRPr lang="en-IN" dirty="0"/>
          </a:p>
        </p:txBody>
      </p:sp>
    </p:spTree>
    <p:extLst>
      <p:ext uri="{BB962C8B-B14F-4D97-AF65-F5344CB8AC3E}">
        <p14:creationId xmlns:p14="http://schemas.microsoft.com/office/powerpoint/2010/main" val="739906887"/>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40000" lnSpcReduction="20000"/>
          </a:bodyPr>
          <a:lstStyle/>
          <a:p>
            <a:pPr marL="0" indent="0">
              <a:buNone/>
            </a:pPr>
            <a:r>
              <a:rPr lang="en-US" b="1" u="sng" dirty="0"/>
              <a:t>Condition-03:</a:t>
            </a:r>
            <a:endParaRPr lang="en-US" b="1" dirty="0"/>
          </a:p>
          <a:p>
            <a:pPr marL="0" indent="0">
              <a:buNone/>
            </a:pPr>
            <a:r>
              <a:rPr lang="en-US" dirty="0"/>
              <a:t> </a:t>
            </a:r>
          </a:p>
          <a:p>
            <a:pPr marL="0" indent="0">
              <a:buNone/>
            </a:pPr>
            <a:r>
              <a:rPr lang="en-US" dirty="0"/>
              <a:t>According to condition-03, intersection of both the sub relations must be the super key of one of the two sub relations or both.</a:t>
            </a:r>
          </a:p>
          <a:p>
            <a:pPr marL="0" indent="0">
              <a:buNone/>
            </a:pPr>
            <a:r>
              <a:rPr lang="en-US" dirty="0"/>
              <a:t>So, we have-</a:t>
            </a:r>
          </a:p>
          <a:p>
            <a:pPr marL="0" indent="0">
              <a:buNone/>
            </a:pPr>
            <a:r>
              <a:rPr lang="en-US" dirty="0"/>
              <a:t> R</a:t>
            </a:r>
            <a:r>
              <a:rPr lang="en-US" baseline="-25000" dirty="0"/>
              <a:t>1</a:t>
            </a:r>
            <a:r>
              <a:rPr lang="en-US" dirty="0"/>
              <a:t> ( A , B ) ∩ R</a:t>
            </a:r>
            <a:r>
              <a:rPr lang="en-US" baseline="-25000" dirty="0"/>
              <a:t>2</a:t>
            </a:r>
            <a:r>
              <a:rPr lang="en-US" dirty="0"/>
              <a:t> ( B , C )</a:t>
            </a:r>
          </a:p>
          <a:p>
            <a:pPr marL="0" indent="0">
              <a:buNone/>
            </a:pPr>
            <a:r>
              <a:rPr lang="en-US" dirty="0"/>
              <a:t>= B</a:t>
            </a:r>
          </a:p>
          <a:p>
            <a:pPr marL="0" indent="0">
              <a:buNone/>
            </a:pPr>
            <a:r>
              <a:rPr lang="en-US" dirty="0"/>
              <a:t>Now, the closure of attribute B is-</a:t>
            </a:r>
          </a:p>
          <a:p>
            <a:pPr marL="0" indent="0">
              <a:buNone/>
            </a:pPr>
            <a:r>
              <a:rPr lang="en-US" dirty="0"/>
              <a:t>B</a:t>
            </a:r>
            <a:r>
              <a:rPr lang="en-US" baseline="30000" dirty="0"/>
              <a:t>+</a:t>
            </a:r>
            <a:r>
              <a:rPr lang="en-US" dirty="0"/>
              <a:t> = { B , C , D }</a:t>
            </a:r>
          </a:p>
          <a:p>
            <a:pPr marL="0" indent="0">
              <a:buNone/>
            </a:pPr>
            <a:r>
              <a:rPr lang="en-US" dirty="0"/>
              <a:t>Now, we see-</a:t>
            </a:r>
          </a:p>
          <a:p>
            <a:pPr marL="0" indent="0">
              <a:buNone/>
            </a:pPr>
            <a:r>
              <a:rPr lang="en-US" dirty="0"/>
              <a:t>Attribute ‘B’ can not determine attribute ‘A’ of sub relation R</a:t>
            </a:r>
            <a:r>
              <a:rPr lang="en-US" baseline="-25000" dirty="0"/>
              <a:t>1</a:t>
            </a:r>
            <a:r>
              <a:rPr lang="en-US" dirty="0"/>
              <a:t>.</a:t>
            </a:r>
          </a:p>
          <a:p>
            <a:pPr marL="0" indent="0">
              <a:buNone/>
            </a:pPr>
            <a:r>
              <a:rPr lang="en-US" dirty="0"/>
              <a:t>Thus, it is not a super key of the sub relation R</a:t>
            </a:r>
            <a:r>
              <a:rPr lang="en-US" baseline="-25000" dirty="0"/>
              <a:t>1</a:t>
            </a:r>
            <a:r>
              <a:rPr lang="en-US" dirty="0"/>
              <a:t>.</a:t>
            </a:r>
          </a:p>
          <a:p>
            <a:pPr marL="0" indent="0">
              <a:buNone/>
            </a:pPr>
            <a:r>
              <a:rPr lang="en-US" dirty="0"/>
              <a:t>Attribute ‘B’ can determine all the attributes of sub relation R</a:t>
            </a:r>
            <a:r>
              <a:rPr lang="en-US" baseline="-25000" dirty="0"/>
              <a:t>2</a:t>
            </a:r>
            <a:r>
              <a:rPr lang="en-US" dirty="0"/>
              <a:t>.</a:t>
            </a:r>
          </a:p>
          <a:p>
            <a:pPr marL="0" indent="0">
              <a:buNone/>
            </a:pPr>
            <a:r>
              <a:rPr lang="en-US" dirty="0"/>
              <a:t>Thus, it is a super key of the sub relation R</a:t>
            </a:r>
            <a:r>
              <a:rPr lang="en-US" baseline="-25000" dirty="0"/>
              <a:t>2</a:t>
            </a:r>
            <a:r>
              <a:rPr lang="en-US" dirty="0"/>
              <a:t>.</a:t>
            </a:r>
          </a:p>
          <a:p>
            <a:pPr marL="0" indent="0">
              <a:buNone/>
            </a:pPr>
            <a:r>
              <a:rPr lang="en-US" dirty="0"/>
              <a:t> </a:t>
            </a:r>
          </a:p>
          <a:p>
            <a:pPr marL="0" indent="0">
              <a:buNone/>
            </a:pPr>
            <a:r>
              <a:rPr lang="en-US" dirty="0"/>
              <a:t>Clearly, intersection of the sub relations is a super key of one of the sub relations.</a:t>
            </a:r>
          </a:p>
          <a:p>
            <a:pPr marL="0" indent="0">
              <a:buNone/>
            </a:pPr>
            <a:r>
              <a:rPr lang="en-US" dirty="0"/>
              <a:t>So, condition-03 satisfies.</a:t>
            </a:r>
          </a:p>
          <a:p>
            <a:pPr marL="0" indent="0">
              <a:buNone/>
            </a:pPr>
            <a:r>
              <a:rPr lang="en-US" dirty="0"/>
              <a:t>Thus, we conclude that the decomposition is lossless.</a:t>
            </a:r>
          </a:p>
          <a:p>
            <a:pPr marL="0" indent="0">
              <a:buNone/>
            </a:pPr>
            <a:r>
              <a:rPr lang="en-US" dirty="0"/>
              <a:t> </a:t>
            </a:r>
          </a:p>
          <a:p>
            <a:pPr marL="0" indent="0">
              <a:buNone/>
            </a:pPr>
            <a:r>
              <a:rPr lang="en-US" b="1" u="sng" dirty="0"/>
              <a:t>Conclusion-</a:t>
            </a:r>
            <a:endParaRPr lang="en-US" b="1" dirty="0"/>
          </a:p>
          <a:p>
            <a:pPr marL="0" indent="0">
              <a:buNone/>
            </a:pPr>
            <a:r>
              <a:rPr lang="en-US" dirty="0"/>
              <a:t>Overall decomposition of relation R into sub relations R</a:t>
            </a:r>
            <a:r>
              <a:rPr lang="en-US" baseline="-25000" dirty="0"/>
              <a:t>1</a:t>
            </a:r>
            <a:r>
              <a:rPr lang="en-US" dirty="0"/>
              <a:t>, R</a:t>
            </a:r>
            <a:r>
              <a:rPr lang="en-US" baseline="-25000" dirty="0"/>
              <a:t>2</a:t>
            </a:r>
            <a:r>
              <a:rPr lang="en-US" dirty="0"/>
              <a:t> and R</a:t>
            </a:r>
            <a:r>
              <a:rPr lang="en-US" baseline="-25000" dirty="0"/>
              <a:t>3</a:t>
            </a:r>
            <a:r>
              <a:rPr lang="en-US" dirty="0"/>
              <a:t> is lossless.</a:t>
            </a:r>
          </a:p>
          <a:p>
            <a:pPr marL="0" indent="0">
              <a:buNone/>
            </a:pPr>
            <a:endParaRPr lang="en-US" dirty="0"/>
          </a:p>
          <a:p>
            <a:endParaRPr lang="en-IN" dirty="0"/>
          </a:p>
        </p:txBody>
      </p:sp>
    </p:spTree>
    <p:extLst>
      <p:ext uri="{BB962C8B-B14F-4D97-AF65-F5344CB8AC3E}">
        <p14:creationId xmlns:p14="http://schemas.microsoft.com/office/powerpoint/2010/main" val="2386712513"/>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Original Table: Employee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0689039"/>
              </p:ext>
            </p:extLst>
          </p:nvPr>
        </p:nvGraphicFramePr>
        <p:xfrm>
          <a:off x="457200" y="3131661"/>
          <a:ext cx="8229600" cy="1463040"/>
        </p:xfrm>
        <a:graphic>
          <a:graphicData uri="http://schemas.openxmlformats.org/drawingml/2006/table">
            <a:tbl>
              <a:tblPr/>
              <a:tblGrid>
                <a:gridCol w="2057400">
                  <a:extLst>
                    <a:ext uri="{9D8B030D-6E8A-4147-A177-3AD203B41FA5}">
                      <a16:colId xmlns:a16="http://schemas.microsoft.com/office/drawing/2014/main" val="1119087475"/>
                    </a:ext>
                  </a:extLst>
                </a:gridCol>
                <a:gridCol w="2057400">
                  <a:extLst>
                    <a:ext uri="{9D8B030D-6E8A-4147-A177-3AD203B41FA5}">
                      <a16:colId xmlns:a16="http://schemas.microsoft.com/office/drawing/2014/main" val="1949363459"/>
                    </a:ext>
                  </a:extLst>
                </a:gridCol>
                <a:gridCol w="2057400">
                  <a:extLst>
                    <a:ext uri="{9D8B030D-6E8A-4147-A177-3AD203B41FA5}">
                      <a16:colId xmlns:a16="http://schemas.microsoft.com/office/drawing/2014/main" val="602748203"/>
                    </a:ext>
                  </a:extLst>
                </a:gridCol>
                <a:gridCol w="2057400">
                  <a:extLst>
                    <a:ext uri="{9D8B030D-6E8A-4147-A177-3AD203B41FA5}">
                      <a16:colId xmlns:a16="http://schemas.microsoft.com/office/drawing/2014/main" val="2770269582"/>
                    </a:ext>
                  </a:extLst>
                </a:gridCol>
              </a:tblGrid>
              <a:tr h="0">
                <a:tc>
                  <a:txBody>
                    <a:bodyPr/>
                    <a:lstStyle/>
                    <a:p>
                      <a:r>
                        <a:rPr lang="en-IN" b="1" dirty="0" err="1"/>
                        <a:t>EmpID</a:t>
                      </a:r>
                      <a:endParaRPr lang="en-IN" b="1" dirty="0"/>
                    </a:p>
                  </a:txBody>
                  <a:tcPr anchor="ctr">
                    <a:lnL>
                      <a:noFill/>
                    </a:lnL>
                    <a:lnR>
                      <a:noFill/>
                    </a:lnR>
                    <a:lnT>
                      <a:noFill/>
                    </a:lnT>
                    <a:lnB>
                      <a:noFill/>
                    </a:lnB>
                  </a:tcPr>
                </a:tc>
                <a:tc>
                  <a:txBody>
                    <a:bodyPr/>
                    <a:lstStyle/>
                    <a:p>
                      <a:r>
                        <a:rPr lang="en-IN" b="1" dirty="0"/>
                        <a:t>Name</a:t>
                      </a:r>
                    </a:p>
                  </a:txBody>
                  <a:tcPr anchor="ctr">
                    <a:lnL>
                      <a:noFill/>
                    </a:lnL>
                    <a:lnR>
                      <a:noFill/>
                    </a:lnR>
                    <a:lnT>
                      <a:noFill/>
                    </a:lnT>
                    <a:lnB>
                      <a:noFill/>
                    </a:lnB>
                  </a:tcPr>
                </a:tc>
                <a:tc>
                  <a:txBody>
                    <a:bodyPr/>
                    <a:lstStyle/>
                    <a:p>
                      <a:r>
                        <a:rPr lang="en-IN" b="1" dirty="0" err="1"/>
                        <a:t>DeptID</a:t>
                      </a:r>
                      <a:endParaRPr lang="en-IN" b="1" dirty="0"/>
                    </a:p>
                  </a:txBody>
                  <a:tcPr anchor="ctr">
                    <a:lnL>
                      <a:noFill/>
                    </a:lnL>
                    <a:lnR>
                      <a:noFill/>
                    </a:lnR>
                    <a:lnT>
                      <a:noFill/>
                    </a:lnT>
                    <a:lnB>
                      <a:noFill/>
                    </a:lnB>
                  </a:tcPr>
                </a:tc>
                <a:tc>
                  <a:txBody>
                    <a:bodyPr/>
                    <a:lstStyle/>
                    <a:p>
                      <a:r>
                        <a:rPr lang="en-IN" b="1" dirty="0" err="1"/>
                        <a:t>DeptName</a:t>
                      </a:r>
                      <a:endParaRPr lang="en-IN" b="1" dirty="0"/>
                    </a:p>
                  </a:txBody>
                  <a:tcPr anchor="ctr">
                    <a:lnL>
                      <a:noFill/>
                    </a:lnL>
                    <a:lnR>
                      <a:noFill/>
                    </a:lnR>
                    <a:lnT>
                      <a:noFill/>
                    </a:lnT>
                    <a:lnB>
                      <a:noFill/>
                    </a:lnB>
                  </a:tcPr>
                </a:tc>
                <a:extLst>
                  <a:ext uri="{0D108BD9-81ED-4DB2-BD59-A6C34878D82A}">
                    <a16:rowId xmlns:a16="http://schemas.microsoft.com/office/drawing/2014/main" val="1860625917"/>
                  </a:ext>
                </a:extLst>
              </a:tr>
              <a:tr h="0">
                <a:tc>
                  <a:txBody>
                    <a:bodyPr/>
                    <a:lstStyle/>
                    <a:p>
                      <a:r>
                        <a:rPr lang="en-IN"/>
                        <a:t>101</a:t>
                      </a:r>
                    </a:p>
                  </a:txBody>
                  <a:tcPr anchor="ctr">
                    <a:lnL>
                      <a:noFill/>
                    </a:lnL>
                    <a:lnR>
                      <a:noFill/>
                    </a:lnR>
                    <a:lnT>
                      <a:noFill/>
                    </a:lnT>
                    <a:lnB>
                      <a:noFill/>
                    </a:lnB>
                  </a:tcPr>
                </a:tc>
                <a:tc>
                  <a:txBody>
                    <a:bodyPr/>
                    <a:lstStyle/>
                    <a:p>
                      <a:r>
                        <a:rPr lang="en-IN"/>
                        <a:t>Alice</a:t>
                      </a:r>
                    </a:p>
                  </a:txBody>
                  <a:tcPr anchor="ctr">
                    <a:lnL>
                      <a:noFill/>
                    </a:lnL>
                    <a:lnR>
                      <a:noFill/>
                    </a:lnR>
                    <a:lnT>
                      <a:noFill/>
                    </a:lnT>
                    <a:lnB>
                      <a:noFill/>
                    </a:lnB>
                  </a:tcPr>
                </a:tc>
                <a:tc>
                  <a:txBody>
                    <a:bodyPr/>
                    <a:lstStyle/>
                    <a:p>
                      <a:r>
                        <a:rPr lang="en-IN"/>
                        <a:t>D1</a:t>
                      </a:r>
                    </a:p>
                  </a:txBody>
                  <a:tcPr anchor="ctr">
                    <a:lnL>
                      <a:noFill/>
                    </a:lnL>
                    <a:lnR>
                      <a:noFill/>
                    </a:lnR>
                    <a:lnT>
                      <a:noFill/>
                    </a:lnT>
                    <a:lnB>
                      <a:noFill/>
                    </a:lnB>
                  </a:tcPr>
                </a:tc>
                <a:tc>
                  <a:txBody>
                    <a:bodyPr/>
                    <a:lstStyle/>
                    <a:p>
                      <a:r>
                        <a:rPr lang="en-IN"/>
                        <a:t>HR</a:t>
                      </a:r>
                    </a:p>
                  </a:txBody>
                  <a:tcPr anchor="ctr">
                    <a:lnL>
                      <a:noFill/>
                    </a:lnL>
                    <a:lnR>
                      <a:noFill/>
                    </a:lnR>
                    <a:lnT>
                      <a:noFill/>
                    </a:lnT>
                    <a:lnB>
                      <a:noFill/>
                    </a:lnB>
                  </a:tcPr>
                </a:tc>
                <a:extLst>
                  <a:ext uri="{0D108BD9-81ED-4DB2-BD59-A6C34878D82A}">
                    <a16:rowId xmlns:a16="http://schemas.microsoft.com/office/drawing/2014/main" val="752364293"/>
                  </a:ext>
                </a:extLst>
              </a:tr>
              <a:tr h="0">
                <a:tc>
                  <a:txBody>
                    <a:bodyPr/>
                    <a:lstStyle/>
                    <a:p>
                      <a:r>
                        <a:rPr lang="en-IN"/>
                        <a:t>102</a:t>
                      </a:r>
                    </a:p>
                  </a:txBody>
                  <a:tcPr anchor="ctr">
                    <a:lnL>
                      <a:noFill/>
                    </a:lnL>
                    <a:lnR>
                      <a:noFill/>
                    </a:lnR>
                    <a:lnT>
                      <a:noFill/>
                    </a:lnT>
                    <a:lnB>
                      <a:noFill/>
                    </a:lnB>
                  </a:tcPr>
                </a:tc>
                <a:tc>
                  <a:txBody>
                    <a:bodyPr/>
                    <a:lstStyle/>
                    <a:p>
                      <a:r>
                        <a:rPr lang="en-IN"/>
                        <a:t>Bob</a:t>
                      </a:r>
                    </a:p>
                  </a:txBody>
                  <a:tcPr anchor="ctr">
                    <a:lnL>
                      <a:noFill/>
                    </a:lnL>
                    <a:lnR>
                      <a:noFill/>
                    </a:lnR>
                    <a:lnT>
                      <a:noFill/>
                    </a:lnT>
                    <a:lnB>
                      <a:noFill/>
                    </a:lnB>
                  </a:tcPr>
                </a:tc>
                <a:tc>
                  <a:txBody>
                    <a:bodyPr/>
                    <a:lstStyle/>
                    <a:p>
                      <a:r>
                        <a:rPr lang="en-IN"/>
                        <a:t>D2</a:t>
                      </a:r>
                    </a:p>
                  </a:txBody>
                  <a:tcPr anchor="ctr">
                    <a:lnL>
                      <a:noFill/>
                    </a:lnL>
                    <a:lnR>
                      <a:noFill/>
                    </a:lnR>
                    <a:lnT>
                      <a:noFill/>
                    </a:lnT>
                    <a:lnB>
                      <a:noFill/>
                    </a:lnB>
                  </a:tcPr>
                </a:tc>
                <a:tc>
                  <a:txBody>
                    <a:bodyPr/>
                    <a:lstStyle/>
                    <a:p>
                      <a:r>
                        <a:rPr lang="en-IN"/>
                        <a:t>Finance</a:t>
                      </a:r>
                    </a:p>
                  </a:txBody>
                  <a:tcPr anchor="ctr">
                    <a:lnL>
                      <a:noFill/>
                    </a:lnL>
                    <a:lnR>
                      <a:noFill/>
                    </a:lnR>
                    <a:lnT>
                      <a:noFill/>
                    </a:lnT>
                    <a:lnB>
                      <a:noFill/>
                    </a:lnB>
                  </a:tcPr>
                </a:tc>
                <a:extLst>
                  <a:ext uri="{0D108BD9-81ED-4DB2-BD59-A6C34878D82A}">
                    <a16:rowId xmlns:a16="http://schemas.microsoft.com/office/drawing/2014/main" val="774398463"/>
                  </a:ext>
                </a:extLst>
              </a:tr>
              <a:tr h="0">
                <a:tc>
                  <a:txBody>
                    <a:bodyPr/>
                    <a:lstStyle/>
                    <a:p>
                      <a:r>
                        <a:rPr lang="en-IN"/>
                        <a:t>103</a:t>
                      </a:r>
                    </a:p>
                  </a:txBody>
                  <a:tcPr anchor="ctr">
                    <a:lnL>
                      <a:noFill/>
                    </a:lnL>
                    <a:lnR>
                      <a:noFill/>
                    </a:lnR>
                    <a:lnT>
                      <a:noFill/>
                    </a:lnT>
                    <a:lnB>
                      <a:noFill/>
                    </a:lnB>
                  </a:tcPr>
                </a:tc>
                <a:tc>
                  <a:txBody>
                    <a:bodyPr/>
                    <a:lstStyle/>
                    <a:p>
                      <a:r>
                        <a:rPr lang="en-IN"/>
                        <a:t>Carol</a:t>
                      </a:r>
                    </a:p>
                  </a:txBody>
                  <a:tcPr anchor="ctr">
                    <a:lnL>
                      <a:noFill/>
                    </a:lnL>
                    <a:lnR>
                      <a:noFill/>
                    </a:lnR>
                    <a:lnT>
                      <a:noFill/>
                    </a:lnT>
                    <a:lnB>
                      <a:noFill/>
                    </a:lnB>
                  </a:tcPr>
                </a:tc>
                <a:tc>
                  <a:txBody>
                    <a:bodyPr/>
                    <a:lstStyle/>
                    <a:p>
                      <a:r>
                        <a:rPr lang="en-IN"/>
                        <a:t>D1</a:t>
                      </a:r>
                    </a:p>
                  </a:txBody>
                  <a:tcPr anchor="ctr">
                    <a:lnL>
                      <a:noFill/>
                    </a:lnL>
                    <a:lnR>
                      <a:noFill/>
                    </a:lnR>
                    <a:lnT>
                      <a:noFill/>
                    </a:lnT>
                    <a:lnB>
                      <a:noFill/>
                    </a:lnB>
                  </a:tcPr>
                </a:tc>
                <a:tc>
                  <a:txBody>
                    <a:bodyPr/>
                    <a:lstStyle/>
                    <a:p>
                      <a:r>
                        <a:rPr lang="en-IN" dirty="0"/>
                        <a:t>HR</a:t>
                      </a:r>
                    </a:p>
                  </a:txBody>
                  <a:tcPr anchor="ctr">
                    <a:lnL>
                      <a:noFill/>
                    </a:lnL>
                    <a:lnR>
                      <a:noFill/>
                    </a:lnR>
                    <a:lnT>
                      <a:noFill/>
                    </a:lnT>
                    <a:lnB>
                      <a:noFill/>
                    </a:lnB>
                  </a:tcPr>
                </a:tc>
                <a:extLst>
                  <a:ext uri="{0D108BD9-81ED-4DB2-BD59-A6C34878D82A}">
                    <a16:rowId xmlns:a16="http://schemas.microsoft.com/office/drawing/2014/main" val="2820776851"/>
                  </a:ext>
                </a:extLst>
              </a:tr>
            </a:tbl>
          </a:graphicData>
        </a:graphic>
      </p:graphicFrame>
    </p:spTree>
    <p:extLst>
      <p:ext uri="{BB962C8B-B14F-4D97-AF65-F5344CB8AC3E}">
        <p14:creationId xmlns:p14="http://schemas.microsoft.com/office/powerpoint/2010/main" val="512738059"/>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
            </a:r>
            <a:br>
              <a:rPr lang="en-IN" b="1" dirty="0" smtClean="0"/>
            </a:br>
            <a:r>
              <a:rPr lang="en-IN" b="1" dirty="0" smtClean="0"/>
              <a:t>Decomposed </a:t>
            </a:r>
            <a:r>
              <a:rPr lang="en-IN" b="1" dirty="0"/>
              <a:t>Tables:</a:t>
            </a:r>
            <a:br>
              <a:rPr lang="en-IN" b="1" dirty="0"/>
            </a:br>
            <a:r>
              <a:rPr lang="en-IN" b="1" dirty="0"/>
              <a:t>1. </a:t>
            </a:r>
            <a:r>
              <a:rPr lang="en-IN" b="1" dirty="0" err="1"/>
              <a:t>Employee_Info</a:t>
            </a:r>
            <a:r>
              <a:rPr lang="en-IN" dirty="0"/>
              <a:t/>
            </a:r>
            <a:br>
              <a:rPr lang="en-IN"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73639762"/>
              </p:ext>
            </p:extLst>
          </p:nvPr>
        </p:nvGraphicFramePr>
        <p:xfrm>
          <a:off x="457200" y="3131661"/>
          <a:ext cx="8229600" cy="1463040"/>
        </p:xfrm>
        <a:graphic>
          <a:graphicData uri="http://schemas.openxmlformats.org/drawingml/2006/table">
            <a:tbl>
              <a:tblPr/>
              <a:tblGrid>
                <a:gridCol w="2743200">
                  <a:extLst>
                    <a:ext uri="{9D8B030D-6E8A-4147-A177-3AD203B41FA5}">
                      <a16:colId xmlns:a16="http://schemas.microsoft.com/office/drawing/2014/main" val="1453176079"/>
                    </a:ext>
                  </a:extLst>
                </a:gridCol>
                <a:gridCol w="2743200">
                  <a:extLst>
                    <a:ext uri="{9D8B030D-6E8A-4147-A177-3AD203B41FA5}">
                      <a16:colId xmlns:a16="http://schemas.microsoft.com/office/drawing/2014/main" val="1714926983"/>
                    </a:ext>
                  </a:extLst>
                </a:gridCol>
                <a:gridCol w="2743200">
                  <a:extLst>
                    <a:ext uri="{9D8B030D-6E8A-4147-A177-3AD203B41FA5}">
                      <a16:colId xmlns:a16="http://schemas.microsoft.com/office/drawing/2014/main" val="744191338"/>
                    </a:ext>
                  </a:extLst>
                </a:gridCol>
              </a:tblGrid>
              <a:tr h="0">
                <a:tc>
                  <a:txBody>
                    <a:bodyPr/>
                    <a:lstStyle/>
                    <a:p>
                      <a:r>
                        <a:rPr lang="en-IN" b="1" dirty="0" err="1"/>
                        <a:t>EmpID</a:t>
                      </a:r>
                      <a:endParaRPr lang="en-IN" b="1" dirty="0"/>
                    </a:p>
                  </a:txBody>
                  <a:tcPr anchor="ctr">
                    <a:lnL>
                      <a:noFill/>
                    </a:lnL>
                    <a:lnR>
                      <a:noFill/>
                    </a:lnR>
                    <a:lnT>
                      <a:noFill/>
                    </a:lnT>
                    <a:lnB>
                      <a:noFill/>
                    </a:lnB>
                  </a:tcPr>
                </a:tc>
                <a:tc>
                  <a:txBody>
                    <a:bodyPr/>
                    <a:lstStyle/>
                    <a:p>
                      <a:r>
                        <a:rPr lang="en-IN" b="1" dirty="0"/>
                        <a:t>Name</a:t>
                      </a:r>
                    </a:p>
                  </a:txBody>
                  <a:tcPr anchor="ctr">
                    <a:lnL>
                      <a:noFill/>
                    </a:lnL>
                    <a:lnR>
                      <a:noFill/>
                    </a:lnR>
                    <a:lnT>
                      <a:noFill/>
                    </a:lnT>
                    <a:lnB>
                      <a:noFill/>
                    </a:lnB>
                  </a:tcPr>
                </a:tc>
                <a:tc>
                  <a:txBody>
                    <a:bodyPr/>
                    <a:lstStyle/>
                    <a:p>
                      <a:r>
                        <a:rPr lang="en-IN" b="1" dirty="0" err="1"/>
                        <a:t>DeptID</a:t>
                      </a:r>
                      <a:endParaRPr lang="en-IN" b="1" dirty="0"/>
                    </a:p>
                  </a:txBody>
                  <a:tcPr anchor="ctr">
                    <a:lnL>
                      <a:noFill/>
                    </a:lnL>
                    <a:lnR>
                      <a:noFill/>
                    </a:lnR>
                    <a:lnT>
                      <a:noFill/>
                    </a:lnT>
                    <a:lnB>
                      <a:noFill/>
                    </a:lnB>
                  </a:tcPr>
                </a:tc>
                <a:extLst>
                  <a:ext uri="{0D108BD9-81ED-4DB2-BD59-A6C34878D82A}">
                    <a16:rowId xmlns:a16="http://schemas.microsoft.com/office/drawing/2014/main" val="467214321"/>
                  </a:ext>
                </a:extLst>
              </a:tr>
              <a:tr h="0">
                <a:tc>
                  <a:txBody>
                    <a:bodyPr/>
                    <a:lstStyle/>
                    <a:p>
                      <a:r>
                        <a:rPr lang="en-IN"/>
                        <a:t>101</a:t>
                      </a:r>
                    </a:p>
                  </a:txBody>
                  <a:tcPr anchor="ctr">
                    <a:lnL>
                      <a:noFill/>
                    </a:lnL>
                    <a:lnR>
                      <a:noFill/>
                    </a:lnR>
                    <a:lnT>
                      <a:noFill/>
                    </a:lnT>
                    <a:lnB>
                      <a:noFill/>
                    </a:lnB>
                  </a:tcPr>
                </a:tc>
                <a:tc>
                  <a:txBody>
                    <a:bodyPr/>
                    <a:lstStyle/>
                    <a:p>
                      <a:r>
                        <a:rPr lang="en-IN"/>
                        <a:t>Alice</a:t>
                      </a:r>
                    </a:p>
                  </a:txBody>
                  <a:tcPr anchor="ctr">
                    <a:lnL>
                      <a:noFill/>
                    </a:lnL>
                    <a:lnR>
                      <a:noFill/>
                    </a:lnR>
                    <a:lnT>
                      <a:noFill/>
                    </a:lnT>
                    <a:lnB>
                      <a:noFill/>
                    </a:lnB>
                  </a:tcPr>
                </a:tc>
                <a:tc>
                  <a:txBody>
                    <a:bodyPr/>
                    <a:lstStyle/>
                    <a:p>
                      <a:r>
                        <a:rPr lang="en-IN"/>
                        <a:t>D1</a:t>
                      </a:r>
                    </a:p>
                  </a:txBody>
                  <a:tcPr anchor="ctr">
                    <a:lnL>
                      <a:noFill/>
                    </a:lnL>
                    <a:lnR>
                      <a:noFill/>
                    </a:lnR>
                    <a:lnT>
                      <a:noFill/>
                    </a:lnT>
                    <a:lnB>
                      <a:noFill/>
                    </a:lnB>
                  </a:tcPr>
                </a:tc>
                <a:extLst>
                  <a:ext uri="{0D108BD9-81ED-4DB2-BD59-A6C34878D82A}">
                    <a16:rowId xmlns:a16="http://schemas.microsoft.com/office/drawing/2014/main" val="259412968"/>
                  </a:ext>
                </a:extLst>
              </a:tr>
              <a:tr h="0">
                <a:tc>
                  <a:txBody>
                    <a:bodyPr/>
                    <a:lstStyle/>
                    <a:p>
                      <a:r>
                        <a:rPr lang="en-IN"/>
                        <a:t>102</a:t>
                      </a:r>
                    </a:p>
                  </a:txBody>
                  <a:tcPr anchor="ctr">
                    <a:lnL>
                      <a:noFill/>
                    </a:lnL>
                    <a:lnR>
                      <a:noFill/>
                    </a:lnR>
                    <a:lnT>
                      <a:noFill/>
                    </a:lnT>
                    <a:lnB>
                      <a:noFill/>
                    </a:lnB>
                  </a:tcPr>
                </a:tc>
                <a:tc>
                  <a:txBody>
                    <a:bodyPr/>
                    <a:lstStyle/>
                    <a:p>
                      <a:r>
                        <a:rPr lang="en-IN"/>
                        <a:t>Bob</a:t>
                      </a:r>
                    </a:p>
                  </a:txBody>
                  <a:tcPr anchor="ctr">
                    <a:lnL>
                      <a:noFill/>
                    </a:lnL>
                    <a:lnR>
                      <a:noFill/>
                    </a:lnR>
                    <a:lnT>
                      <a:noFill/>
                    </a:lnT>
                    <a:lnB>
                      <a:noFill/>
                    </a:lnB>
                  </a:tcPr>
                </a:tc>
                <a:tc>
                  <a:txBody>
                    <a:bodyPr/>
                    <a:lstStyle/>
                    <a:p>
                      <a:r>
                        <a:rPr lang="en-IN"/>
                        <a:t>D2</a:t>
                      </a:r>
                    </a:p>
                  </a:txBody>
                  <a:tcPr anchor="ctr">
                    <a:lnL>
                      <a:noFill/>
                    </a:lnL>
                    <a:lnR>
                      <a:noFill/>
                    </a:lnR>
                    <a:lnT>
                      <a:noFill/>
                    </a:lnT>
                    <a:lnB>
                      <a:noFill/>
                    </a:lnB>
                  </a:tcPr>
                </a:tc>
                <a:extLst>
                  <a:ext uri="{0D108BD9-81ED-4DB2-BD59-A6C34878D82A}">
                    <a16:rowId xmlns:a16="http://schemas.microsoft.com/office/drawing/2014/main" val="650568064"/>
                  </a:ext>
                </a:extLst>
              </a:tr>
              <a:tr h="0">
                <a:tc>
                  <a:txBody>
                    <a:bodyPr/>
                    <a:lstStyle/>
                    <a:p>
                      <a:r>
                        <a:rPr lang="en-IN"/>
                        <a:t>103</a:t>
                      </a:r>
                    </a:p>
                  </a:txBody>
                  <a:tcPr anchor="ctr">
                    <a:lnL>
                      <a:noFill/>
                    </a:lnL>
                    <a:lnR>
                      <a:noFill/>
                    </a:lnR>
                    <a:lnT>
                      <a:noFill/>
                    </a:lnT>
                    <a:lnB>
                      <a:noFill/>
                    </a:lnB>
                  </a:tcPr>
                </a:tc>
                <a:tc>
                  <a:txBody>
                    <a:bodyPr/>
                    <a:lstStyle/>
                    <a:p>
                      <a:r>
                        <a:rPr lang="en-IN"/>
                        <a:t>Carol</a:t>
                      </a:r>
                    </a:p>
                  </a:txBody>
                  <a:tcPr anchor="ctr">
                    <a:lnL>
                      <a:noFill/>
                    </a:lnL>
                    <a:lnR>
                      <a:noFill/>
                    </a:lnR>
                    <a:lnT>
                      <a:noFill/>
                    </a:lnT>
                    <a:lnB>
                      <a:noFill/>
                    </a:lnB>
                  </a:tcPr>
                </a:tc>
                <a:tc>
                  <a:txBody>
                    <a:bodyPr/>
                    <a:lstStyle/>
                    <a:p>
                      <a:r>
                        <a:rPr lang="en-IN" dirty="0"/>
                        <a:t>D1</a:t>
                      </a:r>
                    </a:p>
                  </a:txBody>
                  <a:tcPr anchor="ctr">
                    <a:lnL>
                      <a:noFill/>
                    </a:lnL>
                    <a:lnR>
                      <a:noFill/>
                    </a:lnR>
                    <a:lnT>
                      <a:noFill/>
                    </a:lnT>
                    <a:lnB>
                      <a:noFill/>
                    </a:lnB>
                  </a:tcPr>
                </a:tc>
                <a:extLst>
                  <a:ext uri="{0D108BD9-81ED-4DB2-BD59-A6C34878D82A}">
                    <a16:rowId xmlns:a16="http://schemas.microsoft.com/office/drawing/2014/main" val="3072317848"/>
                  </a:ext>
                </a:extLst>
              </a:tr>
            </a:tbl>
          </a:graphicData>
        </a:graphic>
      </p:graphicFrame>
    </p:spTree>
    <p:extLst>
      <p:ext uri="{BB962C8B-B14F-4D97-AF65-F5344CB8AC3E}">
        <p14:creationId xmlns:p14="http://schemas.microsoft.com/office/powerpoint/2010/main" val="1568476424"/>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2. Department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83409831"/>
              </p:ext>
            </p:extLst>
          </p:nvPr>
        </p:nvGraphicFramePr>
        <p:xfrm>
          <a:off x="457200" y="3314541"/>
          <a:ext cx="8229600" cy="1097280"/>
        </p:xfrm>
        <a:graphic>
          <a:graphicData uri="http://schemas.openxmlformats.org/drawingml/2006/table">
            <a:tbl>
              <a:tblPr/>
              <a:tblGrid>
                <a:gridCol w="4114800">
                  <a:extLst>
                    <a:ext uri="{9D8B030D-6E8A-4147-A177-3AD203B41FA5}">
                      <a16:colId xmlns:a16="http://schemas.microsoft.com/office/drawing/2014/main" val="3076937158"/>
                    </a:ext>
                  </a:extLst>
                </a:gridCol>
                <a:gridCol w="4114800">
                  <a:extLst>
                    <a:ext uri="{9D8B030D-6E8A-4147-A177-3AD203B41FA5}">
                      <a16:colId xmlns:a16="http://schemas.microsoft.com/office/drawing/2014/main" val="2645219580"/>
                    </a:ext>
                  </a:extLst>
                </a:gridCol>
              </a:tblGrid>
              <a:tr h="0">
                <a:tc>
                  <a:txBody>
                    <a:bodyPr/>
                    <a:lstStyle/>
                    <a:p>
                      <a:r>
                        <a:rPr lang="en-IN" b="1" dirty="0" err="1"/>
                        <a:t>DeptID</a:t>
                      </a:r>
                      <a:endParaRPr lang="en-IN" b="1" dirty="0"/>
                    </a:p>
                  </a:txBody>
                  <a:tcPr anchor="ctr">
                    <a:lnL>
                      <a:noFill/>
                    </a:lnL>
                    <a:lnR>
                      <a:noFill/>
                    </a:lnR>
                    <a:lnT>
                      <a:noFill/>
                    </a:lnT>
                    <a:lnB>
                      <a:noFill/>
                    </a:lnB>
                  </a:tcPr>
                </a:tc>
                <a:tc>
                  <a:txBody>
                    <a:bodyPr/>
                    <a:lstStyle/>
                    <a:p>
                      <a:r>
                        <a:rPr lang="en-IN" b="1" dirty="0" err="1"/>
                        <a:t>DeptName</a:t>
                      </a:r>
                      <a:endParaRPr lang="en-IN" b="1" dirty="0"/>
                    </a:p>
                  </a:txBody>
                  <a:tcPr anchor="ctr">
                    <a:lnL>
                      <a:noFill/>
                    </a:lnL>
                    <a:lnR>
                      <a:noFill/>
                    </a:lnR>
                    <a:lnT>
                      <a:noFill/>
                    </a:lnT>
                    <a:lnB>
                      <a:noFill/>
                    </a:lnB>
                  </a:tcPr>
                </a:tc>
                <a:extLst>
                  <a:ext uri="{0D108BD9-81ED-4DB2-BD59-A6C34878D82A}">
                    <a16:rowId xmlns:a16="http://schemas.microsoft.com/office/drawing/2014/main" val="1752174586"/>
                  </a:ext>
                </a:extLst>
              </a:tr>
              <a:tr h="0">
                <a:tc>
                  <a:txBody>
                    <a:bodyPr/>
                    <a:lstStyle/>
                    <a:p>
                      <a:r>
                        <a:rPr lang="en-IN"/>
                        <a:t>D1</a:t>
                      </a:r>
                    </a:p>
                  </a:txBody>
                  <a:tcPr anchor="ctr">
                    <a:lnL>
                      <a:noFill/>
                    </a:lnL>
                    <a:lnR>
                      <a:noFill/>
                    </a:lnR>
                    <a:lnT>
                      <a:noFill/>
                    </a:lnT>
                    <a:lnB>
                      <a:noFill/>
                    </a:lnB>
                  </a:tcPr>
                </a:tc>
                <a:tc>
                  <a:txBody>
                    <a:bodyPr/>
                    <a:lstStyle/>
                    <a:p>
                      <a:r>
                        <a:rPr lang="en-IN"/>
                        <a:t>HR</a:t>
                      </a:r>
                    </a:p>
                  </a:txBody>
                  <a:tcPr anchor="ctr">
                    <a:lnL>
                      <a:noFill/>
                    </a:lnL>
                    <a:lnR>
                      <a:noFill/>
                    </a:lnR>
                    <a:lnT>
                      <a:noFill/>
                    </a:lnT>
                    <a:lnB>
                      <a:noFill/>
                    </a:lnB>
                  </a:tcPr>
                </a:tc>
                <a:extLst>
                  <a:ext uri="{0D108BD9-81ED-4DB2-BD59-A6C34878D82A}">
                    <a16:rowId xmlns:a16="http://schemas.microsoft.com/office/drawing/2014/main" val="2560085296"/>
                  </a:ext>
                </a:extLst>
              </a:tr>
              <a:tr h="0">
                <a:tc>
                  <a:txBody>
                    <a:bodyPr/>
                    <a:lstStyle/>
                    <a:p>
                      <a:r>
                        <a:rPr lang="en-IN"/>
                        <a:t>D2</a:t>
                      </a:r>
                    </a:p>
                  </a:txBody>
                  <a:tcPr anchor="ctr">
                    <a:lnL>
                      <a:noFill/>
                    </a:lnL>
                    <a:lnR>
                      <a:noFill/>
                    </a:lnR>
                    <a:lnT>
                      <a:noFill/>
                    </a:lnT>
                    <a:lnB>
                      <a:noFill/>
                    </a:lnB>
                  </a:tcPr>
                </a:tc>
                <a:tc>
                  <a:txBody>
                    <a:bodyPr/>
                    <a:lstStyle/>
                    <a:p>
                      <a:r>
                        <a:rPr lang="en-IN" dirty="0"/>
                        <a:t>Finance</a:t>
                      </a:r>
                    </a:p>
                  </a:txBody>
                  <a:tcPr anchor="ctr">
                    <a:lnL>
                      <a:noFill/>
                    </a:lnL>
                    <a:lnR>
                      <a:noFill/>
                    </a:lnR>
                    <a:lnT>
                      <a:noFill/>
                    </a:lnT>
                    <a:lnB>
                      <a:noFill/>
                    </a:lnB>
                  </a:tcPr>
                </a:tc>
                <a:extLst>
                  <a:ext uri="{0D108BD9-81ED-4DB2-BD59-A6C34878D82A}">
                    <a16:rowId xmlns:a16="http://schemas.microsoft.com/office/drawing/2014/main" val="713476714"/>
                  </a:ext>
                </a:extLst>
              </a:tr>
            </a:tbl>
          </a:graphicData>
        </a:graphic>
      </p:graphicFrame>
    </p:spTree>
    <p:extLst>
      <p:ext uri="{BB962C8B-B14F-4D97-AF65-F5344CB8AC3E}">
        <p14:creationId xmlns:p14="http://schemas.microsoft.com/office/powerpoint/2010/main" val="2950013998"/>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Join (on </a:t>
            </a:r>
            <a:r>
              <a:rPr lang="en-IN" dirty="0" err="1"/>
              <a:t>DeptID</a:t>
            </a:r>
            <a:r>
              <a:rPr lang="en-IN" dirty="0"/>
              <a:t>) → Result:</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05531074"/>
              </p:ext>
            </p:extLst>
          </p:nvPr>
        </p:nvGraphicFramePr>
        <p:xfrm>
          <a:off x="457200" y="3131661"/>
          <a:ext cx="8229600" cy="1463040"/>
        </p:xfrm>
        <a:graphic>
          <a:graphicData uri="http://schemas.openxmlformats.org/drawingml/2006/table">
            <a:tbl>
              <a:tblPr/>
              <a:tblGrid>
                <a:gridCol w="2057400">
                  <a:extLst>
                    <a:ext uri="{9D8B030D-6E8A-4147-A177-3AD203B41FA5}">
                      <a16:colId xmlns:a16="http://schemas.microsoft.com/office/drawing/2014/main" val="3575092034"/>
                    </a:ext>
                  </a:extLst>
                </a:gridCol>
                <a:gridCol w="2057400">
                  <a:extLst>
                    <a:ext uri="{9D8B030D-6E8A-4147-A177-3AD203B41FA5}">
                      <a16:colId xmlns:a16="http://schemas.microsoft.com/office/drawing/2014/main" val="1238112544"/>
                    </a:ext>
                  </a:extLst>
                </a:gridCol>
                <a:gridCol w="2057400">
                  <a:extLst>
                    <a:ext uri="{9D8B030D-6E8A-4147-A177-3AD203B41FA5}">
                      <a16:colId xmlns:a16="http://schemas.microsoft.com/office/drawing/2014/main" val="1005815528"/>
                    </a:ext>
                  </a:extLst>
                </a:gridCol>
                <a:gridCol w="2057400">
                  <a:extLst>
                    <a:ext uri="{9D8B030D-6E8A-4147-A177-3AD203B41FA5}">
                      <a16:colId xmlns:a16="http://schemas.microsoft.com/office/drawing/2014/main" val="3740167415"/>
                    </a:ext>
                  </a:extLst>
                </a:gridCol>
              </a:tblGrid>
              <a:tr h="0">
                <a:tc>
                  <a:txBody>
                    <a:bodyPr/>
                    <a:lstStyle/>
                    <a:p>
                      <a:r>
                        <a:rPr lang="en-IN" b="1" dirty="0" err="1">
                          <a:solidFill>
                            <a:srgbClr val="FF0000"/>
                          </a:solidFill>
                        </a:rPr>
                        <a:t>EmpID</a:t>
                      </a:r>
                      <a:endParaRPr lang="en-IN" b="1" dirty="0">
                        <a:solidFill>
                          <a:srgbClr val="FF0000"/>
                        </a:solidFill>
                      </a:endParaRPr>
                    </a:p>
                  </a:txBody>
                  <a:tcPr anchor="ctr">
                    <a:lnL>
                      <a:noFill/>
                    </a:lnL>
                    <a:lnR>
                      <a:noFill/>
                    </a:lnR>
                    <a:lnT>
                      <a:noFill/>
                    </a:lnT>
                    <a:lnB>
                      <a:noFill/>
                    </a:lnB>
                  </a:tcPr>
                </a:tc>
                <a:tc>
                  <a:txBody>
                    <a:bodyPr/>
                    <a:lstStyle/>
                    <a:p>
                      <a:r>
                        <a:rPr lang="en-IN" b="1" dirty="0">
                          <a:solidFill>
                            <a:srgbClr val="FF0000"/>
                          </a:solidFill>
                        </a:rPr>
                        <a:t>Name</a:t>
                      </a:r>
                    </a:p>
                  </a:txBody>
                  <a:tcPr anchor="ctr">
                    <a:lnL>
                      <a:noFill/>
                    </a:lnL>
                    <a:lnR>
                      <a:noFill/>
                    </a:lnR>
                    <a:lnT>
                      <a:noFill/>
                    </a:lnT>
                    <a:lnB>
                      <a:noFill/>
                    </a:lnB>
                  </a:tcPr>
                </a:tc>
                <a:tc>
                  <a:txBody>
                    <a:bodyPr/>
                    <a:lstStyle/>
                    <a:p>
                      <a:r>
                        <a:rPr lang="en-IN" b="1" dirty="0" err="1">
                          <a:solidFill>
                            <a:srgbClr val="FF0000"/>
                          </a:solidFill>
                        </a:rPr>
                        <a:t>DeptID</a:t>
                      </a:r>
                      <a:endParaRPr lang="en-IN" b="1" dirty="0">
                        <a:solidFill>
                          <a:srgbClr val="FF0000"/>
                        </a:solidFill>
                      </a:endParaRPr>
                    </a:p>
                  </a:txBody>
                  <a:tcPr anchor="ctr">
                    <a:lnL>
                      <a:noFill/>
                    </a:lnL>
                    <a:lnR>
                      <a:noFill/>
                    </a:lnR>
                    <a:lnT>
                      <a:noFill/>
                    </a:lnT>
                    <a:lnB>
                      <a:noFill/>
                    </a:lnB>
                  </a:tcPr>
                </a:tc>
                <a:tc>
                  <a:txBody>
                    <a:bodyPr/>
                    <a:lstStyle/>
                    <a:p>
                      <a:r>
                        <a:rPr lang="en-IN" b="1" dirty="0" err="1">
                          <a:solidFill>
                            <a:srgbClr val="FF0000"/>
                          </a:solidFill>
                        </a:rPr>
                        <a:t>DeptName</a:t>
                      </a:r>
                      <a:endParaRPr lang="en-IN" b="1" dirty="0">
                        <a:solidFill>
                          <a:srgbClr val="FF0000"/>
                        </a:solidFill>
                      </a:endParaRPr>
                    </a:p>
                  </a:txBody>
                  <a:tcPr anchor="ctr">
                    <a:lnL>
                      <a:noFill/>
                    </a:lnL>
                    <a:lnR>
                      <a:noFill/>
                    </a:lnR>
                    <a:lnT>
                      <a:noFill/>
                    </a:lnT>
                    <a:lnB>
                      <a:noFill/>
                    </a:lnB>
                  </a:tcPr>
                </a:tc>
                <a:extLst>
                  <a:ext uri="{0D108BD9-81ED-4DB2-BD59-A6C34878D82A}">
                    <a16:rowId xmlns:a16="http://schemas.microsoft.com/office/drawing/2014/main" val="1122152450"/>
                  </a:ext>
                </a:extLst>
              </a:tr>
              <a:tr h="0">
                <a:tc>
                  <a:txBody>
                    <a:bodyPr/>
                    <a:lstStyle/>
                    <a:p>
                      <a:r>
                        <a:rPr lang="en-IN"/>
                        <a:t>101</a:t>
                      </a:r>
                    </a:p>
                  </a:txBody>
                  <a:tcPr anchor="ctr">
                    <a:lnL>
                      <a:noFill/>
                    </a:lnL>
                    <a:lnR>
                      <a:noFill/>
                    </a:lnR>
                    <a:lnT>
                      <a:noFill/>
                    </a:lnT>
                    <a:lnB>
                      <a:noFill/>
                    </a:lnB>
                  </a:tcPr>
                </a:tc>
                <a:tc>
                  <a:txBody>
                    <a:bodyPr/>
                    <a:lstStyle/>
                    <a:p>
                      <a:r>
                        <a:rPr lang="en-IN"/>
                        <a:t>Alice</a:t>
                      </a:r>
                    </a:p>
                  </a:txBody>
                  <a:tcPr anchor="ctr">
                    <a:lnL>
                      <a:noFill/>
                    </a:lnL>
                    <a:lnR>
                      <a:noFill/>
                    </a:lnR>
                    <a:lnT>
                      <a:noFill/>
                    </a:lnT>
                    <a:lnB>
                      <a:noFill/>
                    </a:lnB>
                  </a:tcPr>
                </a:tc>
                <a:tc>
                  <a:txBody>
                    <a:bodyPr/>
                    <a:lstStyle/>
                    <a:p>
                      <a:r>
                        <a:rPr lang="en-IN"/>
                        <a:t>D1</a:t>
                      </a:r>
                    </a:p>
                  </a:txBody>
                  <a:tcPr anchor="ctr">
                    <a:lnL>
                      <a:noFill/>
                    </a:lnL>
                    <a:lnR>
                      <a:noFill/>
                    </a:lnR>
                    <a:lnT>
                      <a:noFill/>
                    </a:lnT>
                    <a:lnB>
                      <a:noFill/>
                    </a:lnB>
                  </a:tcPr>
                </a:tc>
                <a:tc>
                  <a:txBody>
                    <a:bodyPr/>
                    <a:lstStyle/>
                    <a:p>
                      <a:r>
                        <a:rPr lang="en-IN"/>
                        <a:t>HR</a:t>
                      </a:r>
                    </a:p>
                  </a:txBody>
                  <a:tcPr anchor="ctr">
                    <a:lnL>
                      <a:noFill/>
                    </a:lnL>
                    <a:lnR>
                      <a:noFill/>
                    </a:lnR>
                    <a:lnT>
                      <a:noFill/>
                    </a:lnT>
                    <a:lnB>
                      <a:noFill/>
                    </a:lnB>
                  </a:tcPr>
                </a:tc>
                <a:extLst>
                  <a:ext uri="{0D108BD9-81ED-4DB2-BD59-A6C34878D82A}">
                    <a16:rowId xmlns:a16="http://schemas.microsoft.com/office/drawing/2014/main" val="1692074409"/>
                  </a:ext>
                </a:extLst>
              </a:tr>
              <a:tr h="0">
                <a:tc>
                  <a:txBody>
                    <a:bodyPr/>
                    <a:lstStyle/>
                    <a:p>
                      <a:r>
                        <a:rPr lang="en-IN"/>
                        <a:t>102</a:t>
                      </a:r>
                    </a:p>
                  </a:txBody>
                  <a:tcPr anchor="ctr">
                    <a:lnL>
                      <a:noFill/>
                    </a:lnL>
                    <a:lnR>
                      <a:noFill/>
                    </a:lnR>
                    <a:lnT>
                      <a:noFill/>
                    </a:lnT>
                    <a:lnB>
                      <a:noFill/>
                    </a:lnB>
                  </a:tcPr>
                </a:tc>
                <a:tc>
                  <a:txBody>
                    <a:bodyPr/>
                    <a:lstStyle/>
                    <a:p>
                      <a:r>
                        <a:rPr lang="en-IN"/>
                        <a:t>Bob</a:t>
                      </a:r>
                    </a:p>
                  </a:txBody>
                  <a:tcPr anchor="ctr">
                    <a:lnL>
                      <a:noFill/>
                    </a:lnL>
                    <a:lnR>
                      <a:noFill/>
                    </a:lnR>
                    <a:lnT>
                      <a:noFill/>
                    </a:lnT>
                    <a:lnB>
                      <a:noFill/>
                    </a:lnB>
                  </a:tcPr>
                </a:tc>
                <a:tc>
                  <a:txBody>
                    <a:bodyPr/>
                    <a:lstStyle/>
                    <a:p>
                      <a:r>
                        <a:rPr lang="en-IN"/>
                        <a:t>D2</a:t>
                      </a:r>
                    </a:p>
                  </a:txBody>
                  <a:tcPr anchor="ctr">
                    <a:lnL>
                      <a:noFill/>
                    </a:lnL>
                    <a:lnR>
                      <a:noFill/>
                    </a:lnR>
                    <a:lnT>
                      <a:noFill/>
                    </a:lnT>
                    <a:lnB>
                      <a:noFill/>
                    </a:lnB>
                  </a:tcPr>
                </a:tc>
                <a:tc>
                  <a:txBody>
                    <a:bodyPr/>
                    <a:lstStyle/>
                    <a:p>
                      <a:r>
                        <a:rPr lang="en-IN"/>
                        <a:t>Finance</a:t>
                      </a:r>
                    </a:p>
                  </a:txBody>
                  <a:tcPr anchor="ctr">
                    <a:lnL>
                      <a:noFill/>
                    </a:lnL>
                    <a:lnR>
                      <a:noFill/>
                    </a:lnR>
                    <a:lnT>
                      <a:noFill/>
                    </a:lnT>
                    <a:lnB>
                      <a:noFill/>
                    </a:lnB>
                  </a:tcPr>
                </a:tc>
                <a:extLst>
                  <a:ext uri="{0D108BD9-81ED-4DB2-BD59-A6C34878D82A}">
                    <a16:rowId xmlns:a16="http://schemas.microsoft.com/office/drawing/2014/main" val="3154267329"/>
                  </a:ext>
                </a:extLst>
              </a:tr>
              <a:tr h="0">
                <a:tc>
                  <a:txBody>
                    <a:bodyPr/>
                    <a:lstStyle/>
                    <a:p>
                      <a:r>
                        <a:rPr lang="en-IN"/>
                        <a:t>103</a:t>
                      </a:r>
                    </a:p>
                  </a:txBody>
                  <a:tcPr anchor="ctr">
                    <a:lnL>
                      <a:noFill/>
                    </a:lnL>
                    <a:lnR>
                      <a:noFill/>
                    </a:lnR>
                    <a:lnT>
                      <a:noFill/>
                    </a:lnT>
                    <a:lnB>
                      <a:noFill/>
                    </a:lnB>
                  </a:tcPr>
                </a:tc>
                <a:tc>
                  <a:txBody>
                    <a:bodyPr/>
                    <a:lstStyle/>
                    <a:p>
                      <a:r>
                        <a:rPr lang="en-IN" dirty="0" smtClean="0"/>
                        <a:t>Carol</a:t>
                      </a:r>
                      <a:endParaRPr lang="en-IN" dirty="0"/>
                    </a:p>
                  </a:txBody>
                  <a:tcPr anchor="ctr">
                    <a:lnL>
                      <a:noFill/>
                    </a:lnL>
                    <a:lnR>
                      <a:noFill/>
                    </a:lnR>
                    <a:lnT>
                      <a:noFill/>
                    </a:lnT>
                    <a:lnB>
                      <a:noFill/>
                    </a:lnB>
                  </a:tcPr>
                </a:tc>
                <a:tc>
                  <a:txBody>
                    <a:bodyPr/>
                    <a:lstStyle/>
                    <a:p>
                      <a:r>
                        <a:rPr lang="en-IN"/>
                        <a:t>D1</a:t>
                      </a:r>
                    </a:p>
                  </a:txBody>
                  <a:tcPr anchor="ctr">
                    <a:lnL>
                      <a:noFill/>
                    </a:lnL>
                    <a:lnR>
                      <a:noFill/>
                    </a:lnR>
                    <a:lnT>
                      <a:noFill/>
                    </a:lnT>
                    <a:lnB>
                      <a:noFill/>
                    </a:lnB>
                  </a:tcPr>
                </a:tc>
                <a:tc>
                  <a:txBody>
                    <a:bodyPr/>
                    <a:lstStyle/>
                    <a:p>
                      <a:r>
                        <a:rPr lang="en-IN" dirty="0"/>
                        <a:t>HR</a:t>
                      </a:r>
                    </a:p>
                  </a:txBody>
                  <a:tcPr anchor="ctr">
                    <a:lnL>
                      <a:noFill/>
                    </a:lnL>
                    <a:lnR>
                      <a:noFill/>
                    </a:lnR>
                    <a:lnT>
                      <a:noFill/>
                    </a:lnT>
                    <a:lnB>
                      <a:noFill/>
                    </a:lnB>
                  </a:tcPr>
                </a:tc>
                <a:extLst>
                  <a:ext uri="{0D108BD9-81ED-4DB2-BD59-A6C34878D82A}">
                    <a16:rowId xmlns:a16="http://schemas.microsoft.com/office/drawing/2014/main" val="2270250897"/>
                  </a:ext>
                </a:extLst>
              </a:tr>
            </a:tbl>
          </a:graphicData>
        </a:graphic>
      </p:graphicFrame>
    </p:spTree>
    <p:extLst>
      <p:ext uri="{BB962C8B-B14F-4D97-AF65-F5344CB8AC3E}">
        <p14:creationId xmlns:p14="http://schemas.microsoft.com/office/powerpoint/2010/main" val="3579915471"/>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We get back the original table.</a:t>
            </a:r>
            <a:r>
              <a:rPr lang="en-US" dirty="0"/>
              <a:t> ✅ This is a </a:t>
            </a:r>
            <a:r>
              <a:rPr lang="en-US" b="1" dirty="0"/>
              <a:t>lossless decomposition</a:t>
            </a:r>
            <a:endParaRPr lang="en-IN" dirty="0"/>
          </a:p>
        </p:txBody>
      </p:sp>
    </p:spTree>
    <p:extLst>
      <p:ext uri="{BB962C8B-B14F-4D97-AF65-F5344CB8AC3E}">
        <p14:creationId xmlns:p14="http://schemas.microsoft.com/office/powerpoint/2010/main" val="4168332121"/>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Lossy</a:t>
            </a:r>
            <a:r>
              <a:rPr lang="en-US" dirty="0"/>
              <a:t> Decomposition </a:t>
            </a:r>
            <a:r>
              <a:rPr lang="en-US" dirty="0" err="1"/>
              <a:t>ExampleOriginal</a:t>
            </a:r>
            <a:r>
              <a:rPr lang="en-US" dirty="0"/>
              <a:t> Table: Student</a:t>
            </a:r>
            <a:endParaRPr lang="en-IN"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987109688"/>
              </p:ext>
            </p:extLst>
          </p:nvPr>
        </p:nvGraphicFramePr>
        <p:xfrm>
          <a:off x="457200" y="3314541"/>
          <a:ext cx="8229600" cy="1097280"/>
        </p:xfrm>
        <a:graphic>
          <a:graphicData uri="http://schemas.openxmlformats.org/drawingml/2006/table">
            <a:tbl>
              <a:tblPr/>
              <a:tblGrid>
                <a:gridCol w="2057400">
                  <a:extLst>
                    <a:ext uri="{9D8B030D-6E8A-4147-A177-3AD203B41FA5}">
                      <a16:colId xmlns:a16="http://schemas.microsoft.com/office/drawing/2014/main" val="3462193028"/>
                    </a:ext>
                  </a:extLst>
                </a:gridCol>
                <a:gridCol w="2057400">
                  <a:extLst>
                    <a:ext uri="{9D8B030D-6E8A-4147-A177-3AD203B41FA5}">
                      <a16:colId xmlns:a16="http://schemas.microsoft.com/office/drawing/2014/main" val="1116517360"/>
                    </a:ext>
                  </a:extLst>
                </a:gridCol>
                <a:gridCol w="2057400">
                  <a:extLst>
                    <a:ext uri="{9D8B030D-6E8A-4147-A177-3AD203B41FA5}">
                      <a16:colId xmlns:a16="http://schemas.microsoft.com/office/drawing/2014/main" val="357914689"/>
                    </a:ext>
                  </a:extLst>
                </a:gridCol>
                <a:gridCol w="2057400">
                  <a:extLst>
                    <a:ext uri="{9D8B030D-6E8A-4147-A177-3AD203B41FA5}">
                      <a16:colId xmlns:a16="http://schemas.microsoft.com/office/drawing/2014/main" val="3886547878"/>
                    </a:ext>
                  </a:extLst>
                </a:gridCol>
              </a:tblGrid>
              <a:tr h="0">
                <a:tc>
                  <a:txBody>
                    <a:bodyPr/>
                    <a:lstStyle/>
                    <a:p>
                      <a:r>
                        <a:rPr lang="en-IN" b="1" dirty="0" err="1"/>
                        <a:t>StudentID</a:t>
                      </a:r>
                      <a:endParaRPr lang="en-IN" b="1" dirty="0"/>
                    </a:p>
                  </a:txBody>
                  <a:tcPr anchor="ctr">
                    <a:lnL>
                      <a:noFill/>
                    </a:lnL>
                    <a:lnR>
                      <a:noFill/>
                    </a:lnR>
                    <a:lnT>
                      <a:noFill/>
                    </a:lnT>
                    <a:lnB>
                      <a:noFill/>
                    </a:lnB>
                  </a:tcPr>
                </a:tc>
                <a:tc>
                  <a:txBody>
                    <a:bodyPr/>
                    <a:lstStyle/>
                    <a:p>
                      <a:r>
                        <a:rPr lang="en-IN" b="1" dirty="0"/>
                        <a:t>Name</a:t>
                      </a:r>
                    </a:p>
                  </a:txBody>
                  <a:tcPr anchor="ctr">
                    <a:lnL>
                      <a:noFill/>
                    </a:lnL>
                    <a:lnR>
                      <a:noFill/>
                    </a:lnR>
                    <a:lnT>
                      <a:noFill/>
                    </a:lnT>
                    <a:lnB>
                      <a:noFill/>
                    </a:lnB>
                  </a:tcPr>
                </a:tc>
                <a:tc>
                  <a:txBody>
                    <a:bodyPr/>
                    <a:lstStyle/>
                    <a:p>
                      <a:r>
                        <a:rPr lang="en-IN" b="1" dirty="0"/>
                        <a:t>Course</a:t>
                      </a:r>
                    </a:p>
                  </a:txBody>
                  <a:tcPr anchor="ctr">
                    <a:lnL>
                      <a:noFill/>
                    </a:lnL>
                    <a:lnR>
                      <a:noFill/>
                    </a:lnR>
                    <a:lnT>
                      <a:noFill/>
                    </a:lnT>
                    <a:lnB>
                      <a:noFill/>
                    </a:lnB>
                  </a:tcPr>
                </a:tc>
                <a:tc>
                  <a:txBody>
                    <a:bodyPr/>
                    <a:lstStyle/>
                    <a:p>
                      <a:r>
                        <a:rPr lang="en-IN" b="1" dirty="0"/>
                        <a:t>Instructor</a:t>
                      </a:r>
                    </a:p>
                  </a:txBody>
                  <a:tcPr anchor="ctr">
                    <a:lnL>
                      <a:noFill/>
                    </a:lnL>
                    <a:lnR>
                      <a:noFill/>
                    </a:lnR>
                    <a:lnT>
                      <a:noFill/>
                    </a:lnT>
                    <a:lnB>
                      <a:noFill/>
                    </a:lnB>
                  </a:tcPr>
                </a:tc>
                <a:extLst>
                  <a:ext uri="{0D108BD9-81ED-4DB2-BD59-A6C34878D82A}">
                    <a16:rowId xmlns:a16="http://schemas.microsoft.com/office/drawing/2014/main" val="2394082491"/>
                  </a:ext>
                </a:extLst>
              </a:tr>
              <a:tr h="0">
                <a:tc>
                  <a:txBody>
                    <a:bodyPr/>
                    <a:lstStyle/>
                    <a:p>
                      <a:r>
                        <a:rPr lang="en-IN"/>
                        <a:t>S1</a:t>
                      </a:r>
                    </a:p>
                  </a:txBody>
                  <a:tcPr anchor="ctr">
                    <a:lnL>
                      <a:noFill/>
                    </a:lnL>
                    <a:lnR>
                      <a:noFill/>
                    </a:lnR>
                    <a:lnT>
                      <a:noFill/>
                    </a:lnT>
                    <a:lnB>
                      <a:noFill/>
                    </a:lnB>
                  </a:tcPr>
                </a:tc>
                <a:tc>
                  <a:txBody>
                    <a:bodyPr/>
                    <a:lstStyle/>
                    <a:p>
                      <a:r>
                        <a:rPr lang="en-IN"/>
                        <a:t>Ramesh</a:t>
                      </a:r>
                    </a:p>
                  </a:txBody>
                  <a:tcPr anchor="ctr">
                    <a:lnL>
                      <a:noFill/>
                    </a:lnL>
                    <a:lnR>
                      <a:noFill/>
                    </a:lnR>
                    <a:lnT>
                      <a:noFill/>
                    </a:lnT>
                    <a:lnB>
                      <a:noFill/>
                    </a:lnB>
                  </a:tcPr>
                </a:tc>
                <a:tc>
                  <a:txBody>
                    <a:bodyPr/>
                    <a:lstStyle/>
                    <a:p>
                      <a:r>
                        <a:rPr lang="en-IN"/>
                        <a:t>Math</a:t>
                      </a:r>
                    </a:p>
                  </a:txBody>
                  <a:tcPr anchor="ctr">
                    <a:lnL>
                      <a:noFill/>
                    </a:lnL>
                    <a:lnR>
                      <a:noFill/>
                    </a:lnR>
                    <a:lnT>
                      <a:noFill/>
                    </a:lnT>
                    <a:lnB>
                      <a:noFill/>
                    </a:lnB>
                  </a:tcPr>
                </a:tc>
                <a:tc>
                  <a:txBody>
                    <a:bodyPr/>
                    <a:lstStyle/>
                    <a:p>
                      <a:r>
                        <a:rPr lang="en-IN"/>
                        <a:t>Prof. A</a:t>
                      </a:r>
                    </a:p>
                  </a:txBody>
                  <a:tcPr anchor="ctr">
                    <a:lnL>
                      <a:noFill/>
                    </a:lnL>
                    <a:lnR>
                      <a:noFill/>
                    </a:lnR>
                    <a:lnT>
                      <a:noFill/>
                    </a:lnT>
                    <a:lnB>
                      <a:noFill/>
                    </a:lnB>
                  </a:tcPr>
                </a:tc>
                <a:extLst>
                  <a:ext uri="{0D108BD9-81ED-4DB2-BD59-A6C34878D82A}">
                    <a16:rowId xmlns:a16="http://schemas.microsoft.com/office/drawing/2014/main" val="3616123136"/>
                  </a:ext>
                </a:extLst>
              </a:tr>
              <a:tr h="0">
                <a:tc>
                  <a:txBody>
                    <a:bodyPr/>
                    <a:lstStyle/>
                    <a:p>
                      <a:r>
                        <a:rPr lang="en-IN"/>
                        <a:t>S2</a:t>
                      </a:r>
                    </a:p>
                  </a:txBody>
                  <a:tcPr anchor="ctr">
                    <a:lnL>
                      <a:noFill/>
                    </a:lnL>
                    <a:lnR>
                      <a:noFill/>
                    </a:lnR>
                    <a:lnT>
                      <a:noFill/>
                    </a:lnT>
                    <a:lnB>
                      <a:noFill/>
                    </a:lnB>
                  </a:tcPr>
                </a:tc>
                <a:tc>
                  <a:txBody>
                    <a:bodyPr/>
                    <a:lstStyle/>
                    <a:p>
                      <a:r>
                        <a:rPr lang="en-IN"/>
                        <a:t>Suresh</a:t>
                      </a:r>
                    </a:p>
                  </a:txBody>
                  <a:tcPr anchor="ctr">
                    <a:lnL>
                      <a:noFill/>
                    </a:lnL>
                    <a:lnR>
                      <a:noFill/>
                    </a:lnR>
                    <a:lnT>
                      <a:noFill/>
                    </a:lnT>
                    <a:lnB>
                      <a:noFill/>
                    </a:lnB>
                  </a:tcPr>
                </a:tc>
                <a:tc>
                  <a:txBody>
                    <a:bodyPr/>
                    <a:lstStyle/>
                    <a:p>
                      <a:r>
                        <a:rPr lang="en-IN"/>
                        <a:t>Science</a:t>
                      </a:r>
                    </a:p>
                  </a:txBody>
                  <a:tcPr anchor="ctr">
                    <a:lnL>
                      <a:noFill/>
                    </a:lnL>
                    <a:lnR>
                      <a:noFill/>
                    </a:lnR>
                    <a:lnT>
                      <a:noFill/>
                    </a:lnT>
                    <a:lnB>
                      <a:noFill/>
                    </a:lnB>
                  </a:tcPr>
                </a:tc>
                <a:tc>
                  <a:txBody>
                    <a:bodyPr/>
                    <a:lstStyle/>
                    <a:p>
                      <a:r>
                        <a:rPr lang="en-IN" dirty="0" err="1"/>
                        <a:t>Prof.</a:t>
                      </a:r>
                      <a:r>
                        <a:rPr lang="en-IN" dirty="0"/>
                        <a:t> B</a:t>
                      </a:r>
                    </a:p>
                  </a:txBody>
                  <a:tcPr anchor="ctr">
                    <a:lnL>
                      <a:noFill/>
                    </a:lnL>
                    <a:lnR>
                      <a:noFill/>
                    </a:lnR>
                    <a:lnT>
                      <a:noFill/>
                    </a:lnT>
                    <a:lnB>
                      <a:noFill/>
                    </a:lnB>
                  </a:tcPr>
                </a:tc>
                <a:extLst>
                  <a:ext uri="{0D108BD9-81ED-4DB2-BD59-A6C34878D82A}">
                    <a16:rowId xmlns:a16="http://schemas.microsoft.com/office/drawing/2014/main" val="3862138427"/>
                  </a:ext>
                </a:extLst>
              </a:tr>
            </a:tbl>
          </a:graphicData>
        </a:graphic>
      </p:graphicFrame>
    </p:spTree>
    <p:extLst>
      <p:ext uri="{BB962C8B-B14F-4D97-AF65-F5344CB8AC3E}">
        <p14:creationId xmlns:p14="http://schemas.microsoft.com/office/powerpoint/2010/main" val="1970318793"/>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Decomposed Tables:1. </a:t>
            </a:r>
            <a:r>
              <a:rPr lang="en-IN" dirty="0" err="1"/>
              <a:t>Student_Info</a:t>
            </a:r>
            <a:endParaRPr lang="en-IN"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983384847"/>
              </p:ext>
            </p:extLst>
          </p:nvPr>
        </p:nvGraphicFramePr>
        <p:xfrm>
          <a:off x="457200" y="3314541"/>
          <a:ext cx="8229600" cy="1097280"/>
        </p:xfrm>
        <a:graphic>
          <a:graphicData uri="http://schemas.openxmlformats.org/drawingml/2006/table">
            <a:tbl>
              <a:tblPr/>
              <a:tblGrid>
                <a:gridCol w="4114800">
                  <a:extLst>
                    <a:ext uri="{9D8B030D-6E8A-4147-A177-3AD203B41FA5}">
                      <a16:colId xmlns:a16="http://schemas.microsoft.com/office/drawing/2014/main" val="2890586038"/>
                    </a:ext>
                  </a:extLst>
                </a:gridCol>
                <a:gridCol w="4114800">
                  <a:extLst>
                    <a:ext uri="{9D8B030D-6E8A-4147-A177-3AD203B41FA5}">
                      <a16:colId xmlns:a16="http://schemas.microsoft.com/office/drawing/2014/main" val="1089616291"/>
                    </a:ext>
                  </a:extLst>
                </a:gridCol>
              </a:tblGrid>
              <a:tr h="0">
                <a:tc>
                  <a:txBody>
                    <a:bodyPr/>
                    <a:lstStyle/>
                    <a:p>
                      <a:r>
                        <a:rPr lang="en-IN" b="1" dirty="0" err="1"/>
                        <a:t>StudentID</a:t>
                      </a:r>
                      <a:endParaRPr lang="en-IN" b="1" dirty="0"/>
                    </a:p>
                  </a:txBody>
                  <a:tcPr anchor="ctr">
                    <a:lnL>
                      <a:noFill/>
                    </a:lnL>
                    <a:lnR>
                      <a:noFill/>
                    </a:lnR>
                    <a:lnT>
                      <a:noFill/>
                    </a:lnT>
                    <a:lnB>
                      <a:noFill/>
                    </a:lnB>
                  </a:tcPr>
                </a:tc>
                <a:tc>
                  <a:txBody>
                    <a:bodyPr/>
                    <a:lstStyle/>
                    <a:p>
                      <a:r>
                        <a:rPr lang="en-IN" b="1" dirty="0"/>
                        <a:t>Name</a:t>
                      </a:r>
                    </a:p>
                  </a:txBody>
                  <a:tcPr anchor="ctr">
                    <a:lnL>
                      <a:noFill/>
                    </a:lnL>
                    <a:lnR>
                      <a:noFill/>
                    </a:lnR>
                    <a:lnT>
                      <a:noFill/>
                    </a:lnT>
                    <a:lnB>
                      <a:noFill/>
                    </a:lnB>
                  </a:tcPr>
                </a:tc>
                <a:extLst>
                  <a:ext uri="{0D108BD9-81ED-4DB2-BD59-A6C34878D82A}">
                    <a16:rowId xmlns:a16="http://schemas.microsoft.com/office/drawing/2014/main" val="4200504977"/>
                  </a:ext>
                </a:extLst>
              </a:tr>
              <a:tr h="0">
                <a:tc>
                  <a:txBody>
                    <a:bodyPr/>
                    <a:lstStyle/>
                    <a:p>
                      <a:r>
                        <a:rPr lang="en-IN"/>
                        <a:t>S1</a:t>
                      </a:r>
                    </a:p>
                  </a:txBody>
                  <a:tcPr anchor="ctr">
                    <a:lnL>
                      <a:noFill/>
                    </a:lnL>
                    <a:lnR>
                      <a:noFill/>
                    </a:lnR>
                    <a:lnT>
                      <a:noFill/>
                    </a:lnT>
                    <a:lnB>
                      <a:noFill/>
                    </a:lnB>
                  </a:tcPr>
                </a:tc>
                <a:tc>
                  <a:txBody>
                    <a:bodyPr/>
                    <a:lstStyle/>
                    <a:p>
                      <a:r>
                        <a:rPr lang="en-IN"/>
                        <a:t>Ramesh</a:t>
                      </a:r>
                    </a:p>
                  </a:txBody>
                  <a:tcPr anchor="ctr">
                    <a:lnL>
                      <a:noFill/>
                    </a:lnL>
                    <a:lnR>
                      <a:noFill/>
                    </a:lnR>
                    <a:lnT>
                      <a:noFill/>
                    </a:lnT>
                    <a:lnB>
                      <a:noFill/>
                    </a:lnB>
                  </a:tcPr>
                </a:tc>
                <a:extLst>
                  <a:ext uri="{0D108BD9-81ED-4DB2-BD59-A6C34878D82A}">
                    <a16:rowId xmlns:a16="http://schemas.microsoft.com/office/drawing/2014/main" val="1492281360"/>
                  </a:ext>
                </a:extLst>
              </a:tr>
              <a:tr h="0">
                <a:tc>
                  <a:txBody>
                    <a:bodyPr/>
                    <a:lstStyle/>
                    <a:p>
                      <a:r>
                        <a:rPr lang="en-IN"/>
                        <a:t>S2</a:t>
                      </a:r>
                    </a:p>
                  </a:txBody>
                  <a:tcPr anchor="ctr">
                    <a:lnL>
                      <a:noFill/>
                    </a:lnL>
                    <a:lnR>
                      <a:noFill/>
                    </a:lnR>
                    <a:lnT>
                      <a:noFill/>
                    </a:lnT>
                    <a:lnB>
                      <a:noFill/>
                    </a:lnB>
                  </a:tcPr>
                </a:tc>
                <a:tc>
                  <a:txBody>
                    <a:bodyPr/>
                    <a:lstStyle/>
                    <a:p>
                      <a:r>
                        <a:rPr lang="en-IN" dirty="0"/>
                        <a:t>Suresh</a:t>
                      </a:r>
                    </a:p>
                  </a:txBody>
                  <a:tcPr anchor="ctr">
                    <a:lnL>
                      <a:noFill/>
                    </a:lnL>
                    <a:lnR>
                      <a:noFill/>
                    </a:lnR>
                    <a:lnT>
                      <a:noFill/>
                    </a:lnT>
                    <a:lnB>
                      <a:noFill/>
                    </a:lnB>
                  </a:tcPr>
                </a:tc>
                <a:extLst>
                  <a:ext uri="{0D108BD9-81ED-4DB2-BD59-A6C34878D82A}">
                    <a16:rowId xmlns:a16="http://schemas.microsoft.com/office/drawing/2014/main" val="3978187414"/>
                  </a:ext>
                </a:extLst>
              </a:tr>
            </a:tbl>
          </a:graphicData>
        </a:graphic>
      </p:graphicFrame>
    </p:spTree>
    <p:extLst>
      <p:ext uri="{BB962C8B-B14F-4D97-AF65-F5344CB8AC3E}">
        <p14:creationId xmlns:p14="http://schemas.microsoft.com/office/powerpoint/2010/main" val="3696975623"/>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65122801"/>
              </p:ext>
            </p:extLst>
          </p:nvPr>
        </p:nvGraphicFramePr>
        <p:xfrm>
          <a:off x="457200" y="3314541"/>
          <a:ext cx="8229600" cy="1097280"/>
        </p:xfrm>
        <a:graphic>
          <a:graphicData uri="http://schemas.openxmlformats.org/drawingml/2006/table">
            <a:tbl>
              <a:tblPr/>
              <a:tblGrid>
                <a:gridCol w="4114800">
                  <a:extLst>
                    <a:ext uri="{9D8B030D-6E8A-4147-A177-3AD203B41FA5}">
                      <a16:colId xmlns:a16="http://schemas.microsoft.com/office/drawing/2014/main" val="1065413274"/>
                    </a:ext>
                  </a:extLst>
                </a:gridCol>
                <a:gridCol w="4114800">
                  <a:extLst>
                    <a:ext uri="{9D8B030D-6E8A-4147-A177-3AD203B41FA5}">
                      <a16:colId xmlns:a16="http://schemas.microsoft.com/office/drawing/2014/main" val="2001348896"/>
                    </a:ext>
                  </a:extLst>
                </a:gridCol>
              </a:tblGrid>
              <a:tr h="0">
                <a:tc>
                  <a:txBody>
                    <a:bodyPr/>
                    <a:lstStyle/>
                    <a:p>
                      <a:r>
                        <a:rPr lang="en-IN" b="1" dirty="0"/>
                        <a:t>Course</a:t>
                      </a:r>
                    </a:p>
                  </a:txBody>
                  <a:tcPr anchor="ctr">
                    <a:lnL>
                      <a:noFill/>
                    </a:lnL>
                    <a:lnR>
                      <a:noFill/>
                    </a:lnR>
                    <a:lnT>
                      <a:noFill/>
                    </a:lnT>
                    <a:lnB>
                      <a:noFill/>
                    </a:lnB>
                  </a:tcPr>
                </a:tc>
                <a:tc>
                  <a:txBody>
                    <a:bodyPr/>
                    <a:lstStyle/>
                    <a:p>
                      <a:r>
                        <a:rPr lang="en-IN" b="1" dirty="0"/>
                        <a:t>Instructor</a:t>
                      </a:r>
                    </a:p>
                  </a:txBody>
                  <a:tcPr anchor="ctr">
                    <a:lnL>
                      <a:noFill/>
                    </a:lnL>
                    <a:lnR>
                      <a:noFill/>
                    </a:lnR>
                    <a:lnT>
                      <a:noFill/>
                    </a:lnT>
                    <a:lnB>
                      <a:noFill/>
                    </a:lnB>
                  </a:tcPr>
                </a:tc>
                <a:extLst>
                  <a:ext uri="{0D108BD9-81ED-4DB2-BD59-A6C34878D82A}">
                    <a16:rowId xmlns:a16="http://schemas.microsoft.com/office/drawing/2014/main" val="4102036105"/>
                  </a:ext>
                </a:extLst>
              </a:tr>
              <a:tr h="0">
                <a:tc>
                  <a:txBody>
                    <a:bodyPr/>
                    <a:lstStyle/>
                    <a:p>
                      <a:r>
                        <a:rPr lang="en-IN"/>
                        <a:t>Math</a:t>
                      </a:r>
                    </a:p>
                  </a:txBody>
                  <a:tcPr anchor="ctr">
                    <a:lnL>
                      <a:noFill/>
                    </a:lnL>
                    <a:lnR>
                      <a:noFill/>
                    </a:lnR>
                    <a:lnT>
                      <a:noFill/>
                    </a:lnT>
                    <a:lnB>
                      <a:noFill/>
                    </a:lnB>
                  </a:tcPr>
                </a:tc>
                <a:tc>
                  <a:txBody>
                    <a:bodyPr/>
                    <a:lstStyle/>
                    <a:p>
                      <a:r>
                        <a:rPr lang="en-IN"/>
                        <a:t>Prof. A</a:t>
                      </a:r>
                    </a:p>
                  </a:txBody>
                  <a:tcPr anchor="ctr">
                    <a:lnL>
                      <a:noFill/>
                    </a:lnL>
                    <a:lnR>
                      <a:noFill/>
                    </a:lnR>
                    <a:lnT>
                      <a:noFill/>
                    </a:lnT>
                    <a:lnB>
                      <a:noFill/>
                    </a:lnB>
                  </a:tcPr>
                </a:tc>
                <a:extLst>
                  <a:ext uri="{0D108BD9-81ED-4DB2-BD59-A6C34878D82A}">
                    <a16:rowId xmlns:a16="http://schemas.microsoft.com/office/drawing/2014/main" val="701839352"/>
                  </a:ext>
                </a:extLst>
              </a:tr>
              <a:tr h="0">
                <a:tc>
                  <a:txBody>
                    <a:bodyPr/>
                    <a:lstStyle/>
                    <a:p>
                      <a:r>
                        <a:rPr lang="en-IN"/>
                        <a:t>Science</a:t>
                      </a:r>
                    </a:p>
                  </a:txBody>
                  <a:tcPr anchor="ctr">
                    <a:lnL>
                      <a:noFill/>
                    </a:lnL>
                    <a:lnR>
                      <a:noFill/>
                    </a:lnR>
                    <a:lnT>
                      <a:noFill/>
                    </a:lnT>
                    <a:lnB>
                      <a:noFill/>
                    </a:lnB>
                  </a:tcPr>
                </a:tc>
                <a:tc>
                  <a:txBody>
                    <a:bodyPr/>
                    <a:lstStyle/>
                    <a:p>
                      <a:r>
                        <a:rPr lang="en-IN" dirty="0" err="1"/>
                        <a:t>Prof.</a:t>
                      </a:r>
                      <a:r>
                        <a:rPr lang="en-IN" dirty="0"/>
                        <a:t> B</a:t>
                      </a:r>
                    </a:p>
                  </a:txBody>
                  <a:tcPr anchor="ctr">
                    <a:lnL>
                      <a:noFill/>
                    </a:lnL>
                    <a:lnR>
                      <a:noFill/>
                    </a:lnR>
                    <a:lnT>
                      <a:noFill/>
                    </a:lnT>
                    <a:lnB>
                      <a:noFill/>
                    </a:lnB>
                  </a:tcPr>
                </a:tc>
                <a:extLst>
                  <a:ext uri="{0D108BD9-81ED-4DB2-BD59-A6C34878D82A}">
                    <a16:rowId xmlns:a16="http://schemas.microsoft.com/office/drawing/2014/main" val="2904814388"/>
                  </a:ext>
                </a:extLst>
              </a:tr>
            </a:tbl>
          </a:graphicData>
        </a:graphic>
      </p:graphicFrame>
    </p:spTree>
    <p:extLst>
      <p:ext uri="{BB962C8B-B14F-4D97-AF65-F5344CB8AC3E}">
        <p14:creationId xmlns:p14="http://schemas.microsoft.com/office/powerpoint/2010/main" val="3665844422"/>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Join (No common key) → Result (Cartesian product):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16635274"/>
              </p:ext>
            </p:extLst>
          </p:nvPr>
        </p:nvGraphicFramePr>
        <p:xfrm>
          <a:off x="457200" y="2948781"/>
          <a:ext cx="8229600" cy="1828800"/>
        </p:xfrm>
        <a:graphic>
          <a:graphicData uri="http://schemas.openxmlformats.org/drawingml/2006/table">
            <a:tbl>
              <a:tblPr/>
              <a:tblGrid>
                <a:gridCol w="2057400">
                  <a:extLst>
                    <a:ext uri="{9D8B030D-6E8A-4147-A177-3AD203B41FA5}">
                      <a16:colId xmlns:a16="http://schemas.microsoft.com/office/drawing/2014/main" val="331073328"/>
                    </a:ext>
                  </a:extLst>
                </a:gridCol>
                <a:gridCol w="2057400">
                  <a:extLst>
                    <a:ext uri="{9D8B030D-6E8A-4147-A177-3AD203B41FA5}">
                      <a16:colId xmlns:a16="http://schemas.microsoft.com/office/drawing/2014/main" val="3939879622"/>
                    </a:ext>
                  </a:extLst>
                </a:gridCol>
                <a:gridCol w="2057400">
                  <a:extLst>
                    <a:ext uri="{9D8B030D-6E8A-4147-A177-3AD203B41FA5}">
                      <a16:colId xmlns:a16="http://schemas.microsoft.com/office/drawing/2014/main" val="754131725"/>
                    </a:ext>
                  </a:extLst>
                </a:gridCol>
                <a:gridCol w="2057400">
                  <a:extLst>
                    <a:ext uri="{9D8B030D-6E8A-4147-A177-3AD203B41FA5}">
                      <a16:colId xmlns:a16="http://schemas.microsoft.com/office/drawing/2014/main" val="313746141"/>
                    </a:ext>
                  </a:extLst>
                </a:gridCol>
              </a:tblGrid>
              <a:tr h="0">
                <a:tc>
                  <a:txBody>
                    <a:bodyPr/>
                    <a:lstStyle/>
                    <a:p>
                      <a:r>
                        <a:rPr lang="en-IN" b="1" dirty="0" err="1"/>
                        <a:t>StudentID</a:t>
                      </a:r>
                      <a:endParaRPr lang="en-IN" b="1" dirty="0"/>
                    </a:p>
                  </a:txBody>
                  <a:tcPr anchor="ctr">
                    <a:lnL>
                      <a:noFill/>
                    </a:lnL>
                    <a:lnR>
                      <a:noFill/>
                    </a:lnR>
                    <a:lnT>
                      <a:noFill/>
                    </a:lnT>
                    <a:lnB>
                      <a:noFill/>
                    </a:lnB>
                  </a:tcPr>
                </a:tc>
                <a:tc>
                  <a:txBody>
                    <a:bodyPr/>
                    <a:lstStyle/>
                    <a:p>
                      <a:r>
                        <a:rPr lang="en-IN" b="1" dirty="0"/>
                        <a:t>Name</a:t>
                      </a:r>
                    </a:p>
                  </a:txBody>
                  <a:tcPr anchor="ctr">
                    <a:lnL>
                      <a:noFill/>
                    </a:lnL>
                    <a:lnR>
                      <a:noFill/>
                    </a:lnR>
                    <a:lnT>
                      <a:noFill/>
                    </a:lnT>
                    <a:lnB>
                      <a:noFill/>
                    </a:lnB>
                  </a:tcPr>
                </a:tc>
                <a:tc>
                  <a:txBody>
                    <a:bodyPr/>
                    <a:lstStyle/>
                    <a:p>
                      <a:r>
                        <a:rPr lang="en-IN" b="1" dirty="0"/>
                        <a:t>Course</a:t>
                      </a:r>
                    </a:p>
                  </a:txBody>
                  <a:tcPr anchor="ctr">
                    <a:lnL>
                      <a:noFill/>
                    </a:lnL>
                    <a:lnR>
                      <a:noFill/>
                    </a:lnR>
                    <a:lnT>
                      <a:noFill/>
                    </a:lnT>
                    <a:lnB>
                      <a:noFill/>
                    </a:lnB>
                  </a:tcPr>
                </a:tc>
                <a:tc>
                  <a:txBody>
                    <a:bodyPr/>
                    <a:lstStyle/>
                    <a:p>
                      <a:r>
                        <a:rPr lang="en-IN" b="1" dirty="0"/>
                        <a:t>Instructor</a:t>
                      </a:r>
                    </a:p>
                  </a:txBody>
                  <a:tcPr anchor="ctr">
                    <a:lnL>
                      <a:noFill/>
                    </a:lnL>
                    <a:lnR>
                      <a:noFill/>
                    </a:lnR>
                    <a:lnT>
                      <a:noFill/>
                    </a:lnT>
                    <a:lnB>
                      <a:noFill/>
                    </a:lnB>
                  </a:tcPr>
                </a:tc>
                <a:extLst>
                  <a:ext uri="{0D108BD9-81ED-4DB2-BD59-A6C34878D82A}">
                    <a16:rowId xmlns:a16="http://schemas.microsoft.com/office/drawing/2014/main" val="1845950840"/>
                  </a:ext>
                </a:extLst>
              </a:tr>
              <a:tr h="0">
                <a:tc>
                  <a:txBody>
                    <a:bodyPr/>
                    <a:lstStyle/>
                    <a:p>
                      <a:r>
                        <a:rPr lang="en-IN"/>
                        <a:t>S1</a:t>
                      </a:r>
                    </a:p>
                  </a:txBody>
                  <a:tcPr anchor="ctr">
                    <a:lnL>
                      <a:noFill/>
                    </a:lnL>
                    <a:lnR>
                      <a:noFill/>
                    </a:lnR>
                    <a:lnT>
                      <a:noFill/>
                    </a:lnT>
                    <a:lnB>
                      <a:noFill/>
                    </a:lnB>
                  </a:tcPr>
                </a:tc>
                <a:tc>
                  <a:txBody>
                    <a:bodyPr/>
                    <a:lstStyle/>
                    <a:p>
                      <a:r>
                        <a:rPr lang="en-IN"/>
                        <a:t>Ramesh</a:t>
                      </a:r>
                    </a:p>
                  </a:txBody>
                  <a:tcPr anchor="ctr">
                    <a:lnL>
                      <a:noFill/>
                    </a:lnL>
                    <a:lnR>
                      <a:noFill/>
                    </a:lnR>
                    <a:lnT>
                      <a:noFill/>
                    </a:lnT>
                    <a:lnB>
                      <a:noFill/>
                    </a:lnB>
                  </a:tcPr>
                </a:tc>
                <a:tc>
                  <a:txBody>
                    <a:bodyPr/>
                    <a:lstStyle/>
                    <a:p>
                      <a:r>
                        <a:rPr lang="en-IN"/>
                        <a:t>Math</a:t>
                      </a:r>
                    </a:p>
                  </a:txBody>
                  <a:tcPr anchor="ctr">
                    <a:lnL>
                      <a:noFill/>
                    </a:lnL>
                    <a:lnR>
                      <a:noFill/>
                    </a:lnR>
                    <a:lnT>
                      <a:noFill/>
                    </a:lnT>
                    <a:lnB>
                      <a:noFill/>
                    </a:lnB>
                  </a:tcPr>
                </a:tc>
                <a:tc>
                  <a:txBody>
                    <a:bodyPr/>
                    <a:lstStyle/>
                    <a:p>
                      <a:r>
                        <a:rPr lang="en-IN"/>
                        <a:t>Prof. A</a:t>
                      </a:r>
                    </a:p>
                  </a:txBody>
                  <a:tcPr anchor="ctr">
                    <a:lnL>
                      <a:noFill/>
                    </a:lnL>
                    <a:lnR>
                      <a:noFill/>
                    </a:lnR>
                    <a:lnT>
                      <a:noFill/>
                    </a:lnT>
                    <a:lnB>
                      <a:noFill/>
                    </a:lnB>
                  </a:tcPr>
                </a:tc>
                <a:extLst>
                  <a:ext uri="{0D108BD9-81ED-4DB2-BD59-A6C34878D82A}">
                    <a16:rowId xmlns:a16="http://schemas.microsoft.com/office/drawing/2014/main" val="4260444631"/>
                  </a:ext>
                </a:extLst>
              </a:tr>
              <a:tr h="0">
                <a:tc>
                  <a:txBody>
                    <a:bodyPr/>
                    <a:lstStyle/>
                    <a:p>
                      <a:r>
                        <a:rPr lang="en-IN"/>
                        <a:t>S1</a:t>
                      </a:r>
                    </a:p>
                  </a:txBody>
                  <a:tcPr anchor="ctr">
                    <a:lnL>
                      <a:noFill/>
                    </a:lnL>
                    <a:lnR>
                      <a:noFill/>
                    </a:lnR>
                    <a:lnT>
                      <a:noFill/>
                    </a:lnT>
                    <a:lnB>
                      <a:noFill/>
                    </a:lnB>
                  </a:tcPr>
                </a:tc>
                <a:tc>
                  <a:txBody>
                    <a:bodyPr/>
                    <a:lstStyle/>
                    <a:p>
                      <a:r>
                        <a:rPr lang="en-IN"/>
                        <a:t>Ramesh</a:t>
                      </a:r>
                    </a:p>
                  </a:txBody>
                  <a:tcPr anchor="ctr">
                    <a:lnL>
                      <a:noFill/>
                    </a:lnL>
                    <a:lnR>
                      <a:noFill/>
                    </a:lnR>
                    <a:lnT>
                      <a:noFill/>
                    </a:lnT>
                    <a:lnB>
                      <a:noFill/>
                    </a:lnB>
                  </a:tcPr>
                </a:tc>
                <a:tc>
                  <a:txBody>
                    <a:bodyPr/>
                    <a:lstStyle/>
                    <a:p>
                      <a:r>
                        <a:rPr lang="en-IN"/>
                        <a:t>Science</a:t>
                      </a:r>
                    </a:p>
                  </a:txBody>
                  <a:tcPr anchor="ctr">
                    <a:lnL>
                      <a:noFill/>
                    </a:lnL>
                    <a:lnR>
                      <a:noFill/>
                    </a:lnR>
                    <a:lnT>
                      <a:noFill/>
                    </a:lnT>
                    <a:lnB>
                      <a:noFill/>
                    </a:lnB>
                  </a:tcPr>
                </a:tc>
                <a:tc>
                  <a:txBody>
                    <a:bodyPr/>
                    <a:lstStyle/>
                    <a:p>
                      <a:r>
                        <a:rPr lang="en-IN"/>
                        <a:t>Prof. B</a:t>
                      </a:r>
                    </a:p>
                  </a:txBody>
                  <a:tcPr anchor="ctr">
                    <a:lnL>
                      <a:noFill/>
                    </a:lnL>
                    <a:lnR>
                      <a:noFill/>
                    </a:lnR>
                    <a:lnT>
                      <a:noFill/>
                    </a:lnT>
                    <a:lnB>
                      <a:noFill/>
                    </a:lnB>
                  </a:tcPr>
                </a:tc>
                <a:extLst>
                  <a:ext uri="{0D108BD9-81ED-4DB2-BD59-A6C34878D82A}">
                    <a16:rowId xmlns:a16="http://schemas.microsoft.com/office/drawing/2014/main" val="1709693758"/>
                  </a:ext>
                </a:extLst>
              </a:tr>
              <a:tr h="0">
                <a:tc>
                  <a:txBody>
                    <a:bodyPr/>
                    <a:lstStyle/>
                    <a:p>
                      <a:r>
                        <a:rPr lang="en-IN"/>
                        <a:t>S2</a:t>
                      </a:r>
                    </a:p>
                  </a:txBody>
                  <a:tcPr anchor="ctr">
                    <a:lnL>
                      <a:noFill/>
                    </a:lnL>
                    <a:lnR>
                      <a:noFill/>
                    </a:lnR>
                    <a:lnT>
                      <a:noFill/>
                    </a:lnT>
                    <a:lnB>
                      <a:noFill/>
                    </a:lnB>
                  </a:tcPr>
                </a:tc>
                <a:tc>
                  <a:txBody>
                    <a:bodyPr/>
                    <a:lstStyle/>
                    <a:p>
                      <a:r>
                        <a:rPr lang="en-IN"/>
                        <a:t>Suresh</a:t>
                      </a:r>
                    </a:p>
                  </a:txBody>
                  <a:tcPr anchor="ctr">
                    <a:lnL>
                      <a:noFill/>
                    </a:lnL>
                    <a:lnR>
                      <a:noFill/>
                    </a:lnR>
                    <a:lnT>
                      <a:noFill/>
                    </a:lnT>
                    <a:lnB>
                      <a:noFill/>
                    </a:lnB>
                  </a:tcPr>
                </a:tc>
                <a:tc>
                  <a:txBody>
                    <a:bodyPr/>
                    <a:lstStyle/>
                    <a:p>
                      <a:r>
                        <a:rPr lang="en-IN"/>
                        <a:t>Math</a:t>
                      </a:r>
                    </a:p>
                  </a:txBody>
                  <a:tcPr anchor="ctr">
                    <a:lnL>
                      <a:noFill/>
                    </a:lnL>
                    <a:lnR>
                      <a:noFill/>
                    </a:lnR>
                    <a:lnT>
                      <a:noFill/>
                    </a:lnT>
                    <a:lnB>
                      <a:noFill/>
                    </a:lnB>
                  </a:tcPr>
                </a:tc>
                <a:tc>
                  <a:txBody>
                    <a:bodyPr/>
                    <a:lstStyle/>
                    <a:p>
                      <a:r>
                        <a:rPr lang="en-IN"/>
                        <a:t>Prof. A</a:t>
                      </a:r>
                    </a:p>
                  </a:txBody>
                  <a:tcPr anchor="ctr">
                    <a:lnL>
                      <a:noFill/>
                    </a:lnL>
                    <a:lnR>
                      <a:noFill/>
                    </a:lnR>
                    <a:lnT>
                      <a:noFill/>
                    </a:lnT>
                    <a:lnB>
                      <a:noFill/>
                    </a:lnB>
                  </a:tcPr>
                </a:tc>
                <a:extLst>
                  <a:ext uri="{0D108BD9-81ED-4DB2-BD59-A6C34878D82A}">
                    <a16:rowId xmlns:a16="http://schemas.microsoft.com/office/drawing/2014/main" val="1393243820"/>
                  </a:ext>
                </a:extLst>
              </a:tr>
              <a:tr h="0">
                <a:tc>
                  <a:txBody>
                    <a:bodyPr/>
                    <a:lstStyle/>
                    <a:p>
                      <a:r>
                        <a:rPr lang="en-IN"/>
                        <a:t>S2</a:t>
                      </a:r>
                    </a:p>
                  </a:txBody>
                  <a:tcPr anchor="ctr">
                    <a:lnL>
                      <a:noFill/>
                    </a:lnL>
                    <a:lnR>
                      <a:noFill/>
                    </a:lnR>
                    <a:lnT>
                      <a:noFill/>
                    </a:lnT>
                    <a:lnB>
                      <a:noFill/>
                    </a:lnB>
                  </a:tcPr>
                </a:tc>
                <a:tc>
                  <a:txBody>
                    <a:bodyPr/>
                    <a:lstStyle/>
                    <a:p>
                      <a:r>
                        <a:rPr lang="en-IN"/>
                        <a:t>Suresh</a:t>
                      </a:r>
                    </a:p>
                  </a:txBody>
                  <a:tcPr anchor="ctr">
                    <a:lnL>
                      <a:noFill/>
                    </a:lnL>
                    <a:lnR>
                      <a:noFill/>
                    </a:lnR>
                    <a:lnT>
                      <a:noFill/>
                    </a:lnT>
                    <a:lnB>
                      <a:noFill/>
                    </a:lnB>
                  </a:tcPr>
                </a:tc>
                <a:tc>
                  <a:txBody>
                    <a:bodyPr/>
                    <a:lstStyle/>
                    <a:p>
                      <a:r>
                        <a:rPr lang="en-IN"/>
                        <a:t>Science</a:t>
                      </a:r>
                    </a:p>
                  </a:txBody>
                  <a:tcPr anchor="ctr">
                    <a:lnL>
                      <a:noFill/>
                    </a:lnL>
                    <a:lnR>
                      <a:noFill/>
                    </a:lnR>
                    <a:lnT>
                      <a:noFill/>
                    </a:lnT>
                    <a:lnB>
                      <a:noFill/>
                    </a:lnB>
                  </a:tcPr>
                </a:tc>
                <a:tc>
                  <a:txBody>
                    <a:bodyPr/>
                    <a:lstStyle/>
                    <a:p>
                      <a:r>
                        <a:rPr lang="en-IN" dirty="0" err="1"/>
                        <a:t>Prof.</a:t>
                      </a:r>
                      <a:r>
                        <a:rPr lang="en-IN" dirty="0"/>
                        <a:t> B</a:t>
                      </a:r>
                    </a:p>
                  </a:txBody>
                  <a:tcPr anchor="ctr">
                    <a:lnL>
                      <a:noFill/>
                    </a:lnL>
                    <a:lnR>
                      <a:noFill/>
                    </a:lnR>
                    <a:lnT>
                      <a:noFill/>
                    </a:lnT>
                    <a:lnB>
                      <a:noFill/>
                    </a:lnB>
                  </a:tcPr>
                </a:tc>
                <a:extLst>
                  <a:ext uri="{0D108BD9-81ED-4DB2-BD59-A6C34878D82A}">
                    <a16:rowId xmlns:a16="http://schemas.microsoft.com/office/drawing/2014/main" val="355904349"/>
                  </a:ext>
                </a:extLst>
              </a:tr>
            </a:tbl>
          </a:graphicData>
        </a:graphic>
      </p:graphicFrame>
    </p:spTree>
    <p:extLst>
      <p:ext uri="{BB962C8B-B14F-4D97-AF65-F5344CB8AC3E}">
        <p14:creationId xmlns:p14="http://schemas.microsoft.com/office/powerpoint/2010/main" val="3106362258"/>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Extra rows appear that didn't exist originally.</a:t>
            </a:r>
            <a:r>
              <a:rPr lang="en-US" dirty="0"/>
              <a:t> ❌ This is a </a:t>
            </a:r>
            <a:r>
              <a:rPr lang="en-US" b="1" dirty="0" err="1"/>
              <a:t>lossy</a:t>
            </a:r>
            <a:r>
              <a:rPr lang="en-US" b="1" dirty="0"/>
              <a:t> decomposition</a:t>
            </a:r>
            <a:r>
              <a:rPr lang="en-US" dirty="0"/>
              <a:t>.</a:t>
            </a:r>
            <a:endParaRPr lang="en-IN" dirty="0"/>
          </a:p>
        </p:txBody>
      </p:sp>
    </p:spTree>
    <p:extLst>
      <p:ext uri="{BB962C8B-B14F-4D97-AF65-F5344CB8AC3E}">
        <p14:creationId xmlns:p14="http://schemas.microsoft.com/office/powerpoint/2010/main" val="16159765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901</TotalTime>
  <Words>3555</Words>
  <Application>Microsoft Office PowerPoint</Application>
  <PresentationFormat>On-screen Show (4:3)</PresentationFormat>
  <Paragraphs>917</Paragraphs>
  <Slides>140</Slides>
  <Notes>1</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140</vt:i4>
      </vt:variant>
    </vt:vector>
  </HeadingPairs>
  <TitlesOfParts>
    <vt:vector size="144" baseType="lpstr">
      <vt:lpstr>Arial</vt:lpstr>
      <vt:lpstr>Calibri</vt:lpstr>
      <vt:lpstr>Office Theme</vt:lpstr>
      <vt:lpstr>Bitmap Image</vt:lpstr>
      <vt:lpstr>Database Normalization and Functional Dependency/Transaction</vt:lpstr>
      <vt:lpstr>Introduction to Functional Dependency</vt:lpstr>
      <vt:lpstr>Types of Functional Dependencies</vt:lpstr>
      <vt:lpstr>Armstrong’s Axioms (Rules of FD)</vt:lpstr>
      <vt:lpstr>Example of Functional Dependency in a Table</vt:lpstr>
      <vt:lpstr>Identifying Functional Dependencies</vt:lpstr>
      <vt:lpstr>Importance of Functional Dependencies</vt:lpstr>
      <vt:lpstr>Introduction to Normalization</vt:lpstr>
      <vt:lpstr>First Normal Form (1NF)</vt:lpstr>
      <vt:lpstr>Second Normal Form (2NF)</vt:lpstr>
      <vt:lpstr>Real-Time Application of Normalization</vt:lpstr>
      <vt:lpstr>Conclusion</vt:lpstr>
      <vt:lpstr>Normalization</vt:lpstr>
      <vt:lpstr>Why we need Normalization in DBMS? </vt:lpstr>
      <vt:lpstr> Types of DBMS Normal forms </vt:lpstr>
      <vt:lpstr> 1. First Normal Form (1NF) </vt:lpstr>
      <vt:lpstr>PowerPoint Presentation</vt:lpstr>
      <vt:lpstr>PowerPoint Presentation</vt:lpstr>
      <vt:lpstr>PowerPoint Presentation</vt:lpstr>
      <vt:lpstr>PowerPoint Presentation</vt:lpstr>
      <vt:lpstr>You can also simply add multiple rows to add multiple skills. This will lead to repetition of the data, but that can be handled as you further Normalize your data using the Second Normal form and the Third Normal form.</vt:lpstr>
      <vt:lpstr> 2. Second Normal Form (2NF) </vt:lpstr>
      <vt:lpstr>PowerPoint Presentation</vt:lpstr>
      <vt:lpstr>PowerPoint Presentation</vt:lpstr>
      <vt:lpstr>PowerPoint Presentation</vt:lpstr>
      <vt:lpstr>PowerPoint Presentation</vt:lpstr>
      <vt:lpstr>Solution</vt:lpstr>
      <vt:lpstr>PowerPoint Presentation</vt:lpstr>
      <vt:lpstr>3NF</vt:lpstr>
      <vt:lpstr>PowerPoint Presentation</vt:lpstr>
      <vt:lpstr>PowerPoint Presentation</vt:lpstr>
      <vt:lpstr>PowerPoint Presentation</vt:lpstr>
      <vt:lpstr>Example</vt:lpstr>
      <vt:lpstr>PowerPoint Presentation</vt:lpstr>
      <vt:lpstr>BCNF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4NF 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Q&amp;A</vt:lpstr>
      <vt:lpstr>PowerPoint Presentation</vt:lpstr>
      <vt:lpstr>PowerPoint Presentation</vt:lpstr>
      <vt:lpstr>PowerPoint Presentation</vt:lpstr>
      <vt:lpstr>PowerPoint Presentation</vt:lpstr>
      <vt:lpstr>Operations in Transaction- </vt:lpstr>
      <vt:lpstr>Transaction States- </vt:lpstr>
      <vt:lpstr>PowerPoint Presentation</vt:lpstr>
      <vt:lpstr>PowerPoint Presentation</vt:lpstr>
      <vt:lpstr>PowerPoint Presentation</vt:lpstr>
      <vt:lpstr>Conflict Pair</vt:lpstr>
      <vt:lpstr>PowerPoint Presentation</vt:lpstr>
      <vt:lpstr>PowerPoint Presentation</vt:lpstr>
      <vt:lpstr>Problem-01: Check whether the given schedule S is conflict serializable or not- S : R1(A) , R2(A) , R1(B) , R2(B) , R3(B) , W1(A) , W2(B) </vt:lpstr>
      <vt:lpstr>PowerPoint Presentation</vt:lpstr>
      <vt:lpstr> Problem-02: Check whether the given schedule S is conflict serializable and recoverable or not- </vt:lpstr>
      <vt:lpstr>PowerPoint Presentation</vt:lpstr>
      <vt:lpstr>PowerPoint Presentation</vt:lpstr>
      <vt:lpstr>PowerPoint Presentation</vt:lpstr>
      <vt:lpstr>PowerPoint Presentation</vt:lpstr>
      <vt:lpstr> Example- Consider the following schedule- </vt:lpstr>
      <vt:lpstr>PowerPoint Presentation</vt:lpstr>
      <vt:lpstr>Example- </vt:lpstr>
      <vt:lpstr>PowerPoint Presentation</vt:lpstr>
      <vt:lpstr>PowerPoint Presentation</vt:lpstr>
      <vt:lpstr>Recoverability- </vt:lpstr>
      <vt:lpstr>PowerPoint Presentation</vt:lpstr>
      <vt:lpstr>Cascading Schedule- </vt:lpstr>
      <vt:lpstr>PowerPoint Presentation</vt:lpstr>
      <vt:lpstr>PowerPoint Presentation</vt:lpstr>
      <vt:lpstr>PowerPoint Presentation</vt:lpstr>
      <vt:lpstr>PowerPoint Presentation</vt:lpstr>
      <vt:lpstr>PowerPoint Presentation</vt:lpstr>
      <vt:lpstr>PowerPoint Presentation</vt:lpstr>
      <vt:lpstr> Remember- </vt:lpstr>
      <vt:lpstr>PowerPoint Presentation</vt:lpstr>
      <vt:lpstr> Serially check one by by one in order every Transaction </vt:lpstr>
      <vt:lpstr>PowerPoint Presentation</vt:lpstr>
      <vt:lpstr>Example:-Check whether a schedule is Conflict serializable(CS) or Non conflict Serializable(NCS)</vt:lpstr>
      <vt:lpstr>As there is loop so NCS,And we can’t predict is there any serial schedule present for this or not so we can check for View serilizability. </vt:lpstr>
      <vt:lpstr>Dirty Read Problem </vt:lpstr>
      <vt:lpstr>PowerPoint Presentation</vt:lpstr>
      <vt:lpstr>PowerPoint Presentation</vt:lpstr>
      <vt:lpstr>Unrepeatable Read Problem </vt:lpstr>
      <vt:lpstr>Contd…</vt:lpstr>
      <vt:lpstr>Contd..</vt:lpstr>
      <vt:lpstr> Lost Update Problem- </vt:lpstr>
      <vt:lpstr>PowerPoint Presentation</vt:lpstr>
      <vt:lpstr>PowerPoint Presentation</vt:lpstr>
      <vt:lpstr>4. Phantom Read Problem- </vt:lpstr>
      <vt:lpstr>PowerPoint Presentation</vt:lpstr>
      <vt:lpstr>PowerPoint Presentation</vt:lpstr>
      <vt:lpstr>PowerPoint Presentation</vt:lpstr>
      <vt:lpstr>Serial Schedule</vt:lpstr>
      <vt:lpstr>PowerPoint Presentation</vt:lpstr>
      <vt:lpstr>PowerPoint Presentation</vt:lpstr>
      <vt:lpstr>PowerPoint Presentation</vt:lpstr>
      <vt:lpstr>Non-Serial Schedules- </vt:lpstr>
      <vt:lpstr>   In this schedule, There are two transactions T1 and T2 executing concurrently. The operations of T1 and T2 are interleaved. So, this schedule is an example of a Non-Serial Schedule. </vt:lpstr>
      <vt:lpstr> Conflict Serializability- </vt:lpstr>
      <vt:lpstr>PowerPoint Presentation</vt:lpstr>
      <vt:lpstr>PowerPoint Presentation</vt:lpstr>
      <vt:lpstr>DB Decomposition</vt:lpstr>
      <vt:lpstr> Lossless Join Decomposition Lossy Join Decomposition </vt:lpstr>
      <vt:lpstr>PowerPoint Presentation</vt:lpstr>
      <vt:lpstr>PowerPoint Presentation</vt:lpstr>
      <vt:lpstr>   PRACTICE PROBLEMS BASED ON DETERMINING WHETHER DECOMPOSITION IS LOSSLESS OR LOSSY-   </vt:lpstr>
      <vt:lpstr>PowerPoint Presentation</vt:lpstr>
      <vt:lpstr>Problem-02: </vt:lpstr>
      <vt:lpstr>PowerPoint Presentation</vt:lpstr>
      <vt:lpstr>PowerPoint Presentation</vt:lpstr>
      <vt:lpstr>PowerPoint Presentation</vt:lpstr>
      <vt:lpstr>PowerPoint Presentation</vt:lpstr>
      <vt:lpstr>Original Table: Employee</vt:lpstr>
      <vt:lpstr> Decomposed Tables: 1. Employee_Info </vt:lpstr>
      <vt:lpstr>2. Department</vt:lpstr>
      <vt:lpstr>Join (on DeptID) → Result:</vt:lpstr>
      <vt:lpstr>PowerPoint Presentation</vt:lpstr>
      <vt:lpstr>Lossy Decomposition ExampleOriginal Table: Student</vt:lpstr>
      <vt:lpstr>Decomposed Tables:1. Student_Info</vt:lpstr>
      <vt:lpstr>PowerPoint Presentation</vt:lpstr>
      <vt:lpstr>Join (No common key) → Result (Cartesian product):</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Normalization and Functional Dependency</dc:title>
  <dc:subject/>
  <dc:creator/>
  <cp:keywords/>
  <dc:description>generated using python-pptx</dc:description>
  <cp:lastModifiedBy>Subhasish_Mohapatra</cp:lastModifiedBy>
  <cp:revision>109</cp:revision>
  <dcterms:created xsi:type="dcterms:W3CDTF">2013-01-27T09:14:16Z</dcterms:created>
  <dcterms:modified xsi:type="dcterms:W3CDTF">2025-08-08T09:34:06Z</dcterms:modified>
  <cp:category/>
</cp:coreProperties>
</file>