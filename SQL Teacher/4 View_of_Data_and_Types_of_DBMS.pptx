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79" r:id="rId4"/>
    <p:sldId id="270" r:id="rId5"/>
    <p:sldId id="271" r:id="rId6"/>
    <p:sldId id="272" r:id="rId7"/>
    <p:sldId id="273" r:id="rId8"/>
    <p:sldId id="274" r:id="rId9"/>
    <p:sldId id="280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ED1807-8D50-452F-8E0B-535F0A5C1B45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9D59A-DDF8-4A03-8EC0-E967AE844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165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9D59A-DDF8-4A03-8EC0-E967AE844F1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617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View of Data</a:t>
            </a:r>
            <a:br>
              <a:rPr lang="en-US" dirty="0"/>
            </a:br>
            <a:r>
              <a:rPr lang="en-US" dirty="0"/>
              <a:t>Types of DBMS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 Comparative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080" y="40958"/>
            <a:ext cx="8229600" cy="567843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View of Data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47058"/>
            <a:ext cx="8229600" cy="6038221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dirty="0"/>
              <a:t>Data Abstraction</a:t>
            </a:r>
          </a:p>
          <a:p>
            <a:pPr marL="0" indent="0">
              <a:buNone/>
            </a:pPr>
            <a:r>
              <a:rPr lang="en-US" dirty="0"/>
              <a:t>	1.1. Internal View</a:t>
            </a:r>
          </a:p>
          <a:p>
            <a:pPr marL="0" indent="0">
              <a:buNone/>
            </a:pPr>
            <a:r>
              <a:rPr lang="en-US" dirty="0"/>
              <a:t>	1.2. Conceptual/Global View</a:t>
            </a:r>
          </a:p>
          <a:p>
            <a:pPr marL="0" indent="0">
              <a:buNone/>
            </a:pPr>
            <a:r>
              <a:rPr lang="en-US" dirty="0"/>
              <a:t>	1.3. External/User View</a:t>
            </a:r>
          </a:p>
          <a:p>
            <a:pPr marL="514350" indent="-514350">
              <a:buFont typeface="+mj-lt"/>
              <a:buAutoNum type="arabicParenR" startAt="2"/>
            </a:pPr>
            <a:r>
              <a:rPr lang="en-US" dirty="0"/>
              <a:t>Database Schema/Intention</a:t>
            </a:r>
          </a:p>
          <a:p>
            <a:pPr marL="514350" indent="-514350">
              <a:buFont typeface="+mj-lt"/>
              <a:buAutoNum type="arabicParenR" startAt="2"/>
            </a:pPr>
            <a:r>
              <a:rPr lang="en-US" dirty="0"/>
              <a:t>Instance / State / Occurrence / Extension / Snapshot</a:t>
            </a:r>
          </a:p>
          <a:p>
            <a:pPr marL="514350" indent="-514350">
              <a:buFont typeface="+mj-lt"/>
              <a:buAutoNum type="arabicParenR" startAt="2"/>
            </a:pPr>
            <a:r>
              <a:rPr lang="en-US" dirty="0"/>
              <a:t>Mapping</a:t>
            </a:r>
          </a:p>
          <a:p>
            <a:pPr marL="514350" indent="-514350">
              <a:buFont typeface="+mj-lt"/>
              <a:buAutoNum type="arabicParenR" startAt="2"/>
            </a:pPr>
            <a:r>
              <a:rPr lang="en-US" dirty="0"/>
              <a:t>Data Independence</a:t>
            </a:r>
          </a:p>
          <a:p>
            <a:pPr marL="0" indent="0">
              <a:buNone/>
            </a:pPr>
            <a:r>
              <a:rPr lang="en-US" dirty="0"/>
              <a:t>	5.1. Logical Data Independence</a:t>
            </a:r>
          </a:p>
          <a:p>
            <a:pPr marL="0" indent="0">
              <a:buNone/>
            </a:pPr>
            <a:r>
              <a:rPr lang="en-US" dirty="0"/>
              <a:t>	5.2. Physical Data Independence</a:t>
            </a:r>
          </a:p>
          <a:p>
            <a:pPr marL="514350" indent="-514350">
              <a:buFont typeface="+mj-lt"/>
              <a:buAutoNum type="arabicParenR" startAt="6"/>
            </a:pPr>
            <a:r>
              <a:rPr lang="en-US" dirty="0"/>
              <a:t>Data Models</a:t>
            </a:r>
          </a:p>
          <a:p>
            <a:pPr marL="0" indent="0">
              <a:buNone/>
            </a:pPr>
            <a:r>
              <a:rPr lang="en-US" dirty="0"/>
              <a:t>	6.1. File Processing/Based or Primitive</a:t>
            </a:r>
          </a:p>
          <a:p>
            <a:pPr marL="0" indent="0">
              <a:buNone/>
            </a:pPr>
            <a:r>
              <a:rPr lang="en-US" dirty="0"/>
              <a:t>	6.2. Conceptual/High Level – ER &amp; EER Diagrams</a:t>
            </a:r>
          </a:p>
          <a:p>
            <a:pPr marL="0" indent="0">
              <a:buNone/>
            </a:pPr>
            <a:r>
              <a:rPr lang="en-US" dirty="0"/>
              <a:t>	6.3. Logical/Record based/Representational/Implementational</a:t>
            </a:r>
          </a:p>
          <a:p>
            <a:pPr marL="0" indent="0">
              <a:buNone/>
            </a:pPr>
            <a:r>
              <a:rPr lang="en-US" dirty="0"/>
              <a:t>		6.3.1. Hierarchical (Legacy DBMS)</a:t>
            </a:r>
          </a:p>
          <a:p>
            <a:pPr marL="0" indent="0">
              <a:buNone/>
            </a:pPr>
            <a:r>
              <a:rPr lang="en-US" dirty="0"/>
              <a:t>		6.3.2. Network (Legacy DBMS)</a:t>
            </a:r>
          </a:p>
          <a:p>
            <a:pPr marL="0" indent="0">
              <a:buNone/>
            </a:pPr>
            <a:r>
              <a:rPr lang="en-US" dirty="0"/>
              <a:t>		6.3.3. Relational (Traditional DBMS)</a:t>
            </a:r>
          </a:p>
          <a:p>
            <a:pPr marL="0" indent="0">
              <a:buNone/>
            </a:pPr>
            <a:r>
              <a:rPr lang="en-US" dirty="0"/>
              <a:t>		6.3.4. Object Relational/Extended Relational</a:t>
            </a:r>
          </a:p>
          <a:p>
            <a:pPr marL="0" indent="0">
              <a:buNone/>
            </a:pPr>
            <a:r>
              <a:rPr lang="en-US" dirty="0"/>
              <a:t>		6.3.5. Object Oriented</a:t>
            </a:r>
          </a:p>
          <a:p>
            <a:pPr marL="0" indent="0">
              <a:buNone/>
            </a:pPr>
            <a:r>
              <a:rPr lang="en-US" dirty="0"/>
              <a:t>	6.4. Physical/Low-level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CA4B7-4080-74CA-FDBA-34562FFCF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A6181-25F8-8C42-D054-8FBE514D5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7843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Types of DBMS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24A51-FF8C-62D9-FA1D-FF308A1BD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" y="1099285"/>
            <a:ext cx="8930640" cy="5484077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sz="2200" dirty="0"/>
              <a:t>According to Data Model</a:t>
            </a:r>
          </a:p>
          <a:p>
            <a:pPr marL="0" indent="0">
              <a:buNone/>
            </a:pPr>
            <a:r>
              <a:rPr lang="en-US" sz="2200" dirty="0"/>
              <a:t>	1.1. Hierarchical DBMS (HDBMS) – Tree – IBS</a:t>
            </a:r>
          </a:p>
          <a:p>
            <a:pPr marL="0" indent="0">
              <a:buNone/>
            </a:pPr>
            <a:r>
              <a:rPr lang="en-US" sz="2200" dirty="0"/>
              <a:t>	1.2. Network DBMS (NDBMS) – Graph – IDS, IDMS</a:t>
            </a:r>
          </a:p>
          <a:p>
            <a:pPr marL="0" indent="0">
              <a:buNone/>
            </a:pPr>
            <a:r>
              <a:rPr lang="en-US" sz="2200" dirty="0"/>
              <a:t>	1.3. Relational DBMS (RDBMS) – Table – MySQL, MS SQL Server, Oracle</a:t>
            </a:r>
          </a:p>
          <a:p>
            <a:pPr marL="0" indent="0">
              <a:buNone/>
            </a:pPr>
            <a:r>
              <a:rPr lang="en-US" sz="2200" dirty="0"/>
              <a:t>	1.4. Object Relational/Extended Relational – Object + Table – </a:t>
            </a:r>
            <a:r>
              <a:rPr lang="en-US" sz="2200"/>
              <a:t>Oracle, Sybase</a:t>
            </a:r>
            <a:r>
              <a:rPr lang="en-US" sz="2200" dirty="0"/>
              <a:t>, Informix, </a:t>
            </a:r>
          </a:p>
          <a:p>
            <a:pPr marL="0" indent="0">
              <a:buNone/>
            </a:pPr>
            <a:r>
              <a:rPr lang="en-US" sz="2200" dirty="0"/>
              <a:t>	1.5. Object Oriented DBMS – Object – db4o</a:t>
            </a:r>
          </a:p>
          <a:p>
            <a:pPr marL="457200" indent="-457200">
              <a:buFont typeface="+mj-lt"/>
              <a:buAutoNum type="arabicParenR" startAt="2"/>
            </a:pPr>
            <a:r>
              <a:rPr lang="en-US" sz="2200" dirty="0"/>
              <a:t>According to Access Path</a:t>
            </a:r>
          </a:p>
          <a:p>
            <a:pPr marL="0" indent="0">
              <a:buNone/>
            </a:pPr>
            <a:r>
              <a:rPr lang="en-US" sz="2200" dirty="0"/>
              <a:t>	2.1. OLTP</a:t>
            </a:r>
          </a:p>
          <a:p>
            <a:pPr marL="0" indent="0">
              <a:buNone/>
            </a:pPr>
            <a:r>
              <a:rPr lang="en-US" sz="2200" dirty="0"/>
              <a:t>	2.2. OLAP</a:t>
            </a:r>
          </a:p>
          <a:p>
            <a:pPr marL="457200" indent="-457200">
              <a:buFont typeface="+mj-lt"/>
              <a:buAutoNum type="arabicParenR" startAt="3"/>
            </a:pPr>
            <a:r>
              <a:rPr lang="en-US" sz="2200" dirty="0"/>
              <a:t>According to Usage</a:t>
            </a:r>
          </a:p>
          <a:p>
            <a:pPr marL="0" indent="0">
              <a:buNone/>
            </a:pPr>
            <a:r>
              <a:rPr lang="en-US" sz="2200" dirty="0"/>
              <a:t>	3.1. Commercial</a:t>
            </a:r>
          </a:p>
          <a:p>
            <a:pPr marL="0" indent="0">
              <a:buNone/>
            </a:pPr>
            <a:r>
              <a:rPr lang="en-US" sz="2200" dirty="0"/>
              <a:t>	3.2. Temporary</a:t>
            </a:r>
          </a:p>
          <a:p>
            <a:pPr marL="0" indent="0">
              <a:buNone/>
            </a:pPr>
            <a:r>
              <a:rPr lang="en-US" sz="2200" dirty="0"/>
              <a:t>	3.3. Real time</a:t>
            </a:r>
          </a:p>
          <a:p>
            <a:pPr marL="0" indent="0">
              <a:buNone/>
            </a:pPr>
            <a:r>
              <a:rPr lang="en-US" sz="2200" dirty="0"/>
              <a:t>	3.4. Multimedia</a:t>
            </a:r>
          </a:p>
          <a:p>
            <a:pPr marL="0" indent="0">
              <a:buNone/>
            </a:pPr>
            <a:r>
              <a:rPr lang="en-US" sz="2200" dirty="0"/>
              <a:t>	3.5. Geographical Information System</a:t>
            </a:r>
          </a:p>
          <a:p>
            <a:pPr marL="457200" indent="-457200">
              <a:buFont typeface="+mj-lt"/>
              <a:buAutoNum type="arabicParenR" startAt="4"/>
            </a:pPr>
            <a:r>
              <a:rPr lang="en-US" sz="2200" dirty="0"/>
              <a:t>According to Users</a:t>
            </a:r>
          </a:p>
          <a:p>
            <a:pPr marL="0" indent="0">
              <a:buNone/>
            </a:pPr>
            <a:r>
              <a:rPr lang="en-US" sz="2200" dirty="0"/>
              <a:t>	4.1. Single User – MS Access</a:t>
            </a:r>
          </a:p>
          <a:p>
            <a:pPr marL="0" indent="0">
              <a:buNone/>
            </a:pPr>
            <a:r>
              <a:rPr lang="en-US" sz="2200" dirty="0"/>
              <a:t>	4.2. Multi User</a:t>
            </a:r>
          </a:p>
          <a:p>
            <a:pPr marL="514350" indent="-514350">
              <a:buFont typeface="+mj-lt"/>
              <a:buAutoNum type="arabicParenR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355941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4278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Structured Database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728"/>
            <a:ext cx="8229600" cy="5874328"/>
          </a:xfrm>
        </p:spPr>
        <p:txBody>
          <a:bodyPr>
            <a:normAutofit fontScale="55000" lnSpcReduction="20000"/>
          </a:bodyPr>
          <a:lstStyle/>
          <a:p>
            <a:endParaRPr lang="en-US" b="1" dirty="0"/>
          </a:p>
          <a:p>
            <a:r>
              <a:rPr lang="en-US" dirty="0"/>
              <a:t>A </a:t>
            </a:r>
            <a:r>
              <a:rPr lang="en-US" b="1" dirty="0"/>
              <a:t>structured database</a:t>
            </a:r>
            <a:r>
              <a:rPr lang="en-US" dirty="0"/>
              <a:t> organizes data into a predefined format, typically in rows and columns. This format ensures that the data is easily searchable and can be efficiently managed using relational database management systems (RDBMS).</a:t>
            </a:r>
          </a:p>
          <a:p>
            <a:pPr marL="0" indent="0">
              <a:buNone/>
            </a:pPr>
            <a:r>
              <a:rPr lang="en-US" b="1" dirty="0"/>
              <a:t>Features:</a:t>
            </a:r>
          </a:p>
          <a:p>
            <a:r>
              <a:rPr lang="en-US" b="1" dirty="0"/>
              <a:t>Data Format</a:t>
            </a:r>
            <a:r>
              <a:rPr lang="en-US" dirty="0"/>
              <a:t>: Organized into tables with rows and columns (e.g., spreadsheets).</a:t>
            </a:r>
          </a:p>
          <a:p>
            <a:r>
              <a:rPr lang="en-US" b="1" dirty="0"/>
              <a:t>Schema</a:t>
            </a:r>
            <a:r>
              <a:rPr lang="en-US" dirty="0"/>
              <a:t>: Fixed schema defines the structure of the database (e.g., column names, data types).</a:t>
            </a:r>
          </a:p>
          <a:p>
            <a:r>
              <a:rPr lang="en-US" b="1" dirty="0"/>
              <a:t>Query Language</a:t>
            </a:r>
            <a:r>
              <a:rPr lang="en-US" dirty="0"/>
              <a:t>: Uses SQL (Structured Query Language) for data manipulation and retrieval.</a:t>
            </a:r>
          </a:p>
          <a:p>
            <a:pPr marL="0" indent="0">
              <a:buNone/>
            </a:pPr>
            <a:r>
              <a:rPr lang="en-US" b="1" dirty="0"/>
              <a:t>Examples</a:t>
            </a:r>
            <a:r>
              <a:rPr lang="en-US" dirty="0"/>
              <a:t>: MySQL, PostgreSQL, Oracle Database, Microsoft SQL Server.</a:t>
            </a:r>
          </a:p>
          <a:p>
            <a:r>
              <a:rPr lang="en-US" b="1" dirty="0">
                <a:solidFill>
                  <a:srgbClr val="FF0000"/>
                </a:solidFill>
              </a:rPr>
              <a:t>Advantages:</a:t>
            </a:r>
          </a:p>
          <a:p>
            <a:r>
              <a:rPr lang="en-US" b="1" dirty="0"/>
              <a:t>Efficient Querying</a:t>
            </a:r>
            <a:r>
              <a:rPr lang="en-US" dirty="0"/>
              <a:t>: Optimized for fast querying with SQL.</a:t>
            </a:r>
          </a:p>
          <a:p>
            <a:r>
              <a:rPr lang="en-US" b="1" dirty="0"/>
              <a:t>Data Consistency</a:t>
            </a:r>
            <a:r>
              <a:rPr lang="en-US" dirty="0"/>
              <a:t>: Enforces data integrity and relationships.</a:t>
            </a:r>
          </a:p>
          <a:p>
            <a:r>
              <a:rPr lang="en-US" b="1" dirty="0"/>
              <a:t>Scalability</a:t>
            </a:r>
            <a:r>
              <a:rPr lang="en-US" dirty="0"/>
              <a:t>: Vertical scaling is straightforward (adding more resources to a single machine).</a:t>
            </a:r>
          </a:p>
          <a:p>
            <a:r>
              <a:rPr lang="en-US" b="1" dirty="0"/>
              <a:t>Security</a:t>
            </a:r>
            <a:r>
              <a:rPr lang="en-US" dirty="0"/>
              <a:t>: Built-in features like user roles, access control, and encryption.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Use Cases:</a:t>
            </a:r>
          </a:p>
          <a:p>
            <a:r>
              <a:rPr lang="en-US" dirty="0"/>
              <a:t>Financial systems.</a:t>
            </a:r>
          </a:p>
          <a:p>
            <a:r>
              <a:rPr lang="en-US" dirty="0"/>
              <a:t>Customer Relationship Management (CRM) systems.</a:t>
            </a:r>
          </a:p>
          <a:p>
            <a:r>
              <a:rPr lang="en-US" dirty="0"/>
              <a:t>Inventory management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256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059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Non-Structured Database: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236" y="1025236"/>
            <a:ext cx="8617528" cy="5652655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n-US" dirty="0"/>
              <a:t>A </a:t>
            </a:r>
            <a:r>
              <a:rPr lang="en-US" b="1" dirty="0"/>
              <a:t>non-structured database</a:t>
            </a:r>
            <a:r>
              <a:rPr lang="en-US" dirty="0"/>
              <a:t> (also called a NoSQL database) stores data in a flexible and unstructured format, such as documents, key-value pairs, or graphs. It does not rely on predefined schemas, allowing for greater flexibility.</a:t>
            </a:r>
          </a:p>
          <a:p>
            <a:pPr marL="0" indent="0">
              <a:buNone/>
            </a:pPr>
            <a:r>
              <a:rPr lang="en-US" b="1" dirty="0"/>
              <a:t>Features:</a:t>
            </a:r>
          </a:p>
          <a:p>
            <a:r>
              <a:rPr lang="en-US" b="1" dirty="0"/>
              <a:t>Data Format</a:t>
            </a:r>
            <a:r>
              <a:rPr lang="en-US" dirty="0"/>
              <a:t>: Data can be stored as JSON, XML, key-value pairs, or graphs.</a:t>
            </a:r>
          </a:p>
          <a:p>
            <a:r>
              <a:rPr lang="en-US" b="1" dirty="0"/>
              <a:t>Schema</a:t>
            </a:r>
            <a:r>
              <a:rPr lang="en-US" dirty="0"/>
              <a:t>: Schema-less or dynamic schema for flexibility.</a:t>
            </a:r>
          </a:p>
          <a:p>
            <a:r>
              <a:rPr lang="en-US" b="1" dirty="0"/>
              <a:t>Query Language</a:t>
            </a:r>
            <a:r>
              <a:rPr lang="en-US" dirty="0"/>
              <a:t>: May use APIs, query languages like CQL (Cassandra Query Language), or built-in commands (not SQL).</a:t>
            </a:r>
          </a:p>
          <a:p>
            <a:r>
              <a:rPr lang="en-US" b="1" dirty="0"/>
              <a:t>Examples</a:t>
            </a:r>
            <a:r>
              <a:rPr lang="en-US" dirty="0"/>
              <a:t>: MongoDB, Cassandra, </a:t>
            </a:r>
            <a:r>
              <a:rPr lang="en-US" dirty="0" err="1"/>
              <a:t>Couchbase</a:t>
            </a:r>
            <a:r>
              <a:rPr lang="en-US" dirty="0"/>
              <a:t>, Neo4j, </a:t>
            </a:r>
            <a:r>
              <a:rPr lang="en-US" dirty="0" err="1"/>
              <a:t>Redis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Advantages:</a:t>
            </a:r>
          </a:p>
          <a:p>
            <a:r>
              <a:rPr lang="en-US" b="1" dirty="0"/>
              <a:t>Scalability</a:t>
            </a:r>
            <a:r>
              <a:rPr lang="en-US" dirty="0"/>
              <a:t>: Horizontal scaling is easier (adding more machines to distribute the workload).</a:t>
            </a:r>
          </a:p>
          <a:p>
            <a:r>
              <a:rPr lang="en-US" b="1" dirty="0"/>
              <a:t>Flexibility</a:t>
            </a:r>
            <a:r>
              <a:rPr lang="en-US" dirty="0"/>
              <a:t>: Can handle semi-structured, unstructured, or hierarchical data.</a:t>
            </a:r>
          </a:p>
          <a:p>
            <a:r>
              <a:rPr lang="en-US" b="1" dirty="0"/>
              <a:t>Performance</a:t>
            </a:r>
            <a:r>
              <a:rPr lang="en-US" dirty="0"/>
              <a:t>: Optimized for handling large datasets and high-velocity data.</a:t>
            </a:r>
          </a:p>
          <a:p>
            <a:r>
              <a:rPr lang="en-US" b="1" dirty="0"/>
              <a:t>Support for Big Data</a:t>
            </a:r>
            <a:r>
              <a:rPr lang="en-US" dirty="0"/>
              <a:t>: Suitable for handling high volumes of diverse data.</a:t>
            </a:r>
          </a:p>
          <a:p>
            <a:pPr marL="0" indent="0">
              <a:buNone/>
            </a:pPr>
            <a:r>
              <a:rPr lang="en-US" b="1" dirty="0"/>
              <a:t>Use Cases:</a:t>
            </a:r>
          </a:p>
          <a:p>
            <a:r>
              <a:rPr lang="en-US" dirty="0"/>
              <a:t>Social media platforms.</a:t>
            </a:r>
          </a:p>
          <a:p>
            <a:r>
              <a:rPr lang="en-US" dirty="0"/>
              <a:t>Real-time analytics.</a:t>
            </a:r>
          </a:p>
          <a:p>
            <a:r>
              <a:rPr lang="en-US" dirty="0"/>
              <a:t>Internet of Things (</a:t>
            </a:r>
            <a:r>
              <a:rPr lang="en-US" dirty="0" err="1"/>
              <a:t>IoT</a:t>
            </a:r>
            <a:r>
              <a:rPr lang="en-US" dirty="0"/>
              <a:t>) applications.</a:t>
            </a:r>
          </a:p>
          <a:p>
            <a:r>
              <a:rPr lang="en-US" dirty="0"/>
              <a:t>Content management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747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vs Un/Non-Structured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36" y="1676401"/>
            <a:ext cx="8423564" cy="4281054"/>
          </a:xfrm>
        </p:spPr>
      </p:pic>
    </p:spTree>
    <p:extLst>
      <p:ext uri="{BB962C8B-B14F-4D97-AF65-F5344CB8AC3E}">
        <p14:creationId xmlns:p14="http://schemas.microsoft.com/office/powerpoint/2010/main" val="62426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DBMS vs RDBMS</a:t>
            </a:r>
            <a:endParaRPr lang="en-IN" dirty="0"/>
          </a:p>
        </p:txBody>
      </p:sp>
      <p:pic>
        <p:nvPicPr>
          <p:cNvPr id="17" name="Content Placeholder 1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579418"/>
            <a:ext cx="8382000" cy="4973781"/>
          </a:xfrm>
        </p:spPr>
      </p:pic>
    </p:spTree>
    <p:extLst>
      <p:ext uri="{BB962C8B-B14F-4D97-AF65-F5344CB8AC3E}">
        <p14:creationId xmlns:p14="http://schemas.microsoft.com/office/powerpoint/2010/main" val="1747530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Contd</a:t>
            </a:r>
            <a:r>
              <a:rPr lang="en-US" dirty="0"/>
              <a:t>…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55" y="1565564"/>
            <a:ext cx="8368145" cy="4682836"/>
          </a:xfrm>
        </p:spPr>
      </p:pic>
    </p:spTree>
    <p:extLst>
      <p:ext uri="{BB962C8B-B14F-4D97-AF65-F5344CB8AC3E}">
        <p14:creationId xmlns:p14="http://schemas.microsoft.com/office/powerpoint/2010/main" val="875319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4A7C3-CB05-54E7-7C60-0BCA6DE21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BEC34-1DA4-A815-8389-3FB002B37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US" dirty="0"/>
              <a:t>Minutes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B5ED7-001F-E0AA-A777-19FD40686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889000"/>
            <a:ext cx="8625840" cy="5857240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2400" dirty="0"/>
              <a:t>Basic Terminologies – Data, Base, Database, Information, DBMS, DBS.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/>
              <a:t>Traditional File Based System vs DBMS – Merits &amp; Demerits.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/>
              <a:t>Construction of DBS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/>
              <a:t>DBS Architecture – Single Tier, Two Tier, Three Tier; ANSI (American National Standard Institute) / SPARC (Standards Planning And Requirements Committee).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/>
              <a:t>Components/Organization of DBS – H/W; S/W:OS, DBMS; Data-Operational, Meta; Procedure; People/user-Database Users; Database Languages.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/>
              <a:t>Structure of DBS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/>
              <a:t>Functions of DBMS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/>
              <a:t>View of Data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/>
              <a:t>Types of DBMS</a:t>
            </a:r>
          </a:p>
          <a:p>
            <a:pPr marL="457200" indent="-457200">
              <a:buFont typeface="+mj-lt"/>
              <a:buAutoNum type="arabicParenR"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115697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474</Words>
  <Application>Microsoft Office PowerPoint</Application>
  <PresentationFormat>On-screen Show (4:3)</PresentationFormat>
  <Paragraphs>90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View of Data Types of DBMS</vt:lpstr>
      <vt:lpstr>View of Data</vt:lpstr>
      <vt:lpstr>Types of DBMS</vt:lpstr>
      <vt:lpstr>Structured Database</vt:lpstr>
      <vt:lpstr> Non-Structured Database: </vt:lpstr>
      <vt:lpstr>Structured vs Un/Non-Structured</vt:lpstr>
      <vt:lpstr>DBMS vs RDBMS</vt:lpstr>
      <vt:lpstr>Contd…</vt:lpstr>
      <vt:lpstr>Minutes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 Systems</dc:title>
  <dc:subject/>
  <dc:creator>Satyabrat Sahoo</dc:creator>
  <cp:keywords/>
  <dc:description>generated using python-pptx</dc:description>
  <cp:lastModifiedBy>Subhasish_Mohapatra</cp:lastModifiedBy>
  <cp:revision>161</cp:revision>
  <dcterms:created xsi:type="dcterms:W3CDTF">2013-01-27T09:14:16Z</dcterms:created>
  <dcterms:modified xsi:type="dcterms:W3CDTF">2026-01-08T10:20:26Z</dcterms:modified>
  <cp:category/>
</cp:coreProperties>
</file>