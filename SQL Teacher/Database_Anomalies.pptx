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7" r:id="rId4"/>
    <p:sldId id="268" r:id="rId5"/>
    <p:sldId id="269" r:id="rId6"/>
    <p:sldId id="258" r:id="rId7"/>
    <p:sldId id="259" r:id="rId8"/>
    <p:sldId id="260" r:id="rId9"/>
    <p:sldId id="261" r:id="rId10"/>
    <p:sldId id="262" r:id="rId11"/>
    <p:sldId id="263" r:id="rId12"/>
    <p:sldId id="264" r:id="rId13"/>
    <p:sldId id="265" r:id="rId14"/>
    <p:sldId id="266" r:id="rId15"/>
    <p:sldId id="270" r:id="rId16"/>
    <p:sldId id="271" r:id="rId17"/>
    <p:sldId id="272" r:id="rId18"/>
    <p:sldId id="273"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9" d="100"/>
          <a:sy n="69" d="100"/>
        </p:scale>
        <p:origin x="141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3/5/2026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3/5/2026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Insertion, </a:t>
            </a:r>
            <a:r>
              <a:rPr dirty="0" err="1"/>
              <a:t>Updation</a:t>
            </a:r>
            <a:r>
              <a:rPr dirty="0"/>
              <a:t>, and Deletion Anomalies</a:t>
            </a:r>
          </a:p>
        </p:txBody>
      </p:sp>
      <p:sp>
        <p:nvSpPr>
          <p:cNvPr id="3" name="Subtitle 2"/>
          <p:cNvSpPr>
            <a:spLocks noGrp="1"/>
          </p:cNvSpPr>
          <p:nvPr>
            <p:ph type="subTitle" idx="1"/>
          </p:nvPr>
        </p:nvSpPr>
        <p:spPr/>
        <p:txBody>
          <a:bodyPr/>
          <a:lstStyle/>
          <a:p>
            <a:r>
              <a:rPr b="1" i="1" dirty="0">
                <a:solidFill>
                  <a:srgbClr val="FF0000"/>
                </a:solidFill>
              </a:rPr>
              <a:t>(A Guide to Database Anomalies with Examples</a:t>
            </a:r>
            <a:r>
              <a:rPr dirty="0"/>
              <a:t>)</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 to Anomalies</a:t>
            </a:r>
          </a:p>
        </p:txBody>
      </p:sp>
      <p:sp>
        <p:nvSpPr>
          <p:cNvPr id="3" name="Content Placeholder 2"/>
          <p:cNvSpPr>
            <a:spLocks noGrp="1"/>
          </p:cNvSpPr>
          <p:nvPr>
            <p:ph idx="1"/>
          </p:nvPr>
        </p:nvSpPr>
        <p:spPr/>
        <p:txBody>
          <a:bodyPr/>
          <a:lstStyle/>
          <a:p>
            <a:r>
              <a:rPr dirty="0"/>
              <a:t>- Anomalies occur due to improper database design.</a:t>
            </a:r>
          </a:p>
          <a:p>
            <a:r>
              <a:rPr dirty="0"/>
              <a:t>- Three types of anomalies: Insertion, </a:t>
            </a:r>
            <a:r>
              <a:rPr dirty="0" err="1"/>
              <a:t>Updation</a:t>
            </a:r>
            <a:r>
              <a:rPr dirty="0"/>
              <a:t>, and Deletion.</a:t>
            </a:r>
          </a:p>
          <a:p>
            <a:r>
              <a:rPr dirty="0"/>
              <a:t>- Normalization helps in reducing anomalies.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56635"/>
          </a:xfrm>
        </p:spPr>
        <p:txBody>
          <a:bodyPr>
            <a:normAutofit fontScale="90000"/>
          </a:bodyPr>
          <a:lstStyle/>
          <a:p>
            <a:r>
              <a:rPr lang="en-US" b="1" dirty="0" smtClean="0"/>
              <a:t/>
            </a:r>
            <a:br>
              <a:rPr lang="en-US" b="1" dirty="0" smtClean="0"/>
            </a:br>
            <a:r>
              <a:rPr lang="en-US" b="1" dirty="0" smtClean="0"/>
              <a:t>How </a:t>
            </a:r>
            <a:r>
              <a:rPr lang="en-US" b="1" dirty="0"/>
              <a:t>are Anomalies Caused in DBMS?</a:t>
            </a:r>
            <a:br>
              <a:rPr lang="en-US" b="1" dirty="0"/>
            </a:br>
            <a:endParaRPr lang="en-IN" dirty="0"/>
          </a:p>
        </p:txBody>
      </p:sp>
      <p:sp>
        <p:nvSpPr>
          <p:cNvPr id="3" name="Content Placeholder 2"/>
          <p:cNvSpPr>
            <a:spLocks noGrp="1"/>
          </p:cNvSpPr>
          <p:nvPr>
            <p:ph idx="1"/>
          </p:nvPr>
        </p:nvSpPr>
        <p:spPr>
          <a:xfrm>
            <a:off x="457200" y="831274"/>
            <a:ext cx="8229600" cy="5294890"/>
          </a:xfrm>
        </p:spPr>
        <p:txBody>
          <a:bodyPr>
            <a:normAutofit fontScale="85000" lnSpcReduction="20000"/>
          </a:bodyPr>
          <a:lstStyle/>
          <a:p>
            <a:pPr algn="just"/>
            <a:r>
              <a:rPr lang="en-US" dirty="0" smtClean="0"/>
              <a:t>What </a:t>
            </a:r>
            <a:r>
              <a:rPr lang="en-US" dirty="0"/>
              <a:t>exactly does “bad construction” imply? When the DB (database) designer constructs the database, he should identify the entities that rely on one other for existence, such as hotel rooms and the hotel, and then reduce the probability that one might ever exist independently of the other.</a:t>
            </a:r>
          </a:p>
          <a:p>
            <a:pPr algn="just"/>
            <a:r>
              <a:rPr lang="en-US" dirty="0"/>
              <a:t>A database anomaly is a fault in a database that usually emerges as a result of </a:t>
            </a:r>
            <a:r>
              <a:rPr lang="en-US" dirty="0" smtClean="0"/>
              <a:t>inappropriate </a:t>
            </a:r>
            <a:r>
              <a:rPr lang="en-US" dirty="0"/>
              <a:t>planning and storing everything in a flat database. In most cases, this is removed through the normalization procedure, which involves the joining and splitting of tables. The purpose of the normalization process is to </a:t>
            </a:r>
            <a:r>
              <a:rPr lang="en-US" dirty="0" smtClean="0"/>
              <a:t>minimize </a:t>
            </a:r>
            <a:r>
              <a:rPr lang="en-US" dirty="0"/>
              <a:t>the negative impacts of generating tables that would generate anomalies in the DB</a:t>
            </a:r>
          </a:p>
          <a:p>
            <a:endParaRPr lang="en-IN" dirty="0"/>
          </a:p>
        </p:txBody>
      </p:sp>
    </p:spTree>
    <p:extLst>
      <p:ext uri="{BB962C8B-B14F-4D97-AF65-F5344CB8AC3E}">
        <p14:creationId xmlns:p14="http://schemas.microsoft.com/office/powerpoint/2010/main" val="40319261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59653"/>
          </a:xfrm>
        </p:spPr>
        <p:txBody>
          <a:bodyPr>
            <a:normAutofit fontScale="90000"/>
          </a:bodyPr>
          <a:lstStyle/>
          <a:p>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845127"/>
            <a:ext cx="8229599" cy="6012873"/>
          </a:xfrm>
        </p:spPr>
      </p:pic>
    </p:spTree>
    <p:extLst>
      <p:ext uri="{BB962C8B-B14F-4D97-AF65-F5344CB8AC3E}">
        <p14:creationId xmlns:p14="http://schemas.microsoft.com/office/powerpoint/2010/main" val="36010901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12053"/>
          </a:xfrm>
        </p:spPr>
        <p:txBody>
          <a:bodyPr>
            <a:normAutofit fontScale="90000"/>
          </a:bodyPr>
          <a:lstStyle/>
          <a:p>
            <a:r>
              <a:rPr lang="en-US" dirty="0" smtClean="0"/>
              <a:t>Example-</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066800"/>
            <a:ext cx="7966363" cy="5500255"/>
          </a:xfrm>
        </p:spPr>
      </p:pic>
    </p:spTree>
    <p:extLst>
      <p:ext uri="{BB962C8B-B14F-4D97-AF65-F5344CB8AC3E}">
        <p14:creationId xmlns:p14="http://schemas.microsoft.com/office/powerpoint/2010/main" val="21013942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Insertion Anomaly</a:t>
            </a:r>
          </a:p>
        </p:txBody>
      </p:sp>
      <p:sp>
        <p:nvSpPr>
          <p:cNvPr id="3" name="Content Placeholder 2"/>
          <p:cNvSpPr>
            <a:spLocks noGrp="1"/>
          </p:cNvSpPr>
          <p:nvPr>
            <p:ph idx="1"/>
          </p:nvPr>
        </p:nvSpPr>
        <p:spPr/>
        <p:txBody>
          <a:bodyPr/>
          <a:lstStyle/>
          <a:p>
            <a:r>
              <a:rPr dirty="0"/>
              <a:t>- Occurs when adding new data is difficult without unnecessary details.</a:t>
            </a:r>
          </a:p>
          <a:p>
            <a:r>
              <a:rPr dirty="0"/>
              <a:t>- Example: A database storing student and course details together.</a:t>
            </a:r>
          </a:p>
          <a:p>
            <a:r>
              <a:rPr dirty="0"/>
              <a:t>  - If a new course is introduced but no student enrolls, we cannot insert the course details.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Insertion Anomaly</a:t>
            </a:r>
          </a:p>
        </p:txBody>
      </p:sp>
      <p:sp>
        <p:nvSpPr>
          <p:cNvPr id="3" name="Content Placeholder 2"/>
          <p:cNvSpPr>
            <a:spLocks noGrp="1"/>
          </p:cNvSpPr>
          <p:nvPr>
            <p:ph idx="1"/>
          </p:nvPr>
        </p:nvSpPr>
        <p:spPr>
          <a:xfrm>
            <a:off x="457200" y="1600200"/>
            <a:ext cx="8229600" cy="4925291"/>
          </a:xfrm>
        </p:spPr>
        <p:txBody>
          <a:bodyPr>
            <a:normAutofit lnSpcReduction="10000"/>
          </a:bodyPr>
          <a:lstStyle/>
          <a:p>
            <a:r>
              <a:rPr dirty="0" err="1" smtClean="0"/>
              <a:t>Student_ID</a:t>
            </a:r>
            <a:r>
              <a:rPr dirty="0" smtClean="0"/>
              <a:t> </a:t>
            </a:r>
            <a:r>
              <a:rPr dirty="0"/>
              <a:t>| </a:t>
            </a:r>
            <a:r>
              <a:rPr dirty="0" err="1"/>
              <a:t>Student_Name</a:t>
            </a:r>
            <a:r>
              <a:rPr dirty="0"/>
              <a:t> | </a:t>
            </a:r>
            <a:r>
              <a:rPr dirty="0" err="1"/>
              <a:t>Course_ID</a:t>
            </a:r>
            <a:r>
              <a:rPr dirty="0"/>
              <a:t> | </a:t>
            </a:r>
            <a:r>
              <a:rPr dirty="0" err="1"/>
              <a:t>Course_Name</a:t>
            </a:r>
            <a:r>
              <a:rPr dirty="0"/>
              <a:t> |</a:t>
            </a:r>
          </a:p>
          <a:p>
            <a:r>
              <a:rPr dirty="0"/>
              <a:t>|------------|--------------|------------|--------------|</a:t>
            </a:r>
          </a:p>
          <a:p>
            <a:r>
              <a:rPr dirty="0"/>
              <a:t>| 101        | Alice        | CSE101     | DBMS         |</a:t>
            </a:r>
          </a:p>
          <a:p>
            <a:r>
              <a:rPr dirty="0"/>
              <a:t>| 102        | Bob          | CSE102     | OS           |</a:t>
            </a:r>
          </a:p>
          <a:p>
            <a:endParaRPr dirty="0"/>
          </a:p>
          <a:p>
            <a:r>
              <a:rPr dirty="0" smtClean="0"/>
              <a:t>Cannot </a:t>
            </a:r>
            <a:r>
              <a:rPr dirty="0"/>
              <a:t>insert a new course if no students are enrolled.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Update Anomaly</a:t>
            </a:r>
          </a:p>
        </p:txBody>
      </p:sp>
      <p:sp>
        <p:nvSpPr>
          <p:cNvPr id="3" name="Content Placeholder 2"/>
          <p:cNvSpPr>
            <a:spLocks noGrp="1"/>
          </p:cNvSpPr>
          <p:nvPr>
            <p:ph idx="1"/>
          </p:nvPr>
        </p:nvSpPr>
        <p:spPr/>
        <p:txBody>
          <a:bodyPr/>
          <a:lstStyle/>
          <a:p>
            <a:r>
              <a:rPr dirty="0" smtClean="0"/>
              <a:t>Occurs </a:t>
            </a:r>
            <a:r>
              <a:rPr dirty="0"/>
              <a:t>when modifying data in multiple places leads to inconsistency.</a:t>
            </a:r>
          </a:p>
          <a:p>
            <a:r>
              <a:rPr dirty="0" smtClean="0"/>
              <a:t>Example</a:t>
            </a:r>
            <a:r>
              <a:rPr dirty="0"/>
              <a:t>: If a professor’s name changes, we must update it in multiple rows.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Update Anomaly</a:t>
            </a:r>
          </a:p>
        </p:txBody>
      </p:sp>
      <p:sp>
        <p:nvSpPr>
          <p:cNvPr id="3" name="Content Placeholder 2"/>
          <p:cNvSpPr>
            <a:spLocks noGrp="1"/>
          </p:cNvSpPr>
          <p:nvPr>
            <p:ph idx="1"/>
          </p:nvPr>
        </p:nvSpPr>
        <p:spPr/>
        <p:txBody>
          <a:bodyPr/>
          <a:lstStyle/>
          <a:p>
            <a:r>
              <a:rPr dirty="0"/>
              <a:t>| </a:t>
            </a:r>
            <a:r>
              <a:rPr dirty="0" err="1"/>
              <a:t>Prof_ID</a:t>
            </a:r>
            <a:r>
              <a:rPr dirty="0"/>
              <a:t> | </a:t>
            </a:r>
            <a:r>
              <a:rPr dirty="0" err="1"/>
              <a:t>Prof_Name</a:t>
            </a:r>
            <a:r>
              <a:rPr dirty="0"/>
              <a:t> | </a:t>
            </a:r>
            <a:r>
              <a:rPr dirty="0" err="1"/>
              <a:t>Course_ID</a:t>
            </a:r>
            <a:r>
              <a:rPr dirty="0"/>
              <a:t> | </a:t>
            </a:r>
            <a:r>
              <a:rPr dirty="0" err="1"/>
              <a:t>Course_Name</a:t>
            </a:r>
            <a:r>
              <a:rPr dirty="0"/>
              <a:t> |</a:t>
            </a:r>
          </a:p>
          <a:p>
            <a:r>
              <a:rPr dirty="0"/>
              <a:t>|---------|----------|------------|--------------|</a:t>
            </a:r>
          </a:p>
          <a:p>
            <a:r>
              <a:rPr dirty="0"/>
              <a:t>| 1       | Dr. Smith | CSE101     | DBMS   </a:t>
            </a:r>
            <a:r>
              <a:rPr dirty="0" smtClean="0"/>
              <a:t>|</a:t>
            </a:r>
            <a:endParaRPr dirty="0"/>
          </a:p>
          <a:p>
            <a:r>
              <a:rPr dirty="0"/>
              <a:t>| 1       | Dr. Smith | CSE102     | OS           |</a:t>
            </a:r>
          </a:p>
          <a:p>
            <a:endParaRPr dirty="0"/>
          </a:p>
          <a:p>
            <a:r>
              <a:rPr dirty="0"/>
              <a:t>- If Dr. Smith's name changes, we must update all records.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Deletion Anomaly</a:t>
            </a:r>
          </a:p>
        </p:txBody>
      </p:sp>
      <p:sp>
        <p:nvSpPr>
          <p:cNvPr id="3" name="Content Placeholder 2"/>
          <p:cNvSpPr>
            <a:spLocks noGrp="1"/>
          </p:cNvSpPr>
          <p:nvPr>
            <p:ph idx="1"/>
          </p:nvPr>
        </p:nvSpPr>
        <p:spPr/>
        <p:txBody>
          <a:bodyPr/>
          <a:lstStyle/>
          <a:p>
            <a:r>
              <a:t>- Occurs when deleting a record removes useful data.</a:t>
            </a:r>
          </a:p>
          <a:p>
            <a:r>
              <a:t>- Example: If the only student enrolled in a course is removed, course details are also lost.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Deletion Anomaly</a:t>
            </a:r>
          </a:p>
        </p:txBody>
      </p:sp>
      <p:sp>
        <p:nvSpPr>
          <p:cNvPr id="3" name="Content Placeholder 2"/>
          <p:cNvSpPr>
            <a:spLocks noGrp="1"/>
          </p:cNvSpPr>
          <p:nvPr>
            <p:ph idx="1"/>
          </p:nvPr>
        </p:nvSpPr>
        <p:spPr/>
        <p:txBody>
          <a:bodyPr/>
          <a:lstStyle/>
          <a:p>
            <a:r>
              <a:t>| Student_ID | Student_Name | Course_ID | Course_Name |</a:t>
            </a:r>
          </a:p>
          <a:p>
            <a:r>
              <a:t>|------------|--------------|------------|--------------|</a:t>
            </a:r>
          </a:p>
          <a:p>
            <a:r>
              <a:t>| 101        | Alice        | CSE101     | DBMS         |</a:t>
            </a:r>
          </a:p>
          <a:p>
            <a:endParaRPr/>
          </a:p>
          <a:p>
            <a:r>
              <a:t>- If Alice is removed, course CSE101 details are lost.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Solution – Normalization</a:t>
            </a:r>
          </a:p>
        </p:txBody>
      </p:sp>
      <p:sp>
        <p:nvSpPr>
          <p:cNvPr id="3" name="Content Placeholder 2"/>
          <p:cNvSpPr>
            <a:spLocks noGrp="1"/>
          </p:cNvSpPr>
          <p:nvPr>
            <p:ph idx="1"/>
          </p:nvPr>
        </p:nvSpPr>
        <p:spPr/>
        <p:txBody>
          <a:bodyPr/>
          <a:lstStyle/>
          <a:p>
            <a:r>
              <a:t>- Normalization divides data into smaller tables to eliminate redundancy.</a:t>
            </a:r>
          </a:p>
          <a:p>
            <a:r>
              <a:t>- Example: Splitting into separate Student and Course tables prevents anomalies.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 of Anomalies</a:t>
            </a:r>
          </a:p>
        </p:txBody>
      </p:sp>
      <p:sp>
        <p:nvSpPr>
          <p:cNvPr id="3" name="Content Placeholder 2"/>
          <p:cNvSpPr>
            <a:spLocks noGrp="1"/>
          </p:cNvSpPr>
          <p:nvPr>
            <p:ph idx="1"/>
          </p:nvPr>
        </p:nvSpPr>
        <p:spPr/>
        <p:txBody>
          <a:bodyPr/>
          <a:lstStyle/>
          <a:p>
            <a:r>
              <a:t>1. **Insertion Anomaly:** Cannot add data without unrelated details.</a:t>
            </a:r>
          </a:p>
          <a:p>
            <a:r>
              <a:t>2. **Update Anomaly:** Multiple updates needed for consistency.</a:t>
            </a:r>
          </a:p>
          <a:p>
            <a:r>
              <a:t>3. **Deletion Anomaly:** Losing data when removing records.</a:t>
            </a:r>
          </a:p>
          <a:p>
            <a:r>
              <a:t>✅ **Solution:** Apply database normalization.</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Thank You!</a:t>
            </a:r>
          </a:p>
        </p:txBody>
      </p:sp>
      <p:sp>
        <p:nvSpPr>
          <p:cNvPr id="3" name="Content Placeholder 2"/>
          <p:cNvSpPr>
            <a:spLocks noGrp="1"/>
          </p:cNvSpPr>
          <p:nvPr>
            <p:ph idx="1"/>
          </p:nvPr>
        </p:nvSpPr>
        <p:spPr/>
        <p:txBody>
          <a:bodyPr/>
          <a:lstStyle/>
          <a:p>
            <a:r>
              <a:t>- Any questions? 😊</a:t>
            </a:r>
          </a:p>
          <a:p>
            <a:r>
              <a:t>- Happy Learning!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US" b="1" u="sng" dirty="0"/>
              <a:t>Closure of an Attribute Set-</a:t>
            </a:r>
            <a:endParaRPr lang="en-US" b="1" dirty="0"/>
          </a:p>
          <a:p>
            <a:r>
              <a:rPr lang="en-US" dirty="0"/>
              <a:t> </a:t>
            </a:r>
            <a:r>
              <a:rPr lang="en-US" dirty="0" smtClean="0"/>
              <a:t>The </a:t>
            </a:r>
            <a:r>
              <a:rPr lang="en-US" dirty="0"/>
              <a:t>set of all those attributes which can be functionally determined from an attribute set is called as a closure of that attribute set.</a:t>
            </a:r>
          </a:p>
          <a:p>
            <a:r>
              <a:rPr lang="en-US" dirty="0"/>
              <a:t>Closure of attribute set {X} is denoted as {X}</a:t>
            </a:r>
            <a:r>
              <a:rPr lang="en-US" baseline="30000" dirty="0"/>
              <a:t>+</a:t>
            </a:r>
            <a:r>
              <a:rPr lang="en-US" dirty="0"/>
              <a:t>.</a:t>
            </a:r>
          </a:p>
          <a:p>
            <a:r>
              <a:rPr lang="en-US" dirty="0"/>
              <a:t> </a:t>
            </a:r>
            <a:r>
              <a:rPr lang="en-US" b="1" u="sng" dirty="0" smtClean="0"/>
              <a:t>Steps </a:t>
            </a:r>
            <a:r>
              <a:rPr lang="en-US" b="1" u="sng" dirty="0"/>
              <a:t>to Find Closure of an Attribute Set-</a:t>
            </a:r>
            <a:endParaRPr lang="en-US" b="1" dirty="0"/>
          </a:p>
          <a:p>
            <a:r>
              <a:rPr lang="en-US" dirty="0"/>
              <a:t> </a:t>
            </a:r>
            <a:r>
              <a:rPr lang="en-US" dirty="0" smtClean="0"/>
              <a:t>Following </a:t>
            </a:r>
            <a:r>
              <a:rPr lang="en-US" dirty="0"/>
              <a:t>steps are followed to find the closure of an attribute set-</a:t>
            </a:r>
          </a:p>
          <a:p>
            <a:endParaRPr lang="en-IN" dirty="0"/>
          </a:p>
        </p:txBody>
      </p:sp>
    </p:spTree>
    <p:extLst>
      <p:ext uri="{BB962C8B-B14F-4D97-AF65-F5344CB8AC3E}">
        <p14:creationId xmlns:p14="http://schemas.microsoft.com/office/powerpoint/2010/main" val="31827087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54853"/>
          </a:xfrm>
        </p:spPr>
        <p:txBody>
          <a:bodyPr>
            <a:normAutofit fontScale="90000"/>
          </a:bodyPr>
          <a:lstStyle/>
          <a:p>
            <a:endParaRPr lang="en-IN" dirty="0"/>
          </a:p>
        </p:txBody>
      </p:sp>
      <p:sp>
        <p:nvSpPr>
          <p:cNvPr id="3" name="Content Placeholder 2"/>
          <p:cNvSpPr>
            <a:spLocks noGrp="1"/>
          </p:cNvSpPr>
          <p:nvPr>
            <p:ph idx="1"/>
          </p:nvPr>
        </p:nvSpPr>
        <p:spPr>
          <a:xfrm>
            <a:off x="166256" y="429491"/>
            <a:ext cx="8825344" cy="6636327"/>
          </a:xfrm>
        </p:spPr>
        <p:txBody>
          <a:bodyPr numCol="2">
            <a:noAutofit/>
          </a:bodyPr>
          <a:lstStyle/>
          <a:p>
            <a:r>
              <a:rPr lang="en-US" sz="1200" b="1" u="sng" dirty="0"/>
              <a:t>Step-01:</a:t>
            </a:r>
            <a:endParaRPr lang="en-US" sz="1200" b="1" dirty="0"/>
          </a:p>
          <a:p>
            <a:r>
              <a:rPr lang="en-US" sz="1200" dirty="0"/>
              <a:t> </a:t>
            </a:r>
            <a:r>
              <a:rPr lang="en-US" sz="1200" dirty="0" smtClean="0"/>
              <a:t>Add </a:t>
            </a:r>
            <a:r>
              <a:rPr lang="en-US" sz="1200" dirty="0"/>
              <a:t>the attributes contained in the attribute set for which closure is being calculated to the result set.</a:t>
            </a:r>
          </a:p>
          <a:p>
            <a:r>
              <a:rPr lang="en-US" sz="1200" dirty="0"/>
              <a:t> </a:t>
            </a:r>
            <a:r>
              <a:rPr lang="en-US" sz="1200" b="1" u="sng" dirty="0" smtClean="0"/>
              <a:t>Step-02</a:t>
            </a:r>
            <a:r>
              <a:rPr lang="en-US" sz="1200" b="1" u="sng" dirty="0"/>
              <a:t>:</a:t>
            </a:r>
            <a:endParaRPr lang="en-US" sz="1200" b="1" dirty="0"/>
          </a:p>
          <a:p>
            <a:r>
              <a:rPr lang="en-US" sz="1200" dirty="0"/>
              <a:t> </a:t>
            </a:r>
            <a:r>
              <a:rPr lang="en-US" sz="1200" dirty="0" smtClean="0"/>
              <a:t>Recursively </a:t>
            </a:r>
            <a:r>
              <a:rPr lang="en-US" sz="1200" dirty="0"/>
              <a:t>add the attributes to the result set which can be functionally determined from the attributes already contained in the result set.</a:t>
            </a:r>
          </a:p>
          <a:p>
            <a:r>
              <a:rPr lang="en-US" sz="1200" dirty="0"/>
              <a:t> </a:t>
            </a:r>
            <a:r>
              <a:rPr lang="en-US" sz="1200" b="1" u="sng" dirty="0" smtClean="0"/>
              <a:t>Example-</a:t>
            </a:r>
            <a:endParaRPr lang="en-US" sz="1200" b="1" dirty="0"/>
          </a:p>
          <a:p>
            <a:r>
              <a:rPr lang="en-US" sz="1200" dirty="0"/>
              <a:t> </a:t>
            </a:r>
            <a:r>
              <a:rPr lang="en-US" sz="1200" dirty="0" smtClean="0"/>
              <a:t>Consider </a:t>
            </a:r>
            <a:r>
              <a:rPr lang="en-US" sz="1200" dirty="0"/>
              <a:t>a relation R ( A , B , C , D , E , F , G ) with the functional dependencies-</a:t>
            </a:r>
          </a:p>
          <a:p>
            <a:r>
              <a:rPr lang="en-US" sz="1200" dirty="0"/>
              <a:t>A → BC</a:t>
            </a:r>
          </a:p>
          <a:p>
            <a:r>
              <a:rPr lang="en-US" sz="1200" dirty="0"/>
              <a:t>BC → DE</a:t>
            </a:r>
          </a:p>
          <a:p>
            <a:r>
              <a:rPr lang="en-US" sz="1200" dirty="0"/>
              <a:t>D → </a:t>
            </a:r>
            <a:r>
              <a:rPr lang="en-US" sz="1200" dirty="0" smtClean="0"/>
              <a:t>F</a:t>
            </a:r>
          </a:p>
          <a:p>
            <a:r>
              <a:rPr lang="en-US" sz="1200" dirty="0"/>
              <a:t>CF → G</a:t>
            </a:r>
          </a:p>
          <a:p>
            <a:r>
              <a:rPr lang="en-US" sz="1200" dirty="0"/>
              <a:t> </a:t>
            </a:r>
            <a:r>
              <a:rPr lang="en-US" sz="1200" dirty="0" smtClean="0"/>
              <a:t>Now</a:t>
            </a:r>
            <a:r>
              <a:rPr lang="en-US" sz="1200" dirty="0"/>
              <a:t>, let us find the closure of some attributes and attribute sets-</a:t>
            </a:r>
          </a:p>
          <a:p>
            <a:r>
              <a:rPr lang="en-US" sz="1200" b="1" u="sng" dirty="0"/>
              <a:t>Closure of attribute A-</a:t>
            </a:r>
            <a:endParaRPr lang="en-US" sz="1200" b="1" dirty="0"/>
          </a:p>
          <a:p>
            <a:r>
              <a:rPr lang="en-US" sz="1200" dirty="0"/>
              <a:t> </a:t>
            </a:r>
            <a:r>
              <a:rPr lang="en-US" sz="1200" dirty="0" smtClean="0"/>
              <a:t>A</a:t>
            </a:r>
            <a:r>
              <a:rPr lang="en-US" sz="1200" baseline="30000" dirty="0"/>
              <a:t>+</a:t>
            </a:r>
            <a:r>
              <a:rPr lang="en-US" sz="1200" dirty="0"/>
              <a:t>   = { A </a:t>
            </a:r>
            <a:r>
              <a:rPr lang="en-US" sz="1200" dirty="0" smtClean="0"/>
              <a:t>}</a:t>
            </a:r>
          </a:p>
          <a:p>
            <a:r>
              <a:rPr lang="en-IN" sz="1200" dirty="0"/>
              <a:t>= { A , B , C }                          ( Using A → BC )</a:t>
            </a:r>
          </a:p>
          <a:p>
            <a:r>
              <a:rPr lang="en-IN" sz="1200" dirty="0"/>
              <a:t>= { A , B , C , D , E }               ( Using BC → DE )</a:t>
            </a:r>
          </a:p>
          <a:p>
            <a:r>
              <a:rPr lang="en-IN" sz="1200" dirty="0"/>
              <a:t>= { A , B , C , D , E , F }          ( Using D → F )</a:t>
            </a:r>
          </a:p>
          <a:p>
            <a:r>
              <a:rPr lang="en-US" sz="1200" dirty="0"/>
              <a:t>= { A , B , C , D , E , F , G }    ( Using CF → G )</a:t>
            </a:r>
          </a:p>
          <a:p>
            <a:r>
              <a:rPr lang="en-US" sz="1200" dirty="0"/>
              <a:t>Thus,</a:t>
            </a:r>
          </a:p>
          <a:p>
            <a:r>
              <a:rPr lang="en-US" sz="1200" b="1" dirty="0"/>
              <a:t>A</a:t>
            </a:r>
            <a:r>
              <a:rPr lang="en-US" sz="1200" b="1" baseline="30000" dirty="0"/>
              <a:t>+</a:t>
            </a:r>
            <a:r>
              <a:rPr lang="en-US" sz="1200" b="1" dirty="0"/>
              <a:t> = { A , B , C , D , E , F , G }</a:t>
            </a:r>
            <a:endParaRPr lang="en-US" sz="1200" dirty="0"/>
          </a:p>
          <a:p>
            <a:r>
              <a:rPr lang="en-US" sz="1200" dirty="0"/>
              <a:t> </a:t>
            </a:r>
          </a:p>
          <a:p>
            <a:r>
              <a:rPr lang="en-US" sz="1200" b="1" u="sng" dirty="0"/>
              <a:t>Closure of attribute D-</a:t>
            </a:r>
            <a:endParaRPr lang="en-US" sz="1200" b="1" dirty="0"/>
          </a:p>
          <a:p>
            <a:r>
              <a:rPr lang="en-US" sz="1200" dirty="0"/>
              <a:t> </a:t>
            </a:r>
          </a:p>
          <a:p>
            <a:r>
              <a:rPr lang="en-US" sz="1200" dirty="0"/>
              <a:t>D</a:t>
            </a:r>
            <a:r>
              <a:rPr lang="en-US" sz="1200" baseline="30000" dirty="0"/>
              <a:t>+</a:t>
            </a:r>
            <a:r>
              <a:rPr lang="en-US" sz="1200" dirty="0"/>
              <a:t>   = { D }</a:t>
            </a:r>
          </a:p>
          <a:p>
            <a:r>
              <a:rPr lang="en-IN" sz="1200" dirty="0"/>
              <a:t>= { D , F }   ( Using D → F )</a:t>
            </a:r>
          </a:p>
          <a:p>
            <a:r>
              <a:rPr lang="en-IN" sz="1200" dirty="0"/>
              <a:t>We can not determine any other attribute using attributes D and F contained in the result set.</a:t>
            </a:r>
          </a:p>
          <a:p>
            <a:r>
              <a:rPr lang="en-IN" sz="1200" dirty="0"/>
              <a:t>Thus,</a:t>
            </a:r>
          </a:p>
          <a:p>
            <a:r>
              <a:rPr lang="en-IN" sz="1200" b="1" dirty="0"/>
              <a:t>D</a:t>
            </a:r>
            <a:r>
              <a:rPr lang="en-IN" sz="1200" b="1" baseline="30000" dirty="0"/>
              <a:t>+</a:t>
            </a:r>
            <a:r>
              <a:rPr lang="en-IN" sz="1200" b="1" dirty="0"/>
              <a:t> = { D , F }</a:t>
            </a:r>
            <a:endParaRPr lang="en-IN" sz="1200" dirty="0"/>
          </a:p>
          <a:p>
            <a:r>
              <a:rPr lang="en-IN" sz="1200" dirty="0"/>
              <a:t> </a:t>
            </a:r>
            <a:r>
              <a:rPr lang="en-IN" sz="1200" b="1" u="sng" dirty="0" smtClean="0"/>
              <a:t>Closure </a:t>
            </a:r>
            <a:r>
              <a:rPr lang="en-IN" sz="1200" b="1" u="sng" dirty="0"/>
              <a:t>of attribute set {B, C}-</a:t>
            </a:r>
            <a:endParaRPr lang="en-IN" sz="1200" b="1" dirty="0"/>
          </a:p>
          <a:p>
            <a:r>
              <a:rPr lang="en-IN" sz="1200" dirty="0"/>
              <a:t> </a:t>
            </a:r>
          </a:p>
          <a:p>
            <a:r>
              <a:rPr lang="en-IN" sz="1200" dirty="0"/>
              <a:t>{ B , C }</a:t>
            </a:r>
            <a:r>
              <a:rPr lang="en-IN" sz="1200" baseline="30000" dirty="0"/>
              <a:t>+</a:t>
            </a:r>
            <a:r>
              <a:rPr lang="en-IN" sz="1200" dirty="0"/>
              <a:t>= { B , C }</a:t>
            </a:r>
          </a:p>
          <a:p>
            <a:r>
              <a:rPr lang="en-IN" sz="1200" dirty="0"/>
              <a:t>= { B , C , D , E }               ( Using BC → DE )</a:t>
            </a:r>
          </a:p>
          <a:p>
            <a:r>
              <a:rPr lang="en-IN" sz="1200" dirty="0"/>
              <a:t>= { B , C , D , E , F }          ( Using D → F )</a:t>
            </a:r>
          </a:p>
          <a:p>
            <a:r>
              <a:rPr lang="en-IN" sz="1200" dirty="0"/>
              <a:t>= { B , C , D , E , F , G }    ( Using CF → G )</a:t>
            </a:r>
          </a:p>
          <a:p>
            <a:r>
              <a:rPr lang="en-IN" sz="1200" dirty="0"/>
              <a:t>Thus,</a:t>
            </a:r>
          </a:p>
          <a:p>
            <a:r>
              <a:rPr lang="en-IN" sz="1200" b="1" dirty="0"/>
              <a:t>{ B , C }</a:t>
            </a:r>
            <a:r>
              <a:rPr lang="en-IN" sz="1200" b="1" baseline="30000" dirty="0"/>
              <a:t>+</a:t>
            </a:r>
            <a:r>
              <a:rPr lang="en-IN" sz="1200" b="1" dirty="0"/>
              <a:t> = { B , C , D , E , F , G }</a:t>
            </a:r>
            <a:endParaRPr lang="en-IN" sz="1200" dirty="0"/>
          </a:p>
          <a:p>
            <a:r>
              <a:rPr lang="en-IN" sz="1200" dirty="0"/>
              <a:t> </a:t>
            </a:r>
          </a:p>
          <a:p>
            <a:r>
              <a:rPr lang="en-IN" sz="1200" b="1" u="sng" dirty="0"/>
              <a:t>Finding the Keys Using Closure-</a:t>
            </a:r>
            <a:endParaRPr lang="en-IN" sz="1200" b="1" dirty="0"/>
          </a:p>
          <a:p>
            <a:r>
              <a:rPr lang="en-IN" sz="1200" dirty="0"/>
              <a:t> </a:t>
            </a:r>
            <a:r>
              <a:rPr lang="en-IN" sz="1200" b="1" u="sng" dirty="0" smtClean="0"/>
              <a:t>Super </a:t>
            </a:r>
            <a:r>
              <a:rPr lang="en-IN" sz="1200" b="1" u="sng" dirty="0"/>
              <a:t>Key-</a:t>
            </a:r>
            <a:endParaRPr lang="en-IN" sz="1200" b="1" dirty="0"/>
          </a:p>
          <a:p>
            <a:r>
              <a:rPr lang="en-IN" sz="1200" dirty="0"/>
              <a:t> </a:t>
            </a:r>
            <a:r>
              <a:rPr lang="en-US" sz="1200" dirty="0" smtClean="0"/>
              <a:t>If </a:t>
            </a:r>
            <a:r>
              <a:rPr lang="en-US" sz="1200" dirty="0"/>
              <a:t>the closure result of an attribute set contains all the attributes of the relation, then that attribute set is called as a super key of that relation.</a:t>
            </a:r>
          </a:p>
          <a:p>
            <a:r>
              <a:rPr lang="en-US" sz="1200" dirty="0"/>
              <a:t>Thus, we can say-</a:t>
            </a:r>
          </a:p>
          <a:p>
            <a:r>
              <a:rPr lang="en-US" sz="1200" b="1" dirty="0"/>
              <a:t>“The closure of a super key is the entire relation schema.”</a:t>
            </a:r>
            <a:endParaRPr lang="en-US" sz="1200" dirty="0"/>
          </a:p>
          <a:p>
            <a:r>
              <a:rPr lang="en-US" sz="1200" dirty="0"/>
              <a:t> </a:t>
            </a:r>
          </a:p>
          <a:p>
            <a:r>
              <a:rPr lang="en-US" sz="1200" b="1" u="sng" dirty="0"/>
              <a:t>Example-</a:t>
            </a:r>
            <a:endParaRPr lang="en-US" sz="1200" b="1" dirty="0"/>
          </a:p>
          <a:p>
            <a:r>
              <a:rPr lang="en-US" sz="1200" dirty="0"/>
              <a:t> </a:t>
            </a:r>
          </a:p>
          <a:p>
            <a:r>
              <a:rPr lang="en-US" sz="1200" dirty="0"/>
              <a:t>In the above example,</a:t>
            </a:r>
          </a:p>
          <a:p>
            <a:r>
              <a:rPr lang="en-US" sz="1200" dirty="0"/>
              <a:t>The closure of attribute A is the entire relation schema.</a:t>
            </a:r>
          </a:p>
          <a:p>
            <a:r>
              <a:rPr lang="en-US" sz="1200" dirty="0"/>
              <a:t>Thus, attribute A is a super key for that relation.</a:t>
            </a:r>
          </a:p>
          <a:p>
            <a:r>
              <a:rPr lang="en-US" sz="1200" dirty="0"/>
              <a:t> </a:t>
            </a:r>
          </a:p>
          <a:p>
            <a:r>
              <a:rPr lang="en-IN" sz="1200" dirty="0"/>
              <a:t/>
            </a:r>
            <a:br>
              <a:rPr lang="en-IN" sz="1200" dirty="0"/>
            </a:br>
            <a:endParaRPr lang="en-US" sz="1200" dirty="0"/>
          </a:p>
          <a:p>
            <a:endParaRPr lang="en-US" sz="1200" dirty="0"/>
          </a:p>
          <a:p>
            <a:endParaRPr lang="en-IN" sz="1200" dirty="0"/>
          </a:p>
        </p:txBody>
      </p:sp>
    </p:spTree>
    <p:extLst>
      <p:ext uri="{BB962C8B-B14F-4D97-AF65-F5344CB8AC3E}">
        <p14:creationId xmlns:p14="http://schemas.microsoft.com/office/powerpoint/2010/main" val="11699906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62500" lnSpcReduction="20000"/>
          </a:bodyPr>
          <a:lstStyle/>
          <a:p>
            <a:r>
              <a:rPr lang="en-US" b="1" u="sng" dirty="0"/>
              <a:t>Candidate Key-</a:t>
            </a:r>
            <a:endParaRPr lang="en-US" b="1" dirty="0"/>
          </a:p>
          <a:p>
            <a:r>
              <a:rPr lang="en-US" dirty="0"/>
              <a:t> </a:t>
            </a:r>
            <a:r>
              <a:rPr lang="en-US" dirty="0" smtClean="0"/>
              <a:t>If </a:t>
            </a:r>
            <a:r>
              <a:rPr lang="en-US" dirty="0"/>
              <a:t>there exists no subset of an attribute set whose closure contains all the attributes of the relation, then that attribute set is called as a candidate key of that relation.</a:t>
            </a:r>
          </a:p>
          <a:p>
            <a:r>
              <a:rPr lang="en-US" dirty="0"/>
              <a:t> </a:t>
            </a:r>
            <a:r>
              <a:rPr lang="en-US" b="1" u="sng" dirty="0" smtClean="0"/>
              <a:t>Example-</a:t>
            </a:r>
            <a:endParaRPr lang="en-US" b="1" dirty="0"/>
          </a:p>
          <a:p>
            <a:r>
              <a:rPr lang="en-US" dirty="0"/>
              <a:t> </a:t>
            </a:r>
            <a:r>
              <a:rPr lang="en-US" dirty="0" smtClean="0"/>
              <a:t>In </a:t>
            </a:r>
            <a:r>
              <a:rPr lang="en-US" dirty="0"/>
              <a:t>the above example,</a:t>
            </a:r>
          </a:p>
          <a:p>
            <a:r>
              <a:rPr lang="en-US" dirty="0"/>
              <a:t>No subset of attribute A contains all the attributes of the relation.</a:t>
            </a:r>
          </a:p>
          <a:p>
            <a:r>
              <a:rPr lang="en-US" dirty="0"/>
              <a:t>Thus, attribute A is also a candidate key for that relation.</a:t>
            </a:r>
          </a:p>
          <a:p>
            <a:r>
              <a:rPr lang="en-US" b="1" u="sng" dirty="0"/>
              <a:t>PRACTICE PROBLEM BASED ON FINDING CLOSURE OF AN ATTRIBUTE SET-</a:t>
            </a:r>
            <a:endParaRPr lang="en-US" b="1" dirty="0"/>
          </a:p>
          <a:p>
            <a:r>
              <a:rPr lang="en-US" dirty="0"/>
              <a:t> </a:t>
            </a:r>
            <a:r>
              <a:rPr lang="en-US" b="1" u="sng" dirty="0" smtClean="0"/>
              <a:t>Problem-</a:t>
            </a:r>
            <a:endParaRPr lang="en-US" b="1" dirty="0"/>
          </a:p>
          <a:p>
            <a:r>
              <a:rPr lang="en-US" dirty="0"/>
              <a:t> </a:t>
            </a:r>
            <a:r>
              <a:rPr lang="en-US" dirty="0" smtClean="0"/>
              <a:t>Consider </a:t>
            </a:r>
            <a:r>
              <a:rPr lang="en-US" dirty="0"/>
              <a:t>the given functional dependencies-</a:t>
            </a:r>
          </a:p>
          <a:p>
            <a:r>
              <a:rPr lang="da-DK" dirty="0" smtClean="0"/>
              <a:t>AB</a:t>
            </a:r>
            <a:r>
              <a:rPr lang="da-DK" dirty="0"/>
              <a:t> → CD</a:t>
            </a:r>
          </a:p>
          <a:p>
            <a:r>
              <a:rPr lang="da-DK" dirty="0"/>
              <a:t>AF → D</a:t>
            </a:r>
          </a:p>
          <a:p>
            <a:r>
              <a:rPr lang="da-DK" dirty="0"/>
              <a:t>DE → F</a:t>
            </a:r>
          </a:p>
          <a:p>
            <a:endParaRPr lang="en-IN" dirty="0"/>
          </a:p>
        </p:txBody>
      </p:sp>
    </p:spTree>
    <p:extLst>
      <p:ext uri="{BB962C8B-B14F-4D97-AF65-F5344CB8AC3E}">
        <p14:creationId xmlns:p14="http://schemas.microsoft.com/office/powerpoint/2010/main" val="32962709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73507"/>
          </a:xfrm>
        </p:spPr>
        <p:txBody>
          <a:bodyPr>
            <a:normAutofit fontScale="90000"/>
          </a:bodyPr>
          <a:lstStyle/>
          <a:p>
            <a:endParaRPr lang="en-IN" dirty="0"/>
          </a:p>
        </p:txBody>
      </p:sp>
      <p:sp>
        <p:nvSpPr>
          <p:cNvPr id="3" name="Content Placeholder 2"/>
          <p:cNvSpPr>
            <a:spLocks noGrp="1"/>
          </p:cNvSpPr>
          <p:nvPr>
            <p:ph idx="1"/>
          </p:nvPr>
        </p:nvSpPr>
        <p:spPr>
          <a:xfrm>
            <a:off x="249381" y="748145"/>
            <a:ext cx="8769927" cy="5874327"/>
          </a:xfrm>
        </p:spPr>
        <p:txBody>
          <a:bodyPr numCol="2">
            <a:normAutofit fontScale="40000" lnSpcReduction="20000"/>
          </a:bodyPr>
          <a:lstStyle/>
          <a:p>
            <a:r>
              <a:rPr lang="en-US" dirty="0"/>
              <a:t>C → G</a:t>
            </a:r>
          </a:p>
          <a:p>
            <a:r>
              <a:rPr lang="en-US" dirty="0"/>
              <a:t>F → E</a:t>
            </a:r>
          </a:p>
          <a:p>
            <a:r>
              <a:rPr lang="en-US" dirty="0"/>
              <a:t>G → A</a:t>
            </a:r>
          </a:p>
          <a:p>
            <a:r>
              <a:rPr lang="en-US" dirty="0"/>
              <a:t> </a:t>
            </a:r>
          </a:p>
          <a:p>
            <a:r>
              <a:rPr lang="en-US" dirty="0"/>
              <a:t>Which of the following options is false?</a:t>
            </a:r>
          </a:p>
          <a:p>
            <a:r>
              <a:rPr lang="en-US" dirty="0"/>
              <a:t>(A) { CF }</a:t>
            </a:r>
            <a:r>
              <a:rPr lang="en-US" baseline="30000" dirty="0"/>
              <a:t>+</a:t>
            </a:r>
            <a:r>
              <a:rPr lang="en-US" dirty="0"/>
              <a:t> = { A , C , D , E , F , G }</a:t>
            </a:r>
          </a:p>
          <a:p>
            <a:r>
              <a:rPr lang="en-US" dirty="0"/>
              <a:t>(B) { BG }</a:t>
            </a:r>
            <a:r>
              <a:rPr lang="en-US" baseline="30000" dirty="0"/>
              <a:t>+</a:t>
            </a:r>
            <a:r>
              <a:rPr lang="en-US" dirty="0"/>
              <a:t> = { A , B , C , D , G }</a:t>
            </a:r>
          </a:p>
          <a:p>
            <a:r>
              <a:rPr lang="en-US" dirty="0"/>
              <a:t>(C) { AF }</a:t>
            </a:r>
            <a:r>
              <a:rPr lang="en-US" baseline="30000" dirty="0"/>
              <a:t>+</a:t>
            </a:r>
            <a:r>
              <a:rPr lang="en-US" dirty="0"/>
              <a:t> = { A , C , D , E , F , G }</a:t>
            </a:r>
          </a:p>
          <a:p>
            <a:r>
              <a:rPr lang="en-US" dirty="0"/>
              <a:t>(D) { AB }</a:t>
            </a:r>
            <a:r>
              <a:rPr lang="en-US" baseline="30000" dirty="0"/>
              <a:t>+</a:t>
            </a:r>
            <a:r>
              <a:rPr lang="en-US" dirty="0"/>
              <a:t> = { A , C , D , F ,G }</a:t>
            </a:r>
          </a:p>
          <a:p>
            <a:r>
              <a:rPr lang="en-US" dirty="0"/>
              <a:t> </a:t>
            </a:r>
          </a:p>
          <a:p>
            <a:r>
              <a:rPr lang="en-US" b="1" u="sng" dirty="0"/>
              <a:t>Solution-</a:t>
            </a:r>
            <a:endParaRPr lang="en-US" b="1" dirty="0"/>
          </a:p>
          <a:p>
            <a:r>
              <a:rPr lang="en-US" dirty="0"/>
              <a:t> </a:t>
            </a:r>
            <a:r>
              <a:rPr lang="en-US" dirty="0" smtClean="0"/>
              <a:t>Let </a:t>
            </a:r>
            <a:r>
              <a:rPr lang="en-US" dirty="0"/>
              <a:t>us check each option one by one-</a:t>
            </a:r>
          </a:p>
          <a:p>
            <a:r>
              <a:rPr lang="en-US" dirty="0"/>
              <a:t> </a:t>
            </a:r>
            <a:r>
              <a:rPr lang="en-US" b="1" u="sng" dirty="0" smtClean="0"/>
              <a:t>Option-</a:t>
            </a:r>
            <a:r>
              <a:rPr lang="en-US" b="1" u="sng" dirty="0"/>
              <a:t>(A):</a:t>
            </a:r>
            <a:endParaRPr lang="en-US" b="1" dirty="0"/>
          </a:p>
          <a:p>
            <a:r>
              <a:rPr lang="en-US" dirty="0"/>
              <a:t> </a:t>
            </a:r>
          </a:p>
          <a:p>
            <a:r>
              <a:rPr lang="en-US" dirty="0"/>
              <a:t>{ CF }</a:t>
            </a:r>
            <a:r>
              <a:rPr lang="en-US" baseline="30000" dirty="0"/>
              <a:t>+</a:t>
            </a:r>
            <a:r>
              <a:rPr lang="en-US" dirty="0"/>
              <a:t>  = { C , F }</a:t>
            </a:r>
          </a:p>
          <a:p>
            <a:r>
              <a:rPr lang="en-US" dirty="0"/>
              <a:t>      = { C , F , G }                     ( Using C → G )</a:t>
            </a:r>
          </a:p>
          <a:p>
            <a:r>
              <a:rPr lang="en-US" dirty="0"/>
              <a:t>      = { C , E , F , G }               ( Using F → E )</a:t>
            </a:r>
          </a:p>
          <a:p>
            <a:r>
              <a:rPr lang="en-US" dirty="0"/>
              <a:t>      = { A , C , E , E , F }          ( Using G → A )</a:t>
            </a:r>
          </a:p>
          <a:p>
            <a:r>
              <a:rPr lang="en-US" dirty="0"/>
              <a:t>      = { A , C , D , E , F , G }    ( Using AF → D )</a:t>
            </a:r>
          </a:p>
          <a:p>
            <a:r>
              <a:rPr lang="en-US" dirty="0"/>
              <a:t> </a:t>
            </a:r>
          </a:p>
          <a:p>
            <a:r>
              <a:rPr lang="en-US" dirty="0"/>
              <a:t>Since, our obtained result set is same as the given result set, so, it means it is correctly given.</a:t>
            </a:r>
          </a:p>
          <a:p>
            <a:r>
              <a:rPr lang="en-US" dirty="0"/>
              <a:t> </a:t>
            </a:r>
          </a:p>
          <a:p>
            <a:r>
              <a:rPr lang="en-US" b="1" u="sng" dirty="0"/>
              <a:t>Option-(B):</a:t>
            </a:r>
            <a:endParaRPr lang="en-US" b="1" dirty="0"/>
          </a:p>
          <a:p>
            <a:r>
              <a:rPr lang="en-US" dirty="0"/>
              <a:t> </a:t>
            </a:r>
          </a:p>
          <a:p>
            <a:r>
              <a:rPr lang="en-US" dirty="0"/>
              <a:t>{ BG }</a:t>
            </a:r>
            <a:r>
              <a:rPr lang="en-US" baseline="30000" dirty="0"/>
              <a:t>+</a:t>
            </a:r>
            <a:r>
              <a:rPr lang="en-US" dirty="0"/>
              <a:t>  = { B , G }</a:t>
            </a:r>
          </a:p>
          <a:p>
            <a:r>
              <a:rPr lang="en-US" dirty="0"/>
              <a:t>      = { A , B , G }                   ( Using G → A )</a:t>
            </a:r>
          </a:p>
          <a:p>
            <a:r>
              <a:rPr lang="en-US" dirty="0"/>
              <a:t>      = { A , B , C , D , G }        ( Using AB → CD )</a:t>
            </a:r>
          </a:p>
          <a:p>
            <a:r>
              <a:rPr lang="en-US" dirty="0"/>
              <a:t> </a:t>
            </a:r>
          </a:p>
          <a:p>
            <a:r>
              <a:rPr lang="en-US" dirty="0"/>
              <a:t>Since, our obtained result set is same as the given result set, so, it means it is correctly given.</a:t>
            </a:r>
          </a:p>
          <a:p>
            <a:r>
              <a:rPr lang="en-US" dirty="0"/>
              <a:t> </a:t>
            </a:r>
          </a:p>
          <a:p>
            <a:r>
              <a:rPr lang="en-US" b="1" u="sng" dirty="0"/>
              <a:t>Option-(C):</a:t>
            </a:r>
            <a:endParaRPr lang="en-US" b="1" dirty="0"/>
          </a:p>
          <a:p>
            <a:r>
              <a:rPr lang="en-US" dirty="0"/>
              <a:t> </a:t>
            </a:r>
          </a:p>
          <a:p>
            <a:r>
              <a:rPr lang="en-US" dirty="0"/>
              <a:t>{ AF }</a:t>
            </a:r>
            <a:r>
              <a:rPr lang="en-US" baseline="30000" dirty="0"/>
              <a:t>+</a:t>
            </a:r>
            <a:r>
              <a:rPr lang="en-US" dirty="0"/>
              <a:t>  = { A , F }</a:t>
            </a:r>
          </a:p>
          <a:p>
            <a:r>
              <a:rPr lang="en-US" dirty="0"/>
              <a:t>      = { A , D , F }               ( Using AF → D )</a:t>
            </a:r>
          </a:p>
          <a:p>
            <a:r>
              <a:rPr lang="en-US" dirty="0"/>
              <a:t>      = { A , D , E , F }          ( Using F → E )</a:t>
            </a:r>
          </a:p>
          <a:p>
            <a:r>
              <a:rPr lang="en-US" dirty="0"/>
              <a:t> </a:t>
            </a:r>
          </a:p>
          <a:p>
            <a:r>
              <a:rPr lang="en-US" dirty="0"/>
              <a:t>Since, our obtained result set is different from the given result set, </a:t>
            </a:r>
            <a:r>
              <a:rPr lang="en-US" dirty="0" err="1"/>
              <a:t>so,it</a:t>
            </a:r>
            <a:r>
              <a:rPr lang="en-US" dirty="0"/>
              <a:t> means it is not correctly given.</a:t>
            </a:r>
          </a:p>
          <a:p>
            <a:r>
              <a:rPr lang="en-US" dirty="0"/>
              <a:t> </a:t>
            </a:r>
          </a:p>
          <a:p>
            <a:r>
              <a:rPr lang="en-US" b="1" u="sng" dirty="0"/>
              <a:t>Option-(D):</a:t>
            </a:r>
            <a:endParaRPr lang="en-US" b="1" dirty="0"/>
          </a:p>
          <a:p>
            <a:r>
              <a:rPr lang="en-US" dirty="0"/>
              <a:t> </a:t>
            </a:r>
          </a:p>
          <a:p>
            <a:r>
              <a:rPr lang="en-US" dirty="0"/>
              <a:t>{ AB }</a:t>
            </a:r>
            <a:r>
              <a:rPr lang="en-US" baseline="30000" dirty="0"/>
              <a:t>+</a:t>
            </a:r>
            <a:r>
              <a:rPr lang="en-US" dirty="0"/>
              <a:t>  = { A , B }</a:t>
            </a:r>
          </a:p>
          <a:p>
            <a:r>
              <a:rPr lang="en-US" dirty="0"/>
              <a:t>      = { A , B , C , D }            ( Using AB → CD )</a:t>
            </a:r>
          </a:p>
          <a:p>
            <a:r>
              <a:rPr lang="en-US" dirty="0"/>
              <a:t>      = { A , B , C , D , G }      ( Using C → G )</a:t>
            </a:r>
          </a:p>
          <a:p>
            <a:r>
              <a:rPr lang="en-US" dirty="0"/>
              <a:t> </a:t>
            </a:r>
          </a:p>
          <a:p>
            <a:r>
              <a:rPr lang="en-US" dirty="0"/>
              <a:t>Since, our obtained result set is different from the given result set, </a:t>
            </a:r>
            <a:r>
              <a:rPr lang="en-US" dirty="0" err="1"/>
              <a:t>so,it</a:t>
            </a:r>
            <a:r>
              <a:rPr lang="en-US" dirty="0"/>
              <a:t> means it is not correctly given.</a:t>
            </a:r>
          </a:p>
          <a:p>
            <a:r>
              <a:rPr lang="en-US" dirty="0"/>
              <a:t>Thus,</a:t>
            </a:r>
          </a:p>
          <a:p>
            <a:r>
              <a:rPr lang="en-US" b="1" dirty="0"/>
              <a:t>Option (C) and Option (D) are correct.</a:t>
            </a:r>
            <a:endParaRPr lang="en-US" dirty="0"/>
          </a:p>
          <a:p>
            <a:r>
              <a:rPr lang="en-US" dirty="0"/>
              <a:t> </a:t>
            </a:r>
          </a:p>
          <a:p>
            <a:endParaRPr lang="en-IN" dirty="0"/>
          </a:p>
        </p:txBody>
      </p:sp>
    </p:spTree>
    <p:extLst>
      <p:ext uri="{BB962C8B-B14F-4D97-AF65-F5344CB8AC3E}">
        <p14:creationId xmlns:p14="http://schemas.microsoft.com/office/powerpoint/2010/main" val="10700047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146</TotalTime>
  <Words>514</Words>
  <Application>Microsoft Office PowerPoint</Application>
  <PresentationFormat>On-screen Show (4:3)</PresentationFormat>
  <Paragraphs>165</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Insertion, Updation, and Deletion Anomalies</vt:lpstr>
      <vt:lpstr>Introduction to Anomalies</vt:lpstr>
      <vt:lpstr> How are Anomalies Caused in DBMS? </vt:lpstr>
      <vt:lpstr>PowerPoint Presentation</vt:lpstr>
      <vt:lpstr>Example-</vt:lpstr>
      <vt:lpstr>Insertion Anomaly</vt:lpstr>
      <vt:lpstr>Example: Insertion Anomaly</vt:lpstr>
      <vt:lpstr>Update Anomaly</vt:lpstr>
      <vt:lpstr>Example: Update Anomaly</vt:lpstr>
      <vt:lpstr>Deletion Anomaly</vt:lpstr>
      <vt:lpstr>Example: Deletion Anomaly</vt:lpstr>
      <vt:lpstr>Solution – Normalization</vt:lpstr>
      <vt:lpstr>Summary of Anomalies</vt:lpstr>
      <vt:lpstr>Thank You!</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Insertion, Updation, and Deletion Anomalies</dc:title>
  <dc:subject/>
  <dc:creator/>
  <cp:keywords/>
  <dc:description>generated using python-pptx</dc:description>
  <cp:lastModifiedBy>Subhasish_Mohapatra</cp:lastModifiedBy>
  <cp:revision>18</cp:revision>
  <dcterms:created xsi:type="dcterms:W3CDTF">2013-01-27T09:14:16Z</dcterms:created>
  <dcterms:modified xsi:type="dcterms:W3CDTF">2026-03-05T10:18:02Z</dcterms:modified>
  <cp:category/>
</cp:coreProperties>
</file>