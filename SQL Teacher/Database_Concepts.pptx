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1" r:id="rId4"/>
    <p:sldId id="262" r:id="rId5"/>
    <p:sldId id="263" r:id="rId6"/>
    <p:sldId id="264" r:id="rId7"/>
    <p:sldId id="265"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scaler.com/topics/schema-in-dbm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caler.com/topics/structure-of-dbm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scaler.com/topics/application-of-dbm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Database Users, Languages, Schemas, and Subschemas</a:t>
            </a:r>
          </a:p>
        </p:txBody>
      </p:sp>
      <p:sp>
        <p:nvSpPr>
          <p:cNvPr id="3" name="Subtitle 2"/>
          <p:cNvSpPr>
            <a:spLocks noGrp="1"/>
          </p:cNvSpPr>
          <p:nvPr>
            <p:ph type="subTitle" idx="1"/>
          </p:nvPr>
        </p:nvSpPr>
        <p:spPr/>
        <p:txBody>
          <a:bodyPr/>
          <a:lstStyle/>
          <a:p>
            <a:r>
              <a:t>A Comprehensive 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 Users</a:t>
            </a:r>
          </a:p>
        </p:txBody>
      </p:sp>
      <p:sp>
        <p:nvSpPr>
          <p:cNvPr id="3" name="Content Placeholder 2"/>
          <p:cNvSpPr>
            <a:spLocks noGrp="1"/>
          </p:cNvSpPr>
          <p:nvPr>
            <p:ph idx="1"/>
          </p:nvPr>
        </p:nvSpPr>
        <p:spPr>
          <a:xfrm>
            <a:off x="457200" y="1177637"/>
            <a:ext cx="8575964" cy="5583382"/>
          </a:xfrm>
        </p:spPr>
        <p:txBody>
          <a:bodyPr>
            <a:normAutofit/>
          </a:bodyPr>
          <a:lstStyle/>
          <a:p>
            <a:r>
              <a:rPr sz="2400" dirty="0"/>
              <a:t>1. Database Administrator (DBA) - Manages security, backup, and performance.</a:t>
            </a:r>
          </a:p>
          <a:p>
            <a:endParaRPr sz="2400" dirty="0"/>
          </a:p>
          <a:p>
            <a:r>
              <a:rPr sz="2400" dirty="0"/>
              <a:t>2. End Users - Interact via applications (Casual, Naïve, Sophisticated users).</a:t>
            </a:r>
          </a:p>
          <a:p>
            <a:endParaRPr sz="2400" dirty="0"/>
          </a:p>
          <a:p>
            <a:r>
              <a:rPr sz="2400" dirty="0"/>
              <a:t>3. Application Programmers - Develop software interacting with the database.</a:t>
            </a:r>
          </a:p>
          <a:p>
            <a:endParaRPr sz="2400" dirty="0"/>
          </a:p>
          <a:p>
            <a:r>
              <a:rPr sz="2400" dirty="0"/>
              <a:t>4. System Analysts - Design and define database structures.</a:t>
            </a:r>
          </a:p>
          <a:p>
            <a:endParaRPr sz="2400" dirty="0"/>
          </a:p>
          <a:p>
            <a:r>
              <a:rPr sz="2400" dirty="0"/>
              <a:t>5. Database Designers - Create logical and physical database design.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01217"/>
          </a:xfrm>
        </p:spPr>
        <p:txBody>
          <a:bodyPr>
            <a:normAutofit fontScale="90000"/>
          </a:bodyPr>
          <a:lstStyle/>
          <a:p>
            <a:endParaRPr lang="en-IN" dirty="0"/>
          </a:p>
        </p:txBody>
      </p:sp>
      <p:sp>
        <p:nvSpPr>
          <p:cNvPr id="3" name="Content Placeholder 2"/>
          <p:cNvSpPr>
            <a:spLocks noGrp="1"/>
          </p:cNvSpPr>
          <p:nvPr>
            <p:ph idx="1"/>
          </p:nvPr>
        </p:nvSpPr>
        <p:spPr>
          <a:xfrm>
            <a:off x="457200" y="928256"/>
            <a:ext cx="8229600" cy="5197908"/>
          </a:xfrm>
        </p:spPr>
        <p:txBody>
          <a:bodyPr>
            <a:normAutofit fontScale="70000" lnSpcReduction="20000"/>
          </a:bodyPr>
          <a:lstStyle/>
          <a:p>
            <a:pPr algn="just"/>
            <a:r>
              <a:rPr lang="en-US" dirty="0"/>
              <a:t>Database users in DBMS can </a:t>
            </a:r>
            <a:r>
              <a:rPr lang="en-US" b="1" dirty="0"/>
              <a:t>access the database and retrieve the data</a:t>
            </a:r>
            <a:r>
              <a:rPr lang="en-US" dirty="0"/>
              <a:t> from the database using applications and interfaces provided by the </a:t>
            </a:r>
            <a:r>
              <a:rPr lang="en-US" b="1" dirty="0"/>
              <a:t>Database Management System (DBMS)</a:t>
            </a:r>
            <a:r>
              <a:rPr lang="en-US" dirty="0"/>
              <a:t>.</a:t>
            </a:r>
          </a:p>
          <a:p>
            <a:pPr algn="just"/>
            <a:r>
              <a:rPr lang="en-US" dirty="0"/>
              <a:t>Database users in DBMS can be categorized based on their </a:t>
            </a:r>
            <a:r>
              <a:rPr lang="en-US" b="1" dirty="0"/>
              <a:t>interaction</a:t>
            </a:r>
            <a:r>
              <a:rPr lang="en-US" dirty="0"/>
              <a:t> with the databases. According to the tasks performed by the database users on the databases, we can categorize them into </a:t>
            </a:r>
            <a:r>
              <a:rPr lang="en-US" b="1" dirty="0"/>
              <a:t>seven categories</a:t>
            </a:r>
            <a:r>
              <a:rPr lang="en-US" dirty="0"/>
              <a:t> as follows:</a:t>
            </a:r>
          </a:p>
          <a:p>
            <a:pPr algn="just"/>
            <a:r>
              <a:rPr lang="en-US" dirty="0"/>
              <a:t>Database Administrators (DBA)</a:t>
            </a:r>
          </a:p>
          <a:p>
            <a:pPr algn="just"/>
            <a:r>
              <a:rPr lang="en-US" dirty="0"/>
              <a:t>Database Designers</a:t>
            </a:r>
          </a:p>
          <a:p>
            <a:pPr algn="just"/>
            <a:r>
              <a:rPr lang="en-US" dirty="0"/>
              <a:t>System Analysts</a:t>
            </a:r>
          </a:p>
          <a:p>
            <a:pPr algn="just"/>
            <a:r>
              <a:rPr lang="en-US" dirty="0"/>
              <a:t>Application Programmers / Back-End Developers</a:t>
            </a:r>
          </a:p>
          <a:p>
            <a:pPr algn="just"/>
            <a:r>
              <a:rPr lang="en-US" dirty="0"/>
              <a:t>Naive Users / Parametric Users</a:t>
            </a:r>
          </a:p>
          <a:p>
            <a:pPr algn="just"/>
            <a:r>
              <a:rPr lang="en-US" dirty="0"/>
              <a:t>Sophisticated Users</a:t>
            </a:r>
          </a:p>
          <a:p>
            <a:pPr algn="just"/>
            <a:r>
              <a:rPr lang="en-US" dirty="0"/>
              <a:t>Casual Users / Temporary Users</a:t>
            </a:r>
          </a:p>
          <a:p>
            <a:endParaRPr lang="en-IN" dirty="0"/>
          </a:p>
        </p:txBody>
      </p:sp>
    </p:spTree>
    <p:extLst>
      <p:ext uri="{BB962C8B-B14F-4D97-AF65-F5344CB8AC3E}">
        <p14:creationId xmlns:p14="http://schemas.microsoft.com/office/powerpoint/2010/main" val="2688907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58417"/>
          </a:xfrm>
        </p:spPr>
        <p:txBody>
          <a:bodyPr>
            <a:normAutofit fontScale="90000"/>
          </a:bodyPr>
          <a:lstStyle/>
          <a:p>
            <a:r>
              <a:rPr lang="en-US" b="1" dirty="0" smtClean="0"/>
              <a:t/>
            </a:r>
            <a:br>
              <a:rPr lang="en-US" b="1" dirty="0" smtClean="0"/>
            </a:br>
            <a:r>
              <a:rPr lang="en-US" b="1" dirty="0" smtClean="0"/>
              <a:t>Who </a:t>
            </a:r>
            <a:r>
              <a:rPr lang="en-US" b="1" dirty="0"/>
              <a:t>are Database Administrators (DBA)?</a:t>
            </a:r>
            <a:br>
              <a:rPr lang="en-US" b="1" dirty="0"/>
            </a:br>
            <a:endParaRPr lang="en-IN" dirty="0"/>
          </a:p>
        </p:txBody>
      </p:sp>
      <p:sp>
        <p:nvSpPr>
          <p:cNvPr id="3" name="Content Placeholder 2"/>
          <p:cNvSpPr>
            <a:spLocks noGrp="1"/>
          </p:cNvSpPr>
          <p:nvPr>
            <p:ph idx="1"/>
          </p:nvPr>
        </p:nvSpPr>
        <p:spPr/>
        <p:txBody>
          <a:bodyPr>
            <a:normAutofit fontScale="70000" lnSpcReduction="20000"/>
          </a:bodyPr>
          <a:lstStyle/>
          <a:p>
            <a:pPr algn="just"/>
            <a:r>
              <a:rPr lang="en-US" b="1" dirty="0" smtClean="0"/>
              <a:t>Database </a:t>
            </a:r>
            <a:r>
              <a:rPr lang="en-US" b="1" dirty="0"/>
              <a:t>Administrators (DBA)</a:t>
            </a:r>
            <a:r>
              <a:rPr lang="en-US" dirty="0"/>
              <a:t> are the most important type of database users in DBMS. Database Administrator is an </a:t>
            </a:r>
            <a:r>
              <a:rPr lang="en-US" b="1" dirty="0"/>
              <a:t>individual or a team of users</a:t>
            </a:r>
            <a:r>
              <a:rPr lang="en-US" dirty="0"/>
              <a:t> who defines the </a:t>
            </a:r>
            <a:r>
              <a:rPr lang="en-US" dirty="0">
                <a:hlinkClick r:id="rId2"/>
              </a:rPr>
              <a:t>database schema</a:t>
            </a:r>
            <a:r>
              <a:rPr lang="en-US" dirty="0"/>
              <a:t> and takes charge of controlling various levels of the database within the organization.</a:t>
            </a:r>
          </a:p>
          <a:p>
            <a:pPr algn="just"/>
            <a:r>
              <a:rPr lang="en-US" dirty="0"/>
              <a:t>Database Administrators (DBAs) have full control of the database and they are sometimes known as the </a:t>
            </a:r>
            <a:r>
              <a:rPr lang="en-US" b="1" dirty="0"/>
              <a:t>super-users</a:t>
            </a:r>
            <a:r>
              <a:rPr lang="en-US" dirty="0"/>
              <a:t> of the database. They work alongside developers in order to discuss and design the overall structure of the database including </a:t>
            </a:r>
            <a:r>
              <a:rPr lang="en-US" b="1" dirty="0"/>
              <a:t>layouts, functionalities, workflow,</a:t>
            </a:r>
            <a:r>
              <a:rPr lang="en-US" dirty="0"/>
              <a:t> etc.</a:t>
            </a:r>
          </a:p>
          <a:p>
            <a:pPr algn="just"/>
            <a:r>
              <a:rPr lang="en-US" dirty="0"/>
              <a:t>Database Administrators (DBAs) can grant or </a:t>
            </a:r>
            <a:r>
              <a:rPr lang="en-US" b="1" dirty="0"/>
              <a:t>revoke authorization permission</a:t>
            </a:r>
            <a:r>
              <a:rPr lang="en-US" dirty="0"/>
              <a:t> to all other users at any point of time. In order to access the database, DBAs have to provide login credentials (account ID and password) to all other users when required. Database Administrators (DBAs) are solely responsible for providing security to the database by restricting unauthorized users from accessing the database</a:t>
            </a:r>
            <a:r>
              <a:rPr lang="en-US" dirty="0" smtClean="0"/>
              <a:t>.</a:t>
            </a:r>
            <a:endParaRPr lang="en-US" dirty="0"/>
          </a:p>
        </p:txBody>
      </p:sp>
    </p:spTree>
    <p:extLst>
      <p:ext uri="{BB962C8B-B14F-4D97-AF65-F5344CB8AC3E}">
        <p14:creationId xmlns:p14="http://schemas.microsoft.com/office/powerpoint/2010/main" val="882740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algn="just"/>
            <a:r>
              <a:rPr lang="en-US" dirty="0"/>
              <a:t>Database Administrators (DBAs) have all the privileges allowed by the </a:t>
            </a:r>
            <a:r>
              <a:rPr lang="en-US" b="1" dirty="0"/>
              <a:t>DBMS</a:t>
            </a:r>
            <a:r>
              <a:rPr lang="en-US" dirty="0"/>
              <a:t>. They have to update the database timely in terms of </a:t>
            </a:r>
            <a:r>
              <a:rPr lang="en-US" b="1" dirty="0"/>
              <a:t>technology, functionality, and workflow</a:t>
            </a:r>
            <a:r>
              <a:rPr lang="en-US" dirty="0"/>
              <a:t> in order to meet future requirements and in making the database ready for future scope.</a:t>
            </a:r>
          </a:p>
          <a:p>
            <a:pPr algn="just"/>
            <a:r>
              <a:rPr lang="en-US" dirty="0"/>
              <a:t>Database Administrators (Database admins) are also responsible to keep a </a:t>
            </a:r>
            <a:r>
              <a:rPr lang="en-US" b="1" dirty="0"/>
              <a:t>check on data integrity</a:t>
            </a:r>
            <a:r>
              <a:rPr lang="en-US" dirty="0"/>
              <a:t>, data consistency, data redundancy, hardware and software installation requirements, and routine maintenance of the databases. They are also responsible for handling data loss, which can be caused due to any error or even due to system failures.</a:t>
            </a:r>
          </a:p>
          <a:p>
            <a:endParaRPr lang="en-IN" dirty="0"/>
          </a:p>
          <a:p>
            <a:endParaRPr lang="en-IN" dirty="0"/>
          </a:p>
        </p:txBody>
      </p:sp>
    </p:spTree>
    <p:extLst>
      <p:ext uri="{BB962C8B-B14F-4D97-AF65-F5344CB8AC3E}">
        <p14:creationId xmlns:p14="http://schemas.microsoft.com/office/powerpoint/2010/main" val="3223104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t/>
            </a:r>
            <a:br>
              <a:rPr lang="en-US" b="1" dirty="0" smtClean="0"/>
            </a:br>
            <a:r>
              <a:rPr lang="en-US" b="1" dirty="0" smtClean="0"/>
              <a:t>Who </a:t>
            </a:r>
            <a:r>
              <a:rPr lang="en-US" b="1" dirty="0"/>
              <a:t>are Database Designers?</a:t>
            </a:r>
            <a:br>
              <a:rPr lang="en-US" b="1" dirty="0"/>
            </a:br>
            <a:endParaRPr lang="en-IN" dirty="0"/>
          </a:p>
        </p:txBody>
      </p:sp>
      <p:sp>
        <p:nvSpPr>
          <p:cNvPr id="3" name="Content Placeholder 2"/>
          <p:cNvSpPr>
            <a:spLocks noGrp="1"/>
          </p:cNvSpPr>
          <p:nvPr>
            <p:ph idx="1"/>
          </p:nvPr>
        </p:nvSpPr>
        <p:spPr>
          <a:xfrm>
            <a:off x="457200" y="1163782"/>
            <a:ext cx="8229600" cy="4962381"/>
          </a:xfrm>
        </p:spPr>
        <p:txBody>
          <a:bodyPr>
            <a:noAutofit/>
          </a:bodyPr>
          <a:lstStyle/>
          <a:p>
            <a:r>
              <a:rPr lang="en-US" sz="2000" dirty="0" smtClean="0"/>
              <a:t>As </a:t>
            </a:r>
            <a:r>
              <a:rPr lang="en-US" sz="2000" dirty="0"/>
              <a:t>the name suggests, Database Designers are the users in DBMS who design and create the </a:t>
            </a:r>
            <a:r>
              <a:rPr lang="en-US" sz="2000" dirty="0">
                <a:hlinkClick r:id="rId2"/>
              </a:rPr>
              <a:t>structure of the database</a:t>
            </a:r>
            <a:r>
              <a:rPr lang="en-US" sz="2000" dirty="0"/>
              <a:t> including </a:t>
            </a:r>
            <a:r>
              <a:rPr lang="en-US" sz="2000" b="1" dirty="0"/>
              <a:t>triggers, indexes, schemas, entity relationships, tables, constraints,</a:t>
            </a:r>
            <a:r>
              <a:rPr lang="en-US" sz="2000" dirty="0"/>
              <a:t>, etc. which complete the database.</a:t>
            </a:r>
          </a:p>
          <a:p>
            <a:r>
              <a:rPr lang="en-US" sz="2000" dirty="0"/>
              <a:t>Database designers try to gather information depending upon the requirements related to the database like the </a:t>
            </a:r>
            <a:r>
              <a:rPr lang="en-US" sz="2000" b="1" dirty="0"/>
              <a:t>layout, looks, database functioning, costing, technologies</a:t>
            </a:r>
            <a:r>
              <a:rPr lang="en-US" sz="2000" dirty="0"/>
              <a:t> to be used &amp; implementation techniques, and finally, they design the final layout of the database for programmers to code its logic.</a:t>
            </a:r>
          </a:p>
          <a:p>
            <a:r>
              <a:rPr lang="en-US" sz="2000" b="1" dirty="0"/>
              <a:t>Database Designers</a:t>
            </a:r>
            <a:r>
              <a:rPr lang="en-US" sz="2000" dirty="0"/>
              <a:t> are the type of database users in DBMS who are responsible for </a:t>
            </a:r>
            <a:r>
              <a:rPr lang="en-US" sz="2000" b="1" dirty="0"/>
              <a:t>implementing the overall design</a:t>
            </a:r>
            <a:r>
              <a:rPr lang="en-US" sz="2000" dirty="0"/>
              <a:t> of the database. They decide which form of data needs to be stored, what kind of relations exist among different entities of the database, what will be the type of attributes, etc.</a:t>
            </a:r>
          </a:p>
          <a:p>
            <a:endParaRPr lang="en-IN" sz="2000" dirty="0"/>
          </a:p>
        </p:txBody>
      </p:sp>
    </p:spTree>
    <p:extLst>
      <p:ext uri="{BB962C8B-B14F-4D97-AF65-F5344CB8AC3E}">
        <p14:creationId xmlns:p14="http://schemas.microsoft.com/office/powerpoint/2010/main" val="1025379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9980"/>
          </a:xfrm>
        </p:spPr>
        <p:txBody>
          <a:bodyPr>
            <a:normAutofit fontScale="90000"/>
          </a:bodyPr>
          <a:lstStyle/>
          <a:p>
            <a:r>
              <a:rPr lang="en-US" b="1" dirty="0" smtClean="0"/>
              <a:t/>
            </a:r>
            <a:br>
              <a:rPr lang="en-US" b="1" dirty="0" smtClean="0"/>
            </a:br>
            <a:r>
              <a:rPr lang="en-US" b="1" dirty="0" smtClean="0"/>
              <a:t>Who </a:t>
            </a:r>
            <a:r>
              <a:rPr lang="en-US" b="1" dirty="0"/>
              <a:t>are Naive Users / Parametric Users?</a:t>
            </a:r>
            <a:br>
              <a:rPr lang="en-US" b="1" dirty="0"/>
            </a:b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smtClean="0"/>
              <a:t>Naive </a:t>
            </a:r>
            <a:r>
              <a:rPr lang="en-US" dirty="0"/>
              <a:t>users also known as </a:t>
            </a:r>
            <a:r>
              <a:rPr lang="en-US" b="1" dirty="0"/>
              <a:t>Parametric End users</a:t>
            </a:r>
            <a:r>
              <a:rPr lang="en-US" dirty="0"/>
              <a:t>, don't have any knowledge of DBMS but still frequently use the database applications to get the desired results. With the help of the interface provided by the </a:t>
            </a:r>
            <a:r>
              <a:rPr lang="en-US" dirty="0">
                <a:hlinkClick r:id="rId2"/>
              </a:rPr>
              <a:t>DBMS applications</a:t>
            </a:r>
            <a:r>
              <a:rPr lang="en-US" dirty="0"/>
              <a:t>, </a:t>
            </a:r>
            <a:r>
              <a:rPr lang="en-US" b="1" dirty="0"/>
              <a:t>Naive users</a:t>
            </a:r>
            <a:r>
              <a:rPr lang="en-US" dirty="0"/>
              <a:t> mostly use the database to fill in or retrieve the information (view level of the database).</a:t>
            </a:r>
          </a:p>
          <a:p>
            <a:pPr algn="just"/>
            <a:r>
              <a:rPr lang="en-US" dirty="0"/>
              <a:t>Naive users don't need to be aware of the presence of the database system as they can interact with the database with the help of </a:t>
            </a:r>
            <a:r>
              <a:rPr lang="en-US" b="1" dirty="0"/>
              <a:t>menu-driven</a:t>
            </a:r>
            <a:r>
              <a:rPr lang="en-US" dirty="0"/>
              <a:t> application interface. In simple terms, </a:t>
            </a:r>
            <a:r>
              <a:rPr lang="en-US" b="1" dirty="0"/>
              <a:t>Naive / Parametric End users</a:t>
            </a:r>
            <a:r>
              <a:rPr lang="en-US" dirty="0"/>
              <a:t> work directly on developed applications to access the database indirectly to get the desired results.</a:t>
            </a:r>
          </a:p>
          <a:p>
            <a:pPr algn="just"/>
            <a:endParaRPr lang="en-IN" dirty="0"/>
          </a:p>
        </p:txBody>
      </p:sp>
    </p:spTree>
    <p:extLst>
      <p:ext uri="{BB962C8B-B14F-4D97-AF65-F5344CB8AC3E}">
        <p14:creationId xmlns:p14="http://schemas.microsoft.com/office/powerpoint/2010/main" val="2165945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 Languages</a:t>
            </a:r>
          </a:p>
        </p:txBody>
      </p:sp>
      <p:sp>
        <p:nvSpPr>
          <p:cNvPr id="3" name="Content Placeholder 2"/>
          <p:cNvSpPr>
            <a:spLocks noGrp="1"/>
          </p:cNvSpPr>
          <p:nvPr>
            <p:ph idx="1"/>
          </p:nvPr>
        </p:nvSpPr>
        <p:spPr/>
        <p:txBody>
          <a:bodyPr>
            <a:normAutofit fontScale="85000" lnSpcReduction="20000"/>
          </a:bodyPr>
          <a:lstStyle/>
          <a:p>
            <a:pPr algn="just"/>
            <a:r>
              <a:rPr dirty="0"/>
              <a:t>1. Data Definition Language (DDL) - Defines the database structure (CREATE, ALTER, DROP).</a:t>
            </a:r>
          </a:p>
          <a:p>
            <a:pPr algn="just"/>
            <a:endParaRPr dirty="0"/>
          </a:p>
          <a:p>
            <a:pPr algn="just"/>
            <a:r>
              <a:rPr dirty="0"/>
              <a:t>2. Data Manipulation Language (DML) - Manages data (INSERT, UPDATE, DELETE, SELECT).</a:t>
            </a:r>
          </a:p>
          <a:p>
            <a:pPr algn="just"/>
            <a:endParaRPr dirty="0"/>
          </a:p>
          <a:p>
            <a:pPr algn="just"/>
            <a:r>
              <a:rPr dirty="0"/>
              <a:t>3. Data Control Language (DCL) - Manages user permissions (GRANT, REVOKE).</a:t>
            </a:r>
          </a:p>
          <a:p>
            <a:pPr algn="just"/>
            <a:endParaRPr dirty="0"/>
          </a:p>
          <a:p>
            <a:pPr algn="just"/>
            <a:r>
              <a:rPr dirty="0"/>
              <a:t>4. Transaction Control Language (TCL) - Manages transactions (COMMIT, ROLLBACK, SAVEPOINT).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 Schema</a:t>
            </a:r>
          </a:p>
        </p:txBody>
      </p:sp>
      <p:sp>
        <p:nvSpPr>
          <p:cNvPr id="3" name="Content Placeholder 2"/>
          <p:cNvSpPr>
            <a:spLocks noGrp="1"/>
          </p:cNvSpPr>
          <p:nvPr>
            <p:ph idx="1"/>
          </p:nvPr>
        </p:nvSpPr>
        <p:spPr/>
        <p:txBody>
          <a:bodyPr>
            <a:normAutofit fontScale="92500" lnSpcReduction="10000"/>
          </a:bodyPr>
          <a:lstStyle/>
          <a:p>
            <a:r>
              <a:t>Defines the logical structure of a database:</a:t>
            </a:r>
          </a:p>
          <a:p>
            <a:endParaRPr/>
          </a:p>
          <a:p>
            <a:r>
              <a:t>1. Physical Schema - Describes data storage.</a:t>
            </a:r>
          </a:p>
          <a:p>
            <a:endParaRPr/>
          </a:p>
          <a:p>
            <a:r>
              <a:t>2. Logical Schema - Defines tables, columns, and relationships.</a:t>
            </a:r>
          </a:p>
          <a:p>
            <a:endParaRPr/>
          </a:p>
          <a:p>
            <a:r>
              <a:t>3. View Schema - Provides customized views for different users.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 Subschema</a:t>
            </a:r>
          </a:p>
        </p:txBody>
      </p:sp>
      <p:sp>
        <p:nvSpPr>
          <p:cNvPr id="3" name="Content Placeholder 2"/>
          <p:cNvSpPr>
            <a:spLocks noGrp="1"/>
          </p:cNvSpPr>
          <p:nvPr>
            <p:ph idx="1"/>
          </p:nvPr>
        </p:nvSpPr>
        <p:spPr/>
        <p:txBody>
          <a:bodyPr>
            <a:normAutofit fontScale="92500" lnSpcReduction="10000"/>
          </a:bodyPr>
          <a:lstStyle/>
          <a:p>
            <a:r>
              <a:t>A subset of the database schema defining specific user views:</a:t>
            </a:r>
          </a:p>
          <a:p>
            <a:endParaRPr/>
          </a:p>
          <a:p>
            <a:r>
              <a:t>- Enhances security by restricting data access.</a:t>
            </a:r>
          </a:p>
          <a:p>
            <a:endParaRPr/>
          </a:p>
          <a:p>
            <a:r>
              <a:t>- Ensures logical data independence.</a:t>
            </a:r>
          </a:p>
          <a:p>
            <a:endParaRPr/>
          </a:p>
          <a:p>
            <a:r>
              <a:t>- Example: A hospital database with different views for doctors and receptionists.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TotalTime>
  <Words>287</Words>
  <Application>Microsoft Office PowerPoint</Application>
  <PresentationFormat>On-screen Show (4:3)</PresentationFormat>
  <Paragraphs>58</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Database Users, Languages, Schemas, and Subschemas</vt:lpstr>
      <vt:lpstr>Database Users</vt:lpstr>
      <vt:lpstr>PowerPoint Presentation</vt:lpstr>
      <vt:lpstr> Who are Database Administrators (DBA)? </vt:lpstr>
      <vt:lpstr>PowerPoint Presentation</vt:lpstr>
      <vt:lpstr> Who are Database Designers? </vt:lpstr>
      <vt:lpstr> Who are Naive Users / Parametric Users? </vt:lpstr>
      <vt:lpstr>Database Languages</vt:lpstr>
      <vt:lpstr>Database Schema</vt:lpstr>
      <vt:lpstr>Database Subschema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Users, Languages, Schemas, and Subschemas</dc:title>
  <dc:subject/>
  <dc:creator/>
  <cp:keywords/>
  <dc:description>generated using python-pptx</dc:description>
  <cp:lastModifiedBy>Subhasish_Mohapatra</cp:lastModifiedBy>
  <cp:revision>5</cp:revision>
  <dcterms:created xsi:type="dcterms:W3CDTF">2013-01-27T09:14:16Z</dcterms:created>
  <dcterms:modified xsi:type="dcterms:W3CDTF">2026-01-13T04:15:14Z</dcterms:modified>
  <cp:category/>
</cp:coreProperties>
</file>