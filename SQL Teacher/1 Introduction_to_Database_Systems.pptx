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75" r:id="rId5"/>
    <p:sldId id="276" r:id="rId6"/>
    <p:sldId id="265" r:id="rId7"/>
    <p:sldId id="259" r:id="rId8"/>
    <p:sldId id="262" r:id="rId9"/>
    <p:sldId id="279" r:id="rId10"/>
    <p:sldId id="260" r:id="rId11"/>
    <p:sldId id="261" r:id="rId12"/>
    <p:sldId id="267" r:id="rId13"/>
    <p:sldId id="268" r:id="rId14"/>
    <p:sldId id="266" r:id="rId15"/>
    <p:sldId id="280" r:id="rId16"/>
    <p:sldId id="281" r:id="rId17"/>
    <p:sldId id="282" r:id="rId18"/>
    <p:sldId id="269" r:id="rId19"/>
    <p:sldId id="27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D1807-8D50-452F-8E0B-535F0A5C1B45}" type="datetimeFigureOut">
              <a:rPr lang="en-IN" smtClean="0"/>
              <a:t>07-01-2026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9D59A-DDF8-4A03-8EC0-E967AE844F11}" type="slidenum">
              <a:rPr lang="en-IN" smtClean="0"/>
              <a:t>‹#›</a:t>
            </a:fld>
            <a:endParaRPr lang="en-IN"/>
          </a:p>
        </p:txBody>
      </p:sp>
    </p:spTree>
    <p:extLst>
      <p:ext uri="{BB962C8B-B14F-4D97-AF65-F5344CB8AC3E}">
        <p14:creationId xmlns:p14="http://schemas.microsoft.com/office/powerpoint/2010/main" val="3916165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FD9D59A-DDF8-4A03-8EC0-E967AE844F11}" type="slidenum">
              <a:rPr lang="en-IN" smtClean="0"/>
              <a:t>14</a:t>
            </a:fld>
            <a:endParaRPr lang="en-IN"/>
          </a:p>
        </p:txBody>
      </p:sp>
    </p:spTree>
    <p:extLst>
      <p:ext uri="{BB962C8B-B14F-4D97-AF65-F5344CB8AC3E}">
        <p14:creationId xmlns:p14="http://schemas.microsoft.com/office/powerpoint/2010/main" val="2625987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Database Systems</a:t>
            </a:r>
          </a:p>
        </p:txBody>
      </p:sp>
      <p:sp>
        <p:nvSpPr>
          <p:cNvPr id="3" name="Content Placeholder 2"/>
          <p:cNvSpPr>
            <a:spLocks noGrp="1"/>
          </p:cNvSpPr>
          <p:nvPr>
            <p:ph idx="1"/>
          </p:nvPr>
        </p:nvSpPr>
        <p:spPr/>
        <p:txBody>
          <a:bodyPr/>
          <a:lstStyle/>
          <a:p>
            <a:pPr marL="0" indent="0" algn="ctr">
              <a:buNone/>
            </a:pPr>
            <a:r>
              <a:rPr dirty="0">
                <a:solidFill>
                  <a:srgbClr val="FF0000"/>
                </a:solidFill>
              </a:rPr>
              <a:t>Definition, Basic Concepts, and </a:t>
            </a:r>
            <a:r>
              <a:rPr dirty="0" smtClean="0">
                <a:solidFill>
                  <a:srgbClr val="FF0000"/>
                </a:solidFill>
              </a:rPr>
              <a:t>Introduction</a:t>
            </a:r>
            <a:endParaRPr lang="en-US" dirty="0" smtClean="0">
              <a:solidFill>
                <a:srgbClr val="FF0000"/>
              </a:solidFill>
            </a:endParaRPr>
          </a:p>
          <a:p>
            <a:pPr marL="0" indent="0" algn="ctr">
              <a:buNone/>
            </a:pPr>
            <a:r>
              <a:rPr lang="en-US" dirty="0" err="1" smtClean="0">
                <a:solidFill>
                  <a:srgbClr val="C00000"/>
                </a:solidFill>
              </a:rPr>
              <a:t>By:Dr</a:t>
            </a:r>
            <a:r>
              <a:rPr lang="en-US" dirty="0" err="1">
                <a:solidFill>
                  <a:srgbClr val="C00000"/>
                </a:solidFill>
              </a:rPr>
              <a:t>.</a:t>
            </a:r>
            <a:r>
              <a:rPr lang="en-US" dirty="0" err="1" smtClean="0">
                <a:solidFill>
                  <a:srgbClr val="C00000"/>
                </a:solidFill>
              </a:rPr>
              <a:t>Subhasish</a:t>
            </a:r>
            <a:r>
              <a:rPr lang="en-US" dirty="0" smtClean="0">
                <a:solidFill>
                  <a:srgbClr val="C00000"/>
                </a:solidFill>
              </a:rPr>
              <a:t> Mohapatra</a:t>
            </a:r>
          </a:p>
          <a:p>
            <a:pPr marL="0" indent="0" algn="ctr">
              <a:buNone/>
            </a:pPr>
            <a:r>
              <a:rPr lang="en-US" dirty="0" smtClean="0">
                <a:solidFill>
                  <a:srgbClr val="C00000"/>
                </a:solidFill>
              </a:rPr>
              <a:t>Text Book :</a:t>
            </a:r>
            <a:r>
              <a:rPr lang="en-US" dirty="0" err="1" smtClean="0">
                <a:solidFill>
                  <a:srgbClr val="C00000"/>
                </a:solidFill>
              </a:rPr>
              <a:t>Korth</a:t>
            </a:r>
            <a:r>
              <a:rPr lang="en-US" dirty="0" smtClean="0">
                <a:solidFill>
                  <a:srgbClr val="C00000"/>
                </a:solidFill>
              </a:rPr>
              <a:t> and </a:t>
            </a:r>
            <a:r>
              <a:rPr lang="en-US" dirty="0" err="1" smtClean="0">
                <a:solidFill>
                  <a:srgbClr val="C00000"/>
                </a:solidFill>
              </a:rPr>
              <a:t>Navathe</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Definition of a Database System</a:t>
            </a:r>
          </a:p>
          <a:p>
            <a:r>
              <a:t>Importance of Database Systems</a:t>
            </a:r>
          </a:p>
          <a:p>
            <a:r>
              <a:t>Basic Concepts</a:t>
            </a:r>
          </a:p>
          <a:p>
            <a:r>
              <a:t>Database System Architecture</a:t>
            </a:r>
          </a:p>
          <a:p>
            <a:r>
              <a:t>Advantages of Database Systems</a:t>
            </a:r>
          </a:p>
          <a:p>
            <a:r>
              <a:t>Summary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Definition of Database System</a:t>
            </a:r>
          </a:p>
        </p:txBody>
      </p:sp>
      <p:sp>
        <p:nvSpPr>
          <p:cNvPr id="3" name="Content Placeholder 2"/>
          <p:cNvSpPr>
            <a:spLocks noGrp="1"/>
          </p:cNvSpPr>
          <p:nvPr>
            <p:ph idx="1"/>
          </p:nvPr>
        </p:nvSpPr>
        <p:spPr/>
        <p:txBody>
          <a:bodyPr>
            <a:normAutofit fontScale="85000" lnSpcReduction="10000"/>
          </a:bodyPr>
          <a:lstStyle/>
          <a:p>
            <a:r>
              <a:t>Database: A structured collection of data stored electronically.</a:t>
            </a:r>
          </a:p>
          <a:p>
            <a:r>
              <a:t>Database Management System (DBMS): Software that enables users to define, create, maintain, and control access to the database.</a:t>
            </a:r>
          </a:p>
          <a:p>
            <a:r>
              <a:t>Key Characteristics:</a:t>
            </a:r>
          </a:p>
          <a:p>
            <a:r>
              <a:t> - Organized: Ensures data is structured systematically.</a:t>
            </a:r>
          </a:p>
          <a:p>
            <a:r>
              <a:t> - Persistent: Data remains available over time.</a:t>
            </a:r>
          </a:p>
          <a:p>
            <a:r>
              <a:t> - Accessible: Data can be retrieved and modified easily.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EXCEL Is Not RDBMS</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t>Lack of Constraints: Excel does not enforce strict data validation rules like primary keys, foreign keys, or unique constraints, which are essential for maintaining data </a:t>
            </a:r>
            <a:r>
              <a:rPr lang="en-US" dirty="0" err="1"/>
              <a:t>integrity.Error</a:t>
            </a:r>
            <a:r>
              <a:rPr lang="en-US" dirty="0"/>
              <a:t>-Prone: Manual data entry and formulae in Excel are prone to human errors, leading to inconsistencies.</a:t>
            </a:r>
          </a:p>
          <a:p>
            <a:pPr algn="just"/>
            <a:r>
              <a:rPr lang="en-US" b="1" dirty="0"/>
              <a:t>Limited Data Capacity</a:t>
            </a:r>
            <a:r>
              <a:rPr lang="en-US" dirty="0"/>
              <a:t>: Excel has a maximum limit of about 1,048,576 rows and 16,384 columns per worksheet, which is inadequate for handling large datasets.</a:t>
            </a:r>
          </a:p>
          <a:p>
            <a:pPr algn="just"/>
            <a:r>
              <a:rPr lang="en-US" b="1" dirty="0"/>
              <a:t>Performance Bottlenecks</a:t>
            </a:r>
            <a:r>
              <a:rPr lang="en-US" dirty="0"/>
              <a:t>: As data size grows, Excel becomes slow and less responsive, especially with complex formulas or operations.</a:t>
            </a:r>
          </a:p>
          <a:p>
            <a:endParaRPr lang="en-IN" dirty="0"/>
          </a:p>
        </p:txBody>
      </p:sp>
    </p:spTree>
    <p:extLst>
      <p:ext uri="{BB962C8B-B14F-4D97-AF65-F5344CB8AC3E}">
        <p14:creationId xmlns:p14="http://schemas.microsoft.com/office/powerpoint/2010/main" val="38526312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err="1"/>
              <a:t>Contd</a:t>
            </a:r>
            <a:r>
              <a:rPr lang="en-US" dirty="0"/>
              <a:t>…</a:t>
            </a:r>
            <a:endParaRPr lang="en-IN" dirty="0"/>
          </a:p>
        </p:txBody>
      </p:sp>
      <p:sp>
        <p:nvSpPr>
          <p:cNvPr id="3" name="Content Placeholder 2"/>
          <p:cNvSpPr>
            <a:spLocks noGrp="1"/>
          </p:cNvSpPr>
          <p:nvPr>
            <p:ph idx="1"/>
          </p:nvPr>
        </p:nvSpPr>
        <p:spPr/>
        <p:txBody>
          <a:bodyPr>
            <a:normAutofit lnSpcReduction="10000"/>
          </a:bodyPr>
          <a:lstStyle/>
          <a:p>
            <a:pPr algn="just"/>
            <a:r>
              <a:rPr lang="en-US" dirty="0"/>
              <a:t>Weak Security Controls: While Excel allows password protection, it is not as robust as database-level encryption or access control </a:t>
            </a:r>
            <a:r>
              <a:rPr lang="en-US" dirty="0" err="1"/>
              <a:t>mechanisms.No</a:t>
            </a:r>
            <a:r>
              <a:rPr lang="en-US" dirty="0"/>
              <a:t> Role-Based Access: Cannot assign specific permissions to different users for data access or modification.</a:t>
            </a:r>
          </a:p>
          <a:p>
            <a:pPr algn="just"/>
            <a:r>
              <a:rPr lang="en-US" b="1" dirty="0"/>
              <a:t>Limited Backup Options</a:t>
            </a:r>
            <a:r>
              <a:rPr lang="en-US" dirty="0"/>
              <a:t>: Databases typically have robust backup and recovery mechanisms, which Excel lacks.</a:t>
            </a:r>
            <a:endParaRPr lang="en-IN" dirty="0"/>
          </a:p>
        </p:txBody>
      </p:sp>
    </p:spTree>
    <p:extLst>
      <p:ext uri="{BB962C8B-B14F-4D97-AF65-F5344CB8AC3E}">
        <p14:creationId xmlns:p14="http://schemas.microsoft.com/office/powerpoint/2010/main" val="35674283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Importance of Database Systems</a:t>
            </a:r>
            <a:br>
              <a:rPr lang="en-US" b="1" dirty="0"/>
            </a:br>
            <a:endParaRPr lang="en-IN" dirty="0"/>
          </a:p>
        </p:txBody>
      </p:sp>
      <p:sp>
        <p:nvSpPr>
          <p:cNvPr id="3" name="Content Placeholder 2"/>
          <p:cNvSpPr>
            <a:spLocks noGrp="1"/>
          </p:cNvSpPr>
          <p:nvPr>
            <p:ph idx="1"/>
          </p:nvPr>
        </p:nvSpPr>
        <p:spPr>
          <a:xfrm>
            <a:off x="457200" y="1080656"/>
            <a:ext cx="8229600" cy="5045508"/>
          </a:xfrm>
        </p:spPr>
        <p:txBody>
          <a:bodyPr>
            <a:normAutofit fontScale="92500" lnSpcReduction="10000"/>
          </a:bodyPr>
          <a:lstStyle/>
          <a:p>
            <a:pPr algn="just"/>
            <a:r>
              <a:rPr lang="en-US" dirty="0"/>
              <a:t>Efficient data management: Stores and organizes large amounts of data.</a:t>
            </a:r>
          </a:p>
          <a:p>
            <a:pPr algn="just"/>
            <a:r>
              <a:rPr lang="en-US" dirty="0"/>
              <a:t>Easy data retrieval: Quick and flexible query mechanisms.</a:t>
            </a:r>
          </a:p>
          <a:p>
            <a:pPr algn="just"/>
            <a:r>
              <a:rPr lang="en-US" dirty="0"/>
              <a:t>Ensures data consistency and integrity: Avoids conflicting or duplicated data.</a:t>
            </a:r>
          </a:p>
          <a:p>
            <a:pPr algn="just"/>
            <a:r>
              <a:rPr lang="en-US" dirty="0"/>
              <a:t>Supports concurrent access: Allows multiple users to interact with the database simultaneously.</a:t>
            </a:r>
          </a:p>
          <a:p>
            <a:pPr algn="just"/>
            <a:r>
              <a:rPr lang="en-US" dirty="0"/>
              <a:t>Scalable and secure: Adapts to growing data needs while safeguarding information.</a:t>
            </a:r>
          </a:p>
          <a:p>
            <a:endParaRPr lang="en-IN" dirty="0"/>
          </a:p>
        </p:txBody>
      </p:sp>
    </p:spTree>
    <p:extLst>
      <p:ext uri="{BB962C8B-B14F-4D97-AF65-F5344CB8AC3E}">
        <p14:creationId xmlns:p14="http://schemas.microsoft.com/office/powerpoint/2010/main" val="15445824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Importance of Database Systems</a:t>
            </a:r>
          </a:p>
        </p:txBody>
      </p:sp>
      <p:sp>
        <p:nvSpPr>
          <p:cNvPr id="3" name="Content Placeholder 2"/>
          <p:cNvSpPr>
            <a:spLocks noGrp="1"/>
          </p:cNvSpPr>
          <p:nvPr>
            <p:ph idx="1"/>
          </p:nvPr>
        </p:nvSpPr>
        <p:spPr>
          <a:xfrm>
            <a:off x="457200" y="1246909"/>
            <a:ext cx="8229600" cy="5278581"/>
          </a:xfrm>
        </p:spPr>
        <p:txBody>
          <a:bodyPr>
            <a:normAutofit fontScale="92500" lnSpcReduction="10000"/>
          </a:bodyPr>
          <a:lstStyle/>
          <a:p>
            <a:pPr algn="just"/>
            <a:r>
              <a:rPr dirty="0"/>
              <a:t>Efficient data management: Stores and organizes large amounts of data.</a:t>
            </a:r>
          </a:p>
          <a:p>
            <a:pPr algn="just"/>
            <a:r>
              <a:rPr dirty="0"/>
              <a:t>Easy data retrieval: Quick and flexible query mechanisms.</a:t>
            </a:r>
          </a:p>
          <a:p>
            <a:pPr algn="just"/>
            <a:r>
              <a:rPr dirty="0"/>
              <a:t>Ensures data consistency and integrity: Avoids conflicting or duplicated data.</a:t>
            </a:r>
          </a:p>
          <a:p>
            <a:pPr algn="just"/>
            <a:r>
              <a:rPr dirty="0"/>
              <a:t>Supports concurrent access: Allows multiple users to interact with the database simultaneously.</a:t>
            </a:r>
          </a:p>
          <a:p>
            <a:pPr algn="just"/>
            <a:r>
              <a:rPr dirty="0"/>
              <a:t>Scalable and secure: Adapts to growing data needs while safeguarding information.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2889"/>
          </a:xfrm>
        </p:spPr>
        <p:txBody>
          <a:bodyPr>
            <a:normAutofit fontScale="90000"/>
          </a:bodyPr>
          <a:lstStyle/>
          <a:p>
            <a:r>
              <a:rPr dirty="0"/>
              <a:t>Advantages of Database Systems</a:t>
            </a:r>
          </a:p>
        </p:txBody>
      </p:sp>
      <p:sp>
        <p:nvSpPr>
          <p:cNvPr id="3" name="Content Placeholder 2"/>
          <p:cNvSpPr>
            <a:spLocks noGrp="1"/>
          </p:cNvSpPr>
          <p:nvPr>
            <p:ph idx="1"/>
          </p:nvPr>
        </p:nvSpPr>
        <p:spPr>
          <a:xfrm>
            <a:off x="457200" y="997527"/>
            <a:ext cx="8229600" cy="5430981"/>
          </a:xfrm>
        </p:spPr>
        <p:txBody>
          <a:bodyPr>
            <a:normAutofit lnSpcReduction="10000"/>
          </a:bodyPr>
          <a:lstStyle/>
          <a:p>
            <a:r>
              <a:rPr dirty="0"/>
              <a:t>Reduces Redundancy: Minimizes duplication of data by centralized management.</a:t>
            </a:r>
          </a:p>
          <a:p>
            <a:r>
              <a:rPr dirty="0"/>
              <a:t>Maintains Data Integrity: Ensures data accuracy and consistency across the system.</a:t>
            </a:r>
          </a:p>
          <a:p>
            <a:r>
              <a:rPr dirty="0"/>
              <a:t>Ensures Security: Implements access controls to protect sensitive data.</a:t>
            </a:r>
          </a:p>
          <a:p>
            <a:r>
              <a:rPr dirty="0"/>
              <a:t>Enables Multi-user Support: Allows simultaneous access by multiple users without conflicts.</a:t>
            </a:r>
          </a:p>
          <a:p>
            <a:r>
              <a:rPr dirty="0"/>
              <a:t>Robust Backup and Recovery: Safeguards data in case of system failures.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E378B-9883-EE0A-F649-258DD9C1D7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FE888-B634-6614-F954-5E254EDD6C4C}"/>
              </a:ext>
            </a:extLst>
          </p:cNvPr>
          <p:cNvSpPr>
            <a:spLocks noGrp="1"/>
          </p:cNvSpPr>
          <p:nvPr>
            <p:ph type="title"/>
          </p:nvPr>
        </p:nvSpPr>
        <p:spPr>
          <a:xfrm>
            <a:off x="457200" y="274638"/>
            <a:ext cx="8229600" cy="722889"/>
          </a:xfrm>
        </p:spPr>
        <p:txBody>
          <a:bodyPr>
            <a:normAutofit fontScale="90000"/>
          </a:bodyPr>
          <a:lstStyle/>
          <a:p>
            <a:r>
              <a:rPr lang="en-US" dirty="0"/>
              <a:t>Construction</a:t>
            </a:r>
            <a:r>
              <a:rPr dirty="0"/>
              <a:t> of Database Systems</a:t>
            </a:r>
          </a:p>
        </p:txBody>
      </p:sp>
      <p:sp>
        <p:nvSpPr>
          <p:cNvPr id="3" name="Content Placeholder 2">
            <a:extLst>
              <a:ext uri="{FF2B5EF4-FFF2-40B4-BE49-F238E27FC236}">
                <a16:creationId xmlns:a16="http://schemas.microsoft.com/office/drawing/2014/main" id="{BE8FF4BC-FE27-E0A1-5E35-8A0EEAB1EB19}"/>
              </a:ext>
            </a:extLst>
          </p:cNvPr>
          <p:cNvSpPr>
            <a:spLocks noGrp="1"/>
          </p:cNvSpPr>
          <p:nvPr>
            <p:ph idx="1"/>
          </p:nvPr>
        </p:nvSpPr>
        <p:spPr>
          <a:xfrm>
            <a:off x="0" y="6343163"/>
            <a:ext cx="4846320" cy="353753"/>
          </a:xfrm>
        </p:spPr>
        <p:txBody>
          <a:bodyPr>
            <a:normAutofit fontScale="62500" lnSpcReduction="20000"/>
          </a:bodyPr>
          <a:lstStyle/>
          <a:p>
            <a:r>
              <a:rPr lang="en-US" b="1" i="1" dirty="0"/>
              <a:t>Physical design of DBS is referred as DBE.</a:t>
            </a:r>
            <a:endParaRPr b="1" i="1" dirty="0"/>
          </a:p>
        </p:txBody>
      </p:sp>
      <p:sp>
        <p:nvSpPr>
          <p:cNvPr id="4" name="TextBox 3">
            <a:extLst>
              <a:ext uri="{FF2B5EF4-FFF2-40B4-BE49-F238E27FC236}">
                <a16:creationId xmlns:a16="http://schemas.microsoft.com/office/drawing/2014/main" id="{787E52D4-C3CB-6D6F-98D9-49FDEAF85CAF}"/>
              </a:ext>
            </a:extLst>
          </p:cNvPr>
          <p:cNvSpPr txBox="1"/>
          <p:nvPr/>
        </p:nvSpPr>
        <p:spPr>
          <a:xfrm>
            <a:off x="3088640" y="1943569"/>
            <a:ext cx="2966720" cy="769441"/>
          </a:xfrm>
          <a:prstGeom prst="rect">
            <a:avLst/>
          </a:prstGeom>
          <a:noFill/>
          <a:ln>
            <a:solidFill>
              <a:schemeClr val="tx1"/>
            </a:solidFill>
          </a:ln>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Conceptual Design / Semantic Modeling</a:t>
            </a:r>
            <a:endParaRPr lang="en-IN" sz="2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CD688B0-FAED-ACD5-24A2-A6F7DF0AB7A2}"/>
              </a:ext>
            </a:extLst>
          </p:cNvPr>
          <p:cNvSpPr txBox="1"/>
          <p:nvPr/>
        </p:nvSpPr>
        <p:spPr>
          <a:xfrm>
            <a:off x="2768600" y="1191222"/>
            <a:ext cx="3606800" cy="430887"/>
          </a:xfrm>
          <a:prstGeom prst="rect">
            <a:avLst/>
          </a:prstGeom>
          <a:noFill/>
          <a:ln>
            <a:solidFill>
              <a:schemeClr val="tx1"/>
            </a:solidFill>
          </a:ln>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Requirements Specification</a:t>
            </a:r>
            <a:endParaRPr lang="en-IN" sz="2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AA96585-0548-B8AD-FE36-C6995B91C878}"/>
              </a:ext>
            </a:extLst>
          </p:cNvPr>
          <p:cNvSpPr txBox="1"/>
          <p:nvPr/>
        </p:nvSpPr>
        <p:spPr>
          <a:xfrm>
            <a:off x="3088640" y="3051810"/>
            <a:ext cx="2966720" cy="769441"/>
          </a:xfrm>
          <a:prstGeom prst="rect">
            <a:avLst/>
          </a:prstGeom>
          <a:noFill/>
          <a:ln>
            <a:solidFill>
              <a:schemeClr val="tx1"/>
            </a:solidFill>
          </a:ln>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Logical Design </a:t>
            </a:r>
          </a:p>
          <a:p>
            <a:pPr algn="ctr"/>
            <a:r>
              <a:rPr lang="en-US" sz="2200" b="1" dirty="0">
                <a:latin typeface="Times New Roman" panose="02020603050405020304" pitchFamily="18" charset="0"/>
                <a:cs typeface="Times New Roman" panose="02020603050405020304" pitchFamily="18" charset="0"/>
              </a:rPr>
              <a:t>(DBMS Specified)</a:t>
            </a:r>
            <a:endParaRPr lang="en-IN" sz="2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447E758-A27F-8316-9C49-8FBAFBFA7194}"/>
              </a:ext>
            </a:extLst>
          </p:cNvPr>
          <p:cNvSpPr txBox="1"/>
          <p:nvPr/>
        </p:nvSpPr>
        <p:spPr>
          <a:xfrm>
            <a:off x="3088640" y="4218661"/>
            <a:ext cx="2966720" cy="769441"/>
          </a:xfrm>
          <a:prstGeom prst="rect">
            <a:avLst/>
          </a:prstGeom>
          <a:noFill/>
          <a:ln>
            <a:solidFill>
              <a:schemeClr val="tx1"/>
            </a:solidFill>
          </a:ln>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Physical Design </a:t>
            </a:r>
          </a:p>
          <a:p>
            <a:pPr algn="ctr"/>
            <a:r>
              <a:rPr lang="en-US" sz="2200" b="1" dirty="0">
                <a:latin typeface="Times New Roman" panose="02020603050405020304" pitchFamily="18" charset="0"/>
                <a:cs typeface="Times New Roman" panose="02020603050405020304" pitchFamily="18" charset="0"/>
              </a:rPr>
              <a:t>(DBMS Specified)</a:t>
            </a:r>
            <a:endParaRPr lang="en-IN" sz="2200" b="1" dirty="0">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47DE4684-DFDA-4E17-3185-21867604BCB4}"/>
              </a:ext>
            </a:extLst>
          </p:cNvPr>
          <p:cNvCxnSpPr>
            <a:cxnSpLocks/>
            <a:stCxn id="5" idx="2"/>
            <a:endCxn id="4" idx="0"/>
          </p:cNvCxnSpPr>
          <p:nvPr/>
        </p:nvCxnSpPr>
        <p:spPr>
          <a:xfrm>
            <a:off x="4572000" y="1622109"/>
            <a:ext cx="0" cy="3214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F6ACE575-DE3C-A28C-4AC3-7FBC6B852CD0}"/>
              </a:ext>
            </a:extLst>
          </p:cNvPr>
          <p:cNvCxnSpPr>
            <a:stCxn id="4" idx="2"/>
            <a:endCxn id="6" idx="0"/>
          </p:cNvCxnSpPr>
          <p:nvPr/>
        </p:nvCxnSpPr>
        <p:spPr>
          <a:xfrm>
            <a:off x="4572000" y="2713010"/>
            <a:ext cx="0" cy="338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3DFCAF17-D0F8-6C92-29B5-44EBC1C593F2}"/>
              </a:ext>
            </a:extLst>
          </p:cNvPr>
          <p:cNvCxnSpPr>
            <a:stCxn id="6" idx="2"/>
            <a:endCxn id="7" idx="0"/>
          </p:cNvCxnSpPr>
          <p:nvPr/>
        </p:nvCxnSpPr>
        <p:spPr>
          <a:xfrm>
            <a:off x="4572000" y="3821251"/>
            <a:ext cx="0" cy="3974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Cylinder 23">
            <a:extLst>
              <a:ext uri="{FF2B5EF4-FFF2-40B4-BE49-F238E27FC236}">
                <a16:creationId xmlns:a16="http://schemas.microsoft.com/office/drawing/2014/main" id="{729739AE-2941-D17A-0DD6-FC67647D8737}"/>
              </a:ext>
            </a:extLst>
          </p:cNvPr>
          <p:cNvSpPr/>
          <p:nvPr/>
        </p:nvSpPr>
        <p:spPr>
          <a:xfrm>
            <a:off x="4196080" y="5216283"/>
            <a:ext cx="751840" cy="650240"/>
          </a:xfrm>
          <a:prstGeom prst="ca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Arrow: Down 26">
            <a:extLst>
              <a:ext uri="{FF2B5EF4-FFF2-40B4-BE49-F238E27FC236}">
                <a16:creationId xmlns:a16="http://schemas.microsoft.com/office/drawing/2014/main" id="{9BC97713-4AD3-E5C6-CD2E-5D53B6E8C424}"/>
              </a:ext>
            </a:extLst>
          </p:cNvPr>
          <p:cNvSpPr/>
          <p:nvPr/>
        </p:nvSpPr>
        <p:spPr>
          <a:xfrm>
            <a:off x="4470406" y="4988102"/>
            <a:ext cx="147314" cy="21248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598413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Basic Concepts of Database Systems</a:t>
            </a:r>
          </a:p>
        </p:txBody>
      </p:sp>
      <p:sp>
        <p:nvSpPr>
          <p:cNvPr id="3" name="Content Placeholder 2"/>
          <p:cNvSpPr>
            <a:spLocks noGrp="1"/>
          </p:cNvSpPr>
          <p:nvPr>
            <p:ph idx="1"/>
          </p:nvPr>
        </p:nvSpPr>
        <p:spPr/>
        <p:txBody>
          <a:bodyPr>
            <a:normAutofit fontScale="70000" lnSpcReduction="20000"/>
          </a:bodyPr>
          <a:lstStyle/>
          <a:p>
            <a:r>
              <a:t>Data: Raw facts and figures without context.</a:t>
            </a:r>
          </a:p>
          <a:p>
            <a:r>
              <a:t>Information: Processed data that is meaningful and useful.</a:t>
            </a:r>
          </a:p>
          <a:p>
            <a:r>
              <a:t>Database Schema: Logical design and blueprint of the database structure (e.g., tables, fields, relationships).</a:t>
            </a:r>
          </a:p>
          <a:p>
            <a:r>
              <a:t>Instance: Snapshot of data stored in a database at a specific moment in time.</a:t>
            </a:r>
          </a:p>
          <a:p>
            <a:r>
              <a:t>Database Languages:</a:t>
            </a:r>
          </a:p>
          <a:p>
            <a:r>
              <a:t> - DDL (Data Definition Language): Defines the structure of the database (e.g., CREATE, ALTER, DROP).</a:t>
            </a:r>
          </a:p>
          <a:p>
            <a:r>
              <a:t> - DML (Data Manipulation Language): Manages data within tables (e.g., SELECT, INSERT, UPDATE, DELETE).</a:t>
            </a:r>
          </a:p>
          <a:p>
            <a:r>
              <a:t> - DCL (Data Control Language): Controls access to the database (e.g., GRANT, REVOKE).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2889"/>
          </a:xfrm>
        </p:spPr>
        <p:txBody>
          <a:bodyPr>
            <a:normAutofit fontScale="90000"/>
          </a:bodyPr>
          <a:lstStyle/>
          <a:p>
            <a:r>
              <a:rPr dirty="0"/>
              <a:t>Database System Architecture</a:t>
            </a:r>
          </a:p>
        </p:txBody>
      </p:sp>
      <p:sp>
        <p:nvSpPr>
          <p:cNvPr id="3" name="Content Placeholder 2"/>
          <p:cNvSpPr>
            <a:spLocks noGrp="1"/>
          </p:cNvSpPr>
          <p:nvPr>
            <p:ph idx="1"/>
          </p:nvPr>
        </p:nvSpPr>
        <p:spPr>
          <a:xfrm>
            <a:off x="457200" y="1218421"/>
            <a:ext cx="8229600" cy="5128636"/>
          </a:xfrm>
        </p:spPr>
        <p:txBody>
          <a:bodyPr>
            <a:noAutofit/>
          </a:bodyPr>
          <a:lstStyle/>
          <a:p>
            <a:pPr algn="just"/>
            <a:r>
              <a:rPr sz="2200" dirty="0">
                <a:solidFill>
                  <a:srgbClr val="FF0000"/>
                </a:solidFill>
              </a:rPr>
              <a:t>Single-tier Architecture: </a:t>
            </a:r>
            <a:endParaRPr lang="en-US" sz="2200" dirty="0">
              <a:solidFill>
                <a:srgbClr val="FF0000"/>
              </a:solidFill>
            </a:endParaRPr>
          </a:p>
          <a:p>
            <a:pPr algn="just"/>
            <a:r>
              <a:rPr sz="2200" dirty="0"/>
              <a:t>Direct communication between user and database.</a:t>
            </a:r>
          </a:p>
          <a:p>
            <a:pPr algn="just"/>
            <a:r>
              <a:rPr sz="2200" dirty="0"/>
              <a:t>Example: Personal database applications.</a:t>
            </a:r>
            <a:endParaRPr lang="en-US" sz="2200" dirty="0"/>
          </a:p>
          <a:p>
            <a:pPr algn="just"/>
            <a:r>
              <a:rPr lang="en-US" sz="2200" dirty="0"/>
              <a:t>1 tier architecture is a database management system design where all components reside on a single server or platform, enabling direct access to the database by end users.</a:t>
            </a:r>
          </a:p>
          <a:p>
            <a:pPr algn="just"/>
            <a:endParaRPr lang="en-IN" sz="2200" dirty="0"/>
          </a:p>
          <a:p>
            <a:pPr algn="just"/>
            <a:r>
              <a:rPr sz="2200" dirty="0">
                <a:solidFill>
                  <a:srgbClr val="FF0000"/>
                </a:solidFill>
              </a:rPr>
              <a:t>Two-tier Architecture: </a:t>
            </a:r>
            <a:endParaRPr lang="en-US" sz="2200" dirty="0">
              <a:solidFill>
                <a:srgbClr val="FF0000"/>
              </a:solidFill>
            </a:endParaRPr>
          </a:p>
          <a:p>
            <a:pPr algn="just"/>
            <a:r>
              <a:rPr sz="2200" dirty="0"/>
              <a:t>Application layer sits between user and database.</a:t>
            </a:r>
          </a:p>
          <a:p>
            <a:pPr algn="just"/>
            <a:r>
              <a:rPr sz="2200" dirty="0"/>
              <a:t>Example: Client-Server applications.</a:t>
            </a:r>
            <a:endParaRPr lang="en-US" sz="2200" dirty="0"/>
          </a:p>
          <a:p>
            <a:pPr algn="just"/>
            <a:r>
              <a:rPr lang="en-US" sz="2200" dirty="0"/>
              <a:t>2 tier architecture is used in client-server applications where multiple users need access to the same database, offering better scalability and security than 1-tier architecture.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2780"/>
          </a:xfrm>
        </p:spPr>
        <p:txBody>
          <a:bodyPr>
            <a:normAutofit fontScale="90000"/>
          </a:bodyPr>
          <a:lstStyle/>
          <a:p>
            <a:r>
              <a:rPr lang="en-US" dirty="0"/>
              <a:t>Contd..</a:t>
            </a:r>
            <a:endParaRPr lang="en-IN" dirty="0"/>
          </a:p>
        </p:txBody>
      </p:sp>
      <p:sp>
        <p:nvSpPr>
          <p:cNvPr id="3" name="Content Placeholder 2"/>
          <p:cNvSpPr>
            <a:spLocks noGrp="1"/>
          </p:cNvSpPr>
          <p:nvPr>
            <p:ph idx="1"/>
          </p:nvPr>
        </p:nvSpPr>
        <p:spPr>
          <a:xfrm>
            <a:off x="457200" y="914400"/>
            <a:ext cx="8229600" cy="5735782"/>
          </a:xfrm>
        </p:spPr>
        <p:txBody>
          <a:bodyPr>
            <a:normAutofit lnSpcReduction="10000"/>
          </a:bodyPr>
          <a:lstStyle/>
          <a:p>
            <a:r>
              <a:rPr lang="en-US" dirty="0">
                <a:solidFill>
                  <a:srgbClr val="FF0000"/>
                </a:solidFill>
              </a:rPr>
              <a:t>Three-Tier Architecture</a:t>
            </a:r>
          </a:p>
          <a:p>
            <a:pPr algn="just"/>
            <a:r>
              <a:rPr lang="en-US" dirty="0"/>
              <a:t>Middle-tier (application server) processes business logic and communicates with the database.</a:t>
            </a:r>
          </a:p>
          <a:p>
            <a:pPr algn="just"/>
            <a:r>
              <a:rPr lang="en-US" dirty="0"/>
              <a:t>Example: Web-based applications.</a:t>
            </a:r>
          </a:p>
          <a:p>
            <a:pPr algn="just"/>
            <a:r>
              <a:rPr lang="en-US" dirty="0"/>
              <a:t>3 tier architecture involves an additional layer between the client and the server. The 3 tier architecture consists of the client communicating with an application server, which then connects to the database system, maintaining isolation between the end-user and the database.</a:t>
            </a:r>
          </a:p>
          <a:p>
            <a:endParaRPr lang="en-IN" dirty="0"/>
          </a:p>
        </p:txBody>
      </p:sp>
    </p:spTree>
    <p:extLst>
      <p:ext uri="{BB962C8B-B14F-4D97-AF65-F5344CB8AC3E}">
        <p14:creationId xmlns:p14="http://schemas.microsoft.com/office/powerpoint/2010/main" val="35288565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marL="571500" indent="-571500" algn="l">
              <a:buFont typeface="Arial" panose="020B0604020202020204" pitchFamily="34" charset="0"/>
              <a:buChar char="•"/>
            </a:pPr>
            <a:r>
              <a:rPr lang="en-US" dirty="0">
                <a:solidFill>
                  <a:srgbClr val="FF0000"/>
                </a:solidFill>
              </a:rPr>
              <a:t>Three-Tier Architecture…</a:t>
            </a:r>
            <a:endParaRPr lang="en-IN" dirty="0"/>
          </a:p>
        </p:txBody>
      </p:sp>
      <p:sp>
        <p:nvSpPr>
          <p:cNvPr id="3" name="Content Placeholder 2"/>
          <p:cNvSpPr>
            <a:spLocks noGrp="1"/>
          </p:cNvSpPr>
          <p:nvPr>
            <p:ph idx="1"/>
          </p:nvPr>
        </p:nvSpPr>
        <p:spPr>
          <a:xfrm>
            <a:off x="457200" y="1163782"/>
            <a:ext cx="8229600" cy="5375563"/>
          </a:xfrm>
        </p:spPr>
        <p:txBody>
          <a:bodyPr>
            <a:normAutofit fontScale="85000" lnSpcReduction="20000"/>
          </a:bodyPr>
          <a:lstStyle/>
          <a:p>
            <a:pPr algn="just"/>
            <a:r>
              <a:rPr lang="en-US" dirty="0"/>
              <a:t>The three-tier model further separates the application logic into a middle tier, distinct from both the client and the database. This middle tier handles tasks such as data processing, business rules, and application workflow, leaving the client to focus solely on the user interface. This separation of concerns offers several advantages such as:</a:t>
            </a:r>
          </a:p>
          <a:p>
            <a:pPr algn="just"/>
            <a:r>
              <a:rPr lang="en-US" dirty="0"/>
              <a:t>it enhances scalability, as each tier can be scaled independently based on specific needs.</a:t>
            </a:r>
          </a:p>
          <a:p>
            <a:pPr algn="just"/>
            <a:r>
              <a:rPr lang="en-US" dirty="0"/>
              <a:t>it improves maintainability by allowing developers to modify one tier without significantly impacting the others.</a:t>
            </a:r>
          </a:p>
          <a:p>
            <a:pPr algn="just"/>
            <a:r>
              <a:rPr lang="en-US" dirty="0"/>
              <a:t>The middle tier also acts as a buffer between the client and the database, providing an additional layer of security.</a:t>
            </a:r>
          </a:p>
          <a:p>
            <a:pPr algn="just"/>
            <a:endParaRPr lang="en-IN" dirty="0"/>
          </a:p>
        </p:txBody>
      </p:sp>
    </p:spTree>
    <p:extLst>
      <p:ext uri="{BB962C8B-B14F-4D97-AF65-F5344CB8AC3E}">
        <p14:creationId xmlns:p14="http://schemas.microsoft.com/office/powerpoint/2010/main" val="25018357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A1AF625-8A7F-1E0F-C012-5E26859CC26B}"/>
              </a:ext>
            </a:extLst>
          </p:cNvPr>
          <p:cNvPicPr>
            <a:picLocks noChangeAspect="1"/>
          </p:cNvPicPr>
          <p:nvPr/>
        </p:nvPicPr>
        <p:blipFill>
          <a:blip r:embed="rId3"/>
          <a:stretch>
            <a:fillRect/>
          </a:stretch>
        </p:blipFill>
        <p:spPr>
          <a:xfrm>
            <a:off x="628650" y="1760392"/>
            <a:ext cx="7905750" cy="5057775"/>
          </a:xfrm>
          <a:prstGeom prst="rect">
            <a:avLst/>
          </a:prstGeom>
        </p:spPr>
      </p:pic>
      <p:sp>
        <p:nvSpPr>
          <p:cNvPr id="2" name="Title 1"/>
          <p:cNvSpPr>
            <a:spLocks noGrp="1"/>
          </p:cNvSpPr>
          <p:nvPr>
            <p:ph type="title"/>
          </p:nvPr>
        </p:nvSpPr>
        <p:spPr>
          <a:xfrm>
            <a:off x="308225" y="39833"/>
            <a:ext cx="8640565" cy="1728352"/>
          </a:xfrm>
        </p:spPr>
        <p:txBody>
          <a:bodyPr>
            <a:normAutofit fontScale="90000"/>
          </a:bodyPr>
          <a:lstStyle/>
          <a:p>
            <a:pPr algn="l"/>
            <a:r>
              <a:rPr lang="en-US" dirty="0"/>
              <a:t>ANSI (</a:t>
            </a:r>
            <a:r>
              <a:rPr lang="en-IN" b="0" i="0" dirty="0">
                <a:solidFill>
                  <a:srgbClr val="001D35"/>
                </a:solidFill>
                <a:effectLst/>
                <a:latin typeface="Google Sans"/>
              </a:rPr>
              <a:t>American National Standards Institute) </a:t>
            </a:r>
            <a:r>
              <a:rPr lang="en-US" dirty="0"/>
              <a:t>/ SPARC (Standards Planning And Requirements Committee) Model:</a:t>
            </a:r>
            <a:endParaRPr lang="en-IN" dirty="0"/>
          </a:p>
        </p:txBody>
      </p:sp>
      <p:sp>
        <p:nvSpPr>
          <p:cNvPr id="3" name="TextBox 2">
            <a:extLst>
              <a:ext uri="{FF2B5EF4-FFF2-40B4-BE49-F238E27FC236}">
                <a16:creationId xmlns:a16="http://schemas.microsoft.com/office/drawing/2014/main" id="{ABDB65DE-76B8-A903-976C-E44F6BAD7AE6}"/>
              </a:ext>
            </a:extLst>
          </p:cNvPr>
          <p:cNvSpPr txBox="1"/>
          <p:nvPr/>
        </p:nvSpPr>
        <p:spPr>
          <a:xfrm>
            <a:off x="214260" y="5638800"/>
            <a:ext cx="2234299" cy="923330"/>
          </a:xfrm>
          <a:prstGeom prst="rect">
            <a:avLst/>
          </a:prstGeom>
          <a:noFill/>
        </p:spPr>
        <p:txBody>
          <a:bodyPr wrap="square" rtlCol="0">
            <a:spAutoFit/>
          </a:bodyPr>
          <a:lstStyle/>
          <a:p>
            <a:r>
              <a:rPr lang="en-US" b="1" dirty="0">
                <a:solidFill>
                  <a:schemeClr val="accent3">
                    <a:lumMod val="75000"/>
                  </a:schemeClr>
                </a:solidFill>
              </a:rPr>
              <a:t>Internal / Physical Level / View / Schema</a:t>
            </a:r>
            <a:endParaRPr lang="en-IN" b="1" dirty="0">
              <a:solidFill>
                <a:schemeClr val="accent3">
                  <a:lumMod val="75000"/>
                </a:schemeClr>
              </a:solidFill>
            </a:endParaRPr>
          </a:p>
        </p:txBody>
      </p:sp>
      <p:sp>
        <p:nvSpPr>
          <p:cNvPr id="4" name="TextBox 3">
            <a:extLst>
              <a:ext uri="{FF2B5EF4-FFF2-40B4-BE49-F238E27FC236}">
                <a16:creationId xmlns:a16="http://schemas.microsoft.com/office/drawing/2014/main" id="{EC754F67-5C48-100B-7AA8-E8E36987F65E}"/>
              </a:ext>
            </a:extLst>
          </p:cNvPr>
          <p:cNvSpPr txBox="1"/>
          <p:nvPr/>
        </p:nvSpPr>
        <p:spPr>
          <a:xfrm>
            <a:off x="132080" y="3990559"/>
            <a:ext cx="2316480" cy="923330"/>
          </a:xfrm>
          <a:prstGeom prst="rect">
            <a:avLst/>
          </a:prstGeom>
          <a:noFill/>
        </p:spPr>
        <p:txBody>
          <a:bodyPr wrap="square" rtlCol="0">
            <a:spAutoFit/>
          </a:bodyPr>
          <a:lstStyle/>
          <a:p>
            <a:r>
              <a:rPr lang="en-US" b="1" dirty="0">
                <a:solidFill>
                  <a:schemeClr val="accent3">
                    <a:lumMod val="75000"/>
                  </a:schemeClr>
                </a:solidFill>
              </a:rPr>
              <a:t>Logical / Conceptual Level / View / Schema (Global Schema)</a:t>
            </a:r>
            <a:endParaRPr lang="en-IN" b="1" dirty="0">
              <a:solidFill>
                <a:schemeClr val="accent3">
                  <a:lumMod val="75000"/>
                </a:schemeClr>
              </a:solidFill>
            </a:endParaRPr>
          </a:p>
        </p:txBody>
      </p:sp>
      <p:sp>
        <p:nvSpPr>
          <p:cNvPr id="5" name="TextBox 4">
            <a:extLst>
              <a:ext uri="{FF2B5EF4-FFF2-40B4-BE49-F238E27FC236}">
                <a16:creationId xmlns:a16="http://schemas.microsoft.com/office/drawing/2014/main" id="{6BFE94BF-3019-359A-5273-5EDAC6937CE5}"/>
              </a:ext>
            </a:extLst>
          </p:cNvPr>
          <p:cNvSpPr txBox="1"/>
          <p:nvPr/>
        </p:nvSpPr>
        <p:spPr>
          <a:xfrm>
            <a:off x="132080" y="2721925"/>
            <a:ext cx="2529840" cy="923330"/>
          </a:xfrm>
          <a:prstGeom prst="rect">
            <a:avLst/>
          </a:prstGeom>
          <a:noFill/>
        </p:spPr>
        <p:txBody>
          <a:bodyPr wrap="square" rtlCol="0">
            <a:spAutoFit/>
          </a:bodyPr>
          <a:lstStyle/>
          <a:p>
            <a:r>
              <a:rPr lang="en-US" b="1" dirty="0">
                <a:solidFill>
                  <a:schemeClr val="accent3">
                    <a:lumMod val="75000"/>
                  </a:schemeClr>
                </a:solidFill>
              </a:rPr>
              <a:t>View / User / External / Simple Level / View / Schema (Sub Schema)</a:t>
            </a:r>
            <a:endParaRPr lang="en-IN" b="1" dirty="0">
              <a:solidFill>
                <a:schemeClr val="accent3">
                  <a:lumMod val="75000"/>
                </a:schemeClr>
              </a:solidFill>
            </a:endParaRPr>
          </a:p>
        </p:txBody>
      </p:sp>
    </p:spTree>
    <p:extLst>
      <p:ext uri="{BB962C8B-B14F-4D97-AF65-F5344CB8AC3E}">
        <p14:creationId xmlns:p14="http://schemas.microsoft.com/office/powerpoint/2010/main" val="32577396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normAutofit fontScale="90000"/>
          </a:bodyPr>
          <a:lstStyle/>
          <a:p>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12746015"/>
              </p:ext>
            </p:extLst>
          </p:nvPr>
        </p:nvGraphicFramePr>
        <p:xfrm>
          <a:off x="457200" y="609600"/>
          <a:ext cx="8326581" cy="5902033"/>
        </p:xfrm>
        <a:graphic>
          <a:graphicData uri="http://schemas.openxmlformats.org/drawingml/2006/table">
            <a:tbl>
              <a:tblPr/>
              <a:tblGrid>
                <a:gridCol w="2775527">
                  <a:extLst>
                    <a:ext uri="{9D8B030D-6E8A-4147-A177-3AD203B41FA5}">
                      <a16:colId xmlns:a16="http://schemas.microsoft.com/office/drawing/2014/main" val="2696081"/>
                    </a:ext>
                  </a:extLst>
                </a:gridCol>
                <a:gridCol w="2775527">
                  <a:extLst>
                    <a:ext uri="{9D8B030D-6E8A-4147-A177-3AD203B41FA5}">
                      <a16:colId xmlns:a16="http://schemas.microsoft.com/office/drawing/2014/main" val="2664299412"/>
                    </a:ext>
                  </a:extLst>
                </a:gridCol>
                <a:gridCol w="2775527">
                  <a:extLst>
                    <a:ext uri="{9D8B030D-6E8A-4147-A177-3AD203B41FA5}">
                      <a16:colId xmlns:a16="http://schemas.microsoft.com/office/drawing/2014/main" val="1134998853"/>
                    </a:ext>
                  </a:extLst>
                </a:gridCol>
              </a:tblGrid>
              <a:tr h="317332">
                <a:tc>
                  <a:txBody>
                    <a:bodyPr/>
                    <a:lstStyle/>
                    <a:p>
                      <a:r>
                        <a:rPr lang="en-IN" sz="1600" b="1" dirty="0">
                          <a:solidFill>
                            <a:srgbClr val="FF0000"/>
                          </a:solidFill>
                        </a:rPr>
                        <a:t>Aspect</a:t>
                      </a:r>
                    </a:p>
                  </a:txBody>
                  <a:tcPr marL="61162" marR="61162" marT="30581" marB="30581" anchor="ctr">
                    <a:lnL>
                      <a:noFill/>
                    </a:lnL>
                    <a:lnR>
                      <a:noFill/>
                    </a:lnR>
                    <a:lnT>
                      <a:noFill/>
                    </a:lnT>
                    <a:lnB>
                      <a:noFill/>
                    </a:lnB>
                  </a:tcPr>
                </a:tc>
                <a:tc>
                  <a:txBody>
                    <a:bodyPr/>
                    <a:lstStyle/>
                    <a:p>
                      <a:r>
                        <a:rPr lang="en-IN" sz="1600" b="1" dirty="0">
                          <a:solidFill>
                            <a:srgbClr val="FF0000"/>
                          </a:solidFill>
                        </a:rPr>
                        <a:t>DBMS</a:t>
                      </a:r>
                    </a:p>
                  </a:txBody>
                  <a:tcPr marL="61162" marR="61162" marT="30581" marB="30581" anchor="ctr">
                    <a:lnL>
                      <a:noFill/>
                    </a:lnL>
                    <a:lnR>
                      <a:noFill/>
                    </a:lnR>
                    <a:lnT>
                      <a:noFill/>
                    </a:lnT>
                    <a:lnB>
                      <a:noFill/>
                    </a:lnB>
                  </a:tcPr>
                </a:tc>
                <a:tc>
                  <a:txBody>
                    <a:bodyPr/>
                    <a:lstStyle/>
                    <a:p>
                      <a:r>
                        <a:rPr lang="en-IN" sz="1600" b="1" dirty="0">
                          <a:solidFill>
                            <a:srgbClr val="FF0000"/>
                          </a:solidFill>
                        </a:rPr>
                        <a:t>RDBMS</a:t>
                      </a:r>
                    </a:p>
                  </a:txBody>
                  <a:tcPr marL="61162" marR="61162" marT="30581" marB="30581" anchor="ctr">
                    <a:lnL>
                      <a:noFill/>
                    </a:lnL>
                    <a:lnR>
                      <a:noFill/>
                    </a:lnR>
                    <a:lnT>
                      <a:noFill/>
                    </a:lnT>
                    <a:lnB>
                      <a:noFill/>
                    </a:lnB>
                  </a:tcPr>
                </a:tc>
                <a:extLst>
                  <a:ext uri="{0D108BD9-81ED-4DB2-BD59-A6C34878D82A}">
                    <a16:rowId xmlns:a16="http://schemas.microsoft.com/office/drawing/2014/main" val="1063910598"/>
                  </a:ext>
                </a:extLst>
              </a:tr>
              <a:tr h="571029">
                <a:tc>
                  <a:txBody>
                    <a:bodyPr/>
                    <a:lstStyle/>
                    <a:p>
                      <a:r>
                        <a:rPr lang="en-IN" sz="1600" b="1" dirty="0"/>
                        <a:t>Full Form</a:t>
                      </a:r>
                      <a:endParaRPr lang="en-IN" sz="1600" dirty="0"/>
                    </a:p>
                  </a:txBody>
                  <a:tcPr marL="61162" marR="61162" marT="30581" marB="30581" anchor="ctr">
                    <a:lnL>
                      <a:noFill/>
                    </a:lnL>
                    <a:lnR>
                      <a:noFill/>
                    </a:lnR>
                    <a:lnT>
                      <a:noFill/>
                    </a:lnT>
                    <a:lnB>
                      <a:noFill/>
                    </a:lnB>
                  </a:tcPr>
                </a:tc>
                <a:tc>
                  <a:txBody>
                    <a:bodyPr/>
                    <a:lstStyle/>
                    <a:p>
                      <a:r>
                        <a:rPr lang="en-IN" sz="1600"/>
                        <a:t>Database Management System</a:t>
                      </a:r>
                    </a:p>
                  </a:txBody>
                  <a:tcPr marL="61162" marR="61162" marT="30581" marB="30581" anchor="ctr">
                    <a:lnL>
                      <a:noFill/>
                    </a:lnL>
                    <a:lnR>
                      <a:noFill/>
                    </a:lnR>
                    <a:lnT>
                      <a:noFill/>
                    </a:lnT>
                    <a:lnB>
                      <a:noFill/>
                    </a:lnB>
                  </a:tcPr>
                </a:tc>
                <a:tc>
                  <a:txBody>
                    <a:bodyPr/>
                    <a:lstStyle/>
                    <a:p>
                      <a:r>
                        <a:rPr lang="en-IN" sz="1600"/>
                        <a:t>Relational Database Management System</a:t>
                      </a:r>
                    </a:p>
                  </a:txBody>
                  <a:tcPr marL="61162" marR="61162" marT="30581" marB="30581" anchor="ctr">
                    <a:lnL>
                      <a:noFill/>
                    </a:lnL>
                    <a:lnR>
                      <a:noFill/>
                    </a:lnR>
                    <a:lnT>
                      <a:noFill/>
                    </a:lnT>
                    <a:lnB>
                      <a:noFill/>
                    </a:lnB>
                  </a:tcPr>
                </a:tc>
                <a:extLst>
                  <a:ext uri="{0D108BD9-81ED-4DB2-BD59-A6C34878D82A}">
                    <a16:rowId xmlns:a16="http://schemas.microsoft.com/office/drawing/2014/main" val="1494203674"/>
                  </a:ext>
                </a:extLst>
              </a:tr>
              <a:tr h="571029">
                <a:tc>
                  <a:txBody>
                    <a:bodyPr/>
                    <a:lstStyle/>
                    <a:p>
                      <a:r>
                        <a:rPr lang="en-IN" sz="1600" b="1" dirty="0"/>
                        <a:t>Data Model</a:t>
                      </a:r>
                      <a:endParaRPr lang="en-IN" sz="1600" dirty="0"/>
                    </a:p>
                  </a:txBody>
                  <a:tcPr marL="61162" marR="61162" marT="30581" marB="30581" anchor="ctr">
                    <a:lnL>
                      <a:noFill/>
                    </a:lnL>
                    <a:lnR>
                      <a:noFill/>
                    </a:lnR>
                    <a:lnT>
                      <a:noFill/>
                    </a:lnT>
                    <a:lnB>
                      <a:noFill/>
                    </a:lnB>
                  </a:tcPr>
                </a:tc>
                <a:tc>
                  <a:txBody>
                    <a:bodyPr/>
                    <a:lstStyle/>
                    <a:p>
                      <a:r>
                        <a:rPr lang="en-IN" sz="1600" dirty="0"/>
                        <a:t>Stores data as files</a:t>
                      </a:r>
                    </a:p>
                  </a:txBody>
                  <a:tcPr marL="61162" marR="61162" marT="30581" marB="30581" anchor="ctr">
                    <a:lnL>
                      <a:noFill/>
                    </a:lnL>
                    <a:lnR>
                      <a:noFill/>
                    </a:lnR>
                    <a:lnT>
                      <a:noFill/>
                    </a:lnT>
                    <a:lnB>
                      <a:noFill/>
                    </a:lnB>
                  </a:tcPr>
                </a:tc>
                <a:tc>
                  <a:txBody>
                    <a:bodyPr/>
                    <a:lstStyle/>
                    <a:p>
                      <a:r>
                        <a:rPr lang="en-US" sz="1600"/>
                        <a:t>Stores data in </a:t>
                      </a:r>
                      <a:r>
                        <a:rPr lang="en-US" sz="1600" b="1"/>
                        <a:t>tables (relations)</a:t>
                      </a:r>
                      <a:endParaRPr lang="en-US" sz="1600"/>
                    </a:p>
                  </a:txBody>
                  <a:tcPr marL="61162" marR="61162" marT="30581" marB="30581" anchor="ctr">
                    <a:lnL>
                      <a:noFill/>
                    </a:lnL>
                    <a:lnR>
                      <a:noFill/>
                    </a:lnR>
                    <a:lnT>
                      <a:noFill/>
                    </a:lnT>
                    <a:lnB>
                      <a:noFill/>
                    </a:lnB>
                  </a:tcPr>
                </a:tc>
                <a:extLst>
                  <a:ext uri="{0D108BD9-81ED-4DB2-BD59-A6C34878D82A}">
                    <a16:rowId xmlns:a16="http://schemas.microsoft.com/office/drawing/2014/main" val="4232163116"/>
                  </a:ext>
                </a:extLst>
              </a:tr>
              <a:tr h="571029">
                <a:tc>
                  <a:txBody>
                    <a:bodyPr/>
                    <a:lstStyle/>
                    <a:p>
                      <a:r>
                        <a:rPr lang="en-IN" sz="1600" b="1"/>
                        <a:t>Data Relationship</a:t>
                      </a:r>
                      <a:endParaRPr lang="en-IN" sz="1600"/>
                    </a:p>
                  </a:txBody>
                  <a:tcPr marL="61162" marR="61162" marT="30581" marB="30581" anchor="ctr">
                    <a:lnL>
                      <a:noFill/>
                    </a:lnL>
                    <a:lnR>
                      <a:noFill/>
                    </a:lnR>
                    <a:lnT>
                      <a:noFill/>
                    </a:lnT>
                    <a:lnB>
                      <a:noFill/>
                    </a:lnB>
                  </a:tcPr>
                </a:tc>
                <a:tc>
                  <a:txBody>
                    <a:bodyPr/>
                    <a:lstStyle/>
                    <a:p>
                      <a:r>
                        <a:rPr lang="en-US" sz="1600" dirty="0"/>
                        <a:t>No or limited relationship between data</a:t>
                      </a:r>
                    </a:p>
                  </a:txBody>
                  <a:tcPr marL="61162" marR="61162" marT="30581" marB="30581" anchor="ctr">
                    <a:lnL>
                      <a:noFill/>
                    </a:lnL>
                    <a:lnR>
                      <a:noFill/>
                    </a:lnR>
                    <a:lnT>
                      <a:noFill/>
                    </a:lnT>
                    <a:lnB>
                      <a:noFill/>
                    </a:lnB>
                  </a:tcPr>
                </a:tc>
                <a:tc>
                  <a:txBody>
                    <a:bodyPr/>
                    <a:lstStyle/>
                    <a:p>
                      <a:r>
                        <a:rPr lang="en-US" sz="1600"/>
                        <a:t>Strong relationship using </a:t>
                      </a:r>
                      <a:r>
                        <a:rPr lang="en-US" sz="1600" b="1"/>
                        <a:t>primary key &amp; foreign key</a:t>
                      </a:r>
                      <a:endParaRPr lang="en-US" sz="1600"/>
                    </a:p>
                  </a:txBody>
                  <a:tcPr marL="61162" marR="61162" marT="30581" marB="30581" anchor="ctr">
                    <a:lnL>
                      <a:noFill/>
                    </a:lnL>
                    <a:lnR>
                      <a:noFill/>
                    </a:lnR>
                    <a:lnT>
                      <a:noFill/>
                    </a:lnT>
                    <a:lnB>
                      <a:noFill/>
                    </a:lnB>
                  </a:tcPr>
                </a:tc>
                <a:extLst>
                  <a:ext uri="{0D108BD9-81ED-4DB2-BD59-A6C34878D82A}">
                    <a16:rowId xmlns:a16="http://schemas.microsoft.com/office/drawing/2014/main" val="1091407909"/>
                  </a:ext>
                </a:extLst>
              </a:tr>
              <a:tr h="571029">
                <a:tc>
                  <a:txBody>
                    <a:bodyPr/>
                    <a:lstStyle/>
                    <a:p>
                      <a:r>
                        <a:rPr lang="en-IN" sz="1600" b="1"/>
                        <a:t>Normalization</a:t>
                      </a:r>
                      <a:endParaRPr lang="en-IN" sz="1600"/>
                    </a:p>
                  </a:txBody>
                  <a:tcPr marL="61162" marR="61162" marT="30581" marB="30581" anchor="ctr">
                    <a:lnL>
                      <a:noFill/>
                    </a:lnL>
                    <a:lnR>
                      <a:noFill/>
                    </a:lnR>
                    <a:lnT>
                      <a:noFill/>
                    </a:lnT>
                    <a:lnB>
                      <a:noFill/>
                    </a:lnB>
                  </a:tcPr>
                </a:tc>
                <a:tc>
                  <a:txBody>
                    <a:bodyPr/>
                    <a:lstStyle/>
                    <a:p>
                      <a:r>
                        <a:rPr lang="en-IN" sz="1600" dirty="0"/>
                        <a:t>Not supported</a:t>
                      </a:r>
                    </a:p>
                  </a:txBody>
                  <a:tcPr marL="61162" marR="61162" marT="30581" marB="30581" anchor="ctr">
                    <a:lnL>
                      <a:noFill/>
                    </a:lnL>
                    <a:lnR>
                      <a:noFill/>
                    </a:lnR>
                    <a:lnT>
                      <a:noFill/>
                    </a:lnT>
                    <a:lnB>
                      <a:noFill/>
                    </a:lnB>
                  </a:tcPr>
                </a:tc>
                <a:tc>
                  <a:txBody>
                    <a:bodyPr/>
                    <a:lstStyle/>
                    <a:p>
                      <a:r>
                        <a:rPr lang="en-IN" sz="1600"/>
                        <a:t>Supported (reduces data redundancy)</a:t>
                      </a:r>
                    </a:p>
                  </a:txBody>
                  <a:tcPr marL="61162" marR="61162" marT="30581" marB="30581" anchor="ctr">
                    <a:lnL>
                      <a:noFill/>
                    </a:lnL>
                    <a:lnR>
                      <a:noFill/>
                    </a:lnR>
                    <a:lnT>
                      <a:noFill/>
                    </a:lnT>
                    <a:lnB>
                      <a:noFill/>
                    </a:lnB>
                  </a:tcPr>
                </a:tc>
                <a:extLst>
                  <a:ext uri="{0D108BD9-81ED-4DB2-BD59-A6C34878D82A}">
                    <a16:rowId xmlns:a16="http://schemas.microsoft.com/office/drawing/2014/main" val="3852045924"/>
                  </a:ext>
                </a:extLst>
              </a:tr>
              <a:tr h="571029">
                <a:tc>
                  <a:txBody>
                    <a:bodyPr/>
                    <a:lstStyle/>
                    <a:p>
                      <a:r>
                        <a:rPr lang="en-IN" sz="1600" b="1"/>
                        <a:t>Data Integrity</a:t>
                      </a:r>
                      <a:endParaRPr lang="en-IN" sz="1600"/>
                    </a:p>
                  </a:txBody>
                  <a:tcPr marL="61162" marR="61162" marT="30581" marB="30581" anchor="ctr">
                    <a:lnL>
                      <a:noFill/>
                    </a:lnL>
                    <a:lnR>
                      <a:noFill/>
                    </a:lnR>
                    <a:lnT>
                      <a:noFill/>
                    </a:lnT>
                    <a:lnB>
                      <a:noFill/>
                    </a:lnB>
                  </a:tcPr>
                </a:tc>
                <a:tc>
                  <a:txBody>
                    <a:bodyPr/>
                    <a:lstStyle/>
                    <a:p>
                      <a:r>
                        <a:rPr lang="en-IN" sz="1600" dirty="0"/>
                        <a:t>Less data integrity</a:t>
                      </a:r>
                    </a:p>
                  </a:txBody>
                  <a:tcPr marL="61162" marR="61162" marT="30581" marB="30581" anchor="ctr">
                    <a:lnL>
                      <a:noFill/>
                    </a:lnL>
                    <a:lnR>
                      <a:noFill/>
                    </a:lnR>
                    <a:lnT>
                      <a:noFill/>
                    </a:lnT>
                    <a:lnB>
                      <a:noFill/>
                    </a:lnB>
                  </a:tcPr>
                </a:tc>
                <a:tc>
                  <a:txBody>
                    <a:bodyPr/>
                    <a:lstStyle/>
                    <a:p>
                      <a:r>
                        <a:rPr lang="en-US" sz="1600"/>
                        <a:t>High data integrity using constraints</a:t>
                      </a:r>
                    </a:p>
                  </a:txBody>
                  <a:tcPr marL="61162" marR="61162" marT="30581" marB="30581" anchor="ctr">
                    <a:lnL>
                      <a:noFill/>
                    </a:lnL>
                    <a:lnR>
                      <a:noFill/>
                    </a:lnR>
                    <a:lnT>
                      <a:noFill/>
                    </a:lnT>
                    <a:lnB>
                      <a:noFill/>
                    </a:lnB>
                  </a:tcPr>
                </a:tc>
                <a:extLst>
                  <a:ext uri="{0D108BD9-81ED-4DB2-BD59-A6C34878D82A}">
                    <a16:rowId xmlns:a16="http://schemas.microsoft.com/office/drawing/2014/main" val="1882111944"/>
                  </a:ext>
                </a:extLst>
              </a:tr>
              <a:tr h="445440">
                <a:tc>
                  <a:txBody>
                    <a:bodyPr/>
                    <a:lstStyle/>
                    <a:p>
                      <a:r>
                        <a:rPr lang="en-IN" sz="1600" b="1"/>
                        <a:t>ACID Properties</a:t>
                      </a:r>
                      <a:endParaRPr lang="en-IN" sz="1600"/>
                    </a:p>
                  </a:txBody>
                  <a:tcPr marL="61162" marR="61162" marT="30581" marB="30581" anchor="ctr">
                    <a:lnL>
                      <a:noFill/>
                    </a:lnL>
                    <a:lnR>
                      <a:noFill/>
                    </a:lnR>
                    <a:lnT>
                      <a:noFill/>
                    </a:lnT>
                    <a:lnB>
                      <a:noFill/>
                    </a:lnB>
                  </a:tcPr>
                </a:tc>
                <a:tc>
                  <a:txBody>
                    <a:bodyPr/>
                    <a:lstStyle/>
                    <a:p>
                      <a:r>
                        <a:rPr lang="en-IN" sz="1600" dirty="0"/>
                        <a:t>Not fully supported</a:t>
                      </a:r>
                    </a:p>
                  </a:txBody>
                  <a:tcPr marL="61162" marR="61162" marT="30581" marB="30581" anchor="ctr">
                    <a:lnL>
                      <a:noFill/>
                    </a:lnL>
                    <a:lnR>
                      <a:noFill/>
                    </a:lnR>
                    <a:lnT>
                      <a:noFill/>
                    </a:lnT>
                    <a:lnB>
                      <a:noFill/>
                    </a:lnB>
                  </a:tcPr>
                </a:tc>
                <a:tc>
                  <a:txBody>
                    <a:bodyPr/>
                    <a:lstStyle/>
                    <a:p>
                      <a:r>
                        <a:rPr lang="en-IN" sz="1600" dirty="0"/>
                        <a:t>Fully supports </a:t>
                      </a:r>
                      <a:r>
                        <a:rPr lang="en-IN" sz="1600" b="1" dirty="0"/>
                        <a:t>ACID</a:t>
                      </a:r>
                      <a:r>
                        <a:rPr lang="en-IN" sz="1600" dirty="0"/>
                        <a:t> properties</a:t>
                      </a:r>
                    </a:p>
                  </a:txBody>
                  <a:tcPr marL="61162" marR="61162" marT="30581" marB="30581" anchor="ctr">
                    <a:lnL>
                      <a:noFill/>
                    </a:lnL>
                    <a:lnR>
                      <a:noFill/>
                    </a:lnR>
                    <a:lnT>
                      <a:noFill/>
                    </a:lnT>
                    <a:lnB>
                      <a:noFill/>
                    </a:lnB>
                  </a:tcPr>
                </a:tc>
                <a:extLst>
                  <a:ext uri="{0D108BD9-81ED-4DB2-BD59-A6C34878D82A}">
                    <a16:rowId xmlns:a16="http://schemas.microsoft.com/office/drawing/2014/main" val="2802863755"/>
                  </a:ext>
                </a:extLst>
              </a:tr>
              <a:tr h="571029">
                <a:tc>
                  <a:txBody>
                    <a:bodyPr/>
                    <a:lstStyle/>
                    <a:p>
                      <a:r>
                        <a:rPr lang="en-IN" sz="1600" b="1"/>
                        <a:t>Multi-user Access</a:t>
                      </a:r>
                      <a:endParaRPr lang="en-IN" sz="1600"/>
                    </a:p>
                  </a:txBody>
                  <a:tcPr marL="61162" marR="61162" marT="30581" marB="30581" anchor="ctr">
                    <a:lnL>
                      <a:noFill/>
                    </a:lnL>
                    <a:lnR>
                      <a:noFill/>
                    </a:lnR>
                    <a:lnT>
                      <a:noFill/>
                    </a:lnT>
                    <a:lnB>
                      <a:noFill/>
                    </a:lnB>
                  </a:tcPr>
                </a:tc>
                <a:tc>
                  <a:txBody>
                    <a:bodyPr/>
                    <a:lstStyle/>
                    <a:p>
                      <a:r>
                        <a:rPr lang="en-IN" sz="1600"/>
                        <a:t>Limited multi-user support</a:t>
                      </a:r>
                    </a:p>
                  </a:txBody>
                  <a:tcPr marL="61162" marR="61162" marT="30581" marB="30581" anchor="ctr">
                    <a:lnL>
                      <a:noFill/>
                    </a:lnL>
                    <a:lnR>
                      <a:noFill/>
                    </a:lnR>
                    <a:lnT>
                      <a:noFill/>
                    </a:lnT>
                    <a:lnB>
                      <a:noFill/>
                    </a:lnB>
                  </a:tcPr>
                </a:tc>
                <a:tc>
                  <a:txBody>
                    <a:bodyPr/>
                    <a:lstStyle/>
                    <a:p>
                      <a:r>
                        <a:rPr lang="en-IN" sz="1600" dirty="0"/>
                        <a:t>Supports multiple users simultaneously</a:t>
                      </a:r>
                    </a:p>
                  </a:txBody>
                  <a:tcPr marL="61162" marR="61162" marT="30581" marB="30581" anchor="ctr">
                    <a:lnL>
                      <a:noFill/>
                    </a:lnL>
                    <a:lnR>
                      <a:noFill/>
                    </a:lnR>
                    <a:lnT>
                      <a:noFill/>
                    </a:lnT>
                    <a:lnB>
                      <a:noFill/>
                    </a:lnB>
                  </a:tcPr>
                </a:tc>
                <a:extLst>
                  <a:ext uri="{0D108BD9-81ED-4DB2-BD59-A6C34878D82A}">
                    <a16:rowId xmlns:a16="http://schemas.microsoft.com/office/drawing/2014/main" val="824415955"/>
                  </a:ext>
                </a:extLst>
              </a:tr>
              <a:tr h="571029">
                <a:tc>
                  <a:txBody>
                    <a:bodyPr/>
                    <a:lstStyle/>
                    <a:p>
                      <a:r>
                        <a:rPr lang="en-IN" sz="1600" b="1"/>
                        <a:t>Security</a:t>
                      </a:r>
                      <a:endParaRPr lang="en-IN" sz="1600"/>
                    </a:p>
                  </a:txBody>
                  <a:tcPr marL="61162" marR="61162" marT="30581" marB="30581" anchor="ctr">
                    <a:lnL>
                      <a:noFill/>
                    </a:lnL>
                    <a:lnR>
                      <a:noFill/>
                    </a:lnR>
                    <a:lnT>
                      <a:noFill/>
                    </a:lnT>
                    <a:lnB>
                      <a:noFill/>
                    </a:lnB>
                  </a:tcPr>
                </a:tc>
                <a:tc>
                  <a:txBody>
                    <a:bodyPr/>
                    <a:lstStyle/>
                    <a:p>
                      <a:r>
                        <a:rPr lang="en-IN" sz="1600"/>
                        <a:t>Less secure</a:t>
                      </a:r>
                    </a:p>
                  </a:txBody>
                  <a:tcPr marL="61162" marR="61162" marT="30581" marB="30581" anchor="ctr">
                    <a:lnL>
                      <a:noFill/>
                    </a:lnL>
                    <a:lnR>
                      <a:noFill/>
                    </a:lnR>
                    <a:lnT>
                      <a:noFill/>
                    </a:lnT>
                    <a:lnB>
                      <a:noFill/>
                    </a:lnB>
                  </a:tcPr>
                </a:tc>
                <a:tc>
                  <a:txBody>
                    <a:bodyPr/>
                    <a:lstStyle/>
                    <a:p>
                      <a:r>
                        <a:rPr lang="en-US" sz="1600" dirty="0"/>
                        <a:t>More secure with roles and permissions</a:t>
                      </a:r>
                    </a:p>
                  </a:txBody>
                  <a:tcPr marL="61162" marR="61162" marT="30581" marB="30581" anchor="ctr">
                    <a:lnL>
                      <a:noFill/>
                    </a:lnL>
                    <a:lnR>
                      <a:noFill/>
                    </a:lnR>
                    <a:lnT>
                      <a:noFill/>
                    </a:lnT>
                    <a:lnB>
                      <a:noFill/>
                    </a:lnB>
                  </a:tcPr>
                </a:tc>
                <a:extLst>
                  <a:ext uri="{0D108BD9-81ED-4DB2-BD59-A6C34878D82A}">
                    <a16:rowId xmlns:a16="http://schemas.microsoft.com/office/drawing/2014/main" val="1200426862"/>
                  </a:ext>
                </a:extLst>
              </a:tr>
              <a:tr h="571029">
                <a:tc>
                  <a:txBody>
                    <a:bodyPr/>
                    <a:lstStyle/>
                    <a:p>
                      <a:r>
                        <a:rPr lang="en-IN" sz="1600" b="1"/>
                        <a:t>Scalability</a:t>
                      </a:r>
                      <a:endParaRPr lang="en-IN" sz="1600"/>
                    </a:p>
                  </a:txBody>
                  <a:tcPr marL="61162" marR="61162" marT="30581" marB="30581" anchor="ctr">
                    <a:lnL>
                      <a:noFill/>
                    </a:lnL>
                    <a:lnR>
                      <a:noFill/>
                    </a:lnR>
                    <a:lnT>
                      <a:noFill/>
                    </a:lnT>
                    <a:lnB>
                      <a:noFill/>
                    </a:lnB>
                  </a:tcPr>
                </a:tc>
                <a:tc>
                  <a:txBody>
                    <a:bodyPr/>
                    <a:lstStyle/>
                    <a:p>
                      <a:r>
                        <a:rPr lang="en-IN" sz="1600"/>
                        <a:t>Suitable for small applications</a:t>
                      </a:r>
                    </a:p>
                  </a:txBody>
                  <a:tcPr marL="61162" marR="61162" marT="30581" marB="30581" anchor="ctr">
                    <a:lnL>
                      <a:noFill/>
                    </a:lnL>
                    <a:lnR>
                      <a:noFill/>
                    </a:lnR>
                    <a:lnT>
                      <a:noFill/>
                    </a:lnT>
                    <a:lnB>
                      <a:noFill/>
                    </a:lnB>
                  </a:tcPr>
                </a:tc>
                <a:tc>
                  <a:txBody>
                    <a:bodyPr/>
                    <a:lstStyle/>
                    <a:p>
                      <a:r>
                        <a:rPr lang="en-US" sz="1600" dirty="0"/>
                        <a:t>Suitable for large and complex applications</a:t>
                      </a:r>
                    </a:p>
                  </a:txBody>
                  <a:tcPr marL="61162" marR="61162" marT="30581" marB="30581" anchor="ctr">
                    <a:lnL>
                      <a:noFill/>
                    </a:lnL>
                    <a:lnR>
                      <a:noFill/>
                    </a:lnR>
                    <a:lnT>
                      <a:noFill/>
                    </a:lnT>
                    <a:lnB>
                      <a:noFill/>
                    </a:lnB>
                  </a:tcPr>
                </a:tc>
                <a:extLst>
                  <a:ext uri="{0D108BD9-81ED-4DB2-BD59-A6C34878D82A}">
                    <a16:rowId xmlns:a16="http://schemas.microsoft.com/office/drawing/2014/main" val="602857094"/>
                  </a:ext>
                </a:extLst>
              </a:tr>
              <a:tr h="571029">
                <a:tc>
                  <a:txBody>
                    <a:bodyPr/>
                    <a:lstStyle/>
                    <a:p>
                      <a:r>
                        <a:rPr lang="en-IN" sz="1600" b="1"/>
                        <a:t>Examples</a:t>
                      </a:r>
                      <a:endParaRPr lang="en-IN" sz="1600"/>
                    </a:p>
                  </a:txBody>
                  <a:tcPr marL="61162" marR="61162" marT="30581" marB="30581" anchor="ctr">
                    <a:lnL>
                      <a:noFill/>
                    </a:lnL>
                    <a:lnR>
                      <a:noFill/>
                    </a:lnR>
                    <a:lnT>
                      <a:noFill/>
                    </a:lnT>
                    <a:lnB>
                      <a:noFill/>
                    </a:lnB>
                  </a:tcPr>
                </a:tc>
                <a:tc>
                  <a:txBody>
                    <a:bodyPr/>
                    <a:lstStyle/>
                    <a:p>
                      <a:r>
                        <a:rPr lang="en-IN" sz="1600"/>
                        <a:t>File system, XML databases</a:t>
                      </a:r>
                    </a:p>
                  </a:txBody>
                  <a:tcPr marL="61162" marR="61162" marT="30581" marB="30581" anchor="ctr">
                    <a:lnL>
                      <a:noFill/>
                    </a:lnL>
                    <a:lnR>
                      <a:noFill/>
                    </a:lnR>
                    <a:lnT>
                      <a:noFill/>
                    </a:lnT>
                    <a:lnB>
                      <a:noFill/>
                    </a:lnB>
                  </a:tcPr>
                </a:tc>
                <a:tc>
                  <a:txBody>
                    <a:bodyPr/>
                    <a:lstStyle/>
                    <a:p>
                      <a:r>
                        <a:rPr lang="en-IN" sz="1600" dirty="0"/>
                        <a:t>MySQL, Oracle, SQL Server, PostgreSQL</a:t>
                      </a:r>
                    </a:p>
                  </a:txBody>
                  <a:tcPr marL="61162" marR="61162" marT="30581" marB="30581" anchor="ctr">
                    <a:lnL>
                      <a:noFill/>
                    </a:lnL>
                    <a:lnR>
                      <a:noFill/>
                    </a:lnR>
                    <a:lnT>
                      <a:noFill/>
                    </a:lnT>
                    <a:lnB>
                      <a:noFill/>
                    </a:lnB>
                  </a:tcPr>
                </a:tc>
                <a:extLst>
                  <a:ext uri="{0D108BD9-81ED-4DB2-BD59-A6C34878D82A}">
                    <a16:rowId xmlns:a16="http://schemas.microsoft.com/office/drawing/2014/main" val="1166477337"/>
                  </a:ext>
                </a:extLst>
              </a:tr>
            </a:tbl>
          </a:graphicData>
        </a:graphic>
      </p:graphicFrame>
    </p:spTree>
    <p:extLst>
      <p:ext uri="{BB962C8B-B14F-4D97-AF65-F5344CB8AC3E}">
        <p14:creationId xmlns:p14="http://schemas.microsoft.com/office/powerpoint/2010/main" val="9307104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16823001"/>
              </p:ext>
            </p:extLst>
          </p:nvPr>
        </p:nvGraphicFramePr>
        <p:xfrm>
          <a:off x="457200" y="1607129"/>
          <a:ext cx="8229600" cy="4987634"/>
        </p:xfrm>
        <a:graphic>
          <a:graphicData uri="http://schemas.openxmlformats.org/drawingml/2006/table">
            <a:tbl>
              <a:tblPr/>
              <a:tblGrid>
                <a:gridCol w="2743200">
                  <a:extLst>
                    <a:ext uri="{9D8B030D-6E8A-4147-A177-3AD203B41FA5}">
                      <a16:colId xmlns:a16="http://schemas.microsoft.com/office/drawing/2014/main" val="188063439"/>
                    </a:ext>
                  </a:extLst>
                </a:gridCol>
                <a:gridCol w="2743200">
                  <a:extLst>
                    <a:ext uri="{9D8B030D-6E8A-4147-A177-3AD203B41FA5}">
                      <a16:colId xmlns:a16="http://schemas.microsoft.com/office/drawing/2014/main" val="2763758847"/>
                    </a:ext>
                  </a:extLst>
                </a:gridCol>
                <a:gridCol w="2743200">
                  <a:extLst>
                    <a:ext uri="{9D8B030D-6E8A-4147-A177-3AD203B41FA5}">
                      <a16:colId xmlns:a16="http://schemas.microsoft.com/office/drawing/2014/main" val="142662853"/>
                    </a:ext>
                  </a:extLst>
                </a:gridCol>
              </a:tblGrid>
              <a:tr h="525014">
                <a:tc>
                  <a:txBody>
                    <a:bodyPr/>
                    <a:lstStyle/>
                    <a:p>
                      <a:r>
                        <a:rPr lang="en-IN" b="1" dirty="0">
                          <a:solidFill>
                            <a:srgbClr val="FF0000"/>
                          </a:solidFill>
                        </a:rPr>
                        <a:t>Aspect</a:t>
                      </a:r>
                    </a:p>
                  </a:txBody>
                  <a:tcPr anchor="ctr">
                    <a:lnL>
                      <a:noFill/>
                    </a:lnL>
                    <a:lnR>
                      <a:noFill/>
                    </a:lnR>
                    <a:lnT>
                      <a:noFill/>
                    </a:lnT>
                    <a:lnB>
                      <a:noFill/>
                    </a:lnB>
                  </a:tcPr>
                </a:tc>
                <a:tc>
                  <a:txBody>
                    <a:bodyPr/>
                    <a:lstStyle/>
                    <a:p>
                      <a:r>
                        <a:rPr lang="en-IN" b="1" dirty="0">
                          <a:solidFill>
                            <a:srgbClr val="FF0000"/>
                          </a:solidFill>
                        </a:rPr>
                        <a:t>Structured</a:t>
                      </a:r>
                    </a:p>
                  </a:txBody>
                  <a:tcPr anchor="ctr">
                    <a:lnL>
                      <a:noFill/>
                    </a:lnL>
                    <a:lnR>
                      <a:noFill/>
                    </a:lnR>
                    <a:lnT>
                      <a:noFill/>
                    </a:lnT>
                    <a:lnB>
                      <a:noFill/>
                    </a:lnB>
                  </a:tcPr>
                </a:tc>
                <a:tc>
                  <a:txBody>
                    <a:bodyPr/>
                    <a:lstStyle/>
                    <a:p>
                      <a:r>
                        <a:rPr lang="en-IN" b="1" dirty="0">
                          <a:solidFill>
                            <a:srgbClr val="FF0000"/>
                          </a:solidFill>
                        </a:rPr>
                        <a:t>Unstructured</a:t>
                      </a:r>
                    </a:p>
                  </a:txBody>
                  <a:tcPr anchor="ctr">
                    <a:lnL>
                      <a:noFill/>
                    </a:lnL>
                    <a:lnR>
                      <a:noFill/>
                    </a:lnR>
                    <a:lnT>
                      <a:noFill/>
                    </a:lnT>
                    <a:lnB>
                      <a:noFill/>
                    </a:lnB>
                  </a:tcPr>
                </a:tc>
                <a:extLst>
                  <a:ext uri="{0D108BD9-81ED-4DB2-BD59-A6C34878D82A}">
                    <a16:rowId xmlns:a16="http://schemas.microsoft.com/office/drawing/2014/main" val="1757141609"/>
                  </a:ext>
                </a:extLst>
              </a:tr>
              <a:tr h="525014">
                <a:tc>
                  <a:txBody>
                    <a:bodyPr/>
                    <a:lstStyle/>
                    <a:p>
                      <a:r>
                        <a:rPr lang="en-IN" b="1"/>
                        <a:t>Schema</a:t>
                      </a:r>
                      <a:endParaRPr lang="en-IN"/>
                    </a:p>
                  </a:txBody>
                  <a:tcPr anchor="ctr">
                    <a:lnL>
                      <a:noFill/>
                    </a:lnL>
                    <a:lnR>
                      <a:noFill/>
                    </a:lnR>
                    <a:lnT>
                      <a:noFill/>
                    </a:lnT>
                    <a:lnB>
                      <a:noFill/>
                    </a:lnB>
                  </a:tcPr>
                </a:tc>
                <a:tc>
                  <a:txBody>
                    <a:bodyPr/>
                    <a:lstStyle/>
                    <a:p>
                      <a:r>
                        <a:rPr lang="en-IN"/>
                        <a:t>Fixed</a:t>
                      </a:r>
                    </a:p>
                  </a:txBody>
                  <a:tcPr anchor="ctr">
                    <a:lnL>
                      <a:noFill/>
                    </a:lnL>
                    <a:lnR>
                      <a:noFill/>
                    </a:lnR>
                    <a:lnT>
                      <a:noFill/>
                    </a:lnT>
                    <a:lnB>
                      <a:noFill/>
                    </a:lnB>
                  </a:tcPr>
                </a:tc>
                <a:tc>
                  <a:txBody>
                    <a:bodyPr/>
                    <a:lstStyle/>
                    <a:p>
                      <a:r>
                        <a:rPr lang="en-IN"/>
                        <a:t>No fixed schema</a:t>
                      </a:r>
                    </a:p>
                  </a:txBody>
                  <a:tcPr anchor="ctr">
                    <a:lnL>
                      <a:noFill/>
                    </a:lnL>
                    <a:lnR>
                      <a:noFill/>
                    </a:lnR>
                    <a:lnT>
                      <a:noFill/>
                    </a:lnT>
                    <a:lnB>
                      <a:noFill/>
                    </a:lnB>
                  </a:tcPr>
                </a:tc>
                <a:extLst>
                  <a:ext uri="{0D108BD9-81ED-4DB2-BD59-A6C34878D82A}">
                    <a16:rowId xmlns:a16="http://schemas.microsoft.com/office/drawing/2014/main" val="2358145875"/>
                  </a:ext>
                </a:extLst>
              </a:tr>
              <a:tr h="525014">
                <a:tc>
                  <a:txBody>
                    <a:bodyPr/>
                    <a:lstStyle/>
                    <a:p>
                      <a:r>
                        <a:rPr lang="en-IN" b="1"/>
                        <a:t>Data Format</a:t>
                      </a:r>
                      <a:endParaRPr lang="en-IN"/>
                    </a:p>
                  </a:txBody>
                  <a:tcPr anchor="ctr">
                    <a:lnL>
                      <a:noFill/>
                    </a:lnL>
                    <a:lnR>
                      <a:noFill/>
                    </a:lnR>
                    <a:lnT>
                      <a:noFill/>
                    </a:lnT>
                    <a:lnB>
                      <a:noFill/>
                    </a:lnB>
                  </a:tcPr>
                </a:tc>
                <a:tc>
                  <a:txBody>
                    <a:bodyPr/>
                    <a:lstStyle/>
                    <a:p>
                      <a:r>
                        <a:rPr lang="en-IN"/>
                        <a:t>Rows and columns</a:t>
                      </a:r>
                    </a:p>
                  </a:txBody>
                  <a:tcPr anchor="ctr">
                    <a:lnL>
                      <a:noFill/>
                    </a:lnL>
                    <a:lnR>
                      <a:noFill/>
                    </a:lnR>
                    <a:lnT>
                      <a:noFill/>
                    </a:lnT>
                    <a:lnB>
                      <a:noFill/>
                    </a:lnB>
                  </a:tcPr>
                </a:tc>
                <a:tc>
                  <a:txBody>
                    <a:bodyPr/>
                    <a:lstStyle/>
                    <a:p>
                      <a:r>
                        <a:rPr lang="en-IN"/>
                        <a:t>Text, image, video, audio</a:t>
                      </a:r>
                    </a:p>
                  </a:txBody>
                  <a:tcPr anchor="ctr">
                    <a:lnL>
                      <a:noFill/>
                    </a:lnL>
                    <a:lnR>
                      <a:noFill/>
                    </a:lnR>
                    <a:lnT>
                      <a:noFill/>
                    </a:lnT>
                    <a:lnB>
                      <a:noFill/>
                    </a:lnB>
                  </a:tcPr>
                </a:tc>
                <a:extLst>
                  <a:ext uri="{0D108BD9-81ED-4DB2-BD59-A6C34878D82A}">
                    <a16:rowId xmlns:a16="http://schemas.microsoft.com/office/drawing/2014/main" val="2045544076"/>
                  </a:ext>
                </a:extLst>
              </a:tr>
              <a:tr h="918775">
                <a:tc>
                  <a:txBody>
                    <a:bodyPr/>
                    <a:lstStyle/>
                    <a:p>
                      <a:r>
                        <a:rPr lang="en-IN" b="1"/>
                        <a:t>Query Language</a:t>
                      </a:r>
                      <a:endParaRPr lang="en-IN"/>
                    </a:p>
                  </a:txBody>
                  <a:tcPr anchor="ctr">
                    <a:lnL>
                      <a:noFill/>
                    </a:lnL>
                    <a:lnR>
                      <a:noFill/>
                    </a:lnR>
                    <a:lnT>
                      <a:noFill/>
                    </a:lnT>
                    <a:lnB>
                      <a:noFill/>
                    </a:lnB>
                  </a:tcPr>
                </a:tc>
                <a:tc>
                  <a:txBody>
                    <a:bodyPr/>
                    <a:lstStyle/>
                    <a:p>
                      <a:r>
                        <a:rPr lang="en-IN" dirty="0"/>
                        <a:t>SQL</a:t>
                      </a:r>
                    </a:p>
                  </a:txBody>
                  <a:tcPr anchor="ctr">
                    <a:lnL>
                      <a:noFill/>
                    </a:lnL>
                    <a:lnR>
                      <a:noFill/>
                    </a:lnR>
                    <a:lnT>
                      <a:noFill/>
                    </a:lnT>
                    <a:lnB>
                      <a:noFill/>
                    </a:lnB>
                  </a:tcPr>
                </a:tc>
                <a:tc>
                  <a:txBody>
                    <a:bodyPr/>
                    <a:lstStyle/>
                    <a:p>
                      <a:r>
                        <a:rPr lang="en-IN"/>
                        <a:t>No standard query language</a:t>
                      </a:r>
                    </a:p>
                  </a:txBody>
                  <a:tcPr anchor="ctr">
                    <a:lnL>
                      <a:noFill/>
                    </a:lnL>
                    <a:lnR>
                      <a:noFill/>
                    </a:lnR>
                    <a:lnT>
                      <a:noFill/>
                    </a:lnT>
                    <a:lnB>
                      <a:noFill/>
                    </a:lnB>
                  </a:tcPr>
                </a:tc>
                <a:extLst>
                  <a:ext uri="{0D108BD9-81ED-4DB2-BD59-A6C34878D82A}">
                    <a16:rowId xmlns:a16="http://schemas.microsoft.com/office/drawing/2014/main" val="3585679529"/>
                  </a:ext>
                </a:extLst>
              </a:tr>
              <a:tr h="525014">
                <a:tc>
                  <a:txBody>
                    <a:bodyPr/>
                    <a:lstStyle/>
                    <a:p>
                      <a:r>
                        <a:rPr lang="en-IN" b="1"/>
                        <a:t>Flexibility</a:t>
                      </a:r>
                      <a:endParaRPr lang="en-IN"/>
                    </a:p>
                  </a:txBody>
                  <a:tcPr anchor="ctr">
                    <a:lnL>
                      <a:noFill/>
                    </a:lnL>
                    <a:lnR>
                      <a:noFill/>
                    </a:lnR>
                    <a:lnT>
                      <a:noFill/>
                    </a:lnT>
                    <a:lnB>
                      <a:noFill/>
                    </a:lnB>
                  </a:tcPr>
                </a:tc>
                <a:tc>
                  <a:txBody>
                    <a:bodyPr/>
                    <a:lstStyle/>
                    <a:p>
                      <a:r>
                        <a:rPr lang="en-IN"/>
                        <a:t>Low</a:t>
                      </a:r>
                    </a:p>
                  </a:txBody>
                  <a:tcPr anchor="ctr">
                    <a:lnL>
                      <a:noFill/>
                    </a:lnL>
                    <a:lnR>
                      <a:noFill/>
                    </a:lnR>
                    <a:lnT>
                      <a:noFill/>
                    </a:lnT>
                    <a:lnB>
                      <a:noFill/>
                    </a:lnB>
                  </a:tcPr>
                </a:tc>
                <a:tc>
                  <a:txBody>
                    <a:bodyPr/>
                    <a:lstStyle/>
                    <a:p>
                      <a:r>
                        <a:rPr lang="en-IN"/>
                        <a:t>High</a:t>
                      </a:r>
                    </a:p>
                  </a:txBody>
                  <a:tcPr anchor="ctr">
                    <a:lnL>
                      <a:noFill/>
                    </a:lnL>
                    <a:lnR>
                      <a:noFill/>
                    </a:lnR>
                    <a:lnT>
                      <a:noFill/>
                    </a:lnT>
                    <a:lnB>
                      <a:noFill/>
                    </a:lnB>
                  </a:tcPr>
                </a:tc>
                <a:extLst>
                  <a:ext uri="{0D108BD9-81ED-4DB2-BD59-A6C34878D82A}">
                    <a16:rowId xmlns:a16="http://schemas.microsoft.com/office/drawing/2014/main" val="1915114003"/>
                  </a:ext>
                </a:extLst>
              </a:tr>
              <a:tr h="525014">
                <a:tc>
                  <a:txBody>
                    <a:bodyPr/>
                    <a:lstStyle/>
                    <a:p>
                      <a:r>
                        <a:rPr lang="en-IN" b="1"/>
                        <a:t>Storage Type</a:t>
                      </a:r>
                      <a:endParaRPr lang="en-IN"/>
                    </a:p>
                  </a:txBody>
                  <a:tcPr anchor="ctr">
                    <a:lnL>
                      <a:noFill/>
                    </a:lnL>
                    <a:lnR>
                      <a:noFill/>
                    </a:lnR>
                    <a:lnT>
                      <a:noFill/>
                    </a:lnT>
                    <a:lnB>
                      <a:noFill/>
                    </a:lnB>
                  </a:tcPr>
                </a:tc>
                <a:tc>
                  <a:txBody>
                    <a:bodyPr/>
                    <a:lstStyle/>
                    <a:p>
                      <a:r>
                        <a:rPr lang="en-IN"/>
                        <a:t>Relational DB</a:t>
                      </a:r>
                    </a:p>
                  </a:txBody>
                  <a:tcPr anchor="ctr">
                    <a:lnL>
                      <a:noFill/>
                    </a:lnL>
                    <a:lnR>
                      <a:noFill/>
                    </a:lnR>
                    <a:lnT>
                      <a:noFill/>
                    </a:lnT>
                    <a:lnB>
                      <a:noFill/>
                    </a:lnB>
                  </a:tcPr>
                </a:tc>
                <a:tc>
                  <a:txBody>
                    <a:bodyPr/>
                    <a:lstStyle/>
                    <a:p>
                      <a:r>
                        <a:rPr lang="en-IN"/>
                        <a:t>NoSQL / File-based</a:t>
                      </a:r>
                    </a:p>
                  </a:txBody>
                  <a:tcPr anchor="ctr">
                    <a:lnL>
                      <a:noFill/>
                    </a:lnL>
                    <a:lnR>
                      <a:noFill/>
                    </a:lnR>
                    <a:lnT>
                      <a:noFill/>
                    </a:lnT>
                    <a:lnB>
                      <a:noFill/>
                    </a:lnB>
                  </a:tcPr>
                </a:tc>
                <a:extLst>
                  <a:ext uri="{0D108BD9-81ED-4DB2-BD59-A6C34878D82A}">
                    <a16:rowId xmlns:a16="http://schemas.microsoft.com/office/drawing/2014/main" val="884200007"/>
                  </a:ext>
                </a:extLst>
              </a:tr>
              <a:tr h="525014">
                <a:tc>
                  <a:txBody>
                    <a:bodyPr/>
                    <a:lstStyle/>
                    <a:p>
                      <a:r>
                        <a:rPr lang="en-IN" b="1"/>
                        <a:t>Scalability</a:t>
                      </a:r>
                      <a:endParaRPr lang="en-IN"/>
                    </a:p>
                  </a:txBody>
                  <a:tcPr anchor="ctr">
                    <a:lnL>
                      <a:noFill/>
                    </a:lnL>
                    <a:lnR>
                      <a:noFill/>
                    </a:lnR>
                    <a:lnT>
                      <a:noFill/>
                    </a:lnT>
                    <a:lnB>
                      <a:noFill/>
                    </a:lnB>
                  </a:tcPr>
                </a:tc>
                <a:tc>
                  <a:txBody>
                    <a:bodyPr/>
                    <a:lstStyle/>
                    <a:p>
                      <a:r>
                        <a:rPr lang="en-IN"/>
                        <a:t>Vertical</a:t>
                      </a:r>
                    </a:p>
                  </a:txBody>
                  <a:tcPr anchor="ctr">
                    <a:lnL>
                      <a:noFill/>
                    </a:lnL>
                    <a:lnR>
                      <a:noFill/>
                    </a:lnR>
                    <a:lnT>
                      <a:noFill/>
                    </a:lnT>
                    <a:lnB>
                      <a:noFill/>
                    </a:lnB>
                  </a:tcPr>
                </a:tc>
                <a:tc>
                  <a:txBody>
                    <a:bodyPr/>
                    <a:lstStyle/>
                    <a:p>
                      <a:r>
                        <a:rPr lang="en-IN"/>
                        <a:t>Horizontal</a:t>
                      </a:r>
                    </a:p>
                  </a:txBody>
                  <a:tcPr anchor="ctr">
                    <a:lnL>
                      <a:noFill/>
                    </a:lnL>
                    <a:lnR>
                      <a:noFill/>
                    </a:lnR>
                    <a:lnT>
                      <a:noFill/>
                    </a:lnT>
                    <a:lnB>
                      <a:noFill/>
                    </a:lnB>
                  </a:tcPr>
                </a:tc>
                <a:extLst>
                  <a:ext uri="{0D108BD9-81ED-4DB2-BD59-A6C34878D82A}">
                    <a16:rowId xmlns:a16="http://schemas.microsoft.com/office/drawing/2014/main" val="1117899660"/>
                  </a:ext>
                </a:extLst>
              </a:tr>
              <a:tr h="918775">
                <a:tc>
                  <a:txBody>
                    <a:bodyPr/>
                    <a:lstStyle/>
                    <a:p>
                      <a:r>
                        <a:rPr lang="en-IN" b="1"/>
                        <a:t>Examples</a:t>
                      </a:r>
                      <a:endParaRPr lang="en-IN"/>
                    </a:p>
                  </a:txBody>
                  <a:tcPr anchor="ctr">
                    <a:lnL>
                      <a:noFill/>
                    </a:lnL>
                    <a:lnR>
                      <a:noFill/>
                    </a:lnR>
                    <a:lnT>
                      <a:noFill/>
                    </a:lnT>
                    <a:lnB>
                      <a:noFill/>
                    </a:lnB>
                  </a:tcPr>
                </a:tc>
                <a:tc>
                  <a:txBody>
                    <a:bodyPr/>
                    <a:lstStyle/>
                    <a:p>
                      <a:r>
                        <a:rPr lang="en-IN"/>
                        <a:t>MySQL, Oracle</a:t>
                      </a:r>
                    </a:p>
                  </a:txBody>
                  <a:tcPr anchor="ctr">
                    <a:lnL>
                      <a:noFill/>
                    </a:lnL>
                    <a:lnR>
                      <a:noFill/>
                    </a:lnR>
                    <a:lnT>
                      <a:noFill/>
                    </a:lnT>
                    <a:lnB>
                      <a:noFill/>
                    </a:lnB>
                  </a:tcPr>
                </a:tc>
                <a:tc>
                  <a:txBody>
                    <a:bodyPr/>
                    <a:lstStyle/>
                    <a:p>
                      <a:r>
                        <a:rPr lang="en-IN" dirty="0"/>
                        <a:t>Hadoop, MongoDB, </a:t>
                      </a:r>
                      <a:r>
                        <a:rPr lang="en-IN" dirty="0" err="1"/>
                        <a:t>Elasticsearch</a:t>
                      </a:r>
                      <a:endParaRPr lang="en-IN" dirty="0"/>
                    </a:p>
                  </a:txBody>
                  <a:tcPr anchor="ctr">
                    <a:lnL>
                      <a:noFill/>
                    </a:lnL>
                    <a:lnR>
                      <a:noFill/>
                    </a:lnR>
                    <a:lnT>
                      <a:noFill/>
                    </a:lnT>
                    <a:lnB>
                      <a:noFill/>
                    </a:lnB>
                  </a:tcPr>
                </a:tc>
                <a:extLst>
                  <a:ext uri="{0D108BD9-81ED-4DB2-BD59-A6C34878D82A}">
                    <a16:rowId xmlns:a16="http://schemas.microsoft.com/office/drawing/2014/main" val="573926914"/>
                  </a:ext>
                </a:extLst>
              </a:tr>
            </a:tbl>
          </a:graphicData>
        </a:graphic>
      </p:graphicFrame>
    </p:spTree>
    <p:extLst>
      <p:ext uri="{BB962C8B-B14F-4D97-AF65-F5344CB8AC3E}">
        <p14:creationId xmlns:p14="http://schemas.microsoft.com/office/powerpoint/2010/main" val="21392887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02098233"/>
              </p:ext>
            </p:extLst>
          </p:nvPr>
        </p:nvGraphicFramePr>
        <p:xfrm>
          <a:off x="457200" y="1925779"/>
          <a:ext cx="8229600" cy="4253346"/>
        </p:xfrm>
        <a:graphic>
          <a:graphicData uri="http://schemas.openxmlformats.org/drawingml/2006/table">
            <a:tbl>
              <a:tblPr/>
              <a:tblGrid>
                <a:gridCol w="2743200">
                  <a:extLst>
                    <a:ext uri="{9D8B030D-6E8A-4147-A177-3AD203B41FA5}">
                      <a16:colId xmlns:a16="http://schemas.microsoft.com/office/drawing/2014/main" val="2019364623"/>
                    </a:ext>
                  </a:extLst>
                </a:gridCol>
                <a:gridCol w="2743200">
                  <a:extLst>
                    <a:ext uri="{9D8B030D-6E8A-4147-A177-3AD203B41FA5}">
                      <a16:colId xmlns:a16="http://schemas.microsoft.com/office/drawing/2014/main" val="2548495578"/>
                    </a:ext>
                  </a:extLst>
                </a:gridCol>
                <a:gridCol w="2743200">
                  <a:extLst>
                    <a:ext uri="{9D8B030D-6E8A-4147-A177-3AD203B41FA5}">
                      <a16:colId xmlns:a16="http://schemas.microsoft.com/office/drawing/2014/main" val="3015364916"/>
                    </a:ext>
                  </a:extLst>
                </a:gridCol>
              </a:tblGrid>
              <a:tr h="708891">
                <a:tc>
                  <a:txBody>
                    <a:bodyPr/>
                    <a:lstStyle/>
                    <a:p>
                      <a:r>
                        <a:rPr lang="en-IN" sz="2000" b="1" dirty="0">
                          <a:solidFill>
                            <a:srgbClr val="FF0000"/>
                          </a:solidFill>
                        </a:rPr>
                        <a:t>Aspect</a:t>
                      </a:r>
                    </a:p>
                  </a:txBody>
                  <a:tcPr anchor="ctr">
                    <a:lnL>
                      <a:noFill/>
                    </a:lnL>
                    <a:lnR>
                      <a:noFill/>
                    </a:lnR>
                    <a:lnT>
                      <a:noFill/>
                    </a:lnT>
                    <a:lnB>
                      <a:noFill/>
                    </a:lnB>
                  </a:tcPr>
                </a:tc>
                <a:tc>
                  <a:txBody>
                    <a:bodyPr/>
                    <a:lstStyle/>
                    <a:p>
                      <a:r>
                        <a:rPr lang="en-IN" sz="2000" b="1" dirty="0">
                          <a:solidFill>
                            <a:srgbClr val="FF0000"/>
                          </a:solidFill>
                        </a:rPr>
                        <a:t>Schema</a:t>
                      </a:r>
                    </a:p>
                  </a:txBody>
                  <a:tcPr anchor="ctr">
                    <a:lnL>
                      <a:noFill/>
                    </a:lnL>
                    <a:lnR>
                      <a:noFill/>
                    </a:lnR>
                    <a:lnT>
                      <a:noFill/>
                    </a:lnT>
                    <a:lnB>
                      <a:noFill/>
                    </a:lnB>
                  </a:tcPr>
                </a:tc>
                <a:tc>
                  <a:txBody>
                    <a:bodyPr/>
                    <a:lstStyle/>
                    <a:p>
                      <a:r>
                        <a:rPr lang="en-IN" sz="2000" b="1" dirty="0">
                          <a:solidFill>
                            <a:srgbClr val="FF0000"/>
                          </a:solidFill>
                        </a:rPr>
                        <a:t>Table</a:t>
                      </a:r>
                    </a:p>
                  </a:txBody>
                  <a:tcPr anchor="ctr">
                    <a:lnL>
                      <a:noFill/>
                    </a:lnL>
                    <a:lnR>
                      <a:noFill/>
                    </a:lnR>
                    <a:lnT>
                      <a:noFill/>
                    </a:lnT>
                    <a:lnB>
                      <a:noFill/>
                    </a:lnB>
                  </a:tcPr>
                </a:tc>
                <a:extLst>
                  <a:ext uri="{0D108BD9-81ED-4DB2-BD59-A6C34878D82A}">
                    <a16:rowId xmlns:a16="http://schemas.microsoft.com/office/drawing/2014/main" val="2135937379"/>
                  </a:ext>
                </a:extLst>
              </a:tr>
              <a:tr h="708891">
                <a:tc>
                  <a:txBody>
                    <a:bodyPr/>
                    <a:lstStyle/>
                    <a:p>
                      <a:r>
                        <a:rPr lang="en-IN" sz="2000" b="1" dirty="0"/>
                        <a:t>Purpose</a:t>
                      </a:r>
                      <a:endParaRPr lang="en-IN" sz="2000" dirty="0"/>
                    </a:p>
                  </a:txBody>
                  <a:tcPr anchor="ctr">
                    <a:lnL>
                      <a:noFill/>
                    </a:lnL>
                    <a:lnR>
                      <a:noFill/>
                    </a:lnR>
                    <a:lnT>
                      <a:noFill/>
                    </a:lnT>
                    <a:lnB>
                      <a:noFill/>
                    </a:lnB>
                  </a:tcPr>
                </a:tc>
                <a:tc>
                  <a:txBody>
                    <a:bodyPr/>
                    <a:lstStyle/>
                    <a:p>
                      <a:r>
                        <a:rPr lang="en-IN" sz="2000" dirty="0"/>
                        <a:t>Organizes database objects</a:t>
                      </a:r>
                    </a:p>
                  </a:txBody>
                  <a:tcPr anchor="ctr">
                    <a:lnL>
                      <a:noFill/>
                    </a:lnL>
                    <a:lnR>
                      <a:noFill/>
                    </a:lnR>
                    <a:lnT>
                      <a:noFill/>
                    </a:lnT>
                    <a:lnB>
                      <a:noFill/>
                    </a:lnB>
                  </a:tcPr>
                </a:tc>
                <a:tc>
                  <a:txBody>
                    <a:bodyPr/>
                    <a:lstStyle/>
                    <a:p>
                      <a:r>
                        <a:rPr lang="en-IN" sz="2000"/>
                        <a:t>Stores actual data</a:t>
                      </a:r>
                    </a:p>
                  </a:txBody>
                  <a:tcPr anchor="ctr">
                    <a:lnL>
                      <a:noFill/>
                    </a:lnL>
                    <a:lnR>
                      <a:noFill/>
                    </a:lnR>
                    <a:lnT>
                      <a:noFill/>
                    </a:lnT>
                    <a:lnB>
                      <a:noFill/>
                    </a:lnB>
                  </a:tcPr>
                </a:tc>
                <a:extLst>
                  <a:ext uri="{0D108BD9-81ED-4DB2-BD59-A6C34878D82A}">
                    <a16:rowId xmlns:a16="http://schemas.microsoft.com/office/drawing/2014/main" val="4174504252"/>
                  </a:ext>
                </a:extLst>
              </a:tr>
              <a:tr h="708891">
                <a:tc>
                  <a:txBody>
                    <a:bodyPr/>
                    <a:lstStyle/>
                    <a:p>
                      <a:r>
                        <a:rPr lang="en-IN" sz="2000" b="1"/>
                        <a:t>Contains</a:t>
                      </a:r>
                      <a:endParaRPr lang="en-IN" sz="2000"/>
                    </a:p>
                  </a:txBody>
                  <a:tcPr anchor="ctr">
                    <a:lnL>
                      <a:noFill/>
                    </a:lnL>
                    <a:lnR>
                      <a:noFill/>
                    </a:lnR>
                    <a:lnT>
                      <a:noFill/>
                    </a:lnT>
                    <a:lnB>
                      <a:noFill/>
                    </a:lnB>
                  </a:tcPr>
                </a:tc>
                <a:tc>
                  <a:txBody>
                    <a:bodyPr/>
                    <a:lstStyle/>
                    <a:p>
                      <a:r>
                        <a:rPr lang="en-IN" sz="2000" dirty="0"/>
                        <a:t>Tables, views, indexes</a:t>
                      </a:r>
                    </a:p>
                  </a:txBody>
                  <a:tcPr anchor="ctr">
                    <a:lnL>
                      <a:noFill/>
                    </a:lnL>
                    <a:lnR>
                      <a:noFill/>
                    </a:lnR>
                    <a:lnT>
                      <a:noFill/>
                    </a:lnT>
                    <a:lnB>
                      <a:noFill/>
                    </a:lnB>
                  </a:tcPr>
                </a:tc>
                <a:tc>
                  <a:txBody>
                    <a:bodyPr/>
                    <a:lstStyle/>
                    <a:p>
                      <a:r>
                        <a:rPr lang="en-IN" sz="2000"/>
                        <a:t>Rows and columns</a:t>
                      </a:r>
                    </a:p>
                  </a:txBody>
                  <a:tcPr anchor="ctr">
                    <a:lnL>
                      <a:noFill/>
                    </a:lnL>
                    <a:lnR>
                      <a:noFill/>
                    </a:lnR>
                    <a:lnT>
                      <a:noFill/>
                    </a:lnT>
                    <a:lnB>
                      <a:noFill/>
                    </a:lnB>
                  </a:tcPr>
                </a:tc>
                <a:extLst>
                  <a:ext uri="{0D108BD9-81ED-4DB2-BD59-A6C34878D82A}">
                    <a16:rowId xmlns:a16="http://schemas.microsoft.com/office/drawing/2014/main" val="638197622"/>
                  </a:ext>
                </a:extLst>
              </a:tr>
              <a:tr h="708891">
                <a:tc>
                  <a:txBody>
                    <a:bodyPr/>
                    <a:lstStyle/>
                    <a:p>
                      <a:r>
                        <a:rPr lang="en-IN" sz="2000" b="1"/>
                        <a:t>Data Storage</a:t>
                      </a:r>
                      <a:endParaRPr lang="en-IN" sz="2000"/>
                    </a:p>
                  </a:txBody>
                  <a:tcPr anchor="ctr">
                    <a:lnL>
                      <a:noFill/>
                    </a:lnL>
                    <a:lnR>
                      <a:noFill/>
                    </a:lnR>
                    <a:lnT>
                      <a:noFill/>
                    </a:lnT>
                    <a:lnB>
                      <a:noFill/>
                    </a:lnB>
                  </a:tcPr>
                </a:tc>
                <a:tc>
                  <a:txBody>
                    <a:bodyPr/>
                    <a:lstStyle/>
                    <a:p>
                      <a:r>
                        <a:rPr lang="en-IN" sz="2000" dirty="0"/>
                        <a:t>No</a:t>
                      </a:r>
                    </a:p>
                  </a:txBody>
                  <a:tcPr anchor="ctr">
                    <a:lnL>
                      <a:noFill/>
                    </a:lnL>
                    <a:lnR>
                      <a:noFill/>
                    </a:lnR>
                    <a:lnT>
                      <a:noFill/>
                    </a:lnT>
                    <a:lnB>
                      <a:noFill/>
                    </a:lnB>
                  </a:tcPr>
                </a:tc>
                <a:tc>
                  <a:txBody>
                    <a:bodyPr/>
                    <a:lstStyle/>
                    <a:p>
                      <a:r>
                        <a:rPr lang="en-IN" sz="2000" dirty="0"/>
                        <a:t>Yes</a:t>
                      </a:r>
                    </a:p>
                  </a:txBody>
                  <a:tcPr anchor="ctr">
                    <a:lnL>
                      <a:noFill/>
                    </a:lnL>
                    <a:lnR>
                      <a:noFill/>
                    </a:lnR>
                    <a:lnT>
                      <a:noFill/>
                    </a:lnT>
                    <a:lnB>
                      <a:noFill/>
                    </a:lnB>
                  </a:tcPr>
                </a:tc>
                <a:extLst>
                  <a:ext uri="{0D108BD9-81ED-4DB2-BD59-A6C34878D82A}">
                    <a16:rowId xmlns:a16="http://schemas.microsoft.com/office/drawing/2014/main" val="880457849"/>
                  </a:ext>
                </a:extLst>
              </a:tr>
              <a:tr h="708891">
                <a:tc>
                  <a:txBody>
                    <a:bodyPr/>
                    <a:lstStyle/>
                    <a:p>
                      <a:r>
                        <a:rPr lang="en-IN" sz="2000" b="1"/>
                        <a:t>Level</a:t>
                      </a:r>
                      <a:endParaRPr lang="en-IN" sz="2000"/>
                    </a:p>
                  </a:txBody>
                  <a:tcPr anchor="ctr">
                    <a:lnL>
                      <a:noFill/>
                    </a:lnL>
                    <a:lnR>
                      <a:noFill/>
                    </a:lnR>
                    <a:lnT>
                      <a:noFill/>
                    </a:lnT>
                    <a:lnB>
                      <a:noFill/>
                    </a:lnB>
                  </a:tcPr>
                </a:tc>
                <a:tc>
                  <a:txBody>
                    <a:bodyPr/>
                    <a:lstStyle/>
                    <a:p>
                      <a:r>
                        <a:rPr lang="en-IN" sz="2000"/>
                        <a:t>Logical structure</a:t>
                      </a:r>
                    </a:p>
                  </a:txBody>
                  <a:tcPr anchor="ctr">
                    <a:lnL>
                      <a:noFill/>
                    </a:lnL>
                    <a:lnR>
                      <a:noFill/>
                    </a:lnR>
                    <a:lnT>
                      <a:noFill/>
                    </a:lnT>
                    <a:lnB>
                      <a:noFill/>
                    </a:lnB>
                  </a:tcPr>
                </a:tc>
                <a:tc>
                  <a:txBody>
                    <a:bodyPr/>
                    <a:lstStyle/>
                    <a:p>
                      <a:r>
                        <a:rPr lang="en-IN" sz="2000" dirty="0"/>
                        <a:t>Physical data storage</a:t>
                      </a:r>
                    </a:p>
                  </a:txBody>
                  <a:tcPr anchor="ctr">
                    <a:lnL>
                      <a:noFill/>
                    </a:lnL>
                    <a:lnR>
                      <a:noFill/>
                    </a:lnR>
                    <a:lnT>
                      <a:noFill/>
                    </a:lnT>
                    <a:lnB>
                      <a:noFill/>
                    </a:lnB>
                  </a:tcPr>
                </a:tc>
                <a:extLst>
                  <a:ext uri="{0D108BD9-81ED-4DB2-BD59-A6C34878D82A}">
                    <a16:rowId xmlns:a16="http://schemas.microsoft.com/office/drawing/2014/main" val="2916129960"/>
                  </a:ext>
                </a:extLst>
              </a:tr>
              <a:tr h="708891">
                <a:tc>
                  <a:txBody>
                    <a:bodyPr/>
                    <a:lstStyle/>
                    <a:p>
                      <a:r>
                        <a:rPr lang="en-IN" sz="2000" b="1"/>
                        <a:t>Example</a:t>
                      </a:r>
                      <a:endParaRPr lang="en-IN" sz="2000"/>
                    </a:p>
                  </a:txBody>
                  <a:tcPr anchor="ctr">
                    <a:lnL>
                      <a:noFill/>
                    </a:lnL>
                    <a:lnR>
                      <a:noFill/>
                    </a:lnR>
                    <a:lnT>
                      <a:noFill/>
                    </a:lnT>
                    <a:lnB>
                      <a:noFill/>
                    </a:lnB>
                  </a:tcPr>
                </a:tc>
                <a:tc>
                  <a:txBody>
                    <a:bodyPr/>
                    <a:lstStyle/>
                    <a:p>
                      <a:r>
                        <a:rPr lang="en-IN" sz="2000" dirty="0"/>
                        <a:t>public, </a:t>
                      </a:r>
                      <a:r>
                        <a:rPr lang="en-IN" sz="2000" dirty="0" err="1"/>
                        <a:t>dbo</a:t>
                      </a:r>
                      <a:endParaRPr lang="en-IN" sz="2000" dirty="0"/>
                    </a:p>
                  </a:txBody>
                  <a:tcPr anchor="ctr">
                    <a:lnL>
                      <a:noFill/>
                    </a:lnL>
                    <a:lnR>
                      <a:noFill/>
                    </a:lnR>
                    <a:lnT>
                      <a:noFill/>
                    </a:lnT>
                    <a:lnB>
                      <a:noFill/>
                    </a:lnB>
                  </a:tcPr>
                </a:tc>
                <a:tc>
                  <a:txBody>
                    <a:bodyPr/>
                    <a:lstStyle/>
                    <a:p>
                      <a:r>
                        <a:rPr lang="en-IN" sz="2000" dirty="0"/>
                        <a:t>students, employee</a:t>
                      </a:r>
                    </a:p>
                  </a:txBody>
                  <a:tcPr anchor="ctr">
                    <a:lnL>
                      <a:noFill/>
                    </a:lnL>
                    <a:lnR>
                      <a:noFill/>
                    </a:lnR>
                    <a:lnT>
                      <a:noFill/>
                    </a:lnT>
                    <a:lnB>
                      <a:noFill/>
                    </a:lnB>
                  </a:tcPr>
                </a:tc>
                <a:extLst>
                  <a:ext uri="{0D108BD9-81ED-4DB2-BD59-A6C34878D82A}">
                    <a16:rowId xmlns:a16="http://schemas.microsoft.com/office/drawing/2014/main" val="3560063829"/>
                  </a:ext>
                </a:extLst>
              </a:tr>
            </a:tbl>
          </a:graphicData>
        </a:graphic>
      </p:graphicFrame>
    </p:spTree>
    <p:extLst>
      <p:ext uri="{BB962C8B-B14F-4D97-AF65-F5344CB8AC3E}">
        <p14:creationId xmlns:p14="http://schemas.microsoft.com/office/powerpoint/2010/main" val="39942017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Questions</a:t>
            </a:r>
            <a:endParaRPr lang="en-IN" dirty="0"/>
          </a:p>
        </p:txBody>
      </p:sp>
      <p:sp>
        <p:nvSpPr>
          <p:cNvPr id="3" name="Content Placeholder 2"/>
          <p:cNvSpPr>
            <a:spLocks noGrp="1"/>
          </p:cNvSpPr>
          <p:nvPr>
            <p:ph idx="1"/>
          </p:nvPr>
        </p:nvSpPr>
        <p:spPr>
          <a:xfrm>
            <a:off x="457199" y="762000"/>
            <a:ext cx="8451273" cy="5846618"/>
          </a:xfrm>
        </p:spPr>
        <p:txBody>
          <a:bodyPr>
            <a:normAutofit fontScale="70000" lnSpcReduction="20000"/>
          </a:bodyPr>
          <a:lstStyle/>
          <a:p>
            <a:pPr marL="0" indent="0">
              <a:buNone/>
            </a:pPr>
            <a:r>
              <a:rPr lang="en-US" b="1" dirty="0"/>
              <a:t>What is external level of a three-level DBMS? </a:t>
            </a:r>
            <a:endParaRPr lang="en-US" dirty="0"/>
          </a:p>
          <a:p>
            <a:pPr marL="0" indent="0">
              <a:buNone/>
            </a:pPr>
            <a:r>
              <a:rPr lang="en-US" dirty="0"/>
              <a:t>External level is the user view, which provides a customized and personalized perspective of the database. It represents the different ways in which different users access and interact with the database. </a:t>
            </a:r>
          </a:p>
          <a:p>
            <a:pPr marL="0" indent="0">
              <a:buNone/>
            </a:pPr>
            <a:r>
              <a:rPr lang="en-US" b="1" dirty="0"/>
              <a:t>What is conceptual level of a three-level DBMS? </a:t>
            </a:r>
            <a:endParaRPr lang="en-US" dirty="0"/>
          </a:p>
          <a:p>
            <a:pPr marL="0" indent="0">
              <a:buNone/>
            </a:pPr>
            <a:r>
              <a:rPr lang="en-US" dirty="0"/>
              <a:t>Conceptual level is the community view, which provides an abstract data model that represents the overall logical structure of the database. It defines the entities, relationships, and constraints of the database. </a:t>
            </a:r>
          </a:p>
          <a:p>
            <a:pPr marL="0" indent="0">
              <a:buNone/>
            </a:pPr>
            <a:r>
              <a:rPr lang="en-US" b="1" dirty="0"/>
              <a:t>What is internal level of a three-level DBMS? </a:t>
            </a:r>
            <a:endParaRPr lang="en-US" dirty="0"/>
          </a:p>
          <a:p>
            <a:pPr marL="0" indent="0">
              <a:buNone/>
            </a:pPr>
            <a:r>
              <a:rPr lang="en-US" dirty="0"/>
              <a:t>Internal level is the system view, which represents the physical storage details of the database. It defines how the data is actually stored and accessed on the storage media. </a:t>
            </a:r>
          </a:p>
          <a:p>
            <a:pPr marL="0" indent="0">
              <a:buNone/>
            </a:pPr>
            <a:r>
              <a:rPr lang="en-US" b="1" dirty="0"/>
              <a:t>What are the three-level architecture abstractions in DBMS? </a:t>
            </a:r>
            <a:endParaRPr lang="en-US" dirty="0"/>
          </a:p>
          <a:p>
            <a:pPr marL="0" indent="0">
              <a:buNone/>
            </a:pPr>
            <a:r>
              <a:rPr lang="en-US" dirty="0"/>
              <a:t>The three-level architecture abstractions in DBMS are: </a:t>
            </a:r>
          </a:p>
          <a:p>
            <a:pPr marL="0" indent="0">
              <a:buNone/>
            </a:pPr>
            <a:r>
              <a:rPr lang="en-US" dirty="0"/>
              <a:t>Physical level </a:t>
            </a:r>
          </a:p>
          <a:p>
            <a:pPr marL="0" indent="0">
              <a:buNone/>
            </a:pPr>
            <a:r>
              <a:rPr lang="en-US" dirty="0"/>
              <a:t>Logical level </a:t>
            </a:r>
          </a:p>
          <a:p>
            <a:pPr marL="0" indent="0">
              <a:buNone/>
            </a:pPr>
            <a:r>
              <a:rPr lang="en-US" dirty="0"/>
              <a:t>View level </a:t>
            </a:r>
          </a:p>
          <a:p>
            <a:pPr marL="0" indent="0">
              <a:buNone/>
            </a:pPr>
            <a:r>
              <a:rPr lang="en-US" dirty="0"/>
              <a:t>‍</a:t>
            </a:r>
          </a:p>
          <a:p>
            <a:endParaRPr lang="en-IN" dirty="0"/>
          </a:p>
        </p:txBody>
      </p:sp>
    </p:spTree>
    <p:extLst>
      <p:ext uri="{BB962C8B-B14F-4D97-AF65-F5344CB8AC3E}">
        <p14:creationId xmlns:p14="http://schemas.microsoft.com/office/powerpoint/2010/main" val="32732705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05B68-55C0-94DB-5145-BAB89DE2D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AB4D3-357E-2BED-E48B-6DE16776EC57}"/>
              </a:ext>
            </a:extLst>
          </p:cNvPr>
          <p:cNvSpPr>
            <a:spLocks noGrp="1"/>
          </p:cNvSpPr>
          <p:nvPr>
            <p:ph type="title"/>
          </p:nvPr>
        </p:nvSpPr>
        <p:spPr/>
        <p:txBody>
          <a:bodyPr/>
          <a:lstStyle/>
          <a:p>
            <a:r>
              <a:t>Summary</a:t>
            </a:r>
          </a:p>
        </p:txBody>
      </p:sp>
      <p:sp>
        <p:nvSpPr>
          <p:cNvPr id="3" name="Content Placeholder 2">
            <a:extLst>
              <a:ext uri="{FF2B5EF4-FFF2-40B4-BE49-F238E27FC236}">
                <a16:creationId xmlns:a16="http://schemas.microsoft.com/office/drawing/2014/main" id="{A25DF3C2-9844-641B-714C-428F9EEB9932}"/>
              </a:ext>
            </a:extLst>
          </p:cNvPr>
          <p:cNvSpPr>
            <a:spLocks noGrp="1"/>
          </p:cNvSpPr>
          <p:nvPr>
            <p:ph idx="1"/>
          </p:nvPr>
        </p:nvSpPr>
        <p:spPr/>
        <p:txBody>
          <a:bodyPr/>
          <a:lstStyle/>
          <a:p>
            <a:r>
              <a:t>Database systems are integral to modern computing and data management.</a:t>
            </a:r>
          </a:p>
          <a:p>
            <a:r>
              <a:t>Centralized systems ensure consistency, efficiency, and scalability.</a:t>
            </a:r>
          </a:p>
          <a:p>
            <a:r>
              <a:t>Foundational concepts include schema, instances, and database languages.</a:t>
            </a:r>
          </a:p>
          <a:p>
            <a:r>
              <a:t>Architecture models (Single-tier, Two-tier, Three-tier) cater to varying application needs.</a:t>
            </a:r>
          </a:p>
        </p:txBody>
      </p:sp>
    </p:spTree>
    <p:extLst>
      <p:ext uri="{BB962C8B-B14F-4D97-AF65-F5344CB8AC3E}">
        <p14:creationId xmlns:p14="http://schemas.microsoft.com/office/powerpoint/2010/main" val="6430955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598</TotalTime>
  <Words>1214</Words>
  <Application>Microsoft Office PowerPoint</Application>
  <PresentationFormat>On-screen Show (4:3)</PresentationFormat>
  <Paragraphs>178</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Google Sans</vt:lpstr>
      <vt:lpstr>Times New Roman</vt:lpstr>
      <vt:lpstr>Office Theme</vt:lpstr>
      <vt:lpstr>Introduction to Database Systems</vt:lpstr>
      <vt:lpstr>Agenda</vt:lpstr>
      <vt:lpstr>Definition of Database System</vt:lpstr>
      <vt:lpstr>Why EXCEL Is Not RDBMS</vt:lpstr>
      <vt:lpstr>Contd…</vt:lpstr>
      <vt:lpstr>Importance of Database Systems </vt:lpstr>
      <vt:lpstr>Importance of Database Systems</vt:lpstr>
      <vt:lpstr>Advantages of Database Systems</vt:lpstr>
      <vt:lpstr>Construction of Database Systems</vt:lpstr>
      <vt:lpstr>Basic Concepts of Database Systems</vt:lpstr>
      <vt:lpstr>Database System Architecture</vt:lpstr>
      <vt:lpstr>Contd..</vt:lpstr>
      <vt:lpstr>Three-Tier Architecture…</vt:lpstr>
      <vt:lpstr>ANSI (American National Standards Institute) / SPARC (Standards Planning And Requirements Committee) Model:</vt:lpstr>
      <vt:lpstr>PowerPoint Presentation</vt:lpstr>
      <vt:lpstr>PowerPoint Presentation</vt:lpstr>
      <vt:lpstr>PowerPoint Presentation</vt:lpstr>
      <vt:lpstr>Questions</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 Systems</dc:title>
  <dc:subject/>
  <dc:creator>Satyabrat Sahoo</dc:creator>
  <cp:keywords/>
  <dc:description>generated using python-pptx</dc:description>
  <cp:lastModifiedBy>Subhasish_Mohapatra</cp:lastModifiedBy>
  <cp:revision>172</cp:revision>
  <dcterms:created xsi:type="dcterms:W3CDTF">2013-01-27T09:14:16Z</dcterms:created>
  <dcterms:modified xsi:type="dcterms:W3CDTF">2026-01-07T09:03:24Z</dcterms:modified>
  <cp:category/>
</cp:coreProperties>
</file>